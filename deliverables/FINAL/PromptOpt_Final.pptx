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charts/chart2.xml" ContentType="application/vnd.openxmlformats-officedocument.drawingml.chart+xml"/>
  <Override PartName="/ppt/charts/chart3.xml" ContentType="application/vnd.openxmlformats-officedocument.drawingml.chart+xml"/>
  <Override PartName="/ppt/embeddings/oleObject1.bin" ContentType="application/vnd.openxmlformats-officedocument.oleObject"/>
  <Override PartName="/ppt/media/image11.svg" ContentType="image/svg+xml"/>
  <Override PartName="/ppt/media/image16.svg" ContentType="image/svg+xml"/>
  <Override PartName="/ppt/media/image18.svg" ContentType="image/svg+xml"/>
  <Override PartName="/ppt/media/image2.svg" ContentType="image/svg+xml"/>
  <Override PartName="/ppt/media/image47.svg" ContentType="image/svg+xml"/>
  <Override PartName="/ppt/media/image5.svg" ContentType="image/svg+xml"/>
  <Override PartName="/ppt/media/image50.svg" ContentType="image/svg+xml"/>
  <Override PartName="/ppt/media/image52.svg" ContentType="image/svg+xml"/>
  <Override PartName="/ppt/media/image54.svg" ContentType="image/svg+xml"/>
  <Override PartName="/ppt/media/image56.svg" ContentType="image/svg+xml"/>
  <Override PartName="/ppt/media/image58.svg" ContentType="image/svg+xml"/>
  <Override PartName="/ppt/media/image62.svg" ContentType="image/svg+xml"/>
  <Override PartName="/ppt/media/image66.svg" ContentType="image/svg+xml"/>
  <Override PartName="/ppt/media/image7.svg" ContentType="image/svg+xml"/>
  <Override PartName="/ppt/media/image9.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76" r:id="rId41"/>
    <p:sldId id="277" r:id="rId42"/>
    <p:sldId id="278" r:id="rId43"/>
    <p:sldId id="279" r:id="rId44"/>
    <p:sldId id="280" r:id="rId45"/>
    <p:sldId id="281" r:id="rId46"/>
    <p:sldId id="282" r:id="rId47"/>
    <p:sldId id="283" r:id="rId48"/>
    <p:sldId id="284" r:id="rId49"/>
    <p:sldId id="285" r:id="rId50"/>
    <p:sldId id="286" r:id="rId51"/>
    <p:sldId id="287" r:id="rId52"/>
    <p:sldId id="288" r:id="rId53"/>
    <p:sldId id="289" r:id="rId54"/>
    <p:sldId id="290" r:id="rId55"/>
    <p:sldId id="291" r:id="rId56"/>
    <p:sldId id="292" r:id="rId57"/>
    <p:sldId id="293" r:id="rId58"/>
    <p:sldId id="294" r:id="rId59"/>
    <p:sldId id="295" r:id="rId60"/>
    <p:sldId id="296" r:id="rId61"/>
    <p:sldId id="297" r:id="rId62"/>
    <p:sldId id="298" r:id="rId63"/>
  </p:sldIdLst>
  <p:sldSz cx="18288000" cy="10287000"/>
  <p:notesSz cx="6858000" cy="9144000"/>
  <p:embeddedFontLst>
    <p:embeddedFont>
      <p:font typeface="Manifold Heavy" charset="1" panose="00000A00000000000000"/>
      <p:regular r:id="rId26"/>
    </p:embeddedFont>
    <p:embeddedFont>
      <p:font typeface="Manifold Bold" charset="1" panose="00000800000000000000"/>
      <p:regular r:id="rId27"/>
    </p:embeddedFont>
    <p:embeddedFont>
      <p:font typeface="Manifold" charset="1" panose="00000500000000000000"/>
      <p:regular r:id="rId28"/>
    </p:embeddedFont>
    <p:embeddedFont>
      <p:font typeface="Neue Montreal Bold" charset="1" panose="00000400000000000000"/>
      <p:regular r:id="rId29"/>
    </p:embeddedFont>
    <p:embeddedFont>
      <p:font typeface="Manifold Ultra-Bold" charset="1" panose="00000900000000000000"/>
      <p:regular r:id="rId30"/>
    </p:embeddedFont>
    <p:embeddedFont>
      <p:font typeface="Blanka" charset="1" panose="00000000000000000000"/>
      <p:regular r:id="rId31"/>
    </p:embeddedFont>
    <p:embeddedFont>
      <p:font typeface="IBM Plex Sans Bold" charset="1" panose="020B0803050203000203"/>
      <p:regular r:id="rId32"/>
    </p:embeddedFont>
    <p:embeddedFont>
      <p:font typeface="HK Grotesk Medium" charset="1" panose="00000600000000000000"/>
      <p:regular r:id="rId33"/>
    </p:embeddedFont>
    <p:embeddedFont>
      <p:font typeface="HK Grotesk Bold" charset="1" panose="00000800000000000000"/>
      <p:regular r:id="rId34"/>
    </p:embeddedFont>
    <p:embeddedFont>
      <p:font typeface="HK Grotesk" charset="1" panose="00000500000000000000"/>
      <p:regular r:id="rId35"/>
    </p:embeddedFont>
    <p:embeddedFont>
      <p:font typeface="Chunk Five" charset="1" panose="00000500000000000000"/>
      <p:regular r:id="rId36"/>
    </p:embeddedFont>
    <p:embeddedFont>
      <p:font typeface="Manifold Bold Italics" charset="1" panose="00000800000000000000"/>
      <p:regular r:id="rId37"/>
    </p:embeddedFont>
    <p:embeddedFont>
      <p:font typeface="Canva Sans" charset="1" panose="020B0503030501040103"/>
      <p:regular r:id="rId38"/>
    </p:embeddedFont>
    <p:embeddedFont>
      <p:font typeface="Lato Bold" charset="1" panose="020F0502020204030203"/>
      <p:regular r:id="rId39"/>
    </p:embeddedFont>
    <p:embeddedFont>
      <p:font typeface="Lato" charset="1" panose="020F0502020204030203"/>
      <p:regular r:id="rId40"/>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esProps" Target="presProps.xml"/><Relationship Id="rId3" Type="http://schemas.openxmlformats.org/officeDocument/2006/relationships/viewProps" Target="viewProps.xml"/><Relationship Id="rId4" Type="http://schemas.openxmlformats.org/officeDocument/2006/relationships/theme" Target="theme/theme1.xml"/><Relationship Id="rId5" Type="http://schemas.openxmlformats.org/officeDocument/2006/relationships/tableStyles" Target="tableStyles.xml"/><Relationship Id="rId25" Type="http://schemas.openxmlformats.org/officeDocument/2006/relationships/notesMaster" Target="notesMasters/notesMaster1.xml"/><Relationship Id="rId26" Type="http://schemas.openxmlformats.org/officeDocument/2006/relationships/font" Target="fonts/font26.fntdata"/><Relationship Id="rId27" Type="http://schemas.openxmlformats.org/officeDocument/2006/relationships/font" Target="fonts/font27.fntdata"/><Relationship Id="rId28" Type="http://schemas.openxmlformats.org/officeDocument/2006/relationships/font" Target="fonts/font28.fntdata"/><Relationship Id="rId29" Type="http://schemas.openxmlformats.org/officeDocument/2006/relationships/font" Target="fonts/font29.fntdata"/><Relationship Id="rId30" Type="http://schemas.openxmlformats.org/officeDocument/2006/relationships/font" Target="fonts/font30.fntdata"/><Relationship Id="rId31" Type="http://schemas.openxmlformats.org/officeDocument/2006/relationships/font" Target="fonts/font31.fntdata"/><Relationship Id="rId32" Type="http://schemas.openxmlformats.org/officeDocument/2006/relationships/font" Target="fonts/font32.fntdata"/><Relationship Id="rId33" Type="http://schemas.openxmlformats.org/officeDocument/2006/relationships/font" Target="fonts/font33.fntdata"/><Relationship Id="rId34" Type="http://schemas.openxmlformats.org/officeDocument/2006/relationships/font" Target="fonts/font34.fntdata"/><Relationship Id="rId35" Type="http://schemas.openxmlformats.org/officeDocument/2006/relationships/font" Target="fonts/font35.fntdata"/><Relationship Id="rId36" Type="http://schemas.openxmlformats.org/officeDocument/2006/relationships/font" Target="fonts/font36.fntdata"/><Relationship Id="rId37" Type="http://schemas.openxmlformats.org/officeDocument/2006/relationships/font" Target="fonts/font37.fntdata"/><Relationship Id="rId38" Type="http://schemas.openxmlformats.org/officeDocument/2006/relationships/font" Target="fonts/font38.fntdata"/><Relationship Id="rId39" Type="http://schemas.openxmlformats.org/officeDocument/2006/relationships/font" Target="fonts/font39.fntdata"/><Relationship Id="rId40" Type="http://schemas.openxmlformats.org/officeDocument/2006/relationships/font" Target="fonts/font40.fntdata"/><Relationship Id="rId41" Type="http://schemas.openxmlformats.org/officeDocument/2006/relationships/slide" Target="slides/slide1.xml"/><Relationship Id="rId42" Type="http://schemas.openxmlformats.org/officeDocument/2006/relationships/slide" Target="slides/slide2.xml"/><Relationship Id="rId43" Type="http://schemas.openxmlformats.org/officeDocument/2006/relationships/slide" Target="slides/slide3.xml"/><Relationship Id="rId44" Type="http://schemas.openxmlformats.org/officeDocument/2006/relationships/slide" Target="slides/slide4.xml"/><Relationship Id="rId45" Type="http://schemas.openxmlformats.org/officeDocument/2006/relationships/slide" Target="slides/slide5.xml"/><Relationship Id="rId46" Type="http://schemas.openxmlformats.org/officeDocument/2006/relationships/slide" Target="slides/slide6.xml"/><Relationship Id="rId47" Type="http://schemas.openxmlformats.org/officeDocument/2006/relationships/slide" Target="slides/slide7.xml"/><Relationship Id="rId48" Type="http://schemas.openxmlformats.org/officeDocument/2006/relationships/slide" Target="slides/slide8.xml"/><Relationship Id="rId49" Type="http://schemas.openxmlformats.org/officeDocument/2006/relationships/slide" Target="slides/slide9.xml"/><Relationship Id="rId50" Type="http://schemas.openxmlformats.org/officeDocument/2006/relationships/slide" Target="slides/slide10.xml"/><Relationship Id="rId51" Type="http://schemas.openxmlformats.org/officeDocument/2006/relationships/slide" Target="slides/slide11.xml"/><Relationship Id="rId52" Type="http://schemas.openxmlformats.org/officeDocument/2006/relationships/slide" Target="slides/slide12.xml"/><Relationship Id="rId53" Type="http://schemas.openxmlformats.org/officeDocument/2006/relationships/slide" Target="slides/slide13.xml"/><Relationship Id="rId54" Type="http://schemas.openxmlformats.org/officeDocument/2006/relationships/slide" Target="slides/slide14.xml"/><Relationship Id="rId55" Type="http://schemas.openxmlformats.org/officeDocument/2006/relationships/slide" Target="slides/slide15.xml"/><Relationship Id="rId56" Type="http://schemas.openxmlformats.org/officeDocument/2006/relationships/slide" Target="slides/slide16.xml"/><Relationship Id="rId57" Type="http://schemas.openxmlformats.org/officeDocument/2006/relationships/slide" Target="slides/slide17.xml"/><Relationship Id="rId58" Type="http://schemas.openxmlformats.org/officeDocument/2006/relationships/slide" Target="slides/slide18.xml"/><Relationship Id="rId59" Type="http://schemas.openxmlformats.org/officeDocument/2006/relationships/slide" Target="slides/slide19.xml"/><Relationship Id="rId60" Type="http://schemas.openxmlformats.org/officeDocument/2006/relationships/slide" Target="slides/slide20.xml"/><Relationship Id="rId61" Type="http://schemas.openxmlformats.org/officeDocument/2006/relationships/slide" Target="slides/slide21.xml"/><Relationship Id="rId62" Type="http://schemas.openxmlformats.org/officeDocument/2006/relationships/slide" Target="slides/slide22.xml"/><Relationship Id="rId63" Type="http://schemas.openxmlformats.org/officeDocument/2006/relationships/slide" Target="slides/slide23.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Sheet2.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Sheet3.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title>
      <c:tx>
        <c:rich>
          <a:bodyPr/>
          <a:lstStyle/>
          <a:p>
            <a:r>
              <a:rPr sz="1700">
                <a:solidFill>
                  <a:srgbClr val="457C5B"/>
                </a:solidFill>
                <a:latin typeface="Manifold Bold"/>
              </a:rPr>
              <a:t>5,184 example pairs, about 1,000 per task type</a:t>
            </a:r>
          </a:p>
        </c:rich>
      </c:tx>
      <c:layout/>
      <c:overlay val="0"/>
    </c:title>
    <c:autoTitleDeleted val="0"/>
    <c:plotArea>
      <c:barChart>
        <c:barDir val="col"/>
        <c:grouping val="clustered"/>
        <c:ser>
          <c:idx val="0"/>
          <c:order val="0"/>
          <c:tx>
            <c:strRef>
              <c:f>Sheet1!$B$1</c:f>
              <c:strCache>
                <c:ptCount val="1"/>
                <c:pt idx="0">
                  <c:v>pairs</c:v>
                </c:pt>
              </c:strCache>
            </c:strRef>
          </c:tx>
          <c:spPr>
            <a:solidFill>
              <a:srgbClr val="457C5B"/>
            </a:solidFill>
          </c:spPr>
          <c:cat>
            <c:strRef>
              <c:f>Sheet1!$A$2:$A$6</c:f>
              <c:strCache>
                <c:ptCount val="5"/>
                <c:pt idx="0">
                  <c:v>Question
about text</c:v>
                </c:pt>
                <c:pt idx="1">
                  <c:v>Pull out
facts</c:v>
                </c:pt>
                <c:pt idx="2">
                  <c:v>Sort into
groups</c:v>
                </c:pt>
                <c:pt idx="3">
                  <c:v>Summary</c:v>
                </c:pt>
                <c:pt idx="4">
                  <c:v>Code</c:v>
                </c:pt>
              </c:strCache>
            </c:strRef>
          </c:cat>
          <c:val>
            <c:numRef>
              <c:f>Sheet1!$B$2:$B$6</c:f>
              <c:numCache>
                <c:formatCode>General</c:formatCode>
                <c:ptCount val="5"/>
                <c:pt idx="0">
                  <c:v>1089</c:v>
                </c:pt>
                <c:pt idx="1">
                  <c:v>1000</c:v>
                </c:pt>
                <c:pt idx="2">
                  <c:v>1042</c:v>
                </c:pt>
                <c:pt idx="3">
                  <c:v>1050</c:v>
                </c:pt>
                <c:pt idx="4">
                  <c:v>1003</c:v>
                </c:pt>
              </c:numCache>
            </c:numRef>
          </c:val>
        </c:ser>
        <c:dLbls>
          <c:numFmt formatCode="0" sourceLinked="0"/>
          <c:txPr>
            <a:bodyPr/>
            <a:lstStyle/>
            <a:p>
              <a:pPr>
                <a:defRPr sz="1400">
                  <a:solidFill>
                    <a:srgbClr val="1E4926"/>
                  </a:solidFill>
                  <a:latin typeface="Lato"/>
                </a:defRPr>
              </a:pPr>
            </a:p>
          </c:txPr>
          <c:dLblPos val="outEnd"/>
          <c:showLegendKey val="0"/>
          <c:showVal val="1"/>
          <c:showCatName val="0"/>
          <c:showSerName val="0"/>
          <c:showPercent val="0"/>
          <c:showBubbleSize val="0"/>
          <c:showLeaderLines val="1"/>
        </c:dLbls>
        <c:axId val="-2068027336"/>
        <c:axId val="-2113994440"/>
      </c:barChart>
      <c:catAx>
        <c:axId val="-2068027336"/>
        <c:scaling>
          <c:orientation val="minMax"/>
        </c:scaling>
        <c:delete val="0"/>
        <c:axPos val="b"/>
        <c:majorTickMark val="out"/>
        <c:minorTickMark val="none"/>
        <c:tickLblPos val="nextTo"/>
        <c:spPr>
          <a:ln>
            <a:solidFill>
              <a:srgbClr val="8AB79C"/>
            </a:solidFill>
          </a:ln>
        </c:spPr>
        <c:txPr>
          <a:bodyPr/>
          <a:lstStyle/>
          <a:p>
            <a:pPr>
              <a:defRPr sz="1500"/>
            </a:pPr>
          </a:p>
        </c:txPr>
        <c:crossAx val="-2113994440"/>
        <c:crosses val="autoZero"/>
        <c:auto val="1"/>
        <c:lblAlgn val="ctr"/>
        <c:lblOffset val="100"/>
        <c:noMultiLvlLbl val="0"/>
      </c:catAx>
      <c:valAx>
        <c:axId val="-2113994440"/>
        <c:scaling>
          <c:max val="1300.0"/>
        </c:scaling>
        <c:delete/>
        <c:axPos val="l"/>
        <c:majorTickMark val="out"/>
        <c:minorTickMark val="none"/>
        <c:tickLblPos val="nextTo"/>
        <c:crossAx val="-2068027336"/>
        <c:crosses val="autoZero"/>
      </c:valAx>
    </c:plotArea>
    <c:dispBlanksAs val="gap"/>
  </c:chart>
  <c:txPr>
    <a:bodyPr/>
    <a:lstStyle/>
    <a:p>
      <a:pPr>
        <a:defRPr sz="1500">
          <a:solidFill>
            <a:srgbClr val="1E4926"/>
          </a:solidFill>
          <a:latin typeface="Lato"/>
        </a:defRPr>
      </a:pPr>
      <a:endParaRPr lang="en-US"/>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chart>
    <c:title>
      <c:tx>
        <c:rich>
          <a:bodyPr/>
          <a:lstStyle/>
          <a:p>
            <a:r>
              <a:rPr sz="1700">
                <a:solidFill>
                  <a:srgbClr val="457C5B"/>
                </a:solidFill>
                <a:latin typeface="Manifold Bold"/>
              </a:rPr>
              <a:t>Average tokens per prompt, OpenAI's GPT model (gpt-oss-120b)</a:t>
            </a:r>
          </a:p>
        </c:rich>
      </c:tx>
      <c:layout/>
      <c:overlay val="0"/>
    </c:title>
    <c:autoTitleDeleted val="0"/>
    <c:plotArea>
      <c:barChart>
        <c:barDir val="col"/>
        <c:grouping val="clustered"/>
        <c:ser>
          <c:idx val="0"/>
          <c:order val="0"/>
          <c:tx>
            <c:strRef>
              <c:f>Sheet1!$B$1</c:f>
              <c:strCache>
                <c:ptCount val="1"/>
                <c:pt idx="0">
                  <c:v>Vague prompt</c:v>
                </c:pt>
              </c:strCache>
            </c:strRef>
          </c:tx>
          <c:spPr>
            <a:solidFill>
              <a:srgbClr val="8E1711"/>
            </a:solidFill>
          </c:spPr>
          <c:cat>
            <c:strRef>
              <c:f>Sheet1!$A$2:$A$4</c:f>
              <c:strCache>
                <c:ptCount val="3"/>
                <c:pt idx="0">
                  <c:v>Prompt (input)</c:v>
                </c:pt>
                <c:pt idx="1">
                  <c:v>Answer (output)</c:v>
                </c:pt>
                <c:pt idx="2">
                  <c:v>Total</c:v>
                </c:pt>
              </c:strCache>
            </c:strRef>
          </c:cat>
          <c:val>
            <c:numRef>
              <c:f>Sheet1!$B$2:$B$4</c:f>
              <c:numCache>
                <c:formatCode>General</c:formatCode>
                <c:ptCount val="3"/>
                <c:pt idx="0">
                  <c:v>226</c:v>
                </c:pt>
                <c:pt idx="1">
                  <c:v>682</c:v>
                </c:pt>
                <c:pt idx="2">
                  <c:v>909</c:v>
                </c:pt>
              </c:numCache>
            </c:numRef>
          </c:val>
        </c:ser>
        <c:ser>
          <c:idx val="1"/>
          <c:order val="1"/>
          <c:tx>
            <c:strRef>
              <c:f>Sheet1!$C$1</c:f>
              <c:strCache>
                <c:ptCount val="1"/>
                <c:pt idx="0">
                  <c:v>Optimized prompt</c:v>
                </c:pt>
              </c:strCache>
            </c:strRef>
          </c:tx>
          <c:spPr>
            <a:solidFill>
              <a:srgbClr val="457C5B"/>
            </a:solidFill>
          </c:spPr>
          <c:cat>
            <c:strRef>
              <c:f>Sheet1!$A$2:$A$4</c:f>
              <c:strCache>
                <c:ptCount val="3"/>
                <c:pt idx="0">
                  <c:v>Prompt (input)</c:v>
                </c:pt>
                <c:pt idx="1">
                  <c:v>Answer (output)</c:v>
                </c:pt>
                <c:pt idx="2">
                  <c:v>Total</c:v>
                </c:pt>
              </c:strCache>
            </c:strRef>
          </c:cat>
          <c:val>
            <c:numRef>
              <c:f>Sheet1!$C$2:$C$4</c:f>
              <c:numCache>
                <c:formatCode>General</c:formatCode>
                <c:ptCount val="3"/>
                <c:pt idx="0">
                  <c:v>241</c:v>
                </c:pt>
                <c:pt idx="1">
                  <c:v>165</c:v>
                </c:pt>
                <c:pt idx="2">
                  <c:v>406</c:v>
                </c:pt>
              </c:numCache>
            </c:numRef>
          </c:val>
        </c:ser>
        <c:dLbls>
          <c:numFmt formatCode="0" sourceLinked="0"/>
          <c:txPr>
            <a:bodyPr/>
            <a:lstStyle/>
            <a:p>
              <a:pPr>
                <a:defRPr sz="1500">
                  <a:solidFill>
                    <a:srgbClr val="1E4926"/>
                  </a:solidFill>
                  <a:latin typeface="Lato"/>
                </a:defRPr>
              </a:pPr>
            </a:p>
          </c:txPr>
          <c:dLblPos val="outEnd"/>
          <c:showLegendKey val="0"/>
          <c:showVal val="1"/>
          <c:showCatName val="0"/>
          <c:showSerName val="0"/>
          <c:showPercent val="0"/>
          <c:showBubbleSize val="0"/>
          <c:showLeaderLines val="1"/>
        </c:dLbls>
        <c:axId val="-2068027336"/>
        <c:axId val="-2113994440"/>
      </c:barChart>
      <c:catAx>
        <c:axId val="-2068027336"/>
        <c:scaling>
          <c:orientation val="minMax"/>
        </c:scaling>
        <c:delete val="0"/>
        <c:axPos val="b"/>
        <c:majorTickMark val="out"/>
        <c:minorTickMark val="none"/>
        <c:tickLblPos val="nextTo"/>
        <c:spPr>
          <a:ln>
            <a:solidFill>
              <a:srgbClr val="8AB79C"/>
            </a:solidFill>
          </a:ln>
        </c:spPr>
        <c:txPr>
          <a:bodyPr/>
          <a:lstStyle/>
          <a:p>
            <a:pPr>
              <a:defRPr sz="1600"/>
            </a:pPr>
          </a:p>
        </c:txPr>
        <c:crossAx val="-2113994440"/>
        <c:crosses val="autoZero"/>
        <c:auto val="1"/>
        <c:lblAlgn val="ctr"/>
        <c:lblOffset val="100"/>
        <c:noMultiLvlLbl val="0"/>
      </c:catAx>
      <c:valAx>
        <c:axId val="-2113994440"/>
        <c:scaling>
          <c:max val="1050.0"/>
        </c:scaling>
        <c:delete/>
        <c:axPos val="l"/>
        <c:majorTickMark val="out"/>
        <c:minorTickMark val="none"/>
        <c:tickLblPos val="nextTo"/>
        <c:crossAx val="-2068027336"/>
        <c:crosses val="autoZero"/>
      </c:valAx>
    </c:plotArea>
    <c:legend>
      <c:legendPos val="b"/>
      <c:overlay val="0"/>
      <c:txPr>
        <a:bodyPr/>
        <a:lstStyle/>
        <a:p>
          <a:pPr>
            <a:defRPr sz="1600"/>
          </a:pPr>
        </a:p>
      </c:txPr>
    </c:legend>
    <c:dispBlanksAs val="gap"/>
  </c:chart>
  <c:txPr>
    <a:bodyPr/>
    <a:lstStyle/>
    <a:p>
      <a:pPr>
        <a:defRPr sz="1600">
          <a:solidFill>
            <a:srgbClr val="1E4926"/>
          </a:solidFill>
          <a:latin typeface="Lato"/>
        </a:defRPr>
      </a:pPr>
      <a:endParaRPr lang="en-US"/>
    </a:p>
  </c:tx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chart>
    <c:title>
      <c:tx>
        <c:rich>
          <a:bodyPr/>
          <a:lstStyle/>
          <a:p>
            <a:r>
              <a:rPr sz="1500">
                <a:solidFill>
                  <a:srgbClr val="457C5B"/>
                </a:solidFill>
                <a:latin typeface="Manifold Bold"/>
              </a:rPr>
              <a:t>Integration test by task type: right answers out of 10</a:t>
            </a:r>
          </a:p>
        </c:rich>
      </c:tx>
      <c:layout/>
      <c:overlay val="0"/>
    </c:title>
    <c:autoTitleDeleted val="0"/>
    <c:plotArea>
      <c:barChart>
        <c:barDir val="col"/>
        <c:grouping val="clustered"/>
        <c:ser>
          <c:idx val="0"/>
          <c:order val="0"/>
          <c:tx>
            <c:strRef>
              <c:f>Sheet1!$B$1</c:f>
              <c:strCache>
                <c:ptCount val="1"/>
                <c:pt idx="0">
                  <c:v>Vague prompt</c:v>
                </c:pt>
              </c:strCache>
            </c:strRef>
          </c:tx>
          <c:spPr>
            <a:solidFill>
              <a:srgbClr val="8E1711"/>
            </a:solidFill>
          </c:spPr>
          <c:cat>
            <c:strRef>
              <c:f>Sheet1!$A$2:$A$6</c:f>
              <c:strCache>
                <c:ptCount val="5"/>
                <c:pt idx="0">
                  <c:v>Question about text</c:v>
                </c:pt>
                <c:pt idx="1">
                  <c:v>Pull out facts</c:v>
                </c:pt>
                <c:pt idx="2">
                  <c:v>Sort into groups</c:v>
                </c:pt>
                <c:pt idx="3">
                  <c:v>Summary</c:v>
                </c:pt>
                <c:pt idx="4">
                  <c:v>Code</c:v>
                </c:pt>
              </c:strCache>
            </c:strRef>
          </c:cat>
          <c:val>
            <c:numRef>
              <c:f>Sheet1!$B$2:$B$6</c:f>
              <c:numCache>
                <c:formatCode>General</c:formatCode>
                <c:ptCount val="5"/>
                <c:pt idx="0">
                  <c:v>8</c:v>
                </c:pt>
                <c:pt idx="1">
                  <c:v>7</c:v>
                </c:pt>
                <c:pt idx="2">
                  <c:v>7</c:v>
                </c:pt>
                <c:pt idx="3">
                  <c:v>7</c:v>
                </c:pt>
                <c:pt idx="4">
                  <c:v>8</c:v>
                </c:pt>
              </c:numCache>
            </c:numRef>
          </c:val>
        </c:ser>
        <c:ser>
          <c:idx val="1"/>
          <c:order val="1"/>
          <c:tx>
            <c:strRef>
              <c:f>Sheet1!$C$1</c:f>
              <c:strCache>
                <c:ptCount val="1"/>
                <c:pt idx="0">
                  <c:v>Optimized prompt</c:v>
                </c:pt>
              </c:strCache>
            </c:strRef>
          </c:tx>
          <c:spPr>
            <a:solidFill>
              <a:srgbClr val="457C5B"/>
            </a:solidFill>
          </c:spPr>
          <c:cat>
            <c:strRef>
              <c:f>Sheet1!$A$2:$A$6</c:f>
              <c:strCache>
                <c:ptCount val="5"/>
                <c:pt idx="0">
                  <c:v>Question about text</c:v>
                </c:pt>
                <c:pt idx="1">
                  <c:v>Pull out facts</c:v>
                </c:pt>
                <c:pt idx="2">
                  <c:v>Sort into groups</c:v>
                </c:pt>
                <c:pt idx="3">
                  <c:v>Summary</c:v>
                </c:pt>
                <c:pt idx="4">
                  <c:v>Code</c:v>
                </c:pt>
              </c:strCache>
            </c:strRef>
          </c:cat>
          <c:val>
            <c:numRef>
              <c:f>Sheet1!$C$2:$C$6</c:f>
              <c:numCache>
                <c:formatCode>General</c:formatCode>
                <c:ptCount val="5"/>
                <c:pt idx="0">
                  <c:v>10</c:v>
                </c:pt>
                <c:pt idx="1">
                  <c:v>10</c:v>
                </c:pt>
                <c:pt idx="2">
                  <c:v>8</c:v>
                </c:pt>
                <c:pt idx="3">
                  <c:v>5</c:v>
                </c:pt>
                <c:pt idx="4">
                  <c:v>9</c:v>
                </c:pt>
              </c:numCache>
            </c:numRef>
          </c:val>
        </c:ser>
        <c:dLbls>
          <c:numFmt formatCode="0" sourceLinked="0"/>
          <c:txPr>
            <a:bodyPr/>
            <a:lstStyle/>
            <a:p>
              <a:pPr>
                <a:defRPr sz="1300">
                  <a:solidFill>
                    <a:srgbClr val="1E4926"/>
                  </a:solidFill>
                  <a:latin typeface="Lato"/>
                </a:defRPr>
              </a:pPr>
            </a:p>
          </c:txPr>
          <c:dLblPos val="outEnd"/>
          <c:showLegendKey val="0"/>
          <c:showVal val="1"/>
          <c:showCatName val="0"/>
          <c:showSerName val="0"/>
          <c:showPercent val="0"/>
          <c:showBubbleSize val="0"/>
          <c:showLeaderLines val="1"/>
        </c:dLbls>
        <c:gapWidth val="120"/>
        <c:axId val="-2068027336"/>
        <c:axId val="-2113994440"/>
      </c:barChart>
      <c:catAx>
        <c:axId val="-2068027336"/>
        <c:scaling>
          <c:orientation val="minMax"/>
        </c:scaling>
        <c:delete val="0"/>
        <c:axPos val="b"/>
        <c:majorTickMark val="out"/>
        <c:minorTickMark val="none"/>
        <c:tickLblPos val="nextTo"/>
        <c:spPr>
          <a:ln>
            <a:solidFill>
              <a:srgbClr val="8AB79C"/>
            </a:solidFill>
          </a:ln>
        </c:spPr>
        <c:txPr>
          <a:bodyPr/>
          <a:lstStyle/>
          <a:p>
            <a:pPr>
              <a:defRPr sz="1400"/>
            </a:pPr>
          </a:p>
        </c:txPr>
        <c:crossAx val="-2113994440"/>
        <c:crosses val="autoZero"/>
        <c:auto val="1"/>
        <c:lblAlgn val="ctr"/>
        <c:lblOffset val="100"/>
        <c:noMultiLvlLbl val="0"/>
      </c:catAx>
      <c:valAx>
        <c:axId val="-2113994440"/>
        <c:scaling>
          <c:max val="12.0"/>
        </c:scaling>
        <c:delete/>
        <c:axPos val="l"/>
        <c:majorTickMark val="out"/>
        <c:minorTickMark val="none"/>
        <c:tickLblPos val="nextTo"/>
        <c:crossAx val="-2068027336"/>
        <c:crosses val="autoZero"/>
      </c:valAx>
    </c:plotArea>
    <c:legend>
      <c:legendPos/>
      <c:overlay val="0"/>
      <c:txPr>
        <a:bodyPr/>
        <a:lstStyle/>
        <a:p>
          <a:pPr>
            <a:defRPr sz="1400"/>
          </a:pPr>
        </a:p>
      </c:txPr>
    </c:legend>
    <c:dispBlanksAs val="gap"/>
  </c:chart>
  <c:txPr>
    <a:bodyPr/>
    <a:lstStyle/>
    <a:p>
      <a:pPr>
        <a:defRPr sz="1400">
          <a:solidFill>
            <a:srgbClr val="1E4926"/>
          </a:solidFill>
          <a:latin typeface="Lato"/>
        </a:defRPr>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Piush. Good morning. We are Piush, Nirzara and Siddhi; our guide is Prof. A. S. Pawar. PromptOpt takes a vague prompt, makes it clear and short for the AI you use, shows every change, and we measured that it saves tokens. We will follow one example prompt through the whole system.</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Piush. Problem, what exists, our goal and our data; then one example through every step; then results, testing, the app and what comes next.</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Piush. The problem in one line: vague prompts make the AI guess and write long answers, which costs tokens. Example: a student pastes a phone review and asks 'is this good or bad'. The AI writes a whole page, 166 tokens, when one word was enough. Our survey: 72% run out of tokens quickly, 58% need several prompts for one answer, half often ask again.</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Piush. Existing tools rewrite prompts, but none checks the new prompt on a real AI, none reports input and output tokens together, and none mixes fixed rules with a small trained model. Those four gaps are what we built PromptOpt for.</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Piush. Five goals: find what is missing, fix it with simple rules and show every change, call a small AI model only when the rules are stuck, write the prompt in the layout each AI prefers, and prove all of it with numbers on prompts the system never saw.</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Piush. No dataset pairs a vague prompt with a clear one, so we built it. We took real requests from Dolly and CodeAlpaca; an AI wrote a vague and a clear version of each; the computer checked them and put back data that was dropped; and we three plus our guide read 330 pairs and kept 295. Result: 5,184 pairs, about 1,000 per task type. 482 are kept aside and used only once, for the final test.</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Nirzara. Here is the whole journey of our example. 1, the user types the vague prompt with the review. 2, Step A understands it. 3, Step B fixes it with rules. 4, Step C, a small model, fills what the rules could not. 5, the prompt is written for GPT. 6, Compare runs both prompts on the same AI. Let us go step by step.</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Nirzara. Step A only reads. It asks: what kind of task is this? It thinks 'summary' at 52% and 'sorting into a label' at 35%. Below 60% we call it not sure, and we do not guess. It also finds what is missing: no answer format, and filler words like 'hey can you just'. It decides by comparing with over 9,000 example prompts from our data, plus word rules.</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Nirzara. Step B fixes with fixed rules, and shows every change. Here two rules fired: tidy the sentence, and remove 'hey can you just'. We have 15 rules, each a small tested function: add an answer format, a length, a programming language, the list of labels, and so on. But because Step A was not sure of the task, no rule guesses a format. That open question goes to Step C.</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Nirzara. Step C is a small AI model, Qwen 0.5B, that we trained ourselves with LoRA on a laptop GPU in 51 minutes. It is called only when the rules are stuck: 6 in 100 prompts. It may fill only the missing parts; everything else is locked. Its answer is checked; if the check fails, we keep Step B's result. Without our training only 5 in 100 answers passed the check; after training 98 in 100. For our example it added 'Provide only the label' and suggested the task type, which the user confirms.</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Nirzara. Step D writes the same content in the layout each AI prefers: XML tags with the document first for Claude, headed sections for GPT, plain labels with the instruction first for Gemini. Our tests read every version back to make sure nothing is lost.</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Nirzara. We sent both prompts to the same AI, OpenAI's GPT model gpt-oss-120b. The vague prompt cost 270 tokens in total, the optimized one 162: 40% fewer. The answer itself went from 166 tokens to 41: the word 'good'. And it came back in 97 ms instead of 353. The vague answer said 'mixed', a fair reading, but the user asked good or bad, and the optimized prompt answers exactly that question.</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Siddhi. One example is not proof, so we tested on 482 prompts the system never saw, using one AI, OpenAI's GPT model. The optimized prompt is slightly longer, 226 to 241 tokens, but the answers are much shorter, 682 to 165. Total: 39% fewer tokens per prompt. The answer format is stated in 95 of 100 prompts instead of 3, and a blind judge scored quality 9.0 instead of 8.2. Honest limit: 87 of the 482 prompts cost a little more, because their answer was already short.</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Siddhi. Three levels. Unit: 798 automatic tests, every rule on its own, all pass. Integration: 50 new real-life questions, 10 per task type, each with a known right answer; the optimized prompts got 42 right, the vague ones 37, with 30% fewer tokens. System: 13 browser tests drive the real app, all pass; the 482 test prompts were run once at the end, and a check proves the code we measured never changed.</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Siddhi. The app: FastAPI and React, running on our laptop. Live demo: Optimize our review example and watch each step; Compare both prompts on a real AI; History, where prompts are deleted after 30 days; and the test suite. If the network fails, Compare shows saved past runs.</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Siddhi. What was hard: AI-written data that dropped facts, a small model that made things up before training, daily limits on free AI services, and a 4 GB laptop GPU. Next: a lean mode for prompts whose answer is already short, tests on real GPT, Claude and Gemini, bigger tests written by people outside the team, and a research paper.</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Siddhi. Thank you. We are happy to take questions. (Appendix slides follow for questions.)</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Appendix. Tech stack, from LA-1.</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Appendix. Literature review, from LA-1.</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Appendix. SDG alignment, from LA-1.</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Appendix. Timeline, from LA-1.</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Appendix. References, from LA-1.</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Appendix. One request is one database transaction: steps 1-6 write, step 7 commits only if every step succeeded, otherwise nothing is stored.</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svg"/><Relationship Id="rId4" Type="http://schemas.openxmlformats.org/officeDocument/2006/relationships/image" Target="../media/image3.png"/><Relationship Id="rId5" Type="http://schemas.openxmlformats.org/officeDocument/2006/relationships/image" Target="../media/image4.png"/><Relationship Id="rId6" Type="http://schemas.openxmlformats.org/officeDocument/2006/relationships/image" Target="../media/image5.svg"/><Relationship Id="rId7"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svg"/><Relationship Id="rId4" Type="http://schemas.openxmlformats.org/officeDocument/2006/relationships/image" Target="../media/image6.png"/><Relationship Id="rId5" Type="http://schemas.openxmlformats.org/officeDocument/2006/relationships/image" Target="../media/image7.svg"/><Relationship Id="rId6" Type="http://schemas.openxmlformats.org/officeDocument/2006/relationships/image" Target="../media/image8.png"/><Relationship Id="rId7" Type="http://schemas.openxmlformats.org/officeDocument/2006/relationships/image" Target="../media/image9.svg"/><Relationship Id="rId8" Type="http://schemas.openxmlformats.org/officeDocument/2006/relationships/image" Target="../media/image10.png"/><Relationship Id="rId9" Type="http://schemas.openxmlformats.org/officeDocument/2006/relationships/image" Target="../media/image11.svg"/><Relationship Id="rId10" Type="http://schemas.openxmlformats.org/officeDocument/2006/relationships/image" Target="../media/image3.png"/><Relationship Id="rId11"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image" Target="../media/image7.svg"/><Relationship Id="rId4" Type="http://schemas.openxmlformats.org/officeDocument/2006/relationships/image" Target="../media/image10.png"/><Relationship Id="rId5" Type="http://schemas.openxmlformats.org/officeDocument/2006/relationships/image" Target="../media/image11.svg"/><Relationship Id="rId6" Type="http://schemas.openxmlformats.org/officeDocument/2006/relationships/image" Target="../media/image3.png"/><Relationship Id="rId7"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5.png"/><Relationship Id="rId3" Type="http://schemas.openxmlformats.org/officeDocument/2006/relationships/image" Target="../media/image16.svg"/><Relationship Id="rId4" Type="http://schemas.openxmlformats.org/officeDocument/2006/relationships/image" Target="../media/image3.png"/><Relationship Id="rId5" Type="http://schemas.openxmlformats.org/officeDocument/2006/relationships/image" Target="../media/image59.png"/><Relationship Id="rId6" Type="http://schemas.openxmlformats.org/officeDocument/2006/relationships/chart" Target="../charts/chart1.xml"/><Relationship Id="rId7"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image" Target="../media/image41.png"/><Relationship Id="rId4" Type="http://schemas.openxmlformats.org/officeDocument/2006/relationships/image" Target="../media/image42.png"/><Relationship Id="rId5" Type="http://schemas.openxmlformats.org/officeDocument/2006/relationships/image" Target="../media/image43.png"/><Relationship Id="rId6" Type="http://schemas.openxmlformats.org/officeDocument/2006/relationships/image" Target="../media/image44.png"/><Relationship Id="rId7" Type="http://schemas.openxmlformats.org/officeDocument/2006/relationships/image" Target="../media/image45.png"/><Relationship Id="rId8" Type="http://schemas.openxmlformats.org/officeDocument/2006/relationships/image" Target="../media/image46.png"/><Relationship Id="rId9" Type="http://schemas.openxmlformats.org/officeDocument/2006/relationships/image" Target="../media/image47.svg"/><Relationship Id="rId10" Type="http://schemas.openxmlformats.org/officeDocument/2006/relationships/image" Target="../media/image12.png"/><Relationship Id="rId11"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image" Target="../media/image13.png"/><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image" Target="../media/image14.png"/><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image" Target="../media/image41.png"/><Relationship Id="rId4" Type="http://schemas.openxmlformats.org/officeDocument/2006/relationships/image" Target="../media/image42.png"/><Relationship Id="rId5" Type="http://schemas.openxmlformats.org/officeDocument/2006/relationships/image" Target="../media/image43.png"/><Relationship Id="rId6" Type="http://schemas.openxmlformats.org/officeDocument/2006/relationships/image" Target="../media/image44.png"/><Relationship Id="rId7" Type="http://schemas.openxmlformats.org/officeDocument/2006/relationships/image" Target="../media/image45.png"/><Relationship Id="rId8" Type="http://schemas.openxmlformats.org/officeDocument/2006/relationships/image" Target="../media/image46.png"/><Relationship Id="rId9" Type="http://schemas.openxmlformats.org/officeDocument/2006/relationships/image" Target="../media/image47.svg"/><Relationship Id="rId10" Type="http://schemas.openxmlformats.org/officeDocument/2006/relationships/image" Target="../media/image19.png"/><Relationship Id="rId11"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image" Target="../media/image7.svg"/><Relationship Id="rId4" Type="http://schemas.openxmlformats.org/officeDocument/2006/relationships/image" Target="../media/image10.png"/><Relationship Id="rId5" Type="http://schemas.openxmlformats.org/officeDocument/2006/relationships/image" Target="../media/image11.svg"/><Relationship Id="rId6" Type="http://schemas.openxmlformats.org/officeDocument/2006/relationships/image" Target="../media/image3.png"/><Relationship Id="rId7"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9.png"/><Relationship Id="rId3" Type="http://schemas.openxmlformats.org/officeDocument/2006/relationships/image" Target="../media/image50.svg"/><Relationship Id="rId4" Type="http://schemas.openxmlformats.org/officeDocument/2006/relationships/image" Target="../media/image51.png"/><Relationship Id="rId5" Type="http://schemas.openxmlformats.org/officeDocument/2006/relationships/image" Target="../media/image52.svg"/><Relationship Id="rId6" Type="http://schemas.openxmlformats.org/officeDocument/2006/relationships/image" Target="../media/image53.png"/><Relationship Id="rId7" Type="http://schemas.openxmlformats.org/officeDocument/2006/relationships/image" Target="../media/image54.svg"/><Relationship Id="rId8" Type="http://schemas.openxmlformats.org/officeDocument/2006/relationships/image" Target="../media/image55.png"/><Relationship Id="rId9" Type="http://schemas.openxmlformats.org/officeDocument/2006/relationships/image" Target="../media/image56.svg"/><Relationship Id="rId10" Type="http://schemas.openxmlformats.org/officeDocument/2006/relationships/image" Target="../media/image57.png"/><Relationship Id="rId11" Type="http://schemas.openxmlformats.org/officeDocument/2006/relationships/image" Target="../media/image58.svg"/><Relationship Id="rId12" Type="http://schemas.openxmlformats.org/officeDocument/2006/relationships/image" Target="../media/image15.png"/><Relationship Id="rId13" Type="http://schemas.openxmlformats.org/officeDocument/2006/relationships/image" Target="../media/image16.svg"/><Relationship Id="rId14" Type="http://schemas.openxmlformats.org/officeDocument/2006/relationships/image" Target="../media/image3.png"/><Relationship Id="rId15" Type="http://schemas.openxmlformats.org/officeDocument/2006/relationships/image" Target="../media/image20.png"/><Relationship Id="rId16"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chart" Target="../charts/chart2.xml"/><Relationship Id="rId4"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image" Target="../media/image41.png"/><Relationship Id="rId4" Type="http://schemas.openxmlformats.org/officeDocument/2006/relationships/image" Target="../media/image42.png"/><Relationship Id="rId5" Type="http://schemas.openxmlformats.org/officeDocument/2006/relationships/image" Target="../media/image43.png"/><Relationship Id="rId6" Type="http://schemas.openxmlformats.org/officeDocument/2006/relationships/image" Target="../media/image44.png"/><Relationship Id="rId7" Type="http://schemas.openxmlformats.org/officeDocument/2006/relationships/image" Target="../media/image45.png"/><Relationship Id="rId8" Type="http://schemas.openxmlformats.org/officeDocument/2006/relationships/image" Target="../media/image46.png"/><Relationship Id="rId9" Type="http://schemas.openxmlformats.org/officeDocument/2006/relationships/image" Target="../media/image47.svg"/><Relationship Id="rId10" Type="http://schemas.openxmlformats.org/officeDocument/2006/relationships/chart" Target="../charts/chart3.xml"/><Relationship Id="rId11"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image" Target="../media/image7.svg"/><Relationship Id="rId4" Type="http://schemas.openxmlformats.org/officeDocument/2006/relationships/image" Target="../media/image10.png"/><Relationship Id="rId5" Type="http://schemas.openxmlformats.org/officeDocument/2006/relationships/image" Target="../media/image11.svg"/><Relationship Id="rId6" Type="http://schemas.openxmlformats.org/officeDocument/2006/relationships/image" Target="../media/image3.png"/><Relationship Id="rId7" Type="http://schemas.openxmlformats.org/officeDocument/2006/relationships/image" Target="../media/image21.png"/><Relationship Id="rId8"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5.png"/><Relationship Id="rId3" Type="http://schemas.openxmlformats.org/officeDocument/2006/relationships/image" Target="../media/image16.svg"/><Relationship Id="rId4" Type="http://schemas.openxmlformats.org/officeDocument/2006/relationships/image" Target="../media/image3.png"/><Relationship Id="rId5"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5.png"/><Relationship Id="rId3" Type="http://schemas.openxmlformats.org/officeDocument/2006/relationships/image" Target="../media/image16.svg"/><Relationship Id="rId4" Type="http://schemas.openxmlformats.org/officeDocument/2006/relationships/image" Target="../media/image6.png"/><Relationship Id="rId5" Type="http://schemas.openxmlformats.org/officeDocument/2006/relationships/image" Target="../media/image7.svg"/><Relationship Id="rId6" Type="http://schemas.openxmlformats.org/officeDocument/2006/relationships/image" Target="../media/image3.png"/><Relationship Id="rId7"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image" Target="../media/image7.svg"/><Relationship Id="rId4" Type="http://schemas.openxmlformats.org/officeDocument/2006/relationships/image" Target="../media/image1.png"/><Relationship Id="rId5" Type="http://schemas.openxmlformats.org/officeDocument/2006/relationships/image" Target="../media/image2.svg"/><Relationship Id="rId6" Type="http://schemas.openxmlformats.org/officeDocument/2006/relationships/image" Target="../media/image3.png"/><Relationship Id="rId7" Type="http://schemas.openxmlformats.org/officeDocument/2006/relationships/image" Target="../media/image36.png"/><Relationship Id="rId8" Type="http://schemas.openxmlformats.org/officeDocument/2006/relationships/image" Target="../media/image37.png"/><Relationship Id="rId9" Type="http://schemas.openxmlformats.org/officeDocument/2006/relationships/image" Target="../media/image38.png"/><Relationship Id="rId10" Type="http://schemas.openxmlformats.org/officeDocument/2006/relationships/image" Target="../media/image17.png"/><Relationship Id="rId11" Type="http://schemas.openxmlformats.org/officeDocument/2006/relationships/image" Target="../media/image18.svg"/><Relationship Id="rId12" Type="http://schemas.openxmlformats.org/officeDocument/2006/relationships/image" Target="../media/image32.png"/><Relationship Id="rId13" Type="http://schemas.openxmlformats.org/officeDocument/2006/relationships/image" Target="../media/image33.png"/><Relationship Id="rId14" Type="http://schemas.openxmlformats.org/officeDocument/2006/relationships/image" Target="../media/image39.png"/><Relationship Id="rId15" Type="http://schemas.openxmlformats.org/officeDocument/2006/relationships/image" Target="../media/image40.png"/><Relationship Id="rId16"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5.png"/><Relationship Id="rId3" Type="http://schemas.openxmlformats.org/officeDocument/2006/relationships/image" Target="../media/image16.svg"/><Relationship Id="rId4" Type="http://schemas.openxmlformats.org/officeDocument/2006/relationships/image" Target="../media/image3.png"/><Relationship Id="rId5"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image" Target="../media/image48.png"/><Relationship Id="rId4" Type="http://schemas.openxmlformats.org/officeDocument/2006/relationships/oleObject" Target="../embeddings/oleObject1.bin"/><Relationship Id="rId5"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image" Target="../media/image60.png"/><Relationship Id="rId4" Type="http://schemas.openxmlformats.org/officeDocument/2006/relationships/image" Target="../media/image61.png"/><Relationship Id="rId5" Type="http://schemas.openxmlformats.org/officeDocument/2006/relationships/image" Target="../media/image62.svg"/><Relationship Id="rId6" Type="http://schemas.openxmlformats.org/officeDocument/2006/relationships/image" Target="../media/image63.png"/><Relationship Id="rId7" Type="http://schemas.openxmlformats.org/officeDocument/2006/relationships/image" Target="../media/image64.png"/><Relationship Id="rId8"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image" Target="../media/image41.png"/><Relationship Id="rId4" Type="http://schemas.openxmlformats.org/officeDocument/2006/relationships/image" Target="../media/image42.png"/><Relationship Id="rId5" Type="http://schemas.openxmlformats.org/officeDocument/2006/relationships/image" Target="../media/image43.png"/><Relationship Id="rId6" Type="http://schemas.openxmlformats.org/officeDocument/2006/relationships/image" Target="../media/image44.png"/><Relationship Id="rId7" Type="http://schemas.openxmlformats.org/officeDocument/2006/relationships/image" Target="../media/image45.png"/><Relationship Id="rId8" Type="http://schemas.openxmlformats.org/officeDocument/2006/relationships/image" Target="../media/image46.png"/><Relationship Id="rId9" Type="http://schemas.openxmlformats.org/officeDocument/2006/relationships/image" Target="../media/image47.svg"/><Relationship Id="rId10" Type="http://schemas.openxmlformats.org/officeDocument/2006/relationships/image" Target="../media/image22.png"/><Relationship Id="rId11" Type="http://schemas.openxmlformats.org/officeDocument/2006/relationships/notesSlide" Target="../notesSlides/notesSlide23.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5.png"/><Relationship Id="rId3" Type="http://schemas.openxmlformats.org/officeDocument/2006/relationships/image" Target="../media/image16.svg"/><Relationship Id="rId4" Type="http://schemas.openxmlformats.org/officeDocument/2006/relationships/image" Target="../media/image65.png"/><Relationship Id="rId5" Type="http://schemas.openxmlformats.org/officeDocument/2006/relationships/image" Target="../media/image66.svg"/><Relationship Id="rId6" Type="http://schemas.openxmlformats.org/officeDocument/2006/relationships/image" Target="../media/image3.png"/><Relationship Id="rId7" Type="http://schemas.openxmlformats.org/officeDocument/2006/relationships/notesSlide" Target="../notesSlides/notesSlide22.xml"/></Relationships>
</file>

<file path=ppt/slides/slide1.xml><?xml version="1.0" encoding="utf-8"?>
<p:sld xmlns:p="http://schemas.openxmlformats.org/presentationml/2006/main" xmlns:a="http://schemas.openxmlformats.org/drawingml/2006/main" xmlns:r="http://schemas.openxmlformats.org/officeDocument/2006/relationships">
  <p:cSld>
    <p:bg>
      <p:bgPr>
        <a:solidFill>
          <a:srgbClr val="F5FFF9"/>
        </a:solidFill>
      </p:bgPr>
    </p:bg>
    <p:spTree>
      <p:nvGrpSpPr>
        <p:cNvPr id="1" name=""/>
        <p:cNvGrpSpPr/>
        <p:nvPr/>
      </p:nvGrpSpPr>
      <p:grpSpPr>
        <a:xfrm>
          <a:off x="0" y="0"/>
          <a:ext cx="0" cy="0"/>
          <a:chOff x="0" y="0"/>
          <a:chExt cx="0" cy="0"/>
        </a:xfrm>
      </p:grpSpPr>
      <p:grpSp>
        <p:nvGrpSpPr>
          <p:cNvPr name="Group 2" id="2"/>
          <p:cNvGrpSpPr/>
          <p:nvPr/>
        </p:nvGrpSpPr>
        <p:grpSpPr>
          <a:xfrm rot="-7443504">
            <a:off x="8113698" y="2215238"/>
            <a:ext cx="11403913" cy="11403913"/>
            <a:chOff x="0" y="0"/>
            <a:chExt cx="812800" cy="812800"/>
          </a:xfrm>
        </p:grpSpPr>
        <p:sp>
          <p:nvSpPr>
            <p:cNvPr name="Freeform 3" id="3"/>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true">
              <a:gsLst>
                <a:gs pos="0">
                  <a:srgbClr val="9FC4AE">
                    <a:alpha val="66000"/>
                  </a:srgbClr>
                </a:gs>
                <a:gs pos="100000">
                  <a:srgbClr val="FFFFFF">
                    <a:alpha val="66000"/>
                  </a:srgbClr>
                </a:gs>
              </a:gsLst>
              <a:lin ang="0"/>
            </a:gradFill>
          </p:spPr>
        </p:sp>
        <p:sp>
          <p:nvSpPr>
            <p:cNvPr name="TextBox 4" id="4"/>
            <p:cNvSpPr txBox="true"/>
            <p:nvPr/>
          </p:nvSpPr>
          <p:spPr>
            <a:xfrm>
              <a:off x="76200" y="28575"/>
              <a:ext cx="660400" cy="708025"/>
            </a:xfrm>
            <a:prstGeom prst="rect">
              <a:avLst/>
            </a:prstGeom>
          </p:spPr>
          <p:txBody>
            <a:bodyPr anchor="ctr" rtlCol="false" tIns="50800" lIns="50800" bIns="50800" rIns="50800"/>
            <a:lstStyle/>
            <a:p>
              <a:pPr algn="ctr">
                <a:lnSpc>
                  <a:spcPts val="2936"/>
                </a:lnSpc>
              </a:pPr>
            </a:p>
          </p:txBody>
        </p:sp>
      </p:grpSp>
      <p:sp>
        <p:nvSpPr>
          <p:cNvPr name="Freeform 5" id="5"/>
          <p:cNvSpPr/>
          <p:nvPr/>
        </p:nvSpPr>
        <p:spPr>
          <a:xfrm flipH="false" flipV="false" rot="0">
            <a:off x="15164465" y="7183120"/>
            <a:ext cx="3098620" cy="3098620"/>
          </a:xfrm>
          <a:custGeom>
            <a:avLst/>
            <a:gdLst/>
            <a:ahLst/>
            <a:cxnLst/>
            <a:rect r="r" b="b" t="t" l="l"/>
            <a:pathLst>
              <a:path h="3098620" w="3098620">
                <a:moveTo>
                  <a:pt x="0" y="0"/>
                </a:moveTo>
                <a:lnTo>
                  <a:pt x="3098620" y="0"/>
                </a:lnTo>
                <a:lnTo>
                  <a:pt x="3098620" y="3098621"/>
                </a:lnTo>
                <a:lnTo>
                  <a:pt x="0" y="3098621"/>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txBody>
          <a:bodyPr/>
          <a:p/>
        </p:txBody>
      </p:sp>
      <p:grpSp>
        <p:nvGrpSpPr>
          <p:cNvPr name="Group 6" id="6"/>
          <p:cNvGrpSpPr/>
          <p:nvPr/>
        </p:nvGrpSpPr>
        <p:grpSpPr>
          <a:xfrm rot="-7443504">
            <a:off x="-2519434" y="-2973243"/>
            <a:ext cx="7096268" cy="7096268"/>
            <a:chOff x="0" y="0"/>
            <a:chExt cx="812800" cy="812800"/>
          </a:xfrm>
        </p:grpSpPr>
        <p:sp>
          <p:nvSpPr>
            <p:cNvPr name="Freeform 7" id="7"/>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true">
              <a:gsLst>
                <a:gs pos="0">
                  <a:srgbClr val="9FC4AE">
                    <a:alpha val="66000"/>
                  </a:srgbClr>
                </a:gs>
                <a:gs pos="100000">
                  <a:srgbClr val="FFFFFF">
                    <a:alpha val="66000"/>
                  </a:srgbClr>
                </a:gs>
              </a:gsLst>
              <a:lin ang="0"/>
            </a:gradFill>
          </p:spPr>
        </p:sp>
        <p:sp>
          <p:nvSpPr>
            <p:cNvPr name="TextBox 8" id="8"/>
            <p:cNvSpPr txBox="true"/>
            <p:nvPr/>
          </p:nvSpPr>
          <p:spPr>
            <a:xfrm>
              <a:off x="76200" y="28575"/>
              <a:ext cx="660400" cy="708025"/>
            </a:xfrm>
            <a:prstGeom prst="rect">
              <a:avLst/>
            </a:prstGeom>
          </p:spPr>
          <p:txBody>
            <a:bodyPr anchor="ctr" rtlCol="false" tIns="50800" lIns="50800" bIns="50800" rIns="50800"/>
            <a:lstStyle/>
            <a:p>
              <a:pPr algn="ctr">
                <a:lnSpc>
                  <a:spcPts val="2936"/>
                </a:lnSpc>
              </a:pPr>
            </a:p>
          </p:txBody>
        </p:sp>
      </p:grpSp>
      <p:sp>
        <p:nvSpPr>
          <p:cNvPr name="Freeform 9" id="9"/>
          <p:cNvSpPr/>
          <p:nvPr/>
        </p:nvSpPr>
        <p:spPr>
          <a:xfrm flipH="false" flipV="false" rot="0">
            <a:off x="0" y="0"/>
            <a:ext cx="3098620" cy="3098620"/>
          </a:xfrm>
          <a:custGeom>
            <a:avLst/>
            <a:gdLst/>
            <a:ahLst/>
            <a:cxnLst/>
            <a:rect r="r" b="b" t="t" l="l"/>
            <a:pathLst>
              <a:path h="3098620" w="3098620">
                <a:moveTo>
                  <a:pt x="0" y="0"/>
                </a:moveTo>
                <a:lnTo>
                  <a:pt x="3098620" y="0"/>
                </a:lnTo>
                <a:lnTo>
                  <a:pt x="3098620" y="3098620"/>
                </a:lnTo>
                <a:lnTo>
                  <a:pt x="0" y="309862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txBody>
          <a:bodyPr/>
          <a:p/>
        </p:txBody>
      </p:sp>
      <p:sp>
        <p:nvSpPr>
          <p:cNvPr name="Freeform 10" id="10"/>
          <p:cNvSpPr/>
          <p:nvPr/>
        </p:nvSpPr>
        <p:spPr>
          <a:xfrm flipH="false" flipV="false" rot="0">
            <a:off x="7831954" y="219604"/>
            <a:ext cx="2624091" cy="1997225"/>
          </a:xfrm>
          <a:custGeom>
            <a:avLst/>
            <a:gdLst/>
            <a:ahLst/>
            <a:cxnLst/>
            <a:rect r="r" b="b" t="t" l="l"/>
            <a:pathLst>
              <a:path h="1997225" w="2624091">
                <a:moveTo>
                  <a:pt x="0" y="0"/>
                </a:moveTo>
                <a:lnTo>
                  <a:pt x="2624092" y="0"/>
                </a:lnTo>
                <a:lnTo>
                  <a:pt x="2624092" y="1997225"/>
                </a:lnTo>
                <a:lnTo>
                  <a:pt x="0" y="1997225"/>
                </a:lnTo>
                <a:lnTo>
                  <a:pt x="0" y="0"/>
                </a:lnTo>
                <a:close/>
              </a:path>
            </a:pathLst>
          </a:custGeom>
          <a:blipFill>
            <a:blip r:embed="rId4"/>
            <a:stretch>
              <a:fillRect l="0" t="0" r="0" b="0"/>
            </a:stretch>
          </a:blipFill>
        </p:spPr>
        <p:txBody>
          <a:bodyPr/>
          <a:p/>
        </p:txBody>
      </p:sp>
      <p:sp>
        <p:nvSpPr>
          <p:cNvPr name="TextBox 11" id="11"/>
          <p:cNvSpPr txBox="true"/>
          <p:nvPr/>
        </p:nvSpPr>
        <p:spPr>
          <a:xfrm rot="0">
            <a:off x="5029200" y="4214087"/>
            <a:ext cx="8229600" cy="2118258"/>
          </a:xfrm>
          <a:prstGeom prst="rect">
            <a:avLst/>
          </a:prstGeom>
        </p:spPr>
        <p:txBody>
          <a:bodyPr anchor="t" rtlCol="false" tIns="0" lIns="0" bIns="0" rIns="0">
            <a:spAutoFit/>
          </a:bodyPr>
          <a:lstStyle/>
          <a:p>
            <a:pPr algn="ctr">
              <a:lnSpc>
                <a:spcPts val="5638"/>
              </a:lnSpc>
            </a:pPr>
            <a:r>
              <a:rPr lang="en-US" b="true" sz="4027">
                <a:solidFill>
                  <a:srgbClr val="457C5B"/>
                </a:solidFill>
                <a:latin typeface="Manifold Heavy"/>
                <a:ea typeface="Manifold Heavy"/>
                <a:cs typeface="Manifold Heavy"/>
                <a:sym typeface="Manifold Heavy"/>
              </a:rPr>
              <a:t>PROMPTOPT - </a:t>
            </a:r>
          </a:p>
          <a:p>
            <a:pPr algn="ctr">
              <a:lnSpc>
                <a:spcPts val="5638"/>
              </a:lnSpc>
            </a:pPr>
            <a:r>
              <a:rPr lang="en-US" b="true" sz="4027">
                <a:solidFill>
                  <a:srgbClr val="457C5B"/>
                </a:solidFill>
                <a:latin typeface="Manifold Heavy"/>
                <a:ea typeface="Manifold Heavy"/>
                <a:cs typeface="Manifold Heavy"/>
                <a:sym typeface="Manifold Heavy"/>
              </a:rPr>
              <a:t>TOKEN-EFFICIENT PROMPT</a:t>
            </a:r>
          </a:p>
          <a:p>
            <a:pPr algn="ctr">
              <a:lnSpc>
                <a:spcPts val="5638"/>
              </a:lnSpc>
            </a:pPr>
            <a:r>
              <a:rPr lang="en-US" b="true" sz="4027">
                <a:solidFill>
                  <a:srgbClr val="457C5B"/>
                </a:solidFill>
                <a:latin typeface="Manifold Heavy"/>
                <a:ea typeface="Manifold Heavy"/>
                <a:cs typeface="Manifold Heavy"/>
                <a:sym typeface="Manifold Heavy"/>
              </a:rPr>
              <a:t>OPTIMIZATION FOR LLMS</a:t>
            </a:r>
          </a:p>
        </p:txBody>
      </p:sp>
      <p:sp>
        <p:nvSpPr>
          <p:cNvPr name="TextBox 12" id="12"/>
          <p:cNvSpPr txBox="true"/>
          <p:nvPr/>
        </p:nvSpPr>
        <p:spPr>
          <a:xfrm rot="0">
            <a:off x="6390113" y="8728282"/>
            <a:ext cx="5486400" cy="986155"/>
          </a:xfrm>
          <a:prstGeom prst="rect">
            <a:avLst/>
          </a:prstGeom>
        </p:spPr>
        <p:txBody>
          <a:bodyPr anchor="t" rtlCol="false" tIns="0" lIns="0" bIns="0" rIns="0">
            <a:spAutoFit/>
          </a:bodyPr>
          <a:lstStyle/>
          <a:p>
            <a:pPr algn="ctr">
              <a:lnSpc>
                <a:spcPts val="3919"/>
              </a:lnSpc>
            </a:pPr>
            <a:r>
              <a:rPr lang="en-US" sz="2799" b="true">
                <a:solidFill>
                  <a:srgbClr val="457C5B"/>
                </a:solidFill>
                <a:latin typeface="Manifold Bold"/>
                <a:ea typeface="Manifold Bold"/>
                <a:cs typeface="Manifold Bold"/>
                <a:sym typeface="Manifold Bold"/>
              </a:rPr>
              <a:t>Under the Guidance of - </a:t>
            </a:r>
          </a:p>
          <a:p>
            <a:pPr algn="ctr" marL="0" indent="0" lvl="0">
              <a:lnSpc>
                <a:spcPts val="3919"/>
              </a:lnSpc>
              <a:spcBef>
                <a:spcPct val="0"/>
              </a:spcBef>
            </a:pPr>
            <a:r>
              <a:rPr lang="en-US" b="true" sz="2799">
                <a:solidFill>
                  <a:srgbClr val="457C5B"/>
                </a:solidFill>
                <a:latin typeface="Manifold Bold"/>
                <a:ea typeface="Manifold Bold"/>
                <a:cs typeface="Manifold Bold"/>
                <a:sym typeface="Manifold Bold"/>
              </a:rPr>
              <a:t>Prof. A.S. Pawar</a:t>
            </a:r>
          </a:p>
        </p:txBody>
      </p:sp>
      <p:grpSp>
        <p:nvGrpSpPr>
          <p:cNvPr name="Group 13" id="13"/>
          <p:cNvGrpSpPr/>
          <p:nvPr/>
        </p:nvGrpSpPr>
        <p:grpSpPr>
          <a:xfrm rot="0">
            <a:off x="6122412" y="6484745"/>
            <a:ext cx="6043175" cy="2079333"/>
            <a:chOff x="0" y="0"/>
            <a:chExt cx="8057567" cy="2772444"/>
          </a:xfrm>
        </p:grpSpPr>
        <p:sp>
          <p:nvSpPr>
            <p:cNvPr name="Freeform 14" id="14"/>
            <p:cNvSpPr/>
            <p:nvPr/>
          </p:nvSpPr>
          <p:spPr>
            <a:xfrm flipH="false" flipV="false" rot="0">
              <a:off x="0" y="0"/>
              <a:ext cx="8057567" cy="1034884"/>
            </a:xfrm>
            <a:custGeom>
              <a:avLst/>
              <a:gdLst/>
              <a:ahLst/>
              <a:cxnLst/>
              <a:rect r="r" b="b" t="t" l="l"/>
              <a:pathLst>
                <a:path h="1034884" w="8057567">
                  <a:moveTo>
                    <a:pt x="0" y="0"/>
                  </a:moveTo>
                  <a:lnTo>
                    <a:pt x="8057567" y="0"/>
                  </a:lnTo>
                  <a:lnTo>
                    <a:pt x="8057567" y="1034884"/>
                  </a:lnTo>
                  <a:lnTo>
                    <a:pt x="0" y="1034884"/>
                  </a:lnTo>
                  <a:lnTo>
                    <a:pt x="0" y="0"/>
                  </a:lnTo>
                  <a:close/>
                </a:path>
              </a:pathLst>
            </a:custGeom>
            <a:blipFill>
              <a:blip r:embed="rId5">
                <a:extLst>
                  <a:ext uri="{96DAC541-7B7A-43D3-8B79-37D633B846F1}">
                    <asvg:svgBlip xmlns:asvg="http://schemas.microsoft.com/office/drawing/2016/SVG/main" r:embed="rId6"/>
                  </a:ext>
                </a:extLst>
              </a:blip>
              <a:stretch>
                <a:fillRect l="0" t="0" r="0" b="-40147"/>
              </a:stretch>
            </a:blipFill>
          </p:spPr>
        </p:sp>
        <p:sp>
          <p:nvSpPr>
            <p:cNvPr name="TextBox 15" id="15"/>
            <p:cNvSpPr txBox="true"/>
            <p:nvPr/>
          </p:nvSpPr>
          <p:spPr>
            <a:xfrm rot="0">
              <a:off x="1832593" y="-47625"/>
              <a:ext cx="4392380" cy="471898"/>
            </a:xfrm>
            <a:prstGeom prst="rect">
              <a:avLst/>
            </a:prstGeom>
          </p:spPr>
          <p:txBody>
            <a:bodyPr anchor="t" rtlCol="false" tIns="0" lIns="0" bIns="0" rIns="0">
              <a:spAutoFit/>
            </a:bodyPr>
            <a:lstStyle/>
            <a:p>
              <a:pPr algn="ctr">
                <a:lnSpc>
                  <a:spcPts val="2936"/>
                </a:lnSpc>
              </a:pPr>
              <a:r>
                <a:rPr lang="en-US" sz="2097">
                  <a:solidFill>
                    <a:srgbClr val="457C5B"/>
                  </a:solidFill>
                  <a:latin typeface="Manifold"/>
                  <a:ea typeface="Manifold"/>
                  <a:cs typeface="Manifold"/>
                  <a:sym typeface="Manifold"/>
                </a:rPr>
                <a:t>Team Members</a:t>
              </a:r>
            </a:p>
          </p:txBody>
        </p:sp>
        <p:sp>
          <p:nvSpPr>
            <p:cNvPr name="TextBox 16" id="16"/>
            <p:cNvSpPr txBox="true"/>
            <p:nvPr/>
          </p:nvSpPr>
          <p:spPr>
            <a:xfrm rot="0">
              <a:off x="28498" y="499826"/>
              <a:ext cx="8000571" cy="2060669"/>
            </a:xfrm>
            <a:prstGeom prst="rect">
              <a:avLst/>
            </a:prstGeom>
          </p:spPr>
          <p:txBody>
            <a:bodyPr anchor="t" rtlCol="false" tIns="0" lIns="0" bIns="0" rIns="0">
              <a:spAutoFit/>
            </a:bodyPr>
            <a:lstStyle/>
            <a:p>
              <a:pPr algn="ctr">
                <a:lnSpc>
                  <a:spcPts val="4196"/>
                </a:lnSpc>
              </a:pPr>
              <a:r>
                <a:rPr lang="en-US" sz="2997" b="true">
                  <a:solidFill>
                    <a:srgbClr val="457C5B"/>
                  </a:solidFill>
                  <a:latin typeface="Manifold Bold"/>
                  <a:ea typeface="Manifold Bold"/>
                  <a:cs typeface="Manifold Bold"/>
                  <a:sym typeface="Manifold Bold"/>
                </a:rPr>
                <a:t>Piush U. Gogi - 255200005</a:t>
              </a:r>
            </a:p>
            <a:p>
              <a:pPr algn="ctr">
                <a:lnSpc>
                  <a:spcPts val="4196"/>
                </a:lnSpc>
              </a:pPr>
              <a:r>
                <a:rPr lang="en-US" sz="2997" b="true">
                  <a:solidFill>
                    <a:srgbClr val="457C5B"/>
                  </a:solidFill>
                  <a:latin typeface="Manifold Bold"/>
                  <a:ea typeface="Manifold Bold"/>
                  <a:cs typeface="Manifold Bold"/>
                  <a:sym typeface="Manifold Bold"/>
                </a:rPr>
                <a:t>Nirzara A. Manade - 255200006</a:t>
              </a:r>
            </a:p>
            <a:p>
              <a:pPr algn="ctr">
                <a:lnSpc>
                  <a:spcPts val="4196"/>
                </a:lnSpc>
              </a:pPr>
              <a:r>
                <a:rPr lang="en-US" sz="2997" b="true">
                  <a:solidFill>
                    <a:srgbClr val="457C5B"/>
                  </a:solidFill>
                  <a:latin typeface="Manifold Bold"/>
                  <a:ea typeface="Manifold Bold"/>
                  <a:cs typeface="Manifold Bold"/>
                  <a:sym typeface="Manifold Bold"/>
                </a:rPr>
                <a:t>Siddhi S. Bolaikar - 255200008</a:t>
              </a:r>
            </a:p>
          </p:txBody>
        </p:sp>
        <p:sp>
          <p:nvSpPr>
            <p:cNvPr name="Freeform 17" id="17"/>
            <p:cNvSpPr/>
            <p:nvPr/>
          </p:nvSpPr>
          <p:spPr>
            <a:xfrm flipH="false" flipV="false" rot="0">
              <a:off x="0" y="2014660"/>
              <a:ext cx="8029069" cy="757784"/>
            </a:xfrm>
            <a:custGeom>
              <a:avLst/>
              <a:gdLst/>
              <a:ahLst/>
              <a:cxnLst/>
              <a:rect r="r" b="b" t="t" l="l"/>
              <a:pathLst>
                <a:path h="757784" w="8029069">
                  <a:moveTo>
                    <a:pt x="0" y="0"/>
                  </a:moveTo>
                  <a:lnTo>
                    <a:pt x="8029069" y="0"/>
                  </a:lnTo>
                  <a:lnTo>
                    <a:pt x="8029069" y="757784"/>
                  </a:lnTo>
                  <a:lnTo>
                    <a:pt x="0" y="757784"/>
                  </a:lnTo>
                  <a:lnTo>
                    <a:pt x="0" y="0"/>
                  </a:lnTo>
                  <a:close/>
                </a:path>
              </a:pathLst>
            </a:custGeom>
            <a:blipFill>
              <a:blip r:embed="rId5">
                <a:extLst>
                  <a:ext uri="{96DAC541-7B7A-43D3-8B79-37D633B846F1}">
                    <asvg:svgBlip xmlns:asvg="http://schemas.microsoft.com/office/drawing/2016/SVG/main" r:embed="rId6"/>
                  </a:ext>
                </a:extLst>
              </a:blip>
              <a:stretch>
                <a:fillRect l="-57" t="-90828" r="0" b="0"/>
              </a:stretch>
            </a:blipFill>
          </p:spPr>
        </p:sp>
      </p:grpSp>
      <p:sp>
        <p:nvSpPr>
          <p:cNvPr name="TextBox 18" id="18"/>
          <p:cNvSpPr txBox="true"/>
          <p:nvPr/>
        </p:nvSpPr>
        <p:spPr>
          <a:xfrm rot="0">
            <a:off x="2971800" y="2271291"/>
            <a:ext cx="12344400" cy="704971"/>
          </a:xfrm>
          <a:prstGeom prst="rect">
            <a:avLst/>
          </a:prstGeom>
        </p:spPr>
        <p:txBody>
          <a:bodyPr anchor="t" rtlCol="false" tIns="0" lIns="0" bIns="0" rIns="0">
            <a:spAutoFit/>
          </a:bodyPr>
          <a:lstStyle/>
          <a:p>
            <a:pPr algn="ctr">
              <a:lnSpc>
                <a:spcPts val="5768"/>
              </a:lnSpc>
              <a:spcBef>
                <a:spcPct val="0"/>
              </a:spcBef>
            </a:pPr>
            <a:r>
              <a:rPr lang="en-US" b="true" sz="4120">
                <a:solidFill>
                  <a:srgbClr val="8E1711"/>
                </a:solidFill>
                <a:latin typeface="Neue Montreal Bold"/>
                <a:ea typeface="Neue Montreal Bold"/>
                <a:cs typeface="Neue Montreal Bold"/>
                <a:sym typeface="Neue Montreal Bold"/>
              </a:rPr>
              <a:t>Walchand College of Engineering, Sangli</a:t>
            </a:r>
          </a:p>
        </p:txBody>
      </p:sp>
      <p:sp>
        <p:nvSpPr>
          <p:cNvPr name="TextBox 19" id="19"/>
          <p:cNvSpPr txBox="true"/>
          <p:nvPr/>
        </p:nvSpPr>
        <p:spPr>
          <a:xfrm rot="0">
            <a:off x="3875513" y="3031507"/>
            <a:ext cx="10515600" cy="455365"/>
          </a:xfrm>
          <a:prstGeom prst="rect">
            <a:avLst/>
          </a:prstGeom>
        </p:spPr>
        <p:txBody>
          <a:bodyPr anchor="t" rtlCol="false" tIns="0" lIns="0" bIns="0" rIns="0">
            <a:spAutoFit/>
          </a:bodyPr>
          <a:lstStyle/>
          <a:p>
            <a:pPr algn="ctr">
              <a:lnSpc>
                <a:spcPts val="3776"/>
              </a:lnSpc>
              <a:spcBef>
                <a:spcPct val="0"/>
              </a:spcBef>
            </a:pPr>
            <a:r>
              <a:rPr lang="en-US" b="true" sz="2697">
                <a:solidFill>
                  <a:srgbClr val="8E1711"/>
                </a:solidFill>
                <a:latin typeface="Neue Montreal Bold"/>
                <a:ea typeface="Neue Montreal Bold"/>
                <a:cs typeface="Neue Montreal Bold"/>
                <a:sym typeface="Neue Montreal Bold"/>
              </a:rPr>
              <a:t>Dept. of Computer Science and Engineering, TY (A)</a:t>
            </a:r>
          </a:p>
        </p:txBody>
      </p:sp>
      <p:sp>
        <p:nvSpPr>
          <p:cNvPr name="TextBox 20" id="20"/>
          <p:cNvSpPr txBox="true"/>
          <p:nvPr/>
        </p:nvSpPr>
        <p:spPr>
          <a:xfrm rot="0">
            <a:off x="4114800" y="3553547"/>
            <a:ext cx="10058400" cy="339795"/>
          </a:xfrm>
          <a:prstGeom prst="rect">
            <a:avLst/>
          </a:prstGeom>
        </p:spPr>
        <p:txBody>
          <a:bodyPr anchor="t" rtlCol="false" tIns="0" lIns="0" bIns="0" rIns="0">
            <a:spAutoFit/>
          </a:bodyPr>
          <a:lstStyle/>
          <a:p>
            <a:pPr algn="ctr">
              <a:lnSpc>
                <a:spcPts val="2796"/>
              </a:lnSpc>
              <a:spcBef>
                <a:spcPct val="0"/>
              </a:spcBef>
            </a:pPr>
            <a:r>
              <a:rPr lang="en-US" b="true" sz="1997">
                <a:solidFill>
                  <a:srgbClr val="8E1711"/>
                </a:solidFill>
                <a:latin typeface="Neue Montreal Bold"/>
                <a:ea typeface="Neue Montreal Bold"/>
                <a:cs typeface="Neue Montreal Bold"/>
                <a:sym typeface="Neue Montreal Bold"/>
              </a:rPr>
              <a:t>MINI PROJECT-I (7CS345)</a:t>
            </a:r>
            <a:r>
              <a:rPr lang="en-US" b="true" sz="1997">
                <a:solidFill>
                  <a:srgbClr val="8E1711"/>
                </a:solidFill>
                <a:latin typeface="Neue Montreal Bold"/>
                <a:ea typeface="Neue Montreal Bold"/>
                <a:cs typeface="Neue Montreal Bold"/>
                <a:sym typeface="Neue Montreal Bold"/>
              </a:rPr>
              <a:t> — FINAL</a:t>
            </a:r>
            <a:r>
              <a:rPr lang="en-US" b="true" sz="1997">
                <a:solidFill>
                  <a:srgbClr val="8E1711"/>
                </a:solidFill>
                <a:latin typeface="Neue Montreal Bold"/>
                <a:ea typeface="Neue Montreal Bold"/>
                <a:cs typeface="Neue Montreal Bold"/>
                <a:sym typeface="Neue Montreal Bold"/>
              </a:rPr>
              <a:t> EVALUATION,</a:t>
            </a:r>
          </a:p>
        </p:txBody>
      </p:sp>
      <p:sp>
        <p:nvSpPr>
          <p:cNvPr name="TextBox 21" id="21"/>
          <p:cNvSpPr txBox="true"/>
          <p:nvPr/>
        </p:nvSpPr>
        <p:spPr>
          <a:xfrm rot="0">
            <a:off x="7772400" y="3855242"/>
            <a:ext cx="2743200" cy="339795"/>
          </a:xfrm>
          <a:prstGeom prst="rect">
            <a:avLst/>
          </a:prstGeom>
        </p:spPr>
        <p:txBody>
          <a:bodyPr anchor="t" rtlCol="false" tIns="0" lIns="0" bIns="0" rIns="0">
            <a:spAutoFit/>
          </a:bodyPr>
          <a:lstStyle/>
          <a:p>
            <a:pPr algn="ctr">
              <a:lnSpc>
                <a:spcPts val="2796"/>
              </a:lnSpc>
              <a:spcBef>
                <a:spcPct val="0"/>
              </a:spcBef>
            </a:pPr>
            <a:r>
              <a:rPr lang="en-US" b="true" sz="1997">
                <a:solidFill>
                  <a:srgbClr val="8E1711"/>
                </a:solidFill>
                <a:latin typeface="Neue Montreal Bold"/>
                <a:ea typeface="Neue Montreal Bold"/>
                <a:cs typeface="Neue Montreal Bold"/>
                <a:sym typeface="Neue Montreal Bold"/>
              </a:rPr>
              <a:t>2026-27</a:t>
            </a: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bg>
      <p:bgPr>
        <a:solidFill>
          <a:srgbClr val="F5FFF9"/>
        </a:solidFill>
      </p:bgPr>
    </p:bg>
    <p:spTree>
      <p:nvGrpSpPr>
        <p:cNvPr id="1" name=""/>
        <p:cNvGrpSpPr/>
        <p:nvPr/>
      </p:nvGrpSpPr>
      <p:grpSpPr>
        <a:xfrm>
          <a:off x="0" y="0"/>
          <a:ext cx="0" cy="0"/>
          <a:chOff x="0" y="0"/>
          <a:chExt cx="0" cy="0"/>
        </a:xfrm>
      </p:grpSpPr>
      <p:sp>
        <p:nvSpPr>
          <p:cNvPr name="Freeform 2" id="2"/>
          <p:cNvSpPr/>
          <p:nvPr/>
        </p:nvSpPr>
        <p:spPr>
          <a:xfrm flipH="false" flipV="false" rot="0">
            <a:off x="15829896" y="-606283"/>
            <a:ext cx="3098620" cy="3098620"/>
          </a:xfrm>
          <a:custGeom>
            <a:avLst/>
            <a:gdLst/>
            <a:ahLst/>
            <a:cxnLst/>
            <a:rect r="r" b="b" t="t" l="l"/>
            <a:pathLst>
              <a:path h="3098620" w="3098620">
                <a:moveTo>
                  <a:pt x="0" y="0"/>
                </a:moveTo>
                <a:lnTo>
                  <a:pt x="3098620" y="0"/>
                </a:lnTo>
                <a:lnTo>
                  <a:pt x="3098620" y="3098620"/>
                </a:lnTo>
                <a:lnTo>
                  <a:pt x="0" y="309862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3" id="3"/>
          <p:cNvGrpSpPr/>
          <p:nvPr/>
        </p:nvGrpSpPr>
        <p:grpSpPr>
          <a:xfrm rot="0">
            <a:off x="1482696" y="4180589"/>
            <a:ext cx="6833411" cy="715348"/>
            <a:chOff x="0" y="0"/>
            <a:chExt cx="1915645" cy="200537"/>
          </a:xfrm>
        </p:grpSpPr>
        <p:sp>
          <p:nvSpPr>
            <p:cNvPr name="Freeform 4" id="4"/>
            <p:cNvSpPr/>
            <p:nvPr/>
          </p:nvSpPr>
          <p:spPr>
            <a:xfrm flipH="false" flipV="false" rot="0">
              <a:off x="0" y="0"/>
              <a:ext cx="1915645" cy="200537"/>
            </a:xfrm>
            <a:custGeom>
              <a:avLst/>
              <a:gdLst/>
              <a:ahLst/>
              <a:cxnLst/>
              <a:rect r="r" b="b" t="t" l="l"/>
              <a:pathLst>
                <a:path h="200537" w="1915645">
                  <a:moveTo>
                    <a:pt x="20393" y="0"/>
                  </a:moveTo>
                  <a:lnTo>
                    <a:pt x="1895252" y="0"/>
                  </a:lnTo>
                  <a:cubicBezTo>
                    <a:pt x="1906515" y="0"/>
                    <a:pt x="1915645" y="9130"/>
                    <a:pt x="1915645" y="20393"/>
                  </a:cubicBezTo>
                  <a:lnTo>
                    <a:pt x="1915645" y="180144"/>
                  </a:lnTo>
                  <a:cubicBezTo>
                    <a:pt x="1915645" y="191407"/>
                    <a:pt x="1906515" y="200537"/>
                    <a:pt x="1895252" y="200537"/>
                  </a:cubicBezTo>
                  <a:lnTo>
                    <a:pt x="20393" y="200537"/>
                  </a:lnTo>
                  <a:cubicBezTo>
                    <a:pt x="14985" y="200537"/>
                    <a:pt x="9797" y="198389"/>
                    <a:pt x="5973" y="194564"/>
                  </a:cubicBezTo>
                  <a:cubicBezTo>
                    <a:pt x="2149" y="190740"/>
                    <a:pt x="0" y="185553"/>
                    <a:pt x="0" y="180144"/>
                  </a:cubicBezTo>
                  <a:lnTo>
                    <a:pt x="0" y="20393"/>
                  </a:lnTo>
                  <a:cubicBezTo>
                    <a:pt x="0" y="14985"/>
                    <a:pt x="2149" y="9797"/>
                    <a:pt x="5973" y="5973"/>
                  </a:cubicBezTo>
                  <a:cubicBezTo>
                    <a:pt x="9797" y="2149"/>
                    <a:pt x="14985" y="0"/>
                    <a:pt x="20393" y="0"/>
                  </a:cubicBezTo>
                  <a:close/>
                </a:path>
              </a:pathLst>
            </a:custGeom>
            <a:solidFill>
              <a:srgbClr val="457C5B"/>
            </a:solidFill>
          </p:spPr>
        </p:sp>
        <p:sp>
          <p:nvSpPr>
            <p:cNvPr name="TextBox 5" id="5"/>
            <p:cNvSpPr txBox="true"/>
            <p:nvPr/>
          </p:nvSpPr>
          <p:spPr>
            <a:xfrm>
              <a:off x="0" y="-47625"/>
              <a:ext cx="1915645" cy="248162"/>
            </a:xfrm>
            <a:prstGeom prst="rect">
              <a:avLst/>
            </a:prstGeom>
          </p:spPr>
          <p:txBody>
            <a:bodyPr anchor="ctr" rtlCol="false" tIns="50800" lIns="50800" bIns="50800" rIns="50800"/>
            <a:lstStyle/>
            <a:p>
              <a:pPr algn="ctr">
                <a:lnSpc>
                  <a:spcPts val="2936"/>
                </a:lnSpc>
              </a:pPr>
            </a:p>
          </p:txBody>
        </p:sp>
      </p:grpSp>
      <p:grpSp>
        <p:nvGrpSpPr>
          <p:cNvPr name="Group 6" id="6"/>
          <p:cNvGrpSpPr/>
          <p:nvPr/>
        </p:nvGrpSpPr>
        <p:grpSpPr>
          <a:xfrm rot="0">
            <a:off x="1482696" y="5240076"/>
            <a:ext cx="6877205" cy="715348"/>
            <a:chOff x="0" y="0"/>
            <a:chExt cx="1927922" cy="200537"/>
          </a:xfrm>
        </p:grpSpPr>
        <p:sp>
          <p:nvSpPr>
            <p:cNvPr name="Freeform 7" id="7"/>
            <p:cNvSpPr/>
            <p:nvPr/>
          </p:nvSpPr>
          <p:spPr>
            <a:xfrm flipH="false" flipV="false" rot="0">
              <a:off x="0" y="0"/>
              <a:ext cx="1927922" cy="200537"/>
            </a:xfrm>
            <a:custGeom>
              <a:avLst/>
              <a:gdLst/>
              <a:ahLst/>
              <a:cxnLst/>
              <a:rect r="r" b="b" t="t" l="l"/>
              <a:pathLst>
                <a:path h="200537" w="1927922">
                  <a:moveTo>
                    <a:pt x="20263" y="0"/>
                  </a:moveTo>
                  <a:lnTo>
                    <a:pt x="1907658" y="0"/>
                  </a:lnTo>
                  <a:cubicBezTo>
                    <a:pt x="1913033" y="0"/>
                    <a:pt x="1918187" y="2135"/>
                    <a:pt x="1921987" y="5935"/>
                  </a:cubicBezTo>
                  <a:cubicBezTo>
                    <a:pt x="1925787" y="9735"/>
                    <a:pt x="1927922" y="14889"/>
                    <a:pt x="1927922" y="20263"/>
                  </a:cubicBezTo>
                  <a:lnTo>
                    <a:pt x="1927922" y="180274"/>
                  </a:lnTo>
                  <a:cubicBezTo>
                    <a:pt x="1927922" y="191465"/>
                    <a:pt x="1918850" y="200537"/>
                    <a:pt x="1907658" y="200537"/>
                  </a:cubicBezTo>
                  <a:lnTo>
                    <a:pt x="20263" y="200537"/>
                  </a:lnTo>
                  <a:cubicBezTo>
                    <a:pt x="9072" y="200537"/>
                    <a:pt x="0" y="191465"/>
                    <a:pt x="0" y="180274"/>
                  </a:cubicBezTo>
                  <a:lnTo>
                    <a:pt x="0" y="20263"/>
                  </a:lnTo>
                  <a:cubicBezTo>
                    <a:pt x="0" y="9072"/>
                    <a:pt x="9072" y="0"/>
                    <a:pt x="20263" y="0"/>
                  </a:cubicBezTo>
                  <a:close/>
                </a:path>
              </a:pathLst>
            </a:custGeom>
            <a:solidFill>
              <a:srgbClr val="457C5B"/>
            </a:solidFill>
            <a:ln cap="sq">
              <a:noFill/>
              <a:prstDash val="solid"/>
              <a:miter/>
            </a:ln>
          </p:spPr>
        </p:sp>
        <p:sp>
          <p:nvSpPr>
            <p:cNvPr name="TextBox 8" id="8"/>
            <p:cNvSpPr txBox="true"/>
            <p:nvPr/>
          </p:nvSpPr>
          <p:spPr>
            <a:xfrm>
              <a:off x="0" y="-47625"/>
              <a:ext cx="1927922" cy="248162"/>
            </a:xfrm>
            <a:prstGeom prst="rect">
              <a:avLst/>
            </a:prstGeom>
          </p:spPr>
          <p:txBody>
            <a:bodyPr anchor="ctr" rtlCol="false" tIns="50800" lIns="50800" bIns="50800" rIns="50800"/>
            <a:lstStyle/>
            <a:p>
              <a:pPr algn="ctr" marL="0" indent="0" lvl="0">
                <a:lnSpc>
                  <a:spcPts val="2936"/>
                </a:lnSpc>
                <a:spcBef>
                  <a:spcPct val="0"/>
                </a:spcBef>
              </a:pPr>
            </a:p>
          </p:txBody>
        </p:sp>
      </p:grpSp>
      <p:grpSp>
        <p:nvGrpSpPr>
          <p:cNvPr name="Group 9" id="9"/>
          <p:cNvGrpSpPr/>
          <p:nvPr/>
        </p:nvGrpSpPr>
        <p:grpSpPr>
          <a:xfrm rot="0">
            <a:off x="1482696" y="6298325"/>
            <a:ext cx="6833411" cy="715348"/>
            <a:chOff x="0" y="0"/>
            <a:chExt cx="1915645" cy="200537"/>
          </a:xfrm>
        </p:grpSpPr>
        <p:sp>
          <p:nvSpPr>
            <p:cNvPr name="Freeform 10" id="10"/>
            <p:cNvSpPr/>
            <p:nvPr/>
          </p:nvSpPr>
          <p:spPr>
            <a:xfrm flipH="false" flipV="false" rot="0">
              <a:off x="0" y="0"/>
              <a:ext cx="1915645" cy="200537"/>
            </a:xfrm>
            <a:custGeom>
              <a:avLst/>
              <a:gdLst/>
              <a:ahLst/>
              <a:cxnLst/>
              <a:rect r="r" b="b" t="t" l="l"/>
              <a:pathLst>
                <a:path h="200537" w="1915645">
                  <a:moveTo>
                    <a:pt x="20393" y="0"/>
                  </a:moveTo>
                  <a:lnTo>
                    <a:pt x="1895252" y="0"/>
                  </a:lnTo>
                  <a:cubicBezTo>
                    <a:pt x="1906515" y="0"/>
                    <a:pt x="1915645" y="9130"/>
                    <a:pt x="1915645" y="20393"/>
                  </a:cubicBezTo>
                  <a:lnTo>
                    <a:pt x="1915645" y="180144"/>
                  </a:lnTo>
                  <a:cubicBezTo>
                    <a:pt x="1915645" y="191407"/>
                    <a:pt x="1906515" y="200537"/>
                    <a:pt x="1895252" y="200537"/>
                  </a:cubicBezTo>
                  <a:lnTo>
                    <a:pt x="20393" y="200537"/>
                  </a:lnTo>
                  <a:cubicBezTo>
                    <a:pt x="14985" y="200537"/>
                    <a:pt x="9797" y="198389"/>
                    <a:pt x="5973" y="194564"/>
                  </a:cubicBezTo>
                  <a:cubicBezTo>
                    <a:pt x="2149" y="190740"/>
                    <a:pt x="0" y="185553"/>
                    <a:pt x="0" y="180144"/>
                  </a:cubicBezTo>
                  <a:lnTo>
                    <a:pt x="0" y="20393"/>
                  </a:lnTo>
                  <a:cubicBezTo>
                    <a:pt x="0" y="14985"/>
                    <a:pt x="2149" y="9797"/>
                    <a:pt x="5973" y="5973"/>
                  </a:cubicBezTo>
                  <a:cubicBezTo>
                    <a:pt x="9797" y="2149"/>
                    <a:pt x="14985" y="0"/>
                    <a:pt x="20393" y="0"/>
                  </a:cubicBezTo>
                  <a:close/>
                </a:path>
              </a:pathLst>
            </a:custGeom>
            <a:solidFill>
              <a:srgbClr val="457C5B"/>
            </a:solidFill>
            <a:ln cap="sq">
              <a:noFill/>
              <a:prstDash val="solid"/>
              <a:miter/>
            </a:ln>
          </p:spPr>
        </p:sp>
        <p:sp>
          <p:nvSpPr>
            <p:cNvPr name="TextBox 11" id="11"/>
            <p:cNvSpPr txBox="true"/>
            <p:nvPr/>
          </p:nvSpPr>
          <p:spPr>
            <a:xfrm>
              <a:off x="0" y="-47625"/>
              <a:ext cx="1915645" cy="248162"/>
            </a:xfrm>
            <a:prstGeom prst="rect">
              <a:avLst/>
            </a:prstGeom>
          </p:spPr>
          <p:txBody>
            <a:bodyPr anchor="ctr" rtlCol="false" tIns="50800" lIns="50800" bIns="50800" rIns="50800"/>
            <a:lstStyle/>
            <a:p>
              <a:pPr algn="ctr" marL="0" indent="0" lvl="0">
                <a:lnSpc>
                  <a:spcPts val="2936"/>
                </a:lnSpc>
                <a:spcBef>
                  <a:spcPct val="0"/>
                </a:spcBef>
              </a:pPr>
            </a:p>
          </p:txBody>
        </p:sp>
      </p:grpSp>
      <p:grpSp>
        <p:nvGrpSpPr>
          <p:cNvPr name="Group 12" id="12"/>
          <p:cNvGrpSpPr/>
          <p:nvPr/>
        </p:nvGrpSpPr>
        <p:grpSpPr>
          <a:xfrm rot="0">
            <a:off x="1482696" y="7356573"/>
            <a:ext cx="6833411" cy="715348"/>
            <a:chOff x="0" y="0"/>
            <a:chExt cx="1915645" cy="200537"/>
          </a:xfrm>
        </p:grpSpPr>
        <p:sp>
          <p:nvSpPr>
            <p:cNvPr name="Freeform 13" id="13"/>
            <p:cNvSpPr/>
            <p:nvPr/>
          </p:nvSpPr>
          <p:spPr>
            <a:xfrm flipH="false" flipV="false" rot="0">
              <a:off x="0" y="0"/>
              <a:ext cx="1915645" cy="200537"/>
            </a:xfrm>
            <a:custGeom>
              <a:avLst/>
              <a:gdLst/>
              <a:ahLst/>
              <a:cxnLst/>
              <a:rect r="r" b="b" t="t" l="l"/>
              <a:pathLst>
                <a:path h="200537" w="1915645">
                  <a:moveTo>
                    <a:pt x="20393" y="0"/>
                  </a:moveTo>
                  <a:lnTo>
                    <a:pt x="1895252" y="0"/>
                  </a:lnTo>
                  <a:cubicBezTo>
                    <a:pt x="1906515" y="0"/>
                    <a:pt x="1915645" y="9130"/>
                    <a:pt x="1915645" y="20393"/>
                  </a:cubicBezTo>
                  <a:lnTo>
                    <a:pt x="1915645" y="180144"/>
                  </a:lnTo>
                  <a:cubicBezTo>
                    <a:pt x="1915645" y="191407"/>
                    <a:pt x="1906515" y="200537"/>
                    <a:pt x="1895252" y="200537"/>
                  </a:cubicBezTo>
                  <a:lnTo>
                    <a:pt x="20393" y="200537"/>
                  </a:lnTo>
                  <a:cubicBezTo>
                    <a:pt x="14985" y="200537"/>
                    <a:pt x="9797" y="198389"/>
                    <a:pt x="5973" y="194564"/>
                  </a:cubicBezTo>
                  <a:cubicBezTo>
                    <a:pt x="2149" y="190740"/>
                    <a:pt x="0" y="185553"/>
                    <a:pt x="0" y="180144"/>
                  </a:cubicBezTo>
                  <a:lnTo>
                    <a:pt x="0" y="20393"/>
                  </a:lnTo>
                  <a:cubicBezTo>
                    <a:pt x="0" y="14985"/>
                    <a:pt x="2149" y="9797"/>
                    <a:pt x="5973" y="5973"/>
                  </a:cubicBezTo>
                  <a:cubicBezTo>
                    <a:pt x="9797" y="2149"/>
                    <a:pt x="14985" y="0"/>
                    <a:pt x="20393" y="0"/>
                  </a:cubicBezTo>
                  <a:close/>
                </a:path>
              </a:pathLst>
            </a:custGeom>
            <a:solidFill>
              <a:srgbClr val="457C5B"/>
            </a:solidFill>
            <a:ln cap="sq">
              <a:noFill/>
              <a:prstDash val="solid"/>
              <a:miter/>
            </a:ln>
          </p:spPr>
        </p:sp>
        <p:sp>
          <p:nvSpPr>
            <p:cNvPr name="TextBox 14" id="14"/>
            <p:cNvSpPr txBox="true"/>
            <p:nvPr/>
          </p:nvSpPr>
          <p:spPr>
            <a:xfrm>
              <a:off x="0" y="-47625"/>
              <a:ext cx="1915645" cy="248162"/>
            </a:xfrm>
            <a:prstGeom prst="rect">
              <a:avLst/>
            </a:prstGeom>
          </p:spPr>
          <p:txBody>
            <a:bodyPr anchor="ctr" rtlCol="false" tIns="50800" lIns="50800" bIns="50800" rIns="50800"/>
            <a:lstStyle/>
            <a:p>
              <a:pPr algn="ctr" marL="0" indent="0" lvl="0">
                <a:lnSpc>
                  <a:spcPts val="2936"/>
                </a:lnSpc>
                <a:spcBef>
                  <a:spcPct val="0"/>
                </a:spcBef>
              </a:pPr>
            </a:p>
          </p:txBody>
        </p:sp>
      </p:grpSp>
      <p:grpSp>
        <p:nvGrpSpPr>
          <p:cNvPr name="Group 15" id="15"/>
          <p:cNvGrpSpPr/>
          <p:nvPr/>
        </p:nvGrpSpPr>
        <p:grpSpPr>
          <a:xfrm rot="0">
            <a:off x="10432015" y="4180589"/>
            <a:ext cx="6833411" cy="715348"/>
            <a:chOff x="0" y="0"/>
            <a:chExt cx="1915645" cy="200537"/>
          </a:xfrm>
        </p:grpSpPr>
        <p:sp>
          <p:nvSpPr>
            <p:cNvPr name="Freeform 16" id="16"/>
            <p:cNvSpPr/>
            <p:nvPr/>
          </p:nvSpPr>
          <p:spPr>
            <a:xfrm flipH="false" flipV="false" rot="0">
              <a:off x="0" y="0"/>
              <a:ext cx="1915645" cy="200537"/>
            </a:xfrm>
            <a:custGeom>
              <a:avLst/>
              <a:gdLst/>
              <a:ahLst/>
              <a:cxnLst/>
              <a:rect r="r" b="b" t="t" l="l"/>
              <a:pathLst>
                <a:path h="200537" w="1915645">
                  <a:moveTo>
                    <a:pt x="20393" y="0"/>
                  </a:moveTo>
                  <a:lnTo>
                    <a:pt x="1895252" y="0"/>
                  </a:lnTo>
                  <a:cubicBezTo>
                    <a:pt x="1906515" y="0"/>
                    <a:pt x="1915645" y="9130"/>
                    <a:pt x="1915645" y="20393"/>
                  </a:cubicBezTo>
                  <a:lnTo>
                    <a:pt x="1915645" y="180144"/>
                  </a:lnTo>
                  <a:cubicBezTo>
                    <a:pt x="1915645" y="191407"/>
                    <a:pt x="1906515" y="200537"/>
                    <a:pt x="1895252" y="200537"/>
                  </a:cubicBezTo>
                  <a:lnTo>
                    <a:pt x="20393" y="200537"/>
                  </a:lnTo>
                  <a:cubicBezTo>
                    <a:pt x="14985" y="200537"/>
                    <a:pt x="9797" y="198389"/>
                    <a:pt x="5973" y="194564"/>
                  </a:cubicBezTo>
                  <a:cubicBezTo>
                    <a:pt x="2149" y="190740"/>
                    <a:pt x="0" y="185553"/>
                    <a:pt x="0" y="180144"/>
                  </a:cubicBezTo>
                  <a:lnTo>
                    <a:pt x="0" y="20393"/>
                  </a:lnTo>
                  <a:cubicBezTo>
                    <a:pt x="0" y="14985"/>
                    <a:pt x="2149" y="9797"/>
                    <a:pt x="5973" y="5973"/>
                  </a:cubicBezTo>
                  <a:cubicBezTo>
                    <a:pt x="9797" y="2149"/>
                    <a:pt x="14985" y="0"/>
                    <a:pt x="20393" y="0"/>
                  </a:cubicBezTo>
                  <a:close/>
                </a:path>
              </a:pathLst>
            </a:custGeom>
            <a:solidFill>
              <a:srgbClr val="457C5B"/>
            </a:solidFill>
            <a:ln cap="sq">
              <a:noFill/>
              <a:prstDash val="solid"/>
              <a:miter/>
            </a:ln>
          </p:spPr>
        </p:sp>
        <p:sp>
          <p:nvSpPr>
            <p:cNvPr name="TextBox 17" id="17"/>
            <p:cNvSpPr txBox="true"/>
            <p:nvPr/>
          </p:nvSpPr>
          <p:spPr>
            <a:xfrm>
              <a:off x="0" y="-47625"/>
              <a:ext cx="1915645" cy="248162"/>
            </a:xfrm>
            <a:prstGeom prst="rect">
              <a:avLst/>
            </a:prstGeom>
          </p:spPr>
          <p:txBody>
            <a:bodyPr anchor="ctr" rtlCol="false" tIns="50800" lIns="50800" bIns="50800" rIns="50800"/>
            <a:lstStyle/>
            <a:p>
              <a:pPr algn="ctr" marL="0" indent="0" lvl="0">
                <a:lnSpc>
                  <a:spcPts val="2936"/>
                </a:lnSpc>
                <a:spcBef>
                  <a:spcPct val="0"/>
                </a:spcBef>
              </a:pPr>
            </a:p>
          </p:txBody>
        </p:sp>
      </p:grpSp>
      <p:grpSp>
        <p:nvGrpSpPr>
          <p:cNvPr name="Group 18" id="18"/>
          <p:cNvGrpSpPr/>
          <p:nvPr/>
        </p:nvGrpSpPr>
        <p:grpSpPr>
          <a:xfrm rot="0">
            <a:off x="10432015" y="5240076"/>
            <a:ext cx="6833411" cy="715348"/>
            <a:chOff x="0" y="0"/>
            <a:chExt cx="1915645" cy="200537"/>
          </a:xfrm>
        </p:grpSpPr>
        <p:sp>
          <p:nvSpPr>
            <p:cNvPr name="Freeform 19" id="19"/>
            <p:cNvSpPr/>
            <p:nvPr/>
          </p:nvSpPr>
          <p:spPr>
            <a:xfrm flipH="false" flipV="false" rot="0">
              <a:off x="0" y="0"/>
              <a:ext cx="1915645" cy="200537"/>
            </a:xfrm>
            <a:custGeom>
              <a:avLst/>
              <a:gdLst/>
              <a:ahLst/>
              <a:cxnLst/>
              <a:rect r="r" b="b" t="t" l="l"/>
              <a:pathLst>
                <a:path h="200537" w="1915645">
                  <a:moveTo>
                    <a:pt x="20393" y="0"/>
                  </a:moveTo>
                  <a:lnTo>
                    <a:pt x="1895252" y="0"/>
                  </a:lnTo>
                  <a:cubicBezTo>
                    <a:pt x="1906515" y="0"/>
                    <a:pt x="1915645" y="9130"/>
                    <a:pt x="1915645" y="20393"/>
                  </a:cubicBezTo>
                  <a:lnTo>
                    <a:pt x="1915645" y="180144"/>
                  </a:lnTo>
                  <a:cubicBezTo>
                    <a:pt x="1915645" y="191407"/>
                    <a:pt x="1906515" y="200537"/>
                    <a:pt x="1895252" y="200537"/>
                  </a:cubicBezTo>
                  <a:lnTo>
                    <a:pt x="20393" y="200537"/>
                  </a:lnTo>
                  <a:cubicBezTo>
                    <a:pt x="14985" y="200537"/>
                    <a:pt x="9797" y="198389"/>
                    <a:pt x="5973" y="194564"/>
                  </a:cubicBezTo>
                  <a:cubicBezTo>
                    <a:pt x="2149" y="190740"/>
                    <a:pt x="0" y="185553"/>
                    <a:pt x="0" y="180144"/>
                  </a:cubicBezTo>
                  <a:lnTo>
                    <a:pt x="0" y="20393"/>
                  </a:lnTo>
                  <a:cubicBezTo>
                    <a:pt x="0" y="14985"/>
                    <a:pt x="2149" y="9797"/>
                    <a:pt x="5973" y="5973"/>
                  </a:cubicBezTo>
                  <a:cubicBezTo>
                    <a:pt x="9797" y="2149"/>
                    <a:pt x="14985" y="0"/>
                    <a:pt x="20393" y="0"/>
                  </a:cubicBezTo>
                  <a:close/>
                </a:path>
              </a:pathLst>
            </a:custGeom>
            <a:solidFill>
              <a:srgbClr val="457C5B"/>
            </a:solidFill>
            <a:ln cap="sq">
              <a:noFill/>
              <a:prstDash val="solid"/>
              <a:miter/>
            </a:ln>
          </p:spPr>
        </p:sp>
        <p:sp>
          <p:nvSpPr>
            <p:cNvPr name="TextBox 20" id="20"/>
            <p:cNvSpPr txBox="true"/>
            <p:nvPr/>
          </p:nvSpPr>
          <p:spPr>
            <a:xfrm>
              <a:off x="0" y="-47625"/>
              <a:ext cx="1915645" cy="248162"/>
            </a:xfrm>
            <a:prstGeom prst="rect">
              <a:avLst/>
            </a:prstGeom>
          </p:spPr>
          <p:txBody>
            <a:bodyPr anchor="ctr" rtlCol="false" tIns="50800" lIns="50800" bIns="50800" rIns="50800"/>
            <a:lstStyle/>
            <a:p>
              <a:pPr algn="ctr" marL="0" indent="0" lvl="0">
                <a:lnSpc>
                  <a:spcPts val="2936"/>
                </a:lnSpc>
                <a:spcBef>
                  <a:spcPct val="0"/>
                </a:spcBef>
              </a:pPr>
            </a:p>
          </p:txBody>
        </p:sp>
      </p:grpSp>
      <p:grpSp>
        <p:nvGrpSpPr>
          <p:cNvPr name="Group 21" id="21"/>
          <p:cNvGrpSpPr/>
          <p:nvPr/>
        </p:nvGrpSpPr>
        <p:grpSpPr>
          <a:xfrm rot="0">
            <a:off x="10432015" y="6298325"/>
            <a:ext cx="6833411" cy="715348"/>
            <a:chOff x="0" y="0"/>
            <a:chExt cx="1915645" cy="200537"/>
          </a:xfrm>
        </p:grpSpPr>
        <p:sp>
          <p:nvSpPr>
            <p:cNvPr name="Freeform 22" id="22"/>
            <p:cNvSpPr/>
            <p:nvPr/>
          </p:nvSpPr>
          <p:spPr>
            <a:xfrm flipH="false" flipV="false" rot="0">
              <a:off x="0" y="0"/>
              <a:ext cx="1915645" cy="200537"/>
            </a:xfrm>
            <a:custGeom>
              <a:avLst/>
              <a:gdLst/>
              <a:ahLst/>
              <a:cxnLst/>
              <a:rect r="r" b="b" t="t" l="l"/>
              <a:pathLst>
                <a:path h="200537" w="1915645">
                  <a:moveTo>
                    <a:pt x="20393" y="0"/>
                  </a:moveTo>
                  <a:lnTo>
                    <a:pt x="1895252" y="0"/>
                  </a:lnTo>
                  <a:cubicBezTo>
                    <a:pt x="1906515" y="0"/>
                    <a:pt x="1915645" y="9130"/>
                    <a:pt x="1915645" y="20393"/>
                  </a:cubicBezTo>
                  <a:lnTo>
                    <a:pt x="1915645" y="180144"/>
                  </a:lnTo>
                  <a:cubicBezTo>
                    <a:pt x="1915645" y="191407"/>
                    <a:pt x="1906515" y="200537"/>
                    <a:pt x="1895252" y="200537"/>
                  </a:cubicBezTo>
                  <a:lnTo>
                    <a:pt x="20393" y="200537"/>
                  </a:lnTo>
                  <a:cubicBezTo>
                    <a:pt x="14985" y="200537"/>
                    <a:pt x="9797" y="198389"/>
                    <a:pt x="5973" y="194564"/>
                  </a:cubicBezTo>
                  <a:cubicBezTo>
                    <a:pt x="2149" y="190740"/>
                    <a:pt x="0" y="185553"/>
                    <a:pt x="0" y="180144"/>
                  </a:cubicBezTo>
                  <a:lnTo>
                    <a:pt x="0" y="20393"/>
                  </a:lnTo>
                  <a:cubicBezTo>
                    <a:pt x="0" y="14985"/>
                    <a:pt x="2149" y="9797"/>
                    <a:pt x="5973" y="5973"/>
                  </a:cubicBezTo>
                  <a:cubicBezTo>
                    <a:pt x="9797" y="2149"/>
                    <a:pt x="14985" y="0"/>
                    <a:pt x="20393" y="0"/>
                  </a:cubicBezTo>
                  <a:close/>
                </a:path>
              </a:pathLst>
            </a:custGeom>
            <a:solidFill>
              <a:srgbClr val="457C5B"/>
            </a:solidFill>
            <a:ln cap="sq">
              <a:noFill/>
              <a:prstDash val="solid"/>
              <a:miter/>
            </a:ln>
          </p:spPr>
        </p:sp>
        <p:sp>
          <p:nvSpPr>
            <p:cNvPr name="TextBox 23" id="23"/>
            <p:cNvSpPr txBox="true"/>
            <p:nvPr/>
          </p:nvSpPr>
          <p:spPr>
            <a:xfrm>
              <a:off x="0" y="-47625"/>
              <a:ext cx="1915645" cy="248162"/>
            </a:xfrm>
            <a:prstGeom prst="rect">
              <a:avLst/>
            </a:prstGeom>
          </p:spPr>
          <p:txBody>
            <a:bodyPr anchor="ctr" rtlCol="false" tIns="50800" lIns="50800" bIns="50800" rIns="50800"/>
            <a:lstStyle/>
            <a:p>
              <a:pPr algn="ctr" marL="0" indent="0" lvl="0">
                <a:lnSpc>
                  <a:spcPts val="2936"/>
                </a:lnSpc>
                <a:spcBef>
                  <a:spcPct val="0"/>
                </a:spcBef>
              </a:pPr>
            </a:p>
          </p:txBody>
        </p:sp>
      </p:grpSp>
      <p:grpSp>
        <p:nvGrpSpPr>
          <p:cNvPr name="Group 24" id="24"/>
          <p:cNvGrpSpPr/>
          <p:nvPr/>
        </p:nvGrpSpPr>
        <p:grpSpPr>
          <a:xfrm rot="0">
            <a:off x="10432015" y="7356573"/>
            <a:ext cx="6833411" cy="715348"/>
            <a:chOff x="0" y="0"/>
            <a:chExt cx="1915645" cy="200537"/>
          </a:xfrm>
        </p:grpSpPr>
        <p:sp>
          <p:nvSpPr>
            <p:cNvPr name="Freeform 25" id="25"/>
            <p:cNvSpPr/>
            <p:nvPr/>
          </p:nvSpPr>
          <p:spPr>
            <a:xfrm flipH="false" flipV="false" rot="0">
              <a:off x="0" y="0"/>
              <a:ext cx="1915645" cy="200537"/>
            </a:xfrm>
            <a:custGeom>
              <a:avLst/>
              <a:gdLst/>
              <a:ahLst/>
              <a:cxnLst/>
              <a:rect r="r" b="b" t="t" l="l"/>
              <a:pathLst>
                <a:path h="200537" w="1915645">
                  <a:moveTo>
                    <a:pt x="20393" y="0"/>
                  </a:moveTo>
                  <a:lnTo>
                    <a:pt x="1895252" y="0"/>
                  </a:lnTo>
                  <a:cubicBezTo>
                    <a:pt x="1906515" y="0"/>
                    <a:pt x="1915645" y="9130"/>
                    <a:pt x="1915645" y="20393"/>
                  </a:cubicBezTo>
                  <a:lnTo>
                    <a:pt x="1915645" y="180144"/>
                  </a:lnTo>
                  <a:cubicBezTo>
                    <a:pt x="1915645" y="191407"/>
                    <a:pt x="1906515" y="200537"/>
                    <a:pt x="1895252" y="200537"/>
                  </a:cubicBezTo>
                  <a:lnTo>
                    <a:pt x="20393" y="200537"/>
                  </a:lnTo>
                  <a:cubicBezTo>
                    <a:pt x="14985" y="200537"/>
                    <a:pt x="9797" y="198389"/>
                    <a:pt x="5973" y="194564"/>
                  </a:cubicBezTo>
                  <a:cubicBezTo>
                    <a:pt x="2149" y="190740"/>
                    <a:pt x="0" y="185553"/>
                    <a:pt x="0" y="180144"/>
                  </a:cubicBezTo>
                  <a:lnTo>
                    <a:pt x="0" y="20393"/>
                  </a:lnTo>
                  <a:cubicBezTo>
                    <a:pt x="0" y="14985"/>
                    <a:pt x="2149" y="9797"/>
                    <a:pt x="5973" y="5973"/>
                  </a:cubicBezTo>
                  <a:cubicBezTo>
                    <a:pt x="9797" y="2149"/>
                    <a:pt x="14985" y="0"/>
                    <a:pt x="20393" y="0"/>
                  </a:cubicBezTo>
                  <a:close/>
                </a:path>
              </a:pathLst>
            </a:custGeom>
            <a:solidFill>
              <a:srgbClr val="457C5B"/>
            </a:solidFill>
            <a:ln cap="sq">
              <a:noFill/>
              <a:prstDash val="solid"/>
              <a:miter/>
            </a:ln>
          </p:spPr>
        </p:sp>
        <p:sp>
          <p:nvSpPr>
            <p:cNvPr name="TextBox 26" id="26"/>
            <p:cNvSpPr txBox="true"/>
            <p:nvPr/>
          </p:nvSpPr>
          <p:spPr>
            <a:xfrm>
              <a:off x="0" y="-47625"/>
              <a:ext cx="1915645" cy="248162"/>
            </a:xfrm>
            <a:prstGeom prst="rect">
              <a:avLst/>
            </a:prstGeom>
          </p:spPr>
          <p:txBody>
            <a:bodyPr anchor="ctr" rtlCol="false" tIns="50800" lIns="50800" bIns="50800" rIns="50800"/>
            <a:lstStyle/>
            <a:p>
              <a:pPr algn="ctr" marL="0" indent="0" lvl="0">
                <a:lnSpc>
                  <a:spcPts val="2936"/>
                </a:lnSpc>
                <a:spcBef>
                  <a:spcPct val="0"/>
                </a:spcBef>
              </a:pPr>
            </a:p>
          </p:txBody>
        </p:sp>
      </p:grpSp>
      <p:sp>
        <p:nvSpPr>
          <p:cNvPr name="Freeform 27" id="27"/>
          <p:cNvSpPr/>
          <p:nvPr/>
        </p:nvSpPr>
        <p:spPr>
          <a:xfrm flipH="false" flipV="true" rot="0">
            <a:off x="12732070" y="8737690"/>
            <a:ext cx="4647136" cy="778395"/>
          </a:xfrm>
          <a:custGeom>
            <a:avLst/>
            <a:gdLst/>
            <a:ahLst/>
            <a:cxnLst/>
            <a:rect r="r" b="b" t="t" l="l"/>
            <a:pathLst>
              <a:path h="778395" w="4647136">
                <a:moveTo>
                  <a:pt x="0" y="778395"/>
                </a:moveTo>
                <a:lnTo>
                  <a:pt x="4647136" y="778395"/>
                </a:lnTo>
                <a:lnTo>
                  <a:pt x="4647136" y="0"/>
                </a:lnTo>
                <a:lnTo>
                  <a:pt x="0" y="0"/>
                </a:lnTo>
                <a:lnTo>
                  <a:pt x="0" y="778395"/>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28" id="28"/>
          <p:cNvSpPr/>
          <p:nvPr/>
        </p:nvSpPr>
        <p:spPr>
          <a:xfrm flipH="true" flipV="false" rot="0">
            <a:off x="-640516" y="-606283"/>
            <a:ext cx="3098620" cy="3098620"/>
          </a:xfrm>
          <a:custGeom>
            <a:avLst/>
            <a:gdLst/>
            <a:ahLst/>
            <a:cxnLst/>
            <a:rect r="r" b="b" t="t" l="l"/>
            <a:pathLst>
              <a:path h="3098620" w="3098620">
                <a:moveTo>
                  <a:pt x="3098620" y="0"/>
                </a:moveTo>
                <a:lnTo>
                  <a:pt x="0" y="0"/>
                </a:lnTo>
                <a:lnTo>
                  <a:pt x="0" y="3098620"/>
                </a:lnTo>
                <a:lnTo>
                  <a:pt x="3098620" y="3098620"/>
                </a:lnTo>
                <a:lnTo>
                  <a:pt x="309862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29" id="29"/>
          <p:cNvSpPr/>
          <p:nvPr/>
        </p:nvSpPr>
        <p:spPr>
          <a:xfrm flipH="true" flipV="true" rot="0">
            <a:off x="908794" y="8737690"/>
            <a:ext cx="4647136" cy="778395"/>
          </a:xfrm>
          <a:custGeom>
            <a:avLst/>
            <a:gdLst/>
            <a:ahLst/>
            <a:cxnLst/>
            <a:rect r="r" b="b" t="t" l="l"/>
            <a:pathLst>
              <a:path h="778395" w="4647136">
                <a:moveTo>
                  <a:pt x="4647136" y="778395"/>
                </a:moveTo>
                <a:lnTo>
                  <a:pt x="0" y="778395"/>
                </a:lnTo>
                <a:lnTo>
                  <a:pt x="0" y="0"/>
                </a:lnTo>
                <a:lnTo>
                  <a:pt x="4647136" y="0"/>
                </a:lnTo>
                <a:lnTo>
                  <a:pt x="4647136" y="778395"/>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30" id="30"/>
          <p:cNvSpPr/>
          <p:nvPr/>
        </p:nvSpPr>
        <p:spPr>
          <a:xfrm flipH="false" flipV="false" rot="-10800000">
            <a:off x="6274984" y="2184368"/>
            <a:ext cx="5738033" cy="1193033"/>
          </a:xfrm>
          <a:custGeom>
            <a:avLst/>
            <a:gdLst/>
            <a:ahLst/>
            <a:cxnLst/>
            <a:rect r="r" b="b" t="t" l="l"/>
            <a:pathLst>
              <a:path h="1193033" w="5738033">
                <a:moveTo>
                  <a:pt x="0" y="0"/>
                </a:moveTo>
                <a:lnTo>
                  <a:pt x="5738032" y="0"/>
                </a:lnTo>
                <a:lnTo>
                  <a:pt x="5738032" y="1193033"/>
                </a:lnTo>
                <a:lnTo>
                  <a:pt x="0" y="1193033"/>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TextBox 31" id="31"/>
          <p:cNvSpPr txBox="true"/>
          <p:nvPr/>
        </p:nvSpPr>
        <p:spPr>
          <a:xfrm rot="0">
            <a:off x="2316948" y="4260010"/>
            <a:ext cx="5164907" cy="499356"/>
          </a:xfrm>
          <a:prstGeom prst="rect">
            <a:avLst/>
          </a:prstGeom>
        </p:spPr>
        <p:txBody>
          <a:bodyPr anchor="t" rtlCol="false" tIns="0" lIns="0" bIns="0" rIns="0">
            <a:spAutoFit/>
          </a:bodyPr>
          <a:lstStyle/>
          <a:p>
            <a:pPr algn="ctr">
              <a:lnSpc>
                <a:spcPts val="4080"/>
              </a:lnSpc>
            </a:pPr>
            <a:r>
              <a:rPr lang="en-US" sz="2914" b="true">
                <a:solidFill>
                  <a:srgbClr val="F5FFF9"/>
                </a:solidFill>
                <a:latin typeface="Manifold Ultra-Bold"/>
                <a:ea typeface="Manifold Ultra-Bold"/>
                <a:cs typeface="Manifold Ultra-Bold"/>
                <a:sym typeface="Manifold Ultra-Bold"/>
              </a:rPr>
              <a:t>The Problem</a:t>
            </a:r>
          </a:p>
        </p:txBody>
      </p:sp>
      <p:sp>
        <p:nvSpPr>
          <p:cNvPr name="TextBox 32" id="32"/>
          <p:cNvSpPr txBox="true"/>
          <p:nvPr/>
        </p:nvSpPr>
        <p:spPr>
          <a:xfrm rot="0">
            <a:off x="2973476" y="1155529"/>
            <a:ext cx="12082161" cy="1028773"/>
          </a:xfrm>
          <a:prstGeom prst="rect">
            <a:avLst/>
          </a:prstGeom>
        </p:spPr>
        <p:txBody>
          <a:bodyPr anchor="t" rtlCol="false" tIns="0" lIns="0" bIns="0" rIns="0">
            <a:spAutoFit/>
          </a:bodyPr>
          <a:lstStyle/>
          <a:p>
            <a:pPr algn="ctr">
              <a:lnSpc>
                <a:spcPts val="8395"/>
              </a:lnSpc>
            </a:pPr>
            <a:r>
              <a:rPr lang="en-US" b="true" sz="5997">
                <a:solidFill>
                  <a:srgbClr val="457C5B"/>
                </a:solidFill>
                <a:latin typeface="Manifold Heavy"/>
                <a:ea typeface="Manifold Heavy"/>
                <a:cs typeface="Manifold Heavy"/>
                <a:sym typeface="Manifold Heavy"/>
              </a:rPr>
              <a:t>AGENDA</a:t>
            </a:r>
          </a:p>
        </p:txBody>
      </p:sp>
      <p:sp>
        <p:nvSpPr>
          <p:cNvPr name="TextBox 33" id="33"/>
          <p:cNvSpPr txBox="true"/>
          <p:nvPr/>
        </p:nvSpPr>
        <p:spPr>
          <a:xfrm rot="0">
            <a:off x="1539439" y="5318878"/>
            <a:ext cx="6719924" cy="499356"/>
          </a:xfrm>
          <a:prstGeom prst="rect">
            <a:avLst/>
          </a:prstGeom>
        </p:spPr>
        <p:txBody>
          <a:bodyPr anchor="t" rtlCol="false" tIns="0" lIns="0" bIns="0" rIns="0">
            <a:spAutoFit/>
          </a:bodyPr>
          <a:lstStyle/>
          <a:p>
            <a:pPr algn="ctr">
              <a:lnSpc>
                <a:spcPts val="4080"/>
              </a:lnSpc>
            </a:pPr>
            <a:r>
              <a:rPr lang="en-US" sz="2914" b="true">
                <a:solidFill>
                  <a:srgbClr val="F5FFF9"/>
                </a:solidFill>
                <a:latin typeface="Manifold Ultra-Bold"/>
                <a:ea typeface="Manifold Ultra-Bold"/>
                <a:cs typeface="Manifold Ultra-Bold"/>
                <a:sym typeface="Manifold Ultra-Bold"/>
              </a:rPr>
              <a:t>Our Goal</a:t>
            </a:r>
          </a:p>
        </p:txBody>
      </p:sp>
      <p:sp>
        <p:nvSpPr>
          <p:cNvPr name="TextBox 34" id="34"/>
          <p:cNvSpPr txBox="true"/>
          <p:nvPr/>
        </p:nvSpPr>
        <p:spPr>
          <a:xfrm rot="0">
            <a:off x="2316948" y="6374525"/>
            <a:ext cx="5164907" cy="499356"/>
          </a:xfrm>
          <a:prstGeom prst="rect">
            <a:avLst/>
          </a:prstGeom>
        </p:spPr>
        <p:txBody>
          <a:bodyPr anchor="t" rtlCol="false" tIns="0" lIns="0" bIns="0" rIns="0">
            <a:spAutoFit/>
          </a:bodyPr>
          <a:lstStyle/>
          <a:p>
            <a:pPr algn="ctr">
              <a:lnSpc>
                <a:spcPts val="4080"/>
              </a:lnSpc>
            </a:pPr>
            <a:r>
              <a:rPr lang="en-US" sz="2914" b="true">
                <a:solidFill>
                  <a:srgbClr val="F5FFF9"/>
                </a:solidFill>
                <a:latin typeface="Manifold Ultra-Bold"/>
                <a:ea typeface="Manifold Ultra-Bold"/>
                <a:cs typeface="Manifold Ultra-Bold"/>
                <a:sym typeface="Manifold Ultra-Bold"/>
              </a:rPr>
              <a:t>One Example, Start to Finish</a:t>
            </a:r>
          </a:p>
        </p:txBody>
      </p:sp>
      <p:sp>
        <p:nvSpPr>
          <p:cNvPr name="TextBox 35" id="35"/>
          <p:cNvSpPr txBox="true"/>
          <p:nvPr/>
        </p:nvSpPr>
        <p:spPr>
          <a:xfrm rot="0">
            <a:off x="2458104" y="7432773"/>
            <a:ext cx="5164907" cy="499356"/>
          </a:xfrm>
          <a:prstGeom prst="rect">
            <a:avLst/>
          </a:prstGeom>
        </p:spPr>
        <p:txBody>
          <a:bodyPr anchor="t" rtlCol="false" tIns="0" lIns="0" bIns="0" rIns="0">
            <a:spAutoFit/>
          </a:bodyPr>
          <a:lstStyle/>
          <a:p>
            <a:pPr algn="ctr">
              <a:lnSpc>
                <a:spcPts val="4080"/>
              </a:lnSpc>
            </a:pPr>
            <a:r>
              <a:rPr lang="en-US" sz="2914" b="true">
                <a:solidFill>
                  <a:srgbClr val="F5FFF9"/>
                </a:solidFill>
                <a:latin typeface="Manifold Ultra-Bold"/>
                <a:ea typeface="Manifold Ultra-Bold"/>
                <a:cs typeface="Manifold Ultra-Bold"/>
                <a:sym typeface="Manifold Ultra-Bold"/>
              </a:rPr>
              <a:t>Testing &amp; the Working App</a:t>
            </a:r>
          </a:p>
        </p:txBody>
      </p:sp>
      <p:sp>
        <p:nvSpPr>
          <p:cNvPr name="TextBox 36" id="36"/>
          <p:cNvSpPr txBox="true"/>
          <p:nvPr/>
        </p:nvSpPr>
        <p:spPr>
          <a:xfrm rot="0">
            <a:off x="11008581" y="4260010"/>
            <a:ext cx="5680279" cy="499356"/>
          </a:xfrm>
          <a:prstGeom prst="rect">
            <a:avLst/>
          </a:prstGeom>
        </p:spPr>
        <p:txBody>
          <a:bodyPr anchor="t" rtlCol="false" tIns="0" lIns="0" bIns="0" rIns="0">
            <a:spAutoFit/>
          </a:bodyPr>
          <a:lstStyle/>
          <a:p>
            <a:pPr algn="ctr">
              <a:lnSpc>
                <a:spcPts val="4080"/>
              </a:lnSpc>
            </a:pPr>
            <a:r>
              <a:rPr lang="en-US" sz="2914" b="true">
                <a:solidFill>
                  <a:srgbClr val="F5FFF9"/>
                </a:solidFill>
                <a:latin typeface="Manifold Ultra-Bold"/>
                <a:ea typeface="Manifold Ultra-Bold"/>
                <a:cs typeface="Manifold Ultra-Bold"/>
                <a:sym typeface="Manifold Ultra-Bold"/>
              </a:rPr>
              <a:t>What Exists &amp; the Gap</a:t>
            </a:r>
          </a:p>
        </p:txBody>
      </p:sp>
      <p:sp>
        <p:nvSpPr>
          <p:cNvPr name="TextBox 37" id="37"/>
          <p:cNvSpPr txBox="true"/>
          <p:nvPr/>
        </p:nvSpPr>
        <p:spPr>
          <a:xfrm rot="0">
            <a:off x="11266267" y="5322718"/>
            <a:ext cx="5164907" cy="499356"/>
          </a:xfrm>
          <a:prstGeom prst="rect">
            <a:avLst/>
          </a:prstGeom>
        </p:spPr>
        <p:txBody>
          <a:bodyPr anchor="t" rtlCol="false" tIns="0" lIns="0" bIns="0" rIns="0">
            <a:spAutoFit/>
          </a:bodyPr>
          <a:lstStyle/>
          <a:p>
            <a:pPr algn="ctr">
              <a:lnSpc>
                <a:spcPts val="4080"/>
              </a:lnSpc>
            </a:pPr>
            <a:r>
              <a:rPr lang="en-US" sz="2914" b="true">
                <a:solidFill>
                  <a:srgbClr val="F5FFF9"/>
                </a:solidFill>
                <a:latin typeface="Manifold Ultra-Bold"/>
                <a:ea typeface="Manifold Ultra-Bold"/>
                <a:cs typeface="Manifold Ultra-Bold"/>
                <a:sym typeface="Manifold Ultra-Bold"/>
              </a:rPr>
              <a:t>Our Data</a:t>
            </a:r>
          </a:p>
        </p:txBody>
      </p:sp>
      <p:sp>
        <p:nvSpPr>
          <p:cNvPr name="TextBox 38" id="38"/>
          <p:cNvSpPr txBox="true"/>
          <p:nvPr/>
        </p:nvSpPr>
        <p:spPr>
          <a:xfrm rot="0">
            <a:off x="11266267" y="6377746"/>
            <a:ext cx="5164907" cy="499356"/>
          </a:xfrm>
          <a:prstGeom prst="rect">
            <a:avLst/>
          </a:prstGeom>
        </p:spPr>
        <p:txBody>
          <a:bodyPr anchor="t" rtlCol="false" tIns="0" lIns="0" bIns="0" rIns="0">
            <a:spAutoFit/>
          </a:bodyPr>
          <a:lstStyle/>
          <a:p>
            <a:pPr algn="ctr">
              <a:lnSpc>
                <a:spcPts val="4080"/>
              </a:lnSpc>
            </a:pPr>
            <a:r>
              <a:rPr lang="en-US" sz="2914" b="true">
                <a:solidFill>
                  <a:srgbClr val="F5FFF9"/>
                </a:solidFill>
                <a:latin typeface="Manifold Ultra-Bold"/>
                <a:ea typeface="Manifold Ultra-Bold"/>
                <a:cs typeface="Manifold Ultra-Bold"/>
                <a:sym typeface="Manifold Ultra-Bold"/>
              </a:rPr>
              <a:t>Results</a:t>
            </a:r>
          </a:p>
        </p:txBody>
      </p:sp>
      <p:sp>
        <p:nvSpPr>
          <p:cNvPr name="TextBox 39" id="39"/>
          <p:cNvSpPr txBox="true"/>
          <p:nvPr/>
        </p:nvSpPr>
        <p:spPr>
          <a:xfrm rot="0">
            <a:off x="11266267" y="7442298"/>
            <a:ext cx="5164907" cy="499356"/>
          </a:xfrm>
          <a:prstGeom prst="rect">
            <a:avLst/>
          </a:prstGeom>
        </p:spPr>
        <p:txBody>
          <a:bodyPr anchor="t" rtlCol="false" tIns="0" lIns="0" bIns="0" rIns="0">
            <a:spAutoFit/>
          </a:bodyPr>
          <a:lstStyle/>
          <a:p>
            <a:pPr algn="ctr">
              <a:lnSpc>
                <a:spcPts val="4080"/>
              </a:lnSpc>
            </a:pPr>
            <a:r>
              <a:rPr lang="en-US" sz="2914" b="true">
                <a:solidFill>
                  <a:srgbClr val="F5FFF9"/>
                </a:solidFill>
                <a:latin typeface="Manifold Ultra-Bold"/>
                <a:ea typeface="Manifold Ultra-Bold"/>
                <a:cs typeface="Manifold Ultra-Bold"/>
                <a:sym typeface="Manifold Ultra-Bold"/>
              </a:rPr>
              <a:t>Challenges &amp; Next Steps</a:t>
            </a:r>
          </a:p>
        </p:txBody>
      </p:sp>
      <p:grpSp>
        <p:nvGrpSpPr>
          <p:cNvPr name="Group 40" id="40"/>
          <p:cNvGrpSpPr/>
          <p:nvPr/>
        </p:nvGrpSpPr>
        <p:grpSpPr>
          <a:xfrm rot="0">
            <a:off x="717801" y="4227364"/>
            <a:ext cx="621798" cy="621798"/>
            <a:chOff x="0" y="0"/>
            <a:chExt cx="829063" cy="829063"/>
          </a:xfrm>
        </p:grpSpPr>
        <p:sp>
          <p:nvSpPr>
            <p:cNvPr name="Freeform 41" id="41"/>
            <p:cNvSpPr/>
            <p:nvPr/>
          </p:nvSpPr>
          <p:spPr>
            <a:xfrm flipH="false" flipV="false" rot="0">
              <a:off x="0" y="0"/>
              <a:ext cx="829063" cy="829063"/>
            </a:xfrm>
            <a:custGeom>
              <a:avLst/>
              <a:gdLst/>
              <a:ahLst/>
              <a:cxnLst/>
              <a:rect r="r" b="b" t="t" l="l"/>
              <a:pathLst>
                <a:path h="829063" w="829063">
                  <a:moveTo>
                    <a:pt x="0" y="0"/>
                  </a:moveTo>
                  <a:lnTo>
                    <a:pt x="829063" y="0"/>
                  </a:lnTo>
                  <a:lnTo>
                    <a:pt x="829063" y="829063"/>
                  </a:lnTo>
                  <a:lnTo>
                    <a:pt x="0" y="829063"/>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TextBox 42" id="42"/>
            <p:cNvSpPr txBox="true"/>
            <p:nvPr/>
          </p:nvSpPr>
          <p:spPr>
            <a:xfrm rot="0">
              <a:off x="161885" y="117926"/>
              <a:ext cx="441462" cy="503032"/>
            </a:xfrm>
            <a:prstGeom prst="rect">
              <a:avLst/>
            </a:prstGeom>
          </p:spPr>
          <p:txBody>
            <a:bodyPr anchor="t" rtlCol="false" tIns="0" lIns="0" bIns="0" rIns="0">
              <a:spAutoFit/>
            </a:bodyPr>
            <a:lstStyle/>
            <a:p>
              <a:pPr algn="ctr">
                <a:lnSpc>
                  <a:spcPts val="3163"/>
                </a:lnSpc>
                <a:spcBef>
                  <a:spcPct val="0"/>
                </a:spcBef>
              </a:pPr>
              <a:r>
                <a:rPr lang="en-US" sz="2259">
                  <a:solidFill>
                    <a:srgbClr val="FFFFFF"/>
                  </a:solidFill>
                  <a:latin typeface="Blanka"/>
                  <a:ea typeface="Blanka"/>
                  <a:cs typeface="Blanka"/>
                  <a:sym typeface="Blanka"/>
                </a:rPr>
                <a:t>1</a:t>
              </a:r>
            </a:p>
          </p:txBody>
        </p:sp>
      </p:grpSp>
      <p:grpSp>
        <p:nvGrpSpPr>
          <p:cNvPr name="Group 43" id="43"/>
          <p:cNvGrpSpPr/>
          <p:nvPr/>
        </p:nvGrpSpPr>
        <p:grpSpPr>
          <a:xfrm rot="0">
            <a:off x="9669776" y="5333627"/>
            <a:ext cx="621798" cy="621798"/>
            <a:chOff x="0" y="0"/>
            <a:chExt cx="829063" cy="829063"/>
          </a:xfrm>
        </p:grpSpPr>
        <p:sp>
          <p:nvSpPr>
            <p:cNvPr name="Freeform 44" id="44"/>
            <p:cNvSpPr/>
            <p:nvPr/>
          </p:nvSpPr>
          <p:spPr>
            <a:xfrm flipH="false" flipV="false" rot="0">
              <a:off x="0" y="0"/>
              <a:ext cx="829063" cy="829063"/>
            </a:xfrm>
            <a:custGeom>
              <a:avLst/>
              <a:gdLst/>
              <a:ahLst/>
              <a:cxnLst/>
              <a:rect r="r" b="b" t="t" l="l"/>
              <a:pathLst>
                <a:path h="829063" w="829063">
                  <a:moveTo>
                    <a:pt x="0" y="0"/>
                  </a:moveTo>
                  <a:lnTo>
                    <a:pt x="829063" y="0"/>
                  </a:lnTo>
                  <a:lnTo>
                    <a:pt x="829063" y="829063"/>
                  </a:lnTo>
                  <a:lnTo>
                    <a:pt x="0" y="829063"/>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TextBox 45" id="45"/>
            <p:cNvSpPr txBox="true"/>
            <p:nvPr/>
          </p:nvSpPr>
          <p:spPr>
            <a:xfrm rot="0">
              <a:off x="161885" y="117926"/>
              <a:ext cx="441462" cy="503032"/>
            </a:xfrm>
            <a:prstGeom prst="rect">
              <a:avLst/>
            </a:prstGeom>
          </p:spPr>
          <p:txBody>
            <a:bodyPr anchor="t" rtlCol="false" tIns="0" lIns="0" bIns="0" rIns="0">
              <a:spAutoFit/>
            </a:bodyPr>
            <a:lstStyle/>
            <a:p>
              <a:pPr algn="ctr">
                <a:lnSpc>
                  <a:spcPts val="3163"/>
                </a:lnSpc>
                <a:spcBef>
                  <a:spcPct val="0"/>
                </a:spcBef>
              </a:pPr>
              <a:r>
                <a:rPr lang="en-US" sz="2259">
                  <a:solidFill>
                    <a:srgbClr val="FFFFFF"/>
                  </a:solidFill>
                  <a:latin typeface="Blanka"/>
                  <a:ea typeface="Blanka"/>
                  <a:cs typeface="Blanka"/>
                  <a:sym typeface="Blanka"/>
                </a:rPr>
                <a:t>4</a:t>
              </a:r>
            </a:p>
          </p:txBody>
        </p:sp>
      </p:grpSp>
      <p:grpSp>
        <p:nvGrpSpPr>
          <p:cNvPr name="Group 46" id="46"/>
          <p:cNvGrpSpPr/>
          <p:nvPr/>
        </p:nvGrpSpPr>
        <p:grpSpPr>
          <a:xfrm rot="0">
            <a:off x="717801" y="5286232"/>
            <a:ext cx="621798" cy="621798"/>
            <a:chOff x="0" y="0"/>
            <a:chExt cx="829063" cy="829063"/>
          </a:xfrm>
        </p:grpSpPr>
        <p:sp>
          <p:nvSpPr>
            <p:cNvPr name="Freeform 47" id="47"/>
            <p:cNvSpPr/>
            <p:nvPr/>
          </p:nvSpPr>
          <p:spPr>
            <a:xfrm flipH="false" flipV="false" rot="0">
              <a:off x="0" y="0"/>
              <a:ext cx="829063" cy="829063"/>
            </a:xfrm>
            <a:custGeom>
              <a:avLst/>
              <a:gdLst/>
              <a:ahLst/>
              <a:cxnLst/>
              <a:rect r="r" b="b" t="t" l="l"/>
              <a:pathLst>
                <a:path h="829063" w="829063">
                  <a:moveTo>
                    <a:pt x="0" y="0"/>
                  </a:moveTo>
                  <a:lnTo>
                    <a:pt x="829063" y="0"/>
                  </a:lnTo>
                  <a:lnTo>
                    <a:pt x="829063" y="829063"/>
                  </a:lnTo>
                  <a:lnTo>
                    <a:pt x="0" y="829063"/>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TextBox 48" id="48"/>
            <p:cNvSpPr txBox="true"/>
            <p:nvPr/>
          </p:nvSpPr>
          <p:spPr>
            <a:xfrm rot="0">
              <a:off x="161885" y="117926"/>
              <a:ext cx="441462" cy="503032"/>
            </a:xfrm>
            <a:prstGeom prst="rect">
              <a:avLst/>
            </a:prstGeom>
          </p:spPr>
          <p:txBody>
            <a:bodyPr anchor="t" rtlCol="false" tIns="0" lIns="0" bIns="0" rIns="0">
              <a:spAutoFit/>
            </a:bodyPr>
            <a:lstStyle/>
            <a:p>
              <a:pPr algn="ctr">
                <a:lnSpc>
                  <a:spcPts val="3163"/>
                </a:lnSpc>
                <a:spcBef>
                  <a:spcPct val="0"/>
                </a:spcBef>
              </a:pPr>
              <a:r>
                <a:rPr lang="en-US" sz="2259">
                  <a:solidFill>
                    <a:srgbClr val="FFFFFF"/>
                  </a:solidFill>
                  <a:latin typeface="Blanka"/>
                  <a:ea typeface="Blanka"/>
                  <a:cs typeface="Blanka"/>
                  <a:sym typeface="Blanka"/>
                </a:rPr>
                <a:t>3</a:t>
              </a:r>
            </a:p>
          </p:txBody>
        </p:sp>
      </p:grpSp>
      <p:grpSp>
        <p:nvGrpSpPr>
          <p:cNvPr name="Group 49" id="49"/>
          <p:cNvGrpSpPr/>
          <p:nvPr/>
        </p:nvGrpSpPr>
        <p:grpSpPr>
          <a:xfrm rot="0">
            <a:off x="718023" y="6391875"/>
            <a:ext cx="621798" cy="621798"/>
            <a:chOff x="0" y="0"/>
            <a:chExt cx="829063" cy="829063"/>
          </a:xfrm>
        </p:grpSpPr>
        <p:sp>
          <p:nvSpPr>
            <p:cNvPr name="Freeform 50" id="50"/>
            <p:cNvSpPr/>
            <p:nvPr/>
          </p:nvSpPr>
          <p:spPr>
            <a:xfrm flipH="false" flipV="false" rot="0">
              <a:off x="0" y="0"/>
              <a:ext cx="829063" cy="829063"/>
            </a:xfrm>
            <a:custGeom>
              <a:avLst/>
              <a:gdLst/>
              <a:ahLst/>
              <a:cxnLst/>
              <a:rect r="r" b="b" t="t" l="l"/>
              <a:pathLst>
                <a:path h="829063" w="829063">
                  <a:moveTo>
                    <a:pt x="0" y="0"/>
                  </a:moveTo>
                  <a:lnTo>
                    <a:pt x="829063" y="0"/>
                  </a:lnTo>
                  <a:lnTo>
                    <a:pt x="829063" y="829063"/>
                  </a:lnTo>
                  <a:lnTo>
                    <a:pt x="0" y="829063"/>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TextBox 51" id="51"/>
            <p:cNvSpPr txBox="true"/>
            <p:nvPr/>
          </p:nvSpPr>
          <p:spPr>
            <a:xfrm rot="0">
              <a:off x="161885" y="117926"/>
              <a:ext cx="441462" cy="503032"/>
            </a:xfrm>
            <a:prstGeom prst="rect">
              <a:avLst/>
            </a:prstGeom>
          </p:spPr>
          <p:txBody>
            <a:bodyPr anchor="t" rtlCol="false" tIns="0" lIns="0" bIns="0" rIns="0">
              <a:spAutoFit/>
            </a:bodyPr>
            <a:lstStyle/>
            <a:p>
              <a:pPr algn="ctr">
                <a:lnSpc>
                  <a:spcPts val="3163"/>
                </a:lnSpc>
                <a:spcBef>
                  <a:spcPct val="0"/>
                </a:spcBef>
              </a:pPr>
              <a:r>
                <a:rPr lang="en-US" sz="2259">
                  <a:solidFill>
                    <a:srgbClr val="FFFFFF"/>
                  </a:solidFill>
                  <a:latin typeface="Blanka"/>
                  <a:ea typeface="Blanka"/>
                  <a:cs typeface="Blanka"/>
                  <a:sym typeface="Blanka"/>
                </a:rPr>
                <a:t>5</a:t>
              </a:r>
            </a:p>
          </p:txBody>
        </p:sp>
      </p:grpSp>
      <p:grpSp>
        <p:nvGrpSpPr>
          <p:cNvPr name="Group 52" id="52"/>
          <p:cNvGrpSpPr/>
          <p:nvPr/>
        </p:nvGrpSpPr>
        <p:grpSpPr>
          <a:xfrm rot="0">
            <a:off x="717801" y="7450123"/>
            <a:ext cx="621798" cy="621798"/>
            <a:chOff x="0" y="0"/>
            <a:chExt cx="829063" cy="829063"/>
          </a:xfrm>
        </p:grpSpPr>
        <p:sp>
          <p:nvSpPr>
            <p:cNvPr name="Freeform 53" id="53"/>
            <p:cNvSpPr/>
            <p:nvPr/>
          </p:nvSpPr>
          <p:spPr>
            <a:xfrm flipH="false" flipV="false" rot="0">
              <a:off x="0" y="0"/>
              <a:ext cx="829063" cy="829063"/>
            </a:xfrm>
            <a:custGeom>
              <a:avLst/>
              <a:gdLst/>
              <a:ahLst/>
              <a:cxnLst/>
              <a:rect r="r" b="b" t="t" l="l"/>
              <a:pathLst>
                <a:path h="829063" w="829063">
                  <a:moveTo>
                    <a:pt x="0" y="0"/>
                  </a:moveTo>
                  <a:lnTo>
                    <a:pt x="829063" y="0"/>
                  </a:lnTo>
                  <a:lnTo>
                    <a:pt x="829063" y="829063"/>
                  </a:lnTo>
                  <a:lnTo>
                    <a:pt x="0" y="829063"/>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TextBox 54" id="54"/>
            <p:cNvSpPr txBox="true"/>
            <p:nvPr/>
          </p:nvSpPr>
          <p:spPr>
            <a:xfrm rot="0">
              <a:off x="161885" y="117926"/>
              <a:ext cx="441462" cy="503032"/>
            </a:xfrm>
            <a:prstGeom prst="rect">
              <a:avLst/>
            </a:prstGeom>
          </p:spPr>
          <p:txBody>
            <a:bodyPr anchor="t" rtlCol="false" tIns="0" lIns="0" bIns="0" rIns="0">
              <a:spAutoFit/>
            </a:bodyPr>
            <a:lstStyle/>
            <a:p>
              <a:pPr algn="ctr">
                <a:lnSpc>
                  <a:spcPts val="3163"/>
                </a:lnSpc>
                <a:spcBef>
                  <a:spcPct val="0"/>
                </a:spcBef>
              </a:pPr>
              <a:r>
                <a:rPr lang="en-US" sz="2259">
                  <a:solidFill>
                    <a:srgbClr val="FFFFFF"/>
                  </a:solidFill>
                  <a:latin typeface="Blanka"/>
                  <a:ea typeface="Blanka"/>
                  <a:cs typeface="Blanka"/>
                  <a:sym typeface="Blanka"/>
                </a:rPr>
                <a:t>7</a:t>
              </a:r>
            </a:p>
          </p:txBody>
        </p:sp>
      </p:grpSp>
      <p:grpSp>
        <p:nvGrpSpPr>
          <p:cNvPr name="Group 55" id="55"/>
          <p:cNvGrpSpPr/>
          <p:nvPr/>
        </p:nvGrpSpPr>
        <p:grpSpPr>
          <a:xfrm rot="0">
            <a:off x="9669776" y="7409652"/>
            <a:ext cx="621798" cy="621798"/>
            <a:chOff x="0" y="0"/>
            <a:chExt cx="829063" cy="829063"/>
          </a:xfrm>
        </p:grpSpPr>
        <p:sp>
          <p:nvSpPr>
            <p:cNvPr name="Freeform 56" id="56"/>
            <p:cNvSpPr/>
            <p:nvPr/>
          </p:nvSpPr>
          <p:spPr>
            <a:xfrm flipH="false" flipV="false" rot="0">
              <a:off x="0" y="0"/>
              <a:ext cx="829063" cy="829063"/>
            </a:xfrm>
            <a:custGeom>
              <a:avLst/>
              <a:gdLst/>
              <a:ahLst/>
              <a:cxnLst/>
              <a:rect r="r" b="b" t="t" l="l"/>
              <a:pathLst>
                <a:path h="829063" w="829063">
                  <a:moveTo>
                    <a:pt x="0" y="0"/>
                  </a:moveTo>
                  <a:lnTo>
                    <a:pt x="829063" y="0"/>
                  </a:lnTo>
                  <a:lnTo>
                    <a:pt x="829063" y="829063"/>
                  </a:lnTo>
                  <a:lnTo>
                    <a:pt x="0" y="829063"/>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TextBox 57" id="57"/>
            <p:cNvSpPr txBox="true"/>
            <p:nvPr/>
          </p:nvSpPr>
          <p:spPr>
            <a:xfrm rot="0">
              <a:off x="161885" y="117926"/>
              <a:ext cx="441462" cy="503032"/>
            </a:xfrm>
            <a:prstGeom prst="rect">
              <a:avLst/>
            </a:prstGeom>
          </p:spPr>
          <p:txBody>
            <a:bodyPr anchor="t" rtlCol="false" tIns="0" lIns="0" bIns="0" rIns="0">
              <a:spAutoFit/>
            </a:bodyPr>
            <a:lstStyle/>
            <a:p>
              <a:pPr algn="ctr">
                <a:lnSpc>
                  <a:spcPts val="3163"/>
                </a:lnSpc>
                <a:spcBef>
                  <a:spcPct val="0"/>
                </a:spcBef>
              </a:pPr>
              <a:r>
                <a:rPr lang="en-US" sz="2259">
                  <a:solidFill>
                    <a:srgbClr val="FFFFFF"/>
                  </a:solidFill>
                  <a:latin typeface="Blanka"/>
                  <a:ea typeface="Blanka"/>
                  <a:cs typeface="Blanka"/>
                  <a:sym typeface="Blanka"/>
                </a:rPr>
                <a:t>8</a:t>
              </a:r>
            </a:p>
          </p:txBody>
        </p:sp>
      </p:grpSp>
      <p:grpSp>
        <p:nvGrpSpPr>
          <p:cNvPr name="Group 58" id="58"/>
          <p:cNvGrpSpPr/>
          <p:nvPr/>
        </p:nvGrpSpPr>
        <p:grpSpPr>
          <a:xfrm rot="0">
            <a:off x="9669776" y="6450725"/>
            <a:ext cx="621798" cy="621798"/>
            <a:chOff x="0" y="0"/>
            <a:chExt cx="829063" cy="829063"/>
          </a:xfrm>
        </p:grpSpPr>
        <p:sp>
          <p:nvSpPr>
            <p:cNvPr name="Freeform 59" id="59"/>
            <p:cNvSpPr/>
            <p:nvPr/>
          </p:nvSpPr>
          <p:spPr>
            <a:xfrm flipH="false" flipV="false" rot="0">
              <a:off x="0" y="0"/>
              <a:ext cx="829063" cy="829063"/>
            </a:xfrm>
            <a:custGeom>
              <a:avLst/>
              <a:gdLst/>
              <a:ahLst/>
              <a:cxnLst/>
              <a:rect r="r" b="b" t="t" l="l"/>
              <a:pathLst>
                <a:path h="829063" w="829063">
                  <a:moveTo>
                    <a:pt x="0" y="0"/>
                  </a:moveTo>
                  <a:lnTo>
                    <a:pt x="829063" y="0"/>
                  </a:lnTo>
                  <a:lnTo>
                    <a:pt x="829063" y="829063"/>
                  </a:lnTo>
                  <a:lnTo>
                    <a:pt x="0" y="829063"/>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TextBox 60" id="60"/>
            <p:cNvSpPr txBox="true"/>
            <p:nvPr/>
          </p:nvSpPr>
          <p:spPr>
            <a:xfrm rot="0">
              <a:off x="161885" y="117926"/>
              <a:ext cx="441462" cy="503032"/>
            </a:xfrm>
            <a:prstGeom prst="rect">
              <a:avLst/>
            </a:prstGeom>
          </p:spPr>
          <p:txBody>
            <a:bodyPr anchor="t" rtlCol="false" tIns="0" lIns="0" bIns="0" rIns="0">
              <a:spAutoFit/>
            </a:bodyPr>
            <a:lstStyle/>
            <a:p>
              <a:pPr algn="ctr">
                <a:lnSpc>
                  <a:spcPts val="3163"/>
                </a:lnSpc>
                <a:spcBef>
                  <a:spcPct val="0"/>
                </a:spcBef>
              </a:pPr>
              <a:r>
                <a:rPr lang="en-US" sz="2259">
                  <a:solidFill>
                    <a:srgbClr val="FFFFFF"/>
                  </a:solidFill>
                  <a:latin typeface="Blanka"/>
                  <a:ea typeface="Blanka"/>
                  <a:cs typeface="Blanka"/>
                  <a:sym typeface="Blanka"/>
                </a:rPr>
                <a:t>6</a:t>
              </a:r>
            </a:p>
          </p:txBody>
        </p:sp>
      </p:grpSp>
      <p:grpSp>
        <p:nvGrpSpPr>
          <p:cNvPr name="Group 61" id="61"/>
          <p:cNvGrpSpPr/>
          <p:nvPr/>
        </p:nvGrpSpPr>
        <p:grpSpPr>
          <a:xfrm rot="0">
            <a:off x="9669776" y="4215167"/>
            <a:ext cx="621798" cy="621798"/>
            <a:chOff x="0" y="0"/>
            <a:chExt cx="829063" cy="829063"/>
          </a:xfrm>
        </p:grpSpPr>
        <p:sp>
          <p:nvSpPr>
            <p:cNvPr name="Freeform 62" id="62"/>
            <p:cNvSpPr/>
            <p:nvPr/>
          </p:nvSpPr>
          <p:spPr>
            <a:xfrm flipH="false" flipV="false" rot="0">
              <a:off x="0" y="0"/>
              <a:ext cx="829063" cy="829063"/>
            </a:xfrm>
            <a:custGeom>
              <a:avLst/>
              <a:gdLst/>
              <a:ahLst/>
              <a:cxnLst/>
              <a:rect r="r" b="b" t="t" l="l"/>
              <a:pathLst>
                <a:path h="829063" w="829063">
                  <a:moveTo>
                    <a:pt x="0" y="0"/>
                  </a:moveTo>
                  <a:lnTo>
                    <a:pt x="829063" y="0"/>
                  </a:lnTo>
                  <a:lnTo>
                    <a:pt x="829063" y="829063"/>
                  </a:lnTo>
                  <a:lnTo>
                    <a:pt x="0" y="829063"/>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TextBox 63" id="63"/>
            <p:cNvSpPr txBox="true"/>
            <p:nvPr/>
          </p:nvSpPr>
          <p:spPr>
            <a:xfrm rot="0">
              <a:off x="161885" y="117926"/>
              <a:ext cx="441462" cy="503032"/>
            </a:xfrm>
            <a:prstGeom prst="rect">
              <a:avLst/>
            </a:prstGeom>
          </p:spPr>
          <p:txBody>
            <a:bodyPr anchor="t" rtlCol="false" tIns="0" lIns="0" bIns="0" rIns="0">
              <a:spAutoFit/>
            </a:bodyPr>
            <a:lstStyle/>
            <a:p>
              <a:pPr algn="ctr">
                <a:lnSpc>
                  <a:spcPts val="3163"/>
                </a:lnSpc>
                <a:spcBef>
                  <a:spcPct val="0"/>
                </a:spcBef>
              </a:pPr>
              <a:r>
                <a:rPr lang="en-US" sz="2259">
                  <a:solidFill>
                    <a:srgbClr val="FFFFFF"/>
                  </a:solidFill>
                  <a:latin typeface="Blanka"/>
                  <a:ea typeface="Blanka"/>
                  <a:cs typeface="Blanka"/>
                  <a:sym typeface="Blanka"/>
                </a:rPr>
                <a:t>2</a:t>
              </a:r>
            </a:p>
          </p:txBody>
        </p:sp>
      </p:grpSp>
      <p:sp>
        <p:nvSpPr>
          <p:cNvPr name="Freeform 64" id="64"/>
          <p:cNvSpPr/>
          <p:nvPr/>
        </p:nvSpPr>
        <p:spPr>
          <a:xfrm flipH="false" flipV="false" rot="0">
            <a:off x="185225" y="296308"/>
            <a:ext cx="1686949" cy="1283956"/>
          </a:xfrm>
          <a:custGeom>
            <a:avLst/>
            <a:gdLst/>
            <a:ahLst/>
            <a:cxnLst/>
            <a:rect r="r" b="b" t="t" l="l"/>
            <a:pathLst>
              <a:path h="1283956" w="1686949">
                <a:moveTo>
                  <a:pt x="0" y="0"/>
                </a:moveTo>
                <a:lnTo>
                  <a:pt x="1686950" y="0"/>
                </a:lnTo>
                <a:lnTo>
                  <a:pt x="1686950" y="1283956"/>
                </a:lnTo>
                <a:lnTo>
                  <a:pt x="0" y="1283956"/>
                </a:lnTo>
                <a:lnTo>
                  <a:pt x="0" y="0"/>
                </a:lnTo>
                <a:close/>
              </a:path>
            </a:pathLst>
          </a:custGeom>
          <a:blipFill>
            <a:blip r:embed="rId10"/>
            <a:stretch>
              <a:fillRect l="0" t="0" r="0" b="0"/>
            </a:stretch>
          </a:blipFill>
        </p:spPr>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bg>
      <p:bgPr>
        <a:solidFill>
          <a:srgbClr val="F5FFF9"/>
        </a:solidFill>
      </p:bgPr>
    </p:bg>
    <p:spTree>
      <p:nvGrpSpPr>
        <p:cNvPr id="1" name=""/>
        <p:cNvGrpSpPr/>
        <p:nvPr/>
      </p:nvGrpSpPr>
      <p:grpSpPr>
        <a:xfrm>
          <a:off x="0" y="0"/>
          <a:ext cx="0" cy="0"/>
          <a:chOff x="0" y="0"/>
          <a:chExt cx="0" cy="0"/>
        </a:xfrm>
      </p:grpSpPr>
      <p:grpSp>
        <p:nvGrpSpPr>
          <p:cNvPr name="Group 2" id="2"/>
          <p:cNvGrpSpPr/>
          <p:nvPr/>
        </p:nvGrpSpPr>
        <p:grpSpPr>
          <a:xfrm rot="9405415">
            <a:off x="-2955826" y="-922147"/>
            <a:ext cx="5159957" cy="5159957"/>
            <a:chOff x="0" y="0"/>
            <a:chExt cx="812800" cy="812800"/>
          </a:xfrm>
        </p:grpSpPr>
        <p:sp>
          <p:nvSpPr>
            <p:cNvPr name="Freeform 3" id="3"/>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true">
              <a:gsLst>
                <a:gs pos="0">
                  <a:srgbClr val="9FC4AE">
                    <a:alpha val="66000"/>
                  </a:srgbClr>
                </a:gs>
                <a:gs pos="100000">
                  <a:srgbClr val="FFFFFF">
                    <a:alpha val="66000"/>
                  </a:srgbClr>
                </a:gs>
              </a:gsLst>
              <a:lin ang="0"/>
            </a:gradFill>
          </p:spPr>
        </p:sp>
        <p:sp>
          <p:nvSpPr>
            <p:cNvPr name="TextBox 4" id="4"/>
            <p:cNvSpPr txBox="true"/>
            <p:nvPr/>
          </p:nvSpPr>
          <p:spPr>
            <a:xfrm>
              <a:off x="76200" y="28575"/>
              <a:ext cx="660400" cy="708025"/>
            </a:xfrm>
            <a:prstGeom prst="rect">
              <a:avLst/>
            </a:prstGeom>
          </p:spPr>
          <p:txBody>
            <a:bodyPr anchor="ctr" rtlCol="false" tIns="50800" lIns="50800" bIns="50800" rIns="50800"/>
            <a:lstStyle/>
            <a:p>
              <a:pPr algn="ctr">
                <a:lnSpc>
                  <a:spcPts val="2936"/>
                </a:lnSpc>
              </a:pPr>
            </a:p>
          </p:txBody>
        </p:sp>
      </p:grpSp>
      <p:grpSp>
        <p:nvGrpSpPr>
          <p:cNvPr name="Group 5" id="5"/>
          <p:cNvGrpSpPr/>
          <p:nvPr/>
        </p:nvGrpSpPr>
        <p:grpSpPr>
          <a:xfrm rot="6936434">
            <a:off x="16470692" y="738526"/>
            <a:ext cx="5817847" cy="5817847"/>
            <a:chOff x="0" y="0"/>
            <a:chExt cx="812800" cy="812800"/>
          </a:xfrm>
        </p:grpSpPr>
        <p:sp>
          <p:nvSpPr>
            <p:cNvPr name="Freeform 6" id="6"/>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true">
              <a:gsLst>
                <a:gs pos="0">
                  <a:srgbClr val="9FC4AE">
                    <a:alpha val="66000"/>
                  </a:srgbClr>
                </a:gs>
                <a:gs pos="100000">
                  <a:srgbClr val="FFFFFF">
                    <a:alpha val="66000"/>
                  </a:srgbClr>
                </a:gs>
              </a:gsLst>
              <a:lin ang="0"/>
            </a:gradFill>
          </p:spPr>
        </p:sp>
        <p:sp>
          <p:nvSpPr>
            <p:cNvPr name="TextBox 7" id="7"/>
            <p:cNvSpPr txBox="true"/>
            <p:nvPr/>
          </p:nvSpPr>
          <p:spPr>
            <a:xfrm>
              <a:off x="76200" y="28575"/>
              <a:ext cx="660400" cy="708025"/>
            </a:xfrm>
            <a:prstGeom prst="rect">
              <a:avLst/>
            </a:prstGeom>
          </p:spPr>
          <p:txBody>
            <a:bodyPr anchor="ctr" rtlCol="false" tIns="50800" lIns="50800" bIns="50800" rIns="50800"/>
            <a:lstStyle/>
            <a:p>
              <a:pPr algn="ctr">
                <a:lnSpc>
                  <a:spcPts val="2936"/>
                </a:lnSpc>
              </a:pPr>
            </a:p>
          </p:txBody>
        </p:sp>
      </p:grpSp>
      <p:sp>
        <p:nvSpPr>
          <p:cNvPr name="Freeform 8" id="8"/>
          <p:cNvSpPr/>
          <p:nvPr/>
        </p:nvSpPr>
        <p:spPr>
          <a:xfrm flipH="false" flipV="true" rot="0">
            <a:off x="12732070" y="8737690"/>
            <a:ext cx="4647136" cy="778395"/>
          </a:xfrm>
          <a:custGeom>
            <a:avLst/>
            <a:gdLst/>
            <a:ahLst/>
            <a:cxnLst/>
            <a:rect r="r" b="b" t="t" l="l"/>
            <a:pathLst>
              <a:path h="778395" w="4647136">
                <a:moveTo>
                  <a:pt x="0" y="778395"/>
                </a:moveTo>
                <a:lnTo>
                  <a:pt x="4647136" y="778395"/>
                </a:lnTo>
                <a:lnTo>
                  <a:pt x="4647136" y="0"/>
                </a:lnTo>
                <a:lnTo>
                  <a:pt x="0" y="0"/>
                </a:lnTo>
                <a:lnTo>
                  <a:pt x="0" y="778395"/>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9" id="9"/>
          <p:cNvSpPr/>
          <p:nvPr/>
        </p:nvSpPr>
        <p:spPr>
          <a:xfrm flipH="true" flipV="true" rot="0">
            <a:off x="908794" y="8737690"/>
            <a:ext cx="4647136" cy="778395"/>
          </a:xfrm>
          <a:custGeom>
            <a:avLst/>
            <a:gdLst/>
            <a:ahLst/>
            <a:cxnLst/>
            <a:rect r="r" b="b" t="t" l="l"/>
            <a:pathLst>
              <a:path h="778395" w="4647136">
                <a:moveTo>
                  <a:pt x="4647136" y="778395"/>
                </a:moveTo>
                <a:lnTo>
                  <a:pt x="0" y="778395"/>
                </a:lnTo>
                <a:lnTo>
                  <a:pt x="0" y="0"/>
                </a:lnTo>
                <a:lnTo>
                  <a:pt x="4647136" y="0"/>
                </a:lnTo>
                <a:lnTo>
                  <a:pt x="4647136" y="778395"/>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10" id="10"/>
          <p:cNvSpPr txBox="true"/>
          <p:nvPr/>
        </p:nvSpPr>
        <p:spPr>
          <a:xfrm rot="0">
            <a:off x="2103120" y="566928"/>
            <a:ext cx="14081760" cy="946150"/>
          </a:xfrm>
          <a:prstGeom prst="rect">
            <a:avLst/>
          </a:prstGeom>
        </p:spPr>
        <p:txBody>
          <a:bodyPr anchor="t" rtlCol="false" tIns="0" lIns="0" bIns="0" rIns="0" wrap="square">
            <a:spAutoFit/>
          </a:bodyPr>
          <a:lstStyle/>
          <a:p>
            <a:pPr algn="ctr">
              <a:lnSpc>
                <a:spcPts val="7699"/>
              </a:lnSpc>
            </a:pPr>
            <a:r>
              <a:rPr lang="en-US" b="true" sz="5499">
                <a:solidFill>
                  <a:srgbClr val="457C5B"/>
                </a:solidFill>
                <a:latin typeface="Manifold Ultra-Bold"/>
                <a:ea typeface="Manifold Ultra-Bold"/>
                <a:cs typeface="Manifold Ultra-Bold"/>
                <a:sym typeface="Manifold Ultra-Bold"/>
              </a:rPr>
              <a:t>THE PROBLEM</a:t>
            </a:r>
          </a:p>
        </p:txBody>
      </p:sp>
      <p:sp>
        <p:nvSpPr>
          <p:cNvPr name="Freeform 44" id="44"/>
          <p:cNvSpPr/>
          <p:nvPr/>
        </p:nvSpPr>
        <p:spPr>
          <a:xfrm flipH="false" flipV="false" rot="0">
            <a:off x="185225" y="296308"/>
            <a:ext cx="1686949" cy="1283956"/>
          </a:xfrm>
          <a:custGeom>
            <a:avLst/>
            <a:gdLst/>
            <a:ahLst/>
            <a:cxnLst/>
            <a:rect r="r" b="b" t="t" l="l"/>
            <a:pathLst>
              <a:path h="1283956" w="1686949">
                <a:moveTo>
                  <a:pt x="0" y="0"/>
                </a:moveTo>
                <a:lnTo>
                  <a:pt x="1686950" y="0"/>
                </a:lnTo>
                <a:lnTo>
                  <a:pt x="1686950" y="1283956"/>
                </a:lnTo>
                <a:lnTo>
                  <a:pt x="0" y="1283956"/>
                </a:lnTo>
                <a:lnTo>
                  <a:pt x="0" y="0"/>
                </a:lnTo>
                <a:close/>
              </a:path>
            </a:pathLst>
          </a:custGeom>
          <a:blipFill>
            <a:blip r:embed="rId6"/>
            <a:stretch>
              <a:fillRect l="0" t="0" r="0" b="0"/>
            </a:stretch>
          </a:blipFill>
        </p:spPr>
      </p:sp>
      <p:sp>
        <p:nvSpPr>
          <p:cNvPr id="45" name="Rounded Rectangle 44"/>
          <p:cNvSpPr/>
          <p:nvPr/>
        </p:nvSpPr>
        <p:spPr>
          <a:xfrm>
            <a:off x="914400" y="2011680"/>
            <a:ext cx="16459200" cy="1051560"/>
          </a:xfrm>
          <a:prstGeom prst="roundRect">
            <a:avLst>
              <a:gd name="adj" fmla="val 7000"/>
            </a:avLst>
          </a:prstGeom>
          <a:solidFill>
            <a:srgbClr val="1E49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1234440" y="2057400"/>
            <a:ext cx="15819120" cy="960120"/>
          </a:xfrm>
          <a:prstGeom prst="rect">
            <a:avLst/>
          </a:prstGeom>
          <a:noFill/>
        </p:spPr>
        <p:txBody>
          <a:bodyPr wrap="square" anchor="ctr" lIns="0" rIns="0" tIns="0" bIns="0">
            <a:spAutoFit/>
          </a:bodyPr>
          <a:lstStyle/>
          <a:p>
            <a:pPr algn="l">
              <a:lnSpc>
                <a:spcPct val="110000"/>
              </a:lnSpc>
              <a:spcAft>
                <a:spcPts val="600"/>
              </a:spcAft>
            </a:pPr>
            <a:r>
              <a:rPr sz="2100" b="0">
                <a:solidFill>
                  <a:srgbClr val="F5FFF9"/>
                </a:solidFill>
                <a:latin typeface="Lato"/>
              </a:rPr>
              <a:t>People type short, vague prompts. The AI has to guess, so it writes long answers nobody asked for, and every extra word costs tokens, time and money.</a:t>
            </a:r>
          </a:p>
        </p:txBody>
      </p:sp>
      <p:sp>
        <p:nvSpPr>
          <p:cNvPr id="47" name="Rounded Rectangle 46"/>
          <p:cNvSpPr/>
          <p:nvPr/>
        </p:nvSpPr>
        <p:spPr>
          <a:xfrm>
            <a:off x="914400" y="3383280"/>
            <a:ext cx="8778240" cy="5989320"/>
          </a:xfrm>
          <a:prstGeom prst="roundRect">
            <a:avLst>
              <a:gd name="adj" fmla="val 7000"/>
            </a:avLst>
          </a:prstGeom>
          <a:solidFill>
            <a:srgbClr val="FFFFFF"/>
          </a:solidFill>
          <a:ln w="19050">
            <a:solidFill>
              <a:srgbClr val="8AB79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1234440" y="3566160"/>
            <a:ext cx="8229600" cy="457200"/>
          </a:xfrm>
          <a:prstGeom prst="rect">
            <a:avLst/>
          </a:prstGeom>
          <a:noFill/>
        </p:spPr>
        <p:txBody>
          <a:bodyPr wrap="square" anchor="t" lIns="0" rIns="0" tIns="0" bIns="0">
            <a:spAutoFit/>
          </a:bodyPr>
          <a:lstStyle/>
          <a:p>
            <a:pPr algn="l">
              <a:lnSpc>
                <a:spcPct val="110000"/>
              </a:lnSpc>
              <a:spcAft>
                <a:spcPts val="600"/>
              </a:spcAft>
            </a:pPr>
            <a:r>
              <a:rPr sz="1900" b="1">
                <a:solidFill>
                  <a:srgbClr val="457C5B"/>
                </a:solidFill>
                <a:latin typeface="Manifold Bold"/>
              </a:rPr>
              <a:t>A REAL EXAMPLE</a:t>
            </a:r>
          </a:p>
        </p:txBody>
      </p:sp>
      <p:sp>
        <p:nvSpPr>
          <p:cNvPr id="49" name="Rounded Rectangle 48"/>
          <p:cNvSpPr/>
          <p:nvPr/>
        </p:nvSpPr>
        <p:spPr>
          <a:xfrm>
            <a:off x="1234440" y="4114800"/>
            <a:ext cx="8138160" cy="1417320"/>
          </a:xfrm>
          <a:prstGeom prst="roundRect">
            <a:avLst>
              <a:gd name="adj" fmla="val 7000"/>
            </a:avLst>
          </a:prstGeom>
          <a:solidFill>
            <a:srgbClr val="E4F2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1463040" y="4224528"/>
            <a:ext cx="7680960" cy="1234440"/>
          </a:xfrm>
          <a:prstGeom prst="rect">
            <a:avLst/>
          </a:prstGeom>
          <a:noFill/>
        </p:spPr>
        <p:txBody>
          <a:bodyPr wrap="square" anchor="t" lIns="0" rIns="0" tIns="0" bIns="0">
            <a:spAutoFit/>
          </a:bodyPr>
          <a:lstStyle/>
          <a:p>
            <a:pPr algn="l">
              <a:lnSpc>
                <a:spcPct val="110000"/>
              </a:lnSpc>
              <a:spcAft>
                <a:spcPts val="200"/>
              </a:spcAft>
            </a:pPr>
            <a:r>
              <a:rPr sz="1800" b="1">
                <a:solidFill>
                  <a:srgbClr val="457C5B"/>
                </a:solidFill>
                <a:latin typeface="Manifold Bold"/>
              </a:rPr>
              <a:t>The user types: </a:t>
            </a:r>
            <a:r>
              <a:rPr sz="1800" b="0">
                <a:solidFill>
                  <a:srgbClr val="1E4926"/>
                </a:solidFill>
                <a:latin typeface="Courier New"/>
              </a:rPr>
              <a:t>“hey can you just tell me if this review is good or bad”</a:t>
            </a:r>
          </a:p>
          <a:p>
            <a:pPr algn="l">
              <a:lnSpc>
                <a:spcPct val="110000"/>
              </a:lnSpc>
              <a:spcAft>
                <a:spcPts val="200"/>
              </a:spcAft>
            </a:pPr>
            <a:r>
              <a:rPr sz="1600" b="0">
                <a:solidFill>
                  <a:srgbClr val="457C5B"/>
                </a:solidFill>
                <a:latin typeface="Lato"/>
              </a:rPr>
              <a:t>+ a short phone review</a:t>
            </a:r>
          </a:p>
        </p:txBody>
      </p:sp>
      <p:sp>
        <p:nvSpPr>
          <p:cNvPr id="51" name="Rounded Rectangle 50"/>
          <p:cNvSpPr/>
          <p:nvPr/>
        </p:nvSpPr>
        <p:spPr>
          <a:xfrm>
            <a:off x="1234440" y="5715000"/>
            <a:ext cx="8138160" cy="2331720"/>
          </a:xfrm>
          <a:prstGeom prst="roundRect">
            <a:avLst>
              <a:gd name="adj" fmla="val 7000"/>
            </a:avLst>
          </a:prstGeom>
          <a:solidFill>
            <a:srgbClr val="E4F2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1463040" y="5824728"/>
            <a:ext cx="7680960" cy="2148840"/>
          </a:xfrm>
          <a:prstGeom prst="rect">
            <a:avLst/>
          </a:prstGeom>
          <a:noFill/>
        </p:spPr>
        <p:txBody>
          <a:bodyPr wrap="square" anchor="t" lIns="0" rIns="0" tIns="0" bIns="0">
            <a:spAutoFit/>
          </a:bodyPr>
          <a:lstStyle/>
          <a:p>
            <a:pPr algn="l">
              <a:lnSpc>
                <a:spcPct val="110000"/>
              </a:lnSpc>
              <a:spcAft>
                <a:spcPts val="600"/>
              </a:spcAft>
            </a:pPr>
            <a:r>
              <a:rPr sz="1800" b="1">
                <a:solidFill>
                  <a:srgbClr val="457C5B"/>
                </a:solidFill>
                <a:latin typeface="Manifold Bold"/>
              </a:rPr>
              <a:t>The AI answers with a whole page: </a:t>
            </a:r>
            <a:r>
              <a:rPr sz="1800" b="0">
                <a:solidFill>
                  <a:srgbClr val="1E4926"/>
                </a:solidFill>
                <a:latin typeface="Lato"/>
              </a:rPr>
              <a:t>a heading, positive points, negative points and a closing paragraph.</a:t>
            </a:r>
          </a:p>
          <a:p>
            <a:pPr algn="l">
              <a:lnSpc>
                <a:spcPct val="110000"/>
              </a:lnSpc>
              <a:spcAft>
                <a:spcPts val="600"/>
              </a:spcAft>
            </a:pPr>
            <a:r>
              <a:rPr sz="3400" b="0">
                <a:solidFill>
                  <a:srgbClr val="8E1711"/>
                </a:solidFill>
                <a:latin typeface="Manifold Ultra-Bold"/>
              </a:rPr>
              <a:t>166 tokens</a:t>
            </a:r>
            <a:r>
              <a:rPr sz="1700" b="0">
                <a:solidFill>
                  <a:srgbClr val="1E4926"/>
                </a:solidFill>
                <a:latin typeface="Lato"/>
              </a:rPr>
              <a:t>  in the answer alone</a:t>
            </a:r>
          </a:p>
        </p:txBody>
      </p:sp>
      <p:sp>
        <p:nvSpPr>
          <p:cNvPr id="53" name="TextBox 52"/>
          <p:cNvSpPr txBox="1"/>
          <p:nvPr/>
        </p:nvSpPr>
        <p:spPr>
          <a:xfrm>
            <a:off x="1234440" y="8229600"/>
            <a:ext cx="8138160" cy="1005840"/>
          </a:xfrm>
          <a:prstGeom prst="rect">
            <a:avLst/>
          </a:prstGeom>
          <a:noFill/>
        </p:spPr>
        <p:txBody>
          <a:bodyPr wrap="square" anchor="t" lIns="0" rIns="0" tIns="0" bIns="0">
            <a:spAutoFit/>
          </a:bodyPr>
          <a:lstStyle/>
          <a:p>
            <a:pPr algn="l">
              <a:lnSpc>
                <a:spcPct val="110000"/>
              </a:lnSpc>
              <a:spcAft>
                <a:spcPts val="600"/>
              </a:spcAft>
            </a:pPr>
            <a:r>
              <a:rPr sz="1800" b="1">
                <a:solidFill>
                  <a:srgbClr val="457C5B"/>
                </a:solidFill>
                <a:latin typeface="Manifold Bold"/>
              </a:rPr>
              <a:t>The user only wanted one word: good or bad.</a:t>
            </a:r>
          </a:p>
        </p:txBody>
      </p:sp>
      <p:sp>
        <p:nvSpPr>
          <p:cNvPr id="54" name="TextBox 53"/>
          <p:cNvSpPr txBox="1"/>
          <p:nvPr/>
        </p:nvSpPr>
        <p:spPr>
          <a:xfrm>
            <a:off x="10149840" y="3383280"/>
            <a:ext cx="7223760" cy="457200"/>
          </a:xfrm>
          <a:prstGeom prst="rect">
            <a:avLst/>
          </a:prstGeom>
          <a:noFill/>
        </p:spPr>
        <p:txBody>
          <a:bodyPr wrap="square" anchor="t" lIns="0" rIns="0" tIns="0" bIns="0">
            <a:spAutoFit/>
          </a:bodyPr>
          <a:lstStyle/>
          <a:p>
            <a:pPr algn="l">
              <a:lnSpc>
                <a:spcPct val="110000"/>
              </a:lnSpc>
              <a:spcAft>
                <a:spcPts val="600"/>
              </a:spcAft>
            </a:pPr>
            <a:r>
              <a:rPr sz="1900" b="1">
                <a:solidFill>
                  <a:srgbClr val="457C5B"/>
                </a:solidFill>
                <a:latin typeface="Manifold Bold"/>
              </a:rPr>
              <a:t>OUR SURVEY OF STUDENTS AND DEVELOPERS</a:t>
            </a:r>
          </a:p>
        </p:txBody>
      </p:sp>
      <p:sp>
        <p:nvSpPr>
          <p:cNvPr id="55" name="Rounded Rectangle 54"/>
          <p:cNvSpPr/>
          <p:nvPr/>
        </p:nvSpPr>
        <p:spPr>
          <a:xfrm>
            <a:off x="10149840" y="3977639"/>
            <a:ext cx="7223760" cy="1627632"/>
          </a:xfrm>
          <a:prstGeom prst="roundRect">
            <a:avLst>
              <a:gd name="adj" fmla="val 7000"/>
            </a:avLst>
          </a:prstGeom>
          <a:solidFill>
            <a:srgbClr val="457C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TextBox 55"/>
          <p:cNvSpPr txBox="1"/>
          <p:nvPr/>
        </p:nvSpPr>
        <p:spPr>
          <a:xfrm>
            <a:off x="10424160" y="4069079"/>
            <a:ext cx="2377440" cy="1444752"/>
          </a:xfrm>
          <a:prstGeom prst="rect">
            <a:avLst/>
          </a:prstGeom>
          <a:noFill/>
        </p:spPr>
        <p:txBody>
          <a:bodyPr wrap="square" anchor="ctr" lIns="0" rIns="0" tIns="0" bIns="0">
            <a:spAutoFit/>
          </a:bodyPr>
          <a:lstStyle/>
          <a:p>
            <a:pPr algn="l">
              <a:lnSpc>
                <a:spcPct val="110000"/>
              </a:lnSpc>
              <a:spcAft>
                <a:spcPts val="600"/>
              </a:spcAft>
            </a:pPr>
            <a:r>
              <a:rPr sz="4600" b="0">
                <a:solidFill>
                  <a:srgbClr val="F5FFF9"/>
                </a:solidFill>
                <a:latin typeface="Manifold Ultra-Bold"/>
              </a:rPr>
              <a:t>72%</a:t>
            </a:r>
          </a:p>
        </p:txBody>
      </p:sp>
      <p:sp>
        <p:nvSpPr>
          <p:cNvPr id="57" name="TextBox 56"/>
          <p:cNvSpPr txBox="1"/>
          <p:nvPr/>
        </p:nvSpPr>
        <p:spPr>
          <a:xfrm>
            <a:off x="12893040" y="4069079"/>
            <a:ext cx="4297680" cy="1444752"/>
          </a:xfrm>
          <a:prstGeom prst="rect">
            <a:avLst/>
          </a:prstGeom>
          <a:noFill/>
        </p:spPr>
        <p:txBody>
          <a:bodyPr wrap="square" anchor="ctr" lIns="0" rIns="0" tIns="0" bIns="0">
            <a:spAutoFit/>
          </a:bodyPr>
          <a:lstStyle/>
          <a:p>
            <a:pPr algn="l">
              <a:lnSpc>
                <a:spcPct val="110000"/>
              </a:lnSpc>
              <a:spcAft>
                <a:spcPts val="600"/>
              </a:spcAft>
            </a:pPr>
            <a:r>
              <a:rPr sz="1900" b="0">
                <a:solidFill>
                  <a:srgbClr val="F5FFF9"/>
                </a:solidFill>
                <a:latin typeface="Lato"/>
              </a:rPr>
              <a:t>run out of tokens very quickly</a:t>
            </a:r>
          </a:p>
        </p:txBody>
      </p:sp>
      <p:sp>
        <p:nvSpPr>
          <p:cNvPr id="58" name="Rounded Rectangle 57"/>
          <p:cNvSpPr/>
          <p:nvPr/>
        </p:nvSpPr>
        <p:spPr>
          <a:xfrm>
            <a:off x="10149840" y="5788152"/>
            <a:ext cx="7223760" cy="1627632"/>
          </a:xfrm>
          <a:prstGeom prst="roundRect">
            <a:avLst>
              <a:gd name="adj" fmla="val 7000"/>
            </a:avLst>
          </a:prstGeom>
          <a:solidFill>
            <a:srgbClr val="457C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TextBox 58"/>
          <p:cNvSpPr txBox="1"/>
          <p:nvPr/>
        </p:nvSpPr>
        <p:spPr>
          <a:xfrm>
            <a:off x="10424160" y="5879592"/>
            <a:ext cx="2377440" cy="1444752"/>
          </a:xfrm>
          <a:prstGeom prst="rect">
            <a:avLst/>
          </a:prstGeom>
          <a:noFill/>
        </p:spPr>
        <p:txBody>
          <a:bodyPr wrap="square" anchor="ctr" lIns="0" rIns="0" tIns="0" bIns="0">
            <a:spAutoFit/>
          </a:bodyPr>
          <a:lstStyle/>
          <a:p>
            <a:pPr algn="l">
              <a:lnSpc>
                <a:spcPct val="110000"/>
              </a:lnSpc>
              <a:spcAft>
                <a:spcPts val="600"/>
              </a:spcAft>
            </a:pPr>
            <a:r>
              <a:rPr sz="4600" b="0">
                <a:solidFill>
                  <a:srgbClr val="F5FFF9"/>
                </a:solidFill>
                <a:latin typeface="Manifold Ultra-Bold"/>
              </a:rPr>
              <a:t>58%</a:t>
            </a:r>
          </a:p>
        </p:txBody>
      </p:sp>
      <p:sp>
        <p:nvSpPr>
          <p:cNvPr id="60" name="TextBox 59"/>
          <p:cNvSpPr txBox="1"/>
          <p:nvPr/>
        </p:nvSpPr>
        <p:spPr>
          <a:xfrm>
            <a:off x="12893040" y="5879592"/>
            <a:ext cx="4297680" cy="1444752"/>
          </a:xfrm>
          <a:prstGeom prst="rect">
            <a:avLst/>
          </a:prstGeom>
          <a:noFill/>
        </p:spPr>
        <p:txBody>
          <a:bodyPr wrap="square" anchor="ctr" lIns="0" rIns="0" tIns="0" bIns="0">
            <a:spAutoFit/>
          </a:bodyPr>
          <a:lstStyle/>
          <a:p>
            <a:pPr algn="l">
              <a:lnSpc>
                <a:spcPct val="110000"/>
              </a:lnSpc>
              <a:spcAft>
                <a:spcPts val="600"/>
              </a:spcAft>
            </a:pPr>
            <a:r>
              <a:rPr sz="1900" b="0">
                <a:solidFill>
                  <a:srgbClr val="F5FFF9"/>
                </a:solidFill>
                <a:latin typeface="Lato"/>
              </a:rPr>
              <a:t>need several prompts to get one answer</a:t>
            </a:r>
          </a:p>
        </p:txBody>
      </p:sp>
      <p:sp>
        <p:nvSpPr>
          <p:cNvPr id="61" name="Rounded Rectangle 60"/>
          <p:cNvSpPr/>
          <p:nvPr/>
        </p:nvSpPr>
        <p:spPr>
          <a:xfrm>
            <a:off x="10149840" y="7598663"/>
            <a:ext cx="7223760" cy="1627632"/>
          </a:xfrm>
          <a:prstGeom prst="roundRect">
            <a:avLst>
              <a:gd name="adj" fmla="val 7000"/>
            </a:avLst>
          </a:prstGeom>
          <a:solidFill>
            <a:srgbClr val="457C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TextBox 61"/>
          <p:cNvSpPr txBox="1"/>
          <p:nvPr/>
        </p:nvSpPr>
        <p:spPr>
          <a:xfrm>
            <a:off x="10424160" y="7690103"/>
            <a:ext cx="2377440" cy="1444752"/>
          </a:xfrm>
          <a:prstGeom prst="rect">
            <a:avLst/>
          </a:prstGeom>
          <a:noFill/>
        </p:spPr>
        <p:txBody>
          <a:bodyPr wrap="square" anchor="ctr" lIns="0" rIns="0" tIns="0" bIns="0">
            <a:spAutoFit/>
          </a:bodyPr>
          <a:lstStyle/>
          <a:p>
            <a:pPr algn="l">
              <a:lnSpc>
                <a:spcPct val="110000"/>
              </a:lnSpc>
              <a:spcAft>
                <a:spcPts val="600"/>
              </a:spcAft>
            </a:pPr>
            <a:r>
              <a:rPr sz="4600" b="0">
                <a:solidFill>
                  <a:srgbClr val="F5FFF9"/>
                </a:solidFill>
                <a:latin typeface="Manifold Ultra-Bold"/>
              </a:rPr>
              <a:t>50%</a:t>
            </a:r>
          </a:p>
        </p:txBody>
      </p:sp>
      <p:sp>
        <p:nvSpPr>
          <p:cNvPr id="63" name="TextBox 62"/>
          <p:cNvSpPr txBox="1"/>
          <p:nvPr/>
        </p:nvSpPr>
        <p:spPr>
          <a:xfrm>
            <a:off x="12893040" y="7690103"/>
            <a:ext cx="4297680" cy="1444752"/>
          </a:xfrm>
          <a:prstGeom prst="rect">
            <a:avLst/>
          </a:prstGeom>
          <a:noFill/>
        </p:spPr>
        <p:txBody>
          <a:bodyPr wrap="square" anchor="ctr" lIns="0" rIns="0" tIns="0" bIns="0">
            <a:spAutoFit/>
          </a:bodyPr>
          <a:lstStyle/>
          <a:p>
            <a:pPr algn="l">
              <a:lnSpc>
                <a:spcPct val="110000"/>
              </a:lnSpc>
              <a:spcAft>
                <a:spcPts val="600"/>
              </a:spcAft>
            </a:pPr>
            <a:r>
              <a:rPr sz="1900" b="0">
                <a:solidFill>
                  <a:srgbClr val="F5FFF9"/>
                </a:solidFill>
                <a:latin typeface="Lato"/>
              </a:rPr>
              <a:t>often or very often ask the AI again</a:t>
            </a:r>
          </a:p>
        </p:txBody>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bg>
      <p:bgPr>
        <a:solidFill>
          <a:srgbClr val="F5FFF9"/>
        </a:solidFill>
      </p:bgPr>
    </p:bg>
    <p:spTree>
      <p:nvGrpSpPr>
        <p:cNvPr id="1" name=""/>
        <p:cNvGrpSpPr/>
        <p:nvPr/>
      </p:nvGrpSpPr>
      <p:grpSpPr>
        <a:xfrm>
          <a:off x="0" y="0"/>
          <a:ext cx="0" cy="0"/>
          <a:chOff x="0" y="0"/>
          <a:chExt cx="0" cy="0"/>
        </a:xfrm>
      </p:grpSpPr>
      <p:grpSp>
        <p:nvGrpSpPr>
          <p:cNvPr name="Group 2" id="2"/>
          <p:cNvGrpSpPr/>
          <p:nvPr/>
        </p:nvGrpSpPr>
        <p:grpSpPr>
          <a:xfrm rot="9405415">
            <a:off x="-2955826" y="-922147"/>
            <a:ext cx="5159957" cy="5159957"/>
            <a:chOff x="0" y="0"/>
            <a:chExt cx="812800" cy="812800"/>
          </a:xfrm>
        </p:grpSpPr>
        <p:sp>
          <p:nvSpPr>
            <p:cNvPr name="Freeform 3" id="3"/>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true">
              <a:gsLst>
                <a:gs pos="0">
                  <a:srgbClr val="9FC4AE">
                    <a:alpha val="66000"/>
                  </a:srgbClr>
                </a:gs>
                <a:gs pos="100000">
                  <a:srgbClr val="FFFFFF">
                    <a:alpha val="66000"/>
                  </a:srgbClr>
                </a:gs>
              </a:gsLst>
              <a:lin ang="0"/>
            </a:gradFill>
          </p:spPr>
        </p:sp>
        <p:sp>
          <p:nvSpPr>
            <p:cNvPr name="TextBox 4" id="4"/>
            <p:cNvSpPr txBox="true"/>
            <p:nvPr/>
          </p:nvSpPr>
          <p:spPr>
            <a:xfrm>
              <a:off x="76200" y="28575"/>
              <a:ext cx="660400" cy="708025"/>
            </a:xfrm>
            <a:prstGeom prst="rect">
              <a:avLst/>
            </a:prstGeom>
          </p:spPr>
          <p:txBody>
            <a:bodyPr anchor="ctr" rtlCol="false" tIns="50800" lIns="50800" bIns="50800" rIns="50800"/>
            <a:lstStyle/>
            <a:p>
              <a:pPr algn="ctr">
                <a:lnSpc>
                  <a:spcPts val="2936"/>
                </a:lnSpc>
              </a:pPr>
            </a:p>
          </p:txBody>
        </p:sp>
      </p:grpSp>
      <p:grpSp>
        <p:nvGrpSpPr>
          <p:cNvPr name="Group 5" id="5"/>
          <p:cNvGrpSpPr/>
          <p:nvPr/>
        </p:nvGrpSpPr>
        <p:grpSpPr>
          <a:xfrm rot="6936434">
            <a:off x="16470692" y="738526"/>
            <a:ext cx="5817847" cy="5817847"/>
            <a:chOff x="0" y="0"/>
            <a:chExt cx="812800" cy="812800"/>
          </a:xfrm>
        </p:grpSpPr>
        <p:sp>
          <p:nvSpPr>
            <p:cNvPr name="Freeform 6" id="6"/>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true">
              <a:gsLst>
                <a:gs pos="0">
                  <a:srgbClr val="9FC4AE">
                    <a:alpha val="66000"/>
                  </a:srgbClr>
                </a:gs>
                <a:gs pos="100000">
                  <a:srgbClr val="FFFFFF">
                    <a:alpha val="66000"/>
                  </a:srgbClr>
                </a:gs>
              </a:gsLst>
              <a:lin ang="0"/>
            </a:gradFill>
          </p:spPr>
        </p:sp>
        <p:sp>
          <p:nvSpPr>
            <p:cNvPr name="TextBox 7" id="7"/>
            <p:cNvSpPr txBox="true"/>
            <p:nvPr/>
          </p:nvSpPr>
          <p:spPr>
            <a:xfrm>
              <a:off x="76200" y="28575"/>
              <a:ext cx="660400" cy="708025"/>
            </a:xfrm>
            <a:prstGeom prst="rect">
              <a:avLst/>
            </a:prstGeom>
          </p:spPr>
          <p:txBody>
            <a:bodyPr anchor="ctr" rtlCol="false" tIns="50800" lIns="50800" bIns="50800" rIns="50800"/>
            <a:lstStyle/>
            <a:p>
              <a:pPr algn="ctr">
                <a:lnSpc>
                  <a:spcPts val="2936"/>
                </a:lnSpc>
              </a:pPr>
            </a:p>
          </p:txBody>
        </p:sp>
      </p:grpSp>
      <p:sp>
        <p:nvSpPr>
          <p:cNvPr name="Freeform 8" id="8"/>
          <p:cNvSpPr/>
          <p:nvPr/>
        </p:nvSpPr>
        <p:spPr>
          <a:xfrm flipH="false" flipV="false" rot="0">
            <a:off x="185225" y="296308"/>
            <a:ext cx="1686949" cy="1283956"/>
          </a:xfrm>
          <a:custGeom>
            <a:avLst/>
            <a:gdLst/>
            <a:ahLst/>
            <a:cxnLst/>
            <a:rect r="r" b="b" t="t" l="l"/>
            <a:pathLst>
              <a:path h="1283956" w="1686949">
                <a:moveTo>
                  <a:pt x="0" y="0"/>
                </a:moveTo>
                <a:lnTo>
                  <a:pt x="1686950" y="0"/>
                </a:lnTo>
                <a:lnTo>
                  <a:pt x="1686950" y="1283956"/>
                </a:lnTo>
                <a:lnTo>
                  <a:pt x="0" y="1283956"/>
                </a:lnTo>
                <a:lnTo>
                  <a:pt x="0" y="0"/>
                </a:lnTo>
                <a:close/>
              </a:path>
            </a:pathLst>
          </a:custGeom>
          <a:blipFill>
            <a:blip r:embed="rId2"/>
            <a:stretch>
              <a:fillRect l="0" t="0" r="0" b="0"/>
            </a:stretch>
          </a:blipFill>
        </p:spPr>
      </p:sp>
      <p:graphicFrame>
        <p:nvGraphicFramePr>
          <p:cNvPr name="Table 9" id="9"/>
          <p:cNvGraphicFramePr>
            <a:graphicFrameLocks noGrp="true"/>
          </p:cNvGraphicFramePr>
          <p:nvPr/>
        </p:nvGraphicFramePr>
        <p:xfrm>
          <a:off x="1575938" y="1717639"/>
          <a:ext cx="15136125" cy="5810250"/>
        </p:xfrm>
        <a:graphic>
          <a:graphicData uri="http://schemas.openxmlformats.org/drawingml/2006/table">
            <a:tbl>
              <a:tblPr/>
              <a:tblGrid>
                <a:gridCol w="5593632"/>
                <a:gridCol w="1823179"/>
                <a:gridCol w="2065862"/>
                <a:gridCol w="1949511"/>
                <a:gridCol w="1860214"/>
                <a:gridCol w="1843727"/>
              </a:tblGrid>
              <a:tr h="696467">
                <a:tc>
                  <a:txBody>
                    <a:bodyPr anchor="t" rtlCol="false"/>
                    <a:lstStyle/>
                    <a:p>
                      <a:pPr algn="ctr">
                        <a:lnSpc>
                          <a:spcPts val="3216"/>
                        </a:lnSpc>
                        <a:defRPr/>
                      </a:pPr>
                      <a:r>
                        <a:rPr lang="en-US" b="true" sz="2297">
                          <a:solidFill>
                            <a:srgbClr val="F5FFF9"/>
                          </a:solidFill>
                          <a:latin typeface="Manifold Bold"/>
                          <a:ea typeface="Manifold Bold"/>
                          <a:cs typeface="Manifold Bold"/>
                          <a:sym typeface="Manifold Bold"/>
                        </a:rPr>
                        <a:t>Feature</a:t>
                      </a:r>
                      <a:endParaRPr lang="en-US" sz="1100"/>
                    </a:p>
                  </a:txBody>
                  <a:tcPr marL="114300" marR="114300" marT="114300" marB="114300" anchor="ctr">
                    <a:lnL cmpd="sng" algn="ctr" cap="flat" w="9525">
                      <a:solidFill>
                        <a:srgbClr val="F5FFF9"/>
                      </a:solidFill>
                      <a:prstDash val="solid"/>
                      <a:round/>
                      <a:headEnd type="none" w="med" len="med"/>
                      <a:tailEnd type="none" w="med" len="med"/>
                    </a:lnL>
                    <a:lnR cmpd="sng" algn="ctr" cap="flat" w="9525">
                      <a:solidFill>
                        <a:srgbClr val="F5FFF9"/>
                      </a:solidFill>
                      <a:prstDash val="solid"/>
                      <a:round/>
                      <a:headEnd type="none" w="med" len="med"/>
                      <a:tailEnd type="none" w="med" len="med"/>
                    </a:lnR>
                    <a:lnT cmpd="sng" algn="ctr" cap="flat" w="9525">
                      <a:solidFill>
                        <a:srgbClr val="F5FFF9"/>
                      </a:solidFill>
                      <a:prstDash val="solid"/>
                      <a:round/>
                      <a:headEnd type="none" w="med" len="med"/>
                      <a:tailEnd type="none" w="med" len="med"/>
                    </a:lnT>
                    <a:lnB cmpd="sng" algn="ctr" cap="flat" w="9525">
                      <a:solidFill>
                        <a:srgbClr val="F5FFF9"/>
                      </a:solidFill>
                      <a:prstDash val="solid"/>
                      <a:round/>
                      <a:headEnd type="none" w="med" len="med"/>
                      <a:tailEnd type="none" w="med" len="med"/>
                    </a:lnB>
                    <a:solidFill>
                      <a:srgbClr val="457C5B"/>
                    </a:solidFill>
                  </a:tcPr>
                </a:tc>
                <a:tc>
                  <a:txBody>
                    <a:bodyPr anchor="t" rtlCol="false"/>
                    <a:lstStyle/>
                    <a:p>
                      <a:pPr algn="ctr">
                        <a:lnSpc>
                          <a:spcPts val="3216"/>
                        </a:lnSpc>
                        <a:defRPr/>
                      </a:pPr>
                      <a:r>
                        <a:rPr lang="en-US" b="true" sz="2297">
                          <a:solidFill>
                            <a:srgbClr val="F5FFF9"/>
                          </a:solidFill>
                          <a:latin typeface="Manifold Bold"/>
                          <a:ea typeface="Manifold Bold"/>
                          <a:cs typeface="Manifold Bold"/>
                          <a:sym typeface="Manifold Bold"/>
                        </a:rPr>
                        <a:t>PO.tools</a:t>
                      </a:r>
                      <a:endParaRPr lang="en-US" sz="1100"/>
                    </a:p>
                  </a:txBody>
                  <a:tcPr marL="114300" marR="114300" marT="114300" marB="114300" anchor="ctr">
                    <a:lnL cmpd="sng" algn="ctr" cap="flat" w="9525">
                      <a:solidFill>
                        <a:srgbClr val="F5FFF9"/>
                      </a:solidFill>
                      <a:prstDash val="solid"/>
                      <a:round/>
                      <a:headEnd type="none" w="med" len="med"/>
                      <a:tailEnd type="none" w="med" len="med"/>
                    </a:lnL>
                    <a:lnR cmpd="sng" algn="ctr" cap="flat" w="9525">
                      <a:solidFill>
                        <a:srgbClr val="F5FFF9"/>
                      </a:solidFill>
                      <a:prstDash val="solid"/>
                      <a:round/>
                      <a:headEnd type="none" w="med" len="med"/>
                      <a:tailEnd type="none" w="med" len="med"/>
                    </a:lnR>
                    <a:lnT cmpd="sng" algn="ctr" cap="flat" w="9525">
                      <a:solidFill>
                        <a:srgbClr val="F5FFF9"/>
                      </a:solidFill>
                      <a:prstDash val="solid"/>
                      <a:round/>
                      <a:headEnd type="none" w="med" len="med"/>
                      <a:tailEnd type="none" w="med" len="med"/>
                    </a:lnT>
                    <a:lnB cmpd="sng" algn="ctr" cap="flat" w="9525">
                      <a:solidFill>
                        <a:srgbClr val="F5FFF9"/>
                      </a:solidFill>
                      <a:prstDash val="solid"/>
                      <a:round/>
                      <a:headEnd type="none" w="med" len="med"/>
                      <a:tailEnd type="none" w="med" len="med"/>
                    </a:lnB>
                    <a:solidFill>
                      <a:srgbClr val="457C5B"/>
                    </a:solidFill>
                  </a:tcPr>
                </a:tc>
                <a:tc>
                  <a:txBody>
                    <a:bodyPr anchor="t" rtlCol="false"/>
                    <a:lstStyle/>
                    <a:p>
                      <a:pPr algn="ctr">
                        <a:lnSpc>
                          <a:spcPts val="3216"/>
                        </a:lnSpc>
                        <a:defRPr/>
                      </a:pPr>
                      <a:r>
                        <a:rPr lang="en-US" b="true" sz="2297">
                          <a:solidFill>
                            <a:srgbClr val="F5FFF9"/>
                          </a:solidFill>
                          <a:latin typeface="Manifold Bold"/>
                          <a:ea typeface="Manifold Bold"/>
                          <a:cs typeface="Manifold Bold"/>
                          <a:sym typeface="Manifold Bold"/>
                        </a:rPr>
                        <a:t>Aiven</a:t>
                      </a:r>
                      <a:endParaRPr lang="en-US" sz="1100"/>
                    </a:p>
                  </a:txBody>
                  <a:tcPr marL="114300" marR="114300" marT="114300" marB="114300" anchor="ctr">
                    <a:lnL cmpd="sng" algn="ctr" cap="flat" w="9525">
                      <a:solidFill>
                        <a:srgbClr val="F5FFF9"/>
                      </a:solidFill>
                      <a:prstDash val="solid"/>
                      <a:round/>
                      <a:headEnd type="none" w="med" len="med"/>
                      <a:tailEnd type="none" w="med" len="med"/>
                    </a:lnL>
                    <a:lnR cmpd="sng" algn="ctr" cap="flat" w="9525">
                      <a:solidFill>
                        <a:srgbClr val="F5FFF9"/>
                      </a:solidFill>
                      <a:prstDash val="solid"/>
                      <a:round/>
                      <a:headEnd type="none" w="med" len="med"/>
                      <a:tailEnd type="none" w="med" len="med"/>
                    </a:lnR>
                    <a:lnT cmpd="sng" algn="ctr" cap="flat" w="9525">
                      <a:solidFill>
                        <a:srgbClr val="F5FFF9"/>
                      </a:solidFill>
                      <a:prstDash val="solid"/>
                      <a:round/>
                      <a:headEnd type="none" w="med" len="med"/>
                      <a:tailEnd type="none" w="med" len="med"/>
                    </a:lnT>
                    <a:lnB cmpd="sng" algn="ctr" cap="flat" w="9525">
                      <a:solidFill>
                        <a:srgbClr val="F5FFF9"/>
                      </a:solidFill>
                      <a:prstDash val="solid"/>
                      <a:round/>
                      <a:headEnd type="none" w="med" len="med"/>
                      <a:tailEnd type="none" w="med" len="med"/>
                    </a:lnB>
                    <a:solidFill>
                      <a:srgbClr val="457C5B"/>
                    </a:solidFill>
                  </a:tcPr>
                </a:tc>
                <a:tc>
                  <a:txBody>
                    <a:bodyPr anchor="t" rtlCol="false"/>
                    <a:lstStyle/>
                    <a:p>
                      <a:pPr algn="ctr">
                        <a:lnSpc>
                          <a:spcPts val="3216"/>
                        </a:lnSpc>
                        <a:defRPr/>
                      </a:pPr>
                      <a:r>
                        <a:rPr lang="en-US" b="true" sz="2297">
                          <a:solidFill>
                            <a:srgbClr val="F5FFF9"/>
                          </a:solidFill>
                          <a:latin typeface="Manifold Bold"/>
                          <a:ea typeface="Manifold Bold"/>
                          <a:cs typeface="Manifold Bold"/>
                          <a:sym typeface="Manifold Bold"/>
                        </a:rPr>
                        <a:t>BenchLM</a:t>
                      </a:r>
                      <a:endParaRPr lang="en-US" sz="1100"/>
                    </a:p>
                  </a:txBody>
                  <a:tcPr marL="114300" marR="114300" marT="114300" marB="114300" anchor="ctr">
                    <a:lnL cmpd="sng" algn="ctr" cap="flat" w="9525">
                      <a:solidFill>
                        <a:srgbClr val="F5FFF9"/>
                      </a:solidFill>
                      <a:prstDash val="solid"/>
                      <a:round/>
                      <a:headEnd type="none" w="med" len="med"/>
                      <a:tailEnd type="none" w="med" len="med"/>
                    </a:lnL>
                    <a:lnR cmpd="sng" algn="ctr" cap="flat" w="9525">
                      <a:solidFill>
                        <a:srgbClr val="F5FFF9"/>
                      </a:solidFill>
                      <a:prstDash val="solid"/>
                      <a:round/>
                      <a:headEnd type="none" w="med" len="med"/>
                      <a:tailEnd type="none" w="med" len="med"/>
                    </a:lnR>
                    <a:lnT cmpd="sng" algn="ctr" cap="flat" w="9525">
                      <a:solidFill>
                        <a:srgbClr val="F5FFF9"/>
                      </a:solidFill>
                      <a:prstDash val="solid"/>
                      <a:round/>
                      <a:headEnd type="none" w="med" len="med"/>
                      <a:tailEnd type="none" w="med" len="med"/>
                    </a:lnT>
                    <a:lnB cmpd="sng" algn="ctr" cap="flat" w="9525">
                      <a:solidFill>
                        <a:srgbClr val="F5FFF9"/>
                      </a:solidFill>
                      <a:prstDash val="solid"/>
                      <a:round/>
                      <a:headEnd type="none" w="med" len="med"/>
                      <a:tailEnd type="none" w="med" len="med"/>
                    </a:lnB>
                    <a:solidFill>
                      <a:srgbClr val="457C5B"/>
                    </a:solidFill>
                  </a:tcPr>
                </a:tc>
                <a:tc>
                  <a:txBody>
                    <a:bodyPr anchor="t" rtlCol="false"/>
                    <a:lstStyle/>
                    <a:p>
                      <a:pPr algn="ctr">
                        <a:lnSpc>
                          <a:spcPts val="3216"/>
                        </a:lnSpc>
                        <a:defRPr/>
                      </a:pPr>
                      <a:r>
                        <a:rPr lang="en-US" b="true" sz="2297">
                          <a:solidFill>
                            <a:srgbClr val="F5FFF9"/>
                          </a:solidFill>
                          <a:latin typeface="Manifold Bold"/>
                          <a:ea typeface="Manifold Bold"/>
                          <a:cs typeface="Manifold Bold"/>
                          <a:sym typeface="Manifold Bold"/>
                        </a:rPr>
                        <a:t>SiteGPT</a:t>
                      </a:r>
                      <a:endParaRPr lang="en-US" sz="1100"/>
                    </a:p>
                  </a:txBody>
                  <a:tcPr marL="114300" marR="114300" marT="114300" marB="114300" anchor="ctr">
                    <a:lnL cmpd="sng" algn="ctr" cap="flat" w="9525">
                      <a:solidFill>
                        <a:srgbClr val="F5FFF9"/>
                      </a:solidFill>
                      <a:prstDash val="solid"/>
                      <a:round/>
                      <a:headEnd type="none" w="med" len="med"/>
                      <a:tailEnd type="none" w="med" len="med"/>
                    </a:lnL>
                    <a:lnR cmpd="sng" algn="ctr" cap="flat" w="9525">
                      <a:solidFill>
                        <a:srgbClr val="F5FFF9"/>
                      </a:solidFill>
                      <a:prstDash val="solid"/>
                      <a:round/>
                      <a:headEnd type="none" w="med" len="med"/>
                      <a:tailEnd type="none" w="med" len="med"/>
                    </a:lnR>
                    <a:lnT cmpd="sng" algn="ctr" cap="flat" w="9525">
                      <a:solidFill>
                        <a:srgbClr val="F5FFF9"/>
                      </a:solidFill>
                      <a:prstDash val="solid"/>
                      <a:round/>
                      <a:headEnd type="none" w="med" len="med"/>
                      <a:tailEnd type="none" w="med" len="med"/>
                    </a:lnT>
                    <a:lnB cmpd="sng" algn="ctr" cap="flat" w="9525">
                      <a:solidFill>
                        <a:srgbClr val="F5FFF9"/>
                      </a:solidFill>
                      <a:prstDash val="solid"/>
                      <a:round/>
                      <a:headEnd type="none" w="med" len="med"/>
                      <a:tailEnd type="none" w="med" len="med"/>
                    </a:lnB>
                    <a:solidFill>
                      <a:srgbClr val="457C5B"/>
                    </a:solidFill>
                  </a:tcPr>
                </a:tc>
                <a:tc>
                  <a:txBody>
                    <a:bodyPr anchor="t" rtlCol="false"/>
                    <a:lstStyle/>
                    <a:p>
                      <a:pPr algn="ctr">
                        <a:lnSpc>
                          <a:spcPts val="3216"/>
                        </a:lnSpc>
                        <a:defRPr/>
                      </a:pPr>
                      <a:r>
                        <a:rPr lang="en-US" b="true" sz="2297">
                          <a:solidFill>
                            <a:srgbClr val="F5FFF9"/>
                          </a:solidFill>
                          <a:latin typeface="Manifold Bold"/>
                          <a:ea typeface="Manifold Bold"/>
                          <a:cs typeface="Manifold Bold"/>
                          <a:sym typeface="Manifold Bold"/>
                        </a:rPr>
                        <a:t>PromptOpt</a:t>
                      </a:r>
                      <a:endParaRPr lang="en-US" sz="1100"/>
                    </a:p>
                  </a:txBody>
                  <a:tcPr marL="114300" marR="114300" marT="114300" marB="114300" anchor="ctr">
                    <a:lnL cmpd="sng" algn="ctr" cap="flat" w="9525">
                      <a:solidFill>
                        <a:srgbClr val="F5FFF9"/>
                      </a:solidFill>
                      <a:prstDash val="solid"/>
                      <a:round/>
                      <a:headEnd type="none" w="med" len="med"/>
                      <a:tailEnd type="none" w="med" len="med"/>
                    </a:lnL>
                    <a:lnR cmpd="sng" algn="ctr" cap="flat" w="9525">
                      <a:solidFill>
                        <a:srgbClr val="F5FFF9"/>
                      </a:solidFill>
                      <a:prstDash val="solid"/>
                      <a:round/>
                      <a:headEnd type="none" w="med" len="med"/>
                      <a:tailEnd type="none" w="med" len="med"/>
                    </a:lnR>
                    <a:lnT cmpd="sng" algn="ctr" cap="flat" w="9525">
                      <a:solidFill>
                        <a:srgbClr val="F5FFF9"/>
                      </a:solidFill>
                      <a:prstDash val="solid"/>
                      <a:round/>
                      <a:headEnd type="none" w="med" len="med"/>
                      <a:tailEnd type="none" w="med" len="med"/>
                    </a:lnT>
                    <a:lnB cmpd="sng" algn="ctr" cap="flat" w="9525">
                      <a:solidFill>
                        <a:srgbClr val="F5FFF9"/>
                      </a:solidFill>
                      <a:prstDash val="solid"/>
                      <a:round/>
                      <a:headEnd type="none" w="med" len="med"/>
                      <a:tailEnd type="none" w="med" len="med"/>
                    </a:lnB>
                    <a:solidFill>
                      <a:srgbClr val="457C5B"/>
                    </a:solidFill>
                  </a:tcPr>
                </a:tc>
              </a:tr>
              <a:tr h="639223">
                <a:tc>
                  <a:txBody>
                    <a:bodyPr anchor="t" rtlCol="false"/>
                    <a:lstStyle/>
                    <a:p>
                      <a:pPr algn="ctr">
                        <a:lnSpc>
                          <a:spcPts val="2796"/>
                        </a:lnSpc>
                        <a:defRPr/>
                      </a:pPr>
                      <a:r>
                        <a:rPr lang="en-US" sz="1997">
                          <a:solidFill>
                            <a:srgbClr val="F5FFF9"/>
                          </a:solidFill>
                          <a:latin typeface="Manifold"/>
                          <a:ea typeface="Manifold"/>
                          <a:cs typeface="Manifold"/>
                          <a:sym typeface="Manifold"/>
                        </a:rPr>
                        <a:t>Rewrite prompts</a:t>
                      </a:r>
                      <a:endParaRPr lang="en-US" sz="1100"/>
                    </a:p>
                  </a:txBody>
                  <a:tcPr marL="114300" marR="114300" marT="114300" marB="114300" anchor="ctr">
                    <a:lnL cmpd="sng" algn="ctr" cap="flat" w="9525">
                      <a:solidFill>
                        <a:srgbClr val="F5FFF9"/>
                      </a:solidFill>
                      <a:prstDash val="solid"/>
                      <a:round/>
                      <a:headEnd type="none" w="med" len="med"/>
                      <a:tailEnd type="none" w="med" len="med"/>
                    </a:lnL>
                    <a:lnR cmpd="sng" algn="ctr" cap="flat" w="9525">
                      <a:solidFill>
                        <a:srgbClr val="F5FFF9"/>
                      </a:solidFill>
                      <a:prstDash val="solid"/>
                      <a:round/>
                      <a:headEnd type="none" w="med" len="med"/>
                      <a:tailEnd type="none" w="med" len="med"/>
                    </a:lnR>
                    <a:lnT cmpd="sng" algn="ctr" cap="flat" w="9525">
                      <a:solidFill>
                        <a:srgbClr val="F5FFF9"/>
                      </a:solidFill>
                      <a:prstDash val="solid"/>
                      <a:round/>
                      <a:headEnd type="none" w="med" len="med"/>
                      <a:tailEnd type="none" w="med" len="med"/>
                    </a:lnT>
                    <a:lnB cmpd="sng" algn="ctr" cap="flat" w="9525">
                      <a:solidFill>
                        <a:srgbClr val="F5FFF9"/>
                      </a:solidFill>
                      <a:prstDash val="solid"/>
                      <a:round/>
                      <a:headEnd type="none" w="med" len="med"/>
                      <a:tailEnd type="none" w="med" len="med"/>
                    </a:lnB>
                    <a:solidFill>
                      <a:srgbClr val="8AB79C"/>
                    </a:solidFill>
                  </a:tcPr>
                </a:tc>
                <a:tc>
                  <a:txBody>
                    <a:bodyPr anchor="t" rtlCol="false"/>
                    <a:lstStyle/>
                    <a:p>
                      <a:pPr algn="ctr">
                        <a:lnSpc>
                          <a:spcPts val="2796"/>
                        </a:lnSpc>
                        <a:defRPr/>
                      </a:pPr>
                      <a:r>
                        <a:rPr lang="en-US" sz="1997">
                          <a:solidFill>
                            <a:srgbClr val="F5FFF9"/>
                          </a:solidFill>
                          <a:latin typeface="Manifold"/>
                          <a:ea typeface="Manifold"/>
                          <a:cs typeface="Manifold"/>
                          <a:sym typeface="Manifold"/>
                        </a:rPr>
                        <a:t>✓</a:t>
                      </a:r>
                      <a:endParaRPr lang="en-US" sz="1100"/>
                    </a:p>
                  </a:txBody>
                  <a:tcPr marL="114300" marR="114300" marT="114300" marB="114300" anchor="ctr">
                    <a:lnL cmpd="sng" algn="ctr" cap="flat" w="9525">
                      <a:solidFill>
                        <a:srgbClr val="F5FFF9"/>
                      </a:solidFill>
                      <a:prstDash val="solid"/>
                      <a:round/>
                      <a:headEnd type="none" w="med" len="med"/>
                      <a:tailEnd type="none" w="med" len="med"/>
                    </a:lnL>
                    <a:lnR cmpd="sng" algn="ctr" cap="flat" w="9525">
                      <a:solidFill>
                        <a:srgbClr val="F5FFF9"/>
                      </a:solidFill>
                      <a:prstDash val="solid"/>
                      <a:round/>
                      <a:headEnd type="none" w="med" len="med"/>
                      <a:tailEnd type="none" w="med" len="med"/>
                    </a:lnR>
                    <a:lnT cmpd="sng" algn="ctr" cap="flat" w="9525">
                      <a:solidFill>
                        <a:srgbClr val="F5FFF9"/>
                      </a:solidFill>
                      <a:prstDash val="solid"/>
                      <a:round/>
                      <a:headEnd type="none" w="med" len="med"/>
                      <a:tailEnd type="none" w="med" len="med"/>
                    </a:lnT>
                    <a:lnB cmpd="sng" algn="ctr" cap="flat" w="9525">
                      <a:solidFill>
                        <a:srgbClr val="F5FFF9"/>
                      </a:solidFill>
                      <a:prstDash val="solid"/>
                      <a:round/>
                      <a:headEnd type="none" w="med" len="med"/>
                      <a:tailEnd type="none" w="med" len="med"/>
                    </a:lnB>
                    <a:solidFill>
                      <a:srgbClr val="8AB79C"/>
                    </a:solidFill>
                  </a:tcPr>
                </a:tc>
                <a:tc>
                  <a:txBody>
                    <a:bodyPr anchor="t" rtlCol="false"/>
                    <a:lstStyle/>
                    <a:p>
                      <a:pPr algn="ctr">
                        <a:lnSpc>
                          <a:spcPts val="2796"/>
                        </a:lnSpc>
                        <a:defRPr/>
                      </a:pPr>
                      <a:r>
                        <a:rPr lang="en-US" sz="1997">
                          <a:solidFill>
                            <a:srgbClr val="F5FFF9"/>
                          </a:solidFill>
                          <a:latin typeface="Manifold"/>
                          <a:ea typeface="Manifold"/>
                          <a:cs typeface="Manifold"/>
                          <a:sym typeface="Manifold"/>
                        </a:rPr>
                        <a:t>✓</a:t>
                      </a:r>
                      <a:endParaRPr lang="en-US" sz="1100"/>
                    </a:p>
                  </a:txBody>
                  <a:tcPr marL="114300" marR="114300" marT="114300" marB="114300" anchor="ctr">
                    <a:lnL cmpd="sng" algn="ctr" cap="flat" w="9525">
                      <a:solidFill>
                        <a:srgbClr val="F5FFF9"/>
                      </a:solidFill>
                      <a:prstDash val="solid"/>
                      <a:round/>
                      <a:headEnd type="none" w="med" len="med"/>
                      <a:tailEnd type="none" w="med" len="med"/>
                    </a:lnL>
                    <a:lnR cmpd="sng" algn="ctr" cap="flat" w="9525">
                      <a:solidFill>
                        <a:srgbClr val="F5FFF9"/>
                      </a:solidFill>
                      <a:prstDash val="solid"/>
                      <a:round/>
                      <a:headEnd type="none" w="med" len="med"/>
                      <a:tailEnd type="none" w="med" len="med"/>
                    </a:lnR>
                    <a:lnT cmpd="sng" algn="ctr" cap="flat" w="9525">
                      <a:solidFill>
                        <a:srgbClr val="F5FFF9"/>
                      </a:solidFill>
                      <a:prstDash val="solid"/>
                      <a:round/>
                      <a:headEnd type="none" w="med" len="med"/>
                      <a:tailEnd type="none" w="med" len="med"/>
                    </a:lnT>
                    <a:lnB cmpd="sng" algn="ctr" cap="flat" w="9525">
                      <a:solidFill>
                        <a:srgbClr val="F5FFF9"/>
                      </a:solidFill>
                      <a:prstDash val="solid"/>
                      <a:round/>
                      <a:headEnd type="none" w="med" len="med"/>
                      <a:tailEnd type="none" w="med" len="med"/>
                    </a:lnB>
                    <a:solidFill>
                      <a:srgbClr val="8AB79C"/>
                    </a:solidFill>
                  </a:tcPr>
                </a:tc>
                <a:tc>
                  <a:txBody>
                    <a:bodyPr anchor="t" rtlCol="false"/>
                    <a:lstStyle/>
                    <a:p>
                      <a:pPr algn="ctr">
                        <a:lnSpc>
                          <a:spcPts val="2796"/>
                        </a:lnSpc>
                        <a:defRPr/>
                      </a:pPr>
                      <a:r>
                        <a:rPr lang="en-US" sz="1997">
                          <a:solidFill>
                            <a:srgbClr val="F5FFF9"/>
                          </a:solidFill>
                          <a:latin typeface="Manifold"/>
                          <a:ea typeface="Manifold"/>
                          <a:cs typeface="Manifold"/>
                          <a:sym typeface="Manifold"/>
                        </a:rPr>
                        <a:t>✓</a:t>
                      </a:r>
                      <a:endParaRPr lang="en-US" sz="1100"/>
                    </a:p>
                  </a:txBody>
                  <a:tcPr marL="114300" marR="114300" marT="114300" marB="114300" anchor="ctr">
                    <a:lnL cmpd="sng" algn="ctr" cap="flat" w="9525">
                      <a:solidFill>
                        <a:srgbClr val="F5FFF9"/>
                      </a:solidFill>
                      <a:prstDash val="solid"/>
                      <a:round/>
                      <a:headEnd type="none" w="med" len="med"/>
                      <a:tailEnd type="none" w="med" len="med"/>
                    </a:lnL>
                    <a:lnR cmpd="sng" algn="ctr" cap="flat" w="9525">
                      <a:solidFill>
                        <a:srgbClr val="F5FFF9"/>
                      </a:solidFill>
                      <a:prstDash val="solid"/>
                      <a:round/>
                      <a:headEnd type="none" w="med" len="med"/>
                      <a:tailEnd type="none" w="med" len="med"/>
                    </a:lnR>
                    <a:lnT cmpd="sng" algn="ctr" cap="flat" w="9525">
                      <a:solidFill>
                        <a:srgbClr val="F5FFF9"/>
                      </a:solidFill>
                      <a:prstDash val="solid"/>
                      <a:round/>
                      <a:headEnd type="none" w="med" len="med"/>
                      <a:tailEnd type="none" w="med" len="med"/>
                    </a:lnT>
                    <a:lnB cmpd="sng" algn="ctr" cap="flat" w="9525">
                      <a:solidFill>
                        <a:srgbClr val="F5FFF9"/>
                      </a:solidFill>
                      <a:prstDash val="solid"/>
                      <a:round/>
                      <a:headEnd type="none" w="med" len="med"/>
                      <a:tailEnd type="none" w="med" len="med"/>
                    </a:lnB>
                    <a:solidFill>
                      <a:srgbClr val="8AB79C"/>
                    </a:solidFill>
                  </a:tcPr>
                </a:tc>
                <a:tc>
                  <a:txBody>
                    <a:bodyPr anchor="t" rtlCol="false"/>
                    <a:lstStyle/>
                    <a:p>
                      <a:pPr algn="ctr">
                        <a:lnSpc>
                          <a:spcPts val="2796"/>
                        </a:lnSpc>
                        <a:defRPr/>
                      </a:pPr>
                      <a:r>
                        <a:rPr lang="en-US" sz="1997">
                          <a:solidFill>
                            <a:srgbClr val="F5FFF9"/>
                          </a:solidFill>
                          <a:latin typeface="Manifold"/>
                          <a:ea typeface="Manifold"/>
                          <a:cs typeface="Manifold"/>
                          <a:sym typeface="Manifold"/>
                        </a:rPr>
                        <a:t>✓</a:t>
                      </a:r>
                      <a:endParaRPr lang="en-US" sz="1100"/>
                    </a:p>
                  </a:txBody>
                  <a:tcPr marL="114300" marR="114300" marT="114300" marB="114300" anchor="ctr">
                    <a:lnL cmpd="sng" algn="ctr" cap="flat" w="9525">
                      <a:solidFill>
                        <a:srgbClr val="F5FFF9"/>
                      </a:solidFill>
                      <a:prstDash val="solid"/>
                      <a:round/>
                      <a:headEnd type="none" w="med" len="med"/>
                      <a:tailEnd type="none" w="med" len="med"/>
                    </a:lnL>
                    <a:lnR cmpd="sng" algn="ctr" cap="flat" w="9525">
                      <a:solidFill>
                        <a:srgbClr val="F5FFF9"/>
                      </a:solidFill>
                      <a:prstDash val="solid"/>
                      <a:round/>
                      <a:headEnd type="none" w="med" len="med"/>
                      <a:tailEnd type="none" w="med" len="med"/>
                    </a:lnR>
                    <a:lnT cmpd="sng" algn="ctr" cap="flat" w="9525">
                      <a:solidFill>
                        <a:srgbClr val="F5FFF9"/>
                      </a:solidFill>
                      <a:prstDash val="solid"/>
                      <a:round/>
                      <a:headEnd type="none" w="med" len="med"/>
                      <a:tailEnd type="none" w="med" len="med"/>
                    </a:lnT>
                    <a:lnB cmpd="sng" algn="ctr" cap="flat" w="9525">
                      <a:solidFill>
                        <a:srgbClr val="F5FFF9"/>
                      </a:solidFill>
                      <a:prstDash val="solid"/>
                      <a:round/>
                      <a:headEnd type="none" w="med" len="med"/>
                      <a:tailEnd type="none" w="med" len="med"/>
                    </a:lnB>
                    <a:solidFill>
                      <a:srgbClr val="8AB79C"/>
                    </a:solidFill>
                  </a:tcPr>
                </a:tc>
                <a:tc>
                  <a:txBody>
                    <a:bodyPr anchor="t" rtlCol="false"/>
                    <a:lstStyle/>
                    <a:p>
                      <a:pPr algn="ctr">
                        <a:lnSpc>
                          <a:spcPts val="2796"/>
                        </a:lnSpc>
                        <a:defRPr/>
                      </a:pPr>
                      <a:r>
                        <a:rPr lang="en-US" b="true" sz="1997">
                          <a:solidFill>
                            <a:srgbClr val="F5FFF9"/>
                          </a:solidFill>
                          <a:latin typeface="Manifold Bold"/>
                          <a:ea typeface="Manifold Bold"/>
                          <a:cs typeface="Manifold Bold"/>
                          <a:sym typeface="Manifold Bold"/>
                        </a:rPr>
                        <a:t>✓</a:t>
                      </a:r>
                      <a:endParaRPr lang="en-US" sz="1100"/>
                    </a:p>
                  </a:txBody>
                  <a:tcPr marL="114300" marR="114300" marT="114300" marB="114300" anchor="ctr">
                    <a:lnL cmpd="sng" algn="ctr" cap="flat" w="9525">
                      <a:solidFill>
                        <a:srgbClr val="F5FFF9"/>
                      </a:solidFill>
                      <a:prstDash val="solid"/>
                      <a:round/>
                      <a:headEnd type="none" w="med" len="med"/>
                      <a:tailEnd type="none" w="med" len="med"/>
                    </a:lnL>
                    <a:lnR cmpd="sng" algn="ctr" cap="flat" w="9525">
                      <a:solidFill>
                        <a:srgbClr val="F5FFF9"/>
                      </a:solidFill>
                      <a:prstDash val="solid"/>
                      <a:round/>
                      <a:headEnd type="none" w="med" len="med"/>
                      <a:tailEnd type="none" w="med" len="med"/>
                    </a:lnR>
                    <a:lnT cmpd="sng" algn="ctr" cap="flat" w="9525">
                      <a:solidFill>
                        <a:srgbClr val="F5FFF9"/>
                      </a:solidFill>
                      <a:prstDash val="solid"/>
                      <a:round/>
                      <a:headEnd type="none" w="med" len="med"/>
                      <a:tailEnd type="none" w="med" len="med"/>
                    </a:lnT>
                    <a:lnB cmpd="sng" algn="ctr" cap="flat" w="9525">
                      <a:solidFill>
                        <a:srgbClr val="F5FFF9"/>
                      </a:solidFill>
                      <a:prstDash val="solid"/>
                      <a:round/>
                      <a:headEnd type="none" w="med" len="med"/>
                      <a:tailEnd type="none" w="med" len="med"/>
                    </a:lnB>
                    <a:solidFill>
                      <a:srgbClr val="23764B"/>
                    </a:solidFill>
                  </a:tcPr>
                </a:tc>
              </a:tr>
              <a:tr h="639223">
                <a:tc>
                  <a:txBody>
                    <a:bodyPr anchor="t" rtlCol="false"/>
                    <a:lstStyle/>
                    <a:p>
                      <a:pPr algn="ctr">
                        <a:lnSpc>
                          <a:spcPts val="2796"/>
                        </a:lnSpc>
                        <a:defRPr/>
                      </a:pPr>
                      <a:r>
                        <a:rPr lang="en-US" sz="1997">
                          <a:solidFill>
                            <a:srgbClr val="F5FFF9"/>
                          </a:solidFill>
                          <a:latin typeface="Manifold"/>
                          <a:ea typeface="Manifold"/>
                          <a:cs typeface="Manifold"/>
                          <a:sym typeface="Manifold"/>
                        </a:rPr>
                        <a:t>Goal/Framework customization</a:t>
                      </a:r>
                      <a:endParaRPr lang="en-US" sz="1100"/>
                    </a:p>
                  </a:txBody>
                  <a:tcPr marL="114300" marR="114300" marT="114300" marB="114300" anchor="ctr">
                    <a:lnL cmpd="sng" algn="ctr" cap="flat" w="9525">
                      <a:solidFill>
                        <a:srgbClr val="F5FFF9"/>
                      </a:solidFill>
                      <a:prstDash val="solid"/>
                      <a:round/>
                      <a:headEnd type="none" w="med" len="med"/>
                      <a:tailEnd type="none" w="med" len="med"/>
                    </a:lnL>
                    <a:lnR cmpd="sng" algn="ctr" cap="flat" w="9525">
                      <a:solidFill>
                        <a:srgbClr val="F5FFF9"/>
                      </a:solidFill>
                      <a:prstDash val="solid"/>
                      <a:round/>
                      <a:headEnd type="none" w="med" len="med"/>
                      <a:tailEnd type="none" w="med" len="med"/>
                    </a:lnR>
                    <a:lnT cmpd="sng" algn="ctr" cap="flat" w="9525">
                      <a:solidFill>
                        <a:srgbClr val="F5FFF9"/>
                      </a:solidFill>
                      <a:prstDash val="solid"/>
                      <a:round/>
                      <a:headEnd type="none" w="med" len="med"/>
                      <a:tailEnd type="none" w="med" len="med"/>
                    </a:lnT>
                    <a:lnB cmpd="sng" algn="ctr" cap="flat" w="9525">
                      <a:solidFill>
                        <a:srgbClr val="F5FFF9"/>
                      </a:solidFill>
                      <a:prstDash val="solid"/>
                      <a:round/>
                      <a:headEnd type="none" w="med" len="med"/>
                      <a:tailEnd type="none" w="med" len="med"/>
                    </a:lnB>
                    <a:solidFill>
                      <a:srgbClr val="8AB79C"/>
                    </a:solidFill>
                  </a:tcPr>
                </a:tc>
                <a:tc>
                  <a:txBody>
                    <a:bodyPr anchor="t" rtlCol="false"/>
                    <a:lstStyle/>
                    <a:p>
                      <a:pPr algn="ctr">
                        <a:lnSpc>
                          <a:spcPts val="2796"/>
                        </a:lnSpc>
                        <a:defRPr/>
                      </a:pPr>
                      <a:r>
                        <a:rPr lang="en-US" sz="1997">
                          <a:solidFill>
                            <a:srgbClr val="F5FFF9"/>
                          </a:solidFill>
                          <a:latin typeface="Manifold"/>
                          <a:ea typeface="Manifold"/>
                          <a:cs typeface="Manifold"/>
                          <a:sym typeface="Manifold"/>
                        </a:rPr>
                        <a:t>Limited</a:t>
                      </a:r>
                      <a:endParaRPr lang="en-US" sz="1100"/>
                    </a:p>
                  </a:txBody>
                  <a:tcPr marL="114300" marR="114300" marT="114300" marB="114300" anchor="ctr">
                    <a:lnL cmpd="sng" algn="ctr" cap="flat" w="9525">
                      <a:solidFill>
                        <a:srgbClr val="F5FFF9"/>
                      </a:solidFill>
                      <a:prstDash val="solid"/>
                      <a:round/>
                      <a:headEnd type="none" w="med" len="med"/>
                      <a:tailEnd type="none" w="med" len="med"/>
                    </a:lnL>
                    <a:lnR cmpd="sng" algn="ctr" cap="flat" w="9525">
                      <a:solidFill>
                        <a:srgbClr val="F5FFF9"/>
                      </a:solidFill>
                      <a:prstDash val="solid"/>
                      <a:round/>
                      <a:headEnd type="none" w="med" len="med"/>
                      <a:tailEnd type="none" w="med" len="med"/>
                    </a:lnR>
                    <a:lnT cmpd="sng" algn="ctr" cap="flat" w="9525">
                      <a:solidFill>
                        <a:srgbClr val="F5FFF9"/>
                      </a:solidFill>
                      <a:prstDash val="solid"/>
                      <a:round/>
                      <a:headEnd type="none" w="med" len="med"/>
                      <a:tailEnd type="none" w="med" len="med"/>
                    </a:lnT>
                    <a:lnB cmpd="sng" algn="ctr" cap="flat" w="9525">
                      <a:solidFill>
                        <a:srgbClr val="F5FFF9"/>
                      </a:solidFill>
                      <a:prstDash val="solid"/>
                      <a:round/>
                      <a:headEnd type="none" w="med" len="med"/>
                      <a:tailEnd type="none" w="med" len="med"/>
                    </a:lnB>
                    <a:solidFill>
                      <a:srgbClr val="8AB79C"/>
                    </a:solidFill>
                  </a:tcPr>
                </a:tc>
                <a:tc>
                  <a:txBody>
                    <a:bodyPr anchor="t" rtlCol="false"/>
                    <a:lstStyle/>
                    <a:p>
                      <a:pPr algn="ctr">
                        <a:lnSpc>
                          <a:spcPts val="2796"/>
                        </a:lnSpc>
                        <a:defRPr/>
                      </a:pPr>
                      <a:r>
                        <a:rPr lang="en-US" sz="1997">
                          <a:solidFill>
                            <a:srgbClr val="F5FFF9"/>
                          </a:solidFill>
                          <a:latin typeface="Manifold"/>
                          <a:ea typeface="Manifold"/>
                          <a:cs typeface="Manifold"/>
                          <a:sym typeface="Manifold"/>
                        </a:rPr>
                        <a:t>✓</a:t>
                      </a:r>
                      <a:endParaRPr lang="en-US" sz="1100"/>
                    </a:p>
                  </a:txBody>
                  <a:tcPr marL="114300" marR="114300" marT="114300" marB="114300" anchor="ctr">
                    <a:lnL cmpd="sng" algn="ctr" cap="flat" w="9525">
                      <a:solidFill>
                        <a:srgbClr val="F5FFF9"/>
                      </a:solidFill>
                      <a:prstDash val="solid"/>
                      <a:round/>
                      <a:headEnd type="none" w="med" len="med"/>
                      <a:tailEnd type="none" w="med" len="med"/>
                    </a:lnL>
                    <a:lnR cmpd="sng" algn="ctr" cap="flat" w="9525">
                      <a:solidFill>
                        <a:srgbClr val="F5FFF9"/>
                      </a:solidFill>
                      <a:prstDash val="solid"/>
                      <a:round/>
                      <a:headEnd type="none" w="med" len="med"/>
                      <a:tailEnd type="none" w="med" len="med"/>
                    </a:lnR>
                    <a:lnT cmpd="sng" algn="ctr" cap="flat" w="9525">
                      <a:solidFill>
                        <a:srgbClr val="F5FFF9"/>
                      </a:solidFill>
                      <a:prstDash val="solid"/>
                      <a:round/>
                      <a:headEnd type="none" w="med" len="med"/>
                      <a:tailEnd type="none" w="med" len="med"/>
                    </a:lnT>
                    <a:lnB cmpd="sng" algn="ctr" cap="flat" w="9525">
                      <a:solidFill>
                        <a:srgbClr val="F5FFF9"/>
                      </a:solidFill>
                      <a:prstDash val="solid"/>
                      <a:round/>
                      <a:headEnd type="none" w="med" len="med"/>
                      <a:tailEnd type="none" w="med" len="med"/>
                    </a:lnB>
                    <a:solidFill>
                      <a:srgbClr val="8AB79C"/>
                    </a:solidFill>
                  </a:tcPr>
                </a:tc>
                <a:tc>
                  <a:txBody>
                    <a:bodyPr anchor="t" rtlCol="false"/>
                    <a:lstStyle/>
                    <a:p>
                      <a:pPr algn="ctr">
                        <a:lnSpc>
                          <a:spcPts val="2796"/>
                        </a:lnSpc>
                        <a:defRPr/>
                      </a:pPr>
                      <a:r>
                        <a:rPr lang="en-US" sz="1997">
                          <a:solidFill>
                            <a:srgbClr val="F5FFF9"/>
                          </a:solidFill>
                          <a:latin typeface="Manifold"/>
                          <a:ea typeface="Manifold"/>
                          <a:cs typeface="Manifold"/>
                          <a:sym typeface="Manifold"/>
                        </a:rPr>
                        <a:t>Limited</a:t>
                      </a:r>
                      <a:endParaRPr lang="en-US" sz="1100"/>
                    </a:p>
                  </a:txBody>
                  <a:tcPr marL="114300" marR="114300" marT="114300" marB="114300" anchor="ctr">
                    <a:lnL cmpd="sng" algn="ctr" cap="flat" w="9525">
                      <a:solidFill>
                        <a:srgbClr val="F5FFF9"/>
                      </a:solidFill>
                      <a:prstDash val="solid"/>
                      <a:round/>
                      <a:headEnd type="none" w="med" len="med"/>
                      <a:tailEnd type="none" w="med" len="med"/>
                    </a:lnL>
                    <a:lnR cmpd="sng" algn="ctr" cap="flat" w="9525">
                      <a:solidFill>
                        <a:srgbClr val="F5FFF9"/>
                      </a:solidFill>
                      <a:prstDash val="solid"/>
                      <a:round/>
                      <a:headEnd type="none" w="med" len="med"/>
                      <a:tailEnd type="none" w="med" len="med"/>
                    </a:lnR>
                    <a:lnT cmpd="sng" algn="ctr" cap="flat" w="9525">
                      <a:solidFill>
                        <a:srgbClr val="F5FFF9"/>
                      </a:solidFill>
                      <a:prstDash val="solid"/>
                      <a:round/>
                      <a:headEnd type="none" w="med" len="med"/>
                      <a:tailEnd type="none" w="med" len="med"/>
                    </a:lnT>
                    <a:lnB cmpd="sng" algn="ctr" cap="flat" w="9525">
                      <a:solidFill>
                        <a:srgbClr val="F5FFF9"/>
                      </a:solidFill>
                      <a:prstDash val="solid"/>
                      <a:round/>
                      <a:headEnd type="none" w="med" len="med"/>
                      <a:tailEnd type="none" w="med" len="med"/>
                    </a:lnB>
                    <a:solidFill>
                      <a:srgbClr val="8AB79C"/>
                    </a:solidFill>
                  </a:tcPr>
                </a:tc>
                <a:tc>
                  <a:txBody>
                    <a:bodyPr anchor="t" rtlCol="false"/>
                    <a:lstStyle/>
                    <a:p>
                      <a:pPr algn="ctr">
                        <a:lnSpc>
                          <a:spcPts val="2796"/>
                        </a:lnSpc>
                        <a:defRPr/>
                      </a:pPr>
                      <a:r>
                        <a:rPr lang="en-US" sz="1997">
                          <a:solidFill>
                            <a:srgbClr val="F5FFF9"/>
                          </a:solidFill>
                          <a:latin typeface="Manifold"/>
                          <a:ea typeface="Manifold"/>
                          <a:cs typeface="Manifold"/>
                          <a:sym typeface="Manifold"/>
                        </a:rPr>
                        <a:t>✓</a:t>
                      </a:r>
                      <a:endParaRPr lang="en-US" sz="1100"/>
                    </a:p>
                  </a:txBody>
                  <a:tcPr marL="114300" marR="114300" marT="114300" marB="114300" anchor="ctr">
                    <a:lnL cmpd="sng" algn="ctr" cap="flat" w="9525">
                      <a:solidFill>
                        <a:srgbClr val="F5FFF9"/>
                      </a:solidFill>
                      <a:prstDash val="solid"/>
                      <a:round/>
                      <a:headEnd type="none" w="med" len="med"/>
                      <a:tailEnd type="none" w="med" len="med"/>
                    </a:lnL>
                    <a:lnR cmpd="sng" algn="ctr" cap="flat" w="9525">
                      <a:solidFill>
                        <a:srgbClr val="F5FFF9"/>
                      </a:solidFill>
                      <a:prstDash val="solid"/>
                      <a:round/>
                      <a:headEnd type="none" w="med" len="med"/>
                      <a:tailEnd type="none" w="med" len="med"/>
                    </a:lnR>
                    <a:lnT cmpd="sng" algn="ctr" cap="flat" w="9525">
                      <a:solidFill>
                        <a:srgbClr val="F5FFF9"/>
                      </a:solidFill>
                      <a:prstDash val="solid"/>
                      <a:round/>
                      <a:headEnd type="none" w="med" len="med"/>
                      <a:tailEnd type="none" w="med" len="med"/>
                    </a:lnT>
                    <a:lnB cmpd="sng" algn="ctr" cap="flat" w="9525">
                      <a:solidFill>
                        <a:srgbClr val="F5FFF9"/>
                      </a:solidFill>
                      <a:prstDash val="solid"/>
                      <a:round/>
                      <a:headEnd type="none" w="med" len="med"/>
                      <a:tailEnd type="none" w="med" len="med"/>
                    </a:lnB>
                    <a:solidFill>
                      <a:srgbClr val="8AB79C"/>
                    </a:solidFill>
                  </a:tcPr>
                </a:tc>
                <a:tc>
                  <a:txBody>
                    <a:bodyPr anchor="t" rtlCol="false"/>
                    <a:lstStyle/>
                    <a:p>
                      <a:pPr algn="ctr">
                        <a:lnSpc>
                          <a:spcPts val="2796"/>
                        </a:lnSpc>
                        <a:defRPr/>
                      </a:pPr>
                      <a:r>
                        <a:rPr lang="en-US" b="true" sz="1997">
                          <a:solidFill>
                            <a:srgbClr val="F5FFF9"/>
                          </a:solidFill>
                          <a:latin typeface="Manifold Bold"/>
                          <a:ea typeface="Manifold Bold"/>
                          <a:cs typeface="Manifold Bold"/>
                          <a:sym typeface="Manifold Bold"/>
                        </a:rPr>
                        <a:t>✓</a:t>
                      </a:r>
                      <a:endParaRPr lang="en-US" sz="1100"/>
                    </a:p>
                  </a:txBody>
                  <a:tcPr marL="114300" marR="114300" marT="114300" marB="114300" anchor="ctr">
                    <a:lnL cmpd="sng" algn="ctr" cap="flat" w="9525">
                      <a:solidFill>
                        <a:srgbClr val="F5FFF9"/>
                      </a:solidFill>
                      <a:prstDash val="solid"/>
                      <a:round/>
                      <a:headEnd type="none" w="med" len="med"/>
                      <a:tailEnd type="none" w="med" len="med"/>
                    </a:lnL>
                    <a:lnR cmpd="sng" algn="ctr" cap="flat" w="9525">
                      <a:solidFill>
                        <a:srgbClr val="F5FFF9"/>
                      </a:solidFill>
                      <a:prstDash val="solid"/>
                      <a:round/>
                      <a:headEnd type="none" w="med" len="med"/>
                      <a:tailEnd type="none" w="med" len="med"/>
                    </a:lnR>
                    <a:lnT cmpd="sng" algn="ctr" cap="flat" w="9525">
                      <a:solidFill>
                        <a:srgbClr val="F5FFF9"/>
                      </a:solidFill>
                      <a:prstDash val="solid"/>
                      <a:round/>
                      <a:headEnd type="none" w="med" len="med"/>
                      <a:tailEnd type="none" w="med" len="med"/>
                    </a:lnT>
                    <a:lnB cmpd="sng" algn="ctr" cap="flat" w="9525">
                      <a:solidFill>
                        <a:srgbClr val="F5FFF9"/>
                      </a:solidFill>
                      <a:prstDash val="solid"/>
                      <a:round/>
                      <a:headEnd type="none" w="med" len="med"/>
                      <a:tailEnd type="none" w="med" len="med"/>
                    </a:lnB>
                    <a:solidFill>
                      <a:srgbClr val="23764B"/>
                    </a:solidFill>
                  </a:tcPr>
                </a:tc>
              </a:tr>
              <a:tr h="639223">
                <a:tc>
                  <a:txBody>
                    <a:bodyPr anchor="t" rtlCol="false"/>
                    <a:lstStyle/>
                    <a:p>
                      <a:pPr algn="ctr">
                        <a:lnSpc>
                          <a:spcPts val="2796"/>
                        </a:lnSpc>
                        <a:defRPr/>
                      </a:pPr>
                      <a:r>
                        <a:rPr lang="en-US" sz="1997">
                          <a:solidFill>
                            <a:srgbClr val="F5FFF9"/>
                          </a:solidFill>
                          <a:latin typeface="Manifold"/>
                          <a:ea typeface="Manifold"/>
                          <a:cs typeface="Manifold"/>
                          <a:sym typeface="Manifold"/>
                        </a:rPr>
                        <a:t>Preserve constraints</a:t>
                      </a:r>
                      <a:endParaRPr lang="en-US" sz="1100"/>
                    </a:p>
                  </a:txBody>
                  <a:tcPr marL="114300" marR="114300" marT="114300" marB="114300" anchor="ctr">
                    <a:lnL cmpd="sng" algn="ctr" cap="flat" w="9525">
                      <a:solidFill>
                        <a:srgbClr val="F5FFF9"/>
                      </a:solidFill>
                      <a:prstDash val="solid"/>
                      <a:round/>
                      <a:headEnd type="none" w="med" len="med"/>
                      <a:tailEnd type="none" w="med" len="med"/>
                    </a:lnL>
                    <a:lnR cmpd="sng" algn="ctr" cap="flat" w="9525">
                      <a:solidFill>
                        <a:srgbClr val="F5FFF9"/>
                      </a:solidFill>
                      <a:prstDash val="solid"/>
                      <a:round/>
                      <a:headEnd type="none" w="med" len="med"/>
                      <a:tailEnd type="none" w="med" len="med"/>
                    </a:lnR>
                    <a:lnT cmpd="sng" algn="ctr" cap="flat" w="9525">
                      <a:solidFill>
                        <a:srgbClr val="F5FFF9"/>
                      </a:solidFill>
                      <a:prstDash val="solid"/>
                      <a:round/>
                      <a:headEnd type="none" w="med" len="med"/>
                      <a:tailEnd type="none" w="med" len="med"/>
                    </a:lnT>
                    <a:lnB cmpd="sng" algn="ctr" cap="flat" w="9525">
                      <a:solidFill>
                        <a:srgbClr val="F5FFF9"/>
                      </a:solidFill>
                      <a:prstDash val="solid"/>
                      <a:round/>
                      <a:headEnd type="none" w="med" len="med"/>
                      <a:tailEnd type="none" w="med" len="med"/>
                    </a:lnB>
                    <a:solidFill>
                      <a:srgbClr val="8AB79C"/>
                    </a:solidFill>
                  </a:tcPr>
                </a:tc>
                <a:tc>
                  <a:txBody>
                    <a:bodyPr anchor="t" rtlCol="false"/>
                    <a:lstStyle/>
                    <a:p>
                      <a:pPr algn="ctr">
                        <a:lnSpc>
                          <a:spcPts val="2796"/>
                        </a:lnSpc>
                        <a:defRPr/>
                      </a:pPr>
                      <a:r>
                        <a:rPr lang="en-US" sz="1997">
                          <a:solidFill>
                            <a:srgbClr val="F5FFF9"/>
                          </a:solidFill>
                          <a:latin typeface="Manifold"/>
                          <a:ea typeface="Manifold"/>
                          <a:cs typeface="Manifold"/>
                          <a:sym typeface="Manifold"/>
                        </a:rPr>
                        <a:t>✗</a:t>
                      </a:r>
                      <a:endParaRPr lang="en-US" sz="1100"/>
                    </a:p>
                  </a:txBody>
                  <a:tcPr marL="114300" marR="114300" marT="114300" marB="114300" anchor="ctr">
                    <a:lnL cmpd="sng" algn="ctr" cap="flat" w="9525">
                      <a:solidFill>
                        <a:srgbClr val="F5FFF9"/>
                      </a:solidFill>
                      <a:prstDash val="solid"/>
                      <a:round/>
                      <a:headEnd type="none" w="med" len="med"/>
                      <a:tailEnd type="none" w="med" len="med"/>
                    </a:lnL>
                    <a:lnR cmpd="sng" algn="ctr" cap="flat" w="9525">
                      <a:solidFill>
                        <a:srgbClr val="F5FFF9"/>
                      </a:solidFill>
                      <a:prstDash val="solid"/>
                      <a:round/>
                      <a:headEnd type="none" w="med" len="med"/>
                      <a:tailEnd type="none" w="med" len="med"/>
                    </a:lnR>
                    <a:lnT cmpd="sng" algn="ctr" cap="flat" w="9525">
                      <a:solidFill>
                        <a:srgbClr val="F5FFF9"/>
                      </a:solidFill>
                      <a:prstDash val="solid"/>
                      <a:round/>
                      <a:headEnd type="none" w="med" len="med"/>
                      <a:tailEnd type="none" w="med" len="med"/>
                    </a:lnT>
                    <a:lnB cmpd="sng" algn="ctr" cap="flat" w="9525">
                      <a:solidFill>
                        <a:srgbClr val="F5FFF9"/>
                      </a:solidFill>
                      <a:prstDash val="solid"/>
                      <a:round/>
                      <a:headEnd type="none" w="med" len="med"/>
                      <a:tailEnd type="none" w="med" len="med"/>
                    </a:lnB>
                    <a:solidFill>
                      <a:srgbClr val="8AB79C"/>
                    </a:solidFill>
                  </a:tcPr>
                </a:tc>
                <a:tc>
                  <a:txBody>
                    <a:bodyPr anchor="t" rtlCol="false"/>
                    <a:lstStyle/>
                    <a:p>
                      <a:pPr algn="ctr">
                        <a:lnSpc>
                          <a:spcPts val="2796"/>
                        </a:lnSpc>
                        <a:defRPr/>
                      </a:pPr>
                      <a:r>
                        <a:rPr lang="en-US" sz="1997">
                          <a:solidFill>
                            <a:srgbClr val="F5FFF9"/>
                          </a:solidFill>
                          <a:latin typeface="Manifold"/>
                          <a:ea typeface="Manifold"/>
                          <a:cs typeface="Manifold"/>
                          <a:sym typeface="Manifold"/>
                        </a:rPr>
                        <a:t>-</a:t>
                      </a:r>
                      <a:endParaRPr lang="en-US" sz="1100"/>
                    </a:p>
                  </a:txBody>
                  <a:tcPr marL="114300" marR="114300" marT="114300" marB="114300" anchor="ctr">
                    <a:lnL cmpd="sng" algn="ctr" cap="flat" w="9525">
                      <a:solidFill>
                        <a:srgbClr val="F5FFF9"/>
                      </a:solidFill>
                      <a:prstDash val="solid"/>
                      <a:round/>
                      <a:headEnd type="none" w="med" len="med"/>
                      <a:tailEnd type="none" w="med" len="med"/>
                    </a:lnL>
                    <a:lnR cmpd="sng" algn="ctr" cap="flat" w="9525">
                      <a:solidFill>
                        <a:srgbClr val="F5FFF9"/>
                      </a:solidFill>
                      <a:prstDash val="solid"/>
                      <a:round/>
                      <a:headEnd type="none" w="med" len="med"/>
                      <a:tailEnd type="none" w="med" len="med"/>
                    </a:lnR>
                    <a:lnT cmpd="sng" algn="ctr" cap="flat" w="9525">
                      <a:solidFill>
                        <a:srgbClr val="F5FFF9"/>
                      </a:solidFill>
                      <a:prstDash val="solid"/>
                      <a:round/>
                      <a:headEnd type="none" w="med" len="med"/>
                      <a:tailEnd type="none" w="med" len="med"/>
                    </a:lnT>
                    <a:lnB cmpd="sng" algn="ctr" cap="flat" w="9525">
                      <a:solidFill>
                        <a:srgbClr val="F5FFF9"/>
                      </a:solidFill>
                      <a:prstDash val="solid"/>
                      <a:round/>
                      <a:headEnd type="none" w="med" len="med"/>
                      <a:tailEnd type="none" w="med" len="med"/>
                    </a:lnB>
                    <a:solidFill>
                      <a:srgbClr val="8AB79C"/>
                    </a:solidFill>
                  </a:tcPr>
                </a:tc>
                <a:tc>
                  <a:txBody>
                    <a:bodyPr anchor="t" rtlCol="false"/>
                    <a:lstStyle/>
                    <a:p>
                      <a:pPr algn="ctr">
                        <a:lnSpc>
                          <a:spcPts val="2796"/>
                        </a:lnSpc>
                        <a:defRPr/>
                      </a:pPr>
                      <a:r>
                        <a:rPr lang="en-US" sz="1997">
                          <a:solidFill>
                            <a:srgbClr val="F5FFF9"/>
                          </a:solidFill>
                          <a:latin typeface="Manifold"/>
                          <a:ea typeface="Manifold"/>
                          <a:cs typeface="Manifold"/>
                          <a:sym typeface="Manifold"/>
                        </a:rPr>
                        <a:t>✓</a:t>
                      </a:r>
                      <a:endParaRPr lang="en-US" sz="1100"/>
                    </a:p>
                  </a:txBody>
                  <a:tcPr marL="114300" marR="114300" marT="114300" marB="114300" anchor="ctr">
                    <a:lnL cmpd="sng" algn="ctr" cap="flat" w="9525">
                      <a:solidFill>
                        <a:srgbClr val="F5FFF9"/>
                      </a:solidFill>
                      <a:prstDash val="solid"/>
                      <a:round/>
                      <a:headEnd type="none" w="med" len="med"/>
                      <a:tailEnd type="none" w="med" len="med"/>
                    </a:lnL>
                    <a:lnR cmpd="sng" algn="ctr" cap="flat" w="9525">
                      <a:solidFill>
                        <a:srgbClr val="F5FFF9"/>
                      </a:solidFill>
                      <a:prstDash val="solid"/>
                      <a:round/>
                      <a:headEnd type="none" w="med" len="med"/>
                      <a:tailEnd type="none" w="med" len="med"/>
                    </a:lnR>
                    <a:lnT cmpd="sng" algn="ctr" cap="flat" w="9525">
                      <a:solidFill>
                        <a:srgbClr val="F5FFF9"/>
                      </a:solidFill>
                      <a:prstDash val="solid"/>
                      <a:round/>
                      <a:headEnd type="none" w="med" len="med"/>
                      <a:tailEnd type="none" w="med" len="med"/>
                    </a:lnT>
                    <a:lnB cmpd="sng" algn="ctr" cap="flat" w="9525">
                      <a:solidFill>
                        <a:srgbClr val="F5FFF9"/>
                      </a:solidFill>
                      <a:prstDash val="solid"/>
                      <a:round/>
                      <a:headEnd type="none" w="med" len="med"/>
                      <a:tailEnd type="none" w="med" len="med"/>
                    </a:lnB>
                    <a:solidFill>
                      <a:srgbClr val="8AB79C"/>
                    </a:solidFill>
                  </a:tcPr>
                </a:tc>
                <a:tc>
                  <a:txBody>
                    <a:bodyPr anchor="t" rtlCol="false"/>
                    <a:lstStyle/>
                    <a:p>
                      <a:pPr algn="ctr">
                        <a:lnSpc>
                          <a:spcPts val="2796"/>
                        </a:lnSpc>
                        <a:defRPr/>
                      </a:pPr>
                      <a:r>
                        <a:rPr lang="en-US" sz="1997">
                          <a:solidFill>
                            <a:srgbClr val="F5FFF9"/>
                          </a:solidFill>
                          <a:latin typeface="Manifold"/>
                          <a:ea typeface="Manifold"/>
                          <a:cs typeface="Manifold"/>
                          <a:sym typeface="Manifold"/>
                        </a:rPr>
                        <a:t>-</a:t>
                      </a:r>
                      <a:endParaRPr lang="en-US" sz="1100"/>
                    </a:p>
                  </a:txBody>
                  <a:tcPr marL="114300" marR="114300" marT="114300" marB="114300" anchor="ctr">
                    <a:lnL cmpd="sng" algn="ctr" cap="flat" w="9525">
                      <a:solidFill>
                        <a:srgbClr val="F5FFF9"/>
                      </a:solidFill>
                      <a:prstDash val="solid"/>
                      <a:round/>
                      <a:headEnd type="none" w="med" len="med"/>
                      <a:tailEnd type="none" w="med" len="med"/>
                    </a:lnL>
                    <a:lnR cmpd="sng" algn="ctr" cap="flat" w="9525">
                      <a:solidFill>
                        <a:srgbClr val="F5FFF9"/>
                      </a:solidFill>
                      <a:prstDash val="solid"/>
                      <a:round/>
                      <a:headEnd type="none" w="med" len="med"/>
                      <a:tailEnd type="none" w="med" len="med"/>
                    </a:lnR>
                    <a:lnT cmpd="sng" algn="ctr" cap="flat" w="9525">
                      <a:solidFill>
                        <a:srgbClr val="F5FFF9"/>
                      </a:solidFill>
                      <a:prstDash val="solid"/>
                      <a:round/>
                      <a:headEnd type="none" w="med" len="med"/>
                      <a:tailEnd type="none" w="med" len="med"/>
                    </a:lnT>
                    <a:lnB cmpd="sng" algn="ctr" cap="flat" w="9525">
                      <a:solidFill>
                        <a:srgbClr val="F5FFF9"/>
                      </a:solidFill>
                      <a:prstDash val="solid"/>
                      <a:round/>
                      <a:headEnd type="none" w="med" len="med"/>
                      <a:tailEnd type="none" w="med" len="med"/>
                    </a:lnB>
                    <a:solidFill>
                      <a:srgbClr val="8AB79C"/>
                    </a:solidFill>
                  </a:tcPr>
                </a:tc>
                <a:tc>
                  <a:txBody>
                    <a:bodyPr anchor="t" rtlCol="false"/>
                    <a:lstStyle/>
                    <a:p>
                      <a:pPr algn="ctr">
                        <a:lnSpc>
                          <a:spcPts val="2796"/>
                        </a:lnSpc>
                        <a:defRPr/>
                      </a:pPr>
                      <a:r>
                        <a:rPr lang="en-US" b="true" sz="1997">
                          <a:solidFill>
                            <a:srgbClr val="F5FFF9"/>
                          </a:solidFill>
                          <a:latin typeface="Manifold Bold"/>
                          <a:ea typeface="Manifold Bold"/>
                          <a:cs typeface="Manifold Bold"/>
                          <a:sym typeface="Manifold Bold"/>
                        </a:rPr>
                        <a:t>✓</a:t>
                      </a:r>
                      <a:endParaRPr lang="en-US" sz="1100"/>
                    </a:p>
                  </a:txBody>
                  <a:tcPr marL="114300" marR="114300" marT="114300" marB="114300" anchor="ctr">
                    <a:lnL cmpd="sng" algn="ctr" cap="flat" w="9525">
                      <a:solidFill>
                        <a:srgbClr val="F5FFF9"/>
                      </a:solidFill>
                      <a:prstDash val="solid"/>
                      <a:round/>
                      <a:headEnd type="none" w="med" len="med"/>
                      <a:tailEnd type="none" w="med" len="med"/>
                    </a:lnL>
                    <a:lnR cmpd="sng" algn="ctr" cap="flat" w="9525">
                      <a:solidFill>
                        <a:srgbClr val="F5FFF9"/>
                      </a:solidFill>
                      <a:prstDash val="solid"/>
                      <a:round/>
                      <a:headEnd type="none" w="med" len="med"/>
                      <a:tailEnd type="none" w="med" len="med"/>
                    </a:lnR>
                    <a:lnT cmpd="sng" algn="ctr" cap="flat" w="9525">
                      <a:solidFill>
                        <a:srgbClr val="F5FFF9"/>
                      </a:solidFill>
                      <a:prstDash val="solid"/>
                      <a:round/>
                      <a:headEnd type="none" w="med" len="med"/>
                      <a:tailEnd type="none" w="med" len="med"/>
                    </a:lnT>
                    <a:lnB cmpd="sng" algn="ctr" cap="flat" w="9525">
                      <a:solidFill>
                        <a:srgbClr val="F5FFF9"/>
                      </a:solidFill>
                      <a:prstDash val="solid"/>
                      <a:round/>
                      <a:headEnd type="none" w="med" len="med"/>
                      <a:tailEnd type="none" w="med" len="med"/>
                    </a:lnB>
                    <a:solidFill>
                      <a:srgbClr val="23764B"/>
                    </a:solidFill>
                  </a:tcPr>
                </a:tc>
              </a:tr>
              <a:tr h="639223">
                <a:tc>
                  <a:txBody>
                    <a:bodyPr anchor="t" rtlCol="false"/>
                    <a:lstStyle/>
                    <a:p>
                      <a:pPr algn="ctr">
                        <a:lnSpc>
                          <a:spcPts val="2796"/>
                        </a:lnSpc>
                        <a:defRPr/>
                      </a:pPr>
                      <a:r>
                        <a:rPr lang="en-US" sz="1997">
                          <a:solidFill>
                            <a:srgbClr val="F5FFF9"/>
                          </a:solidFill>
                          <a:latin typeface="Manifold"/>
                          <a:ea typeface="Manifold"/>
                          <a:cs typeface="Manifold"/>
                          <a:sym typeface="Manifold"/>
                        </a:rPr>
                        <a:t>LLM output evaluation</a:t>
                      </a:r>
                      <a:endParaRPr lang="en-US" sz="1100"/>
                    </a:p>
                  </a:txBody>
                  <a:tcPr marL="114300" marR="114300" marT="114300" marB="114300" anchor="ctr">
                    <a:lnL cmpd="sng" algn="ctr" cap="flat" w="9525">
                      <a:solidFill>
                        <a:srgbClr val="F5FFF9"/>
                      </a:solidFill>
                      <a:prstDash val="solid"/>
                      <a:round/>
                      <a:headEnd type="none" w="med" len="med"/>
                      <a:tailEnd type="none" w="med" len="med"/>
                    </a:lnL>
                    <a:lnR cmpd="sng" algn="ctr" cap="flat" w="9525">
                      <a:solidFill>
                        <a:srgbClr val="F5FFF9"/>
                      </a:solidFill>
                      <a:prstDash val="solid"/>
                      <a:round/>
                      <a:headEnd type="none" w="med" len="med"/>
                      <a:tailEnd type="none" w="med" len="med"/>
                    </a:lnR>
                    <a:lnT cmpd="sng" algn="ctr" cap="flat" w="9525">
                      <a:solidFill>
                        <a:srgbClr val="F5FFF9"/>
                      </a:solidFill>
                      <a:prstDash val="solid"/>
                      <a:round/>
                      <a:headEnd type="none" w="med" len="med"/>
                      <a:tailEnd type="none" w="med" len="med"/>
                    </a:lnT>
                    <a:lnB cmpd="sng" algn="ctr" cap="flat" w="9525">
                      <a:solidFill>
                        <a:srgbClr val="F5FFF9"/>
                      </a:solidFill>
                      <a:prstDash val="solid"/>
                      <a:round/>
                      <a:headEnd type="none" w="med" len="med"/>
                      <a:tailEnd type="none" w="med" len="med"/>
                    </a:lnB>
                    <a:solidFill>
                      <a:srgbClr val="8AB79C"/>
                    </a:solidFill>
                  </a:tcPr>
                </a:tc>
                <a:tc>
                  <a:txBody>
                    <a:bodyPr anchor="t" rtlCol="false"/>
                    <a:lstStyle/>
                    <a:p>
                      <a:pPr algn="ctr">
                        <a:lnSpc>
                          <a:spcPts val="2796"/>
                        </a:lnSpc>
                        <a:defRPr/>
                      </a:pPr>
                      <a:r>
                        <a:rPr lang="en-US" sz="1997">
                          <a:solidFill>
                            <a:srgbClr val="F5FFF9"/>
                          </a:solidFill>
                          <a:latin typeface="Manifold"/>
                          <a:ea typeface="Manifold"/>
                          <a:cs typeface="Manifold"/>
                          <a:sym typeface="Manifold"/>
                        </a:rPr>
                        <a:t>✗</a:t>
                      </a:r>
                      <a:endParaRPr lang="en-US" sz="1100"/>
                    </a:p>
                  </a:txBody>
                  <a:tcPr marL="114300" marR="114300" marT="114300" marB="114300" anchor="ctr">
                    <a:lnL cmpd="sng" algn="ctr" cap="flat" w="9525">
                      <a:solidFill>
                        <a:srgbClr val="F5FFF9"/>
                      </a:solidFill>
                      <a:prstDash val="solid"/>
                      <a:round/>
                      <a:headEnd type="none" w="med" len="med"/>
                      <a:tailEnd type="none" w="med" len="med"/>
                    </a:lnL>
                    <a:lnR cmpd="sng" algn="ctr" cap="flat" w="9525">
                      <a:solidFill>
                        <a:srgbClr val="F5FFF9"/>
                      </a:solidFill>
                      <a:prstDash val="solid"/>
                      <a:round/>
                      <a:headEnd type="none" w="med" len="med"/>
                      <a:tailEnd type="none" w="med" len="med"/>
                    </a:lnR>
                    <a:lnT cmpd="sng" algn="ctr" cap="flat" w="9525">
                      <a:solidFill>
                        <a:srgbClr val="F5FFF9"/>
                      </a:solidFill>
                      <a:prstDash val="solid"/>
                      <a:round/>
                      <a:headEnd type="none" w="med" len="med"/>
                      <a:tailEnd type="none" w="med" len="med"/>
                    </a:lnT>
                    <a:lnB cmpd="sng" algn="ctr" cap="flat" w="9525">
                      <a:solidFill>
                        <a:srgbClr val="F5FFF9"/>
                      </a:solidFill>
                      <a:prstDash val="solid"/>
                      <a:round/>
                      <a:headEnd type="none" w="med" len="med"/>
                      <a:tailEnd type="none" w="med" len="med"/>
                    </a:lnB>
                    <a:solidFill>
                      <a:srgbClr val="8AB79C"/>
                    </a:solidFill>
                  </a:tcPr>
                </a:tc>
                <a:tc>
                  <a:txBody>
                    <a:bodyPr anchor="t" rtlCol="false"/>
                    <a:lstStyle/>
                    <a:p>
                      <a:pPr algn="ctr">
                        <a:lnSpc>
                          <a:spcPts val="2796"/>
                        </a:lnSpc>
                        <a:defRPr/>
                      </a:pPr>
                      <a:r>
                        <a:rPr lang="en-US" sz="1997">
                          <a:solidFill>
                            <a:srgbClr val="F5FFF9"/>
                          </a:solidFill>
                          <a:latin typeface="Manifold"/>
                          <a:ea typeface="Manifold"/>
                          <a:cs typeface="Manifold"/>
                          <a:sym typeface="Manifold"/>
                        </a:rPr>
                        <a:t>✗</a:t>
                      </a:r>
                      <a:endParaRPr lang="en-US" sz="1100"/>
                    </a:p>
                  </a:txBody>
                  <a:tcPr marL="114300" marR="114300" marT="114300" marB="114300" anchor="ctr">
                    <a:lnL cmpd="sng" algn="ctr" cap="flat" w="9525">
                      <a:solidFill>
                        <a:srgbClr val="F5FFF9"/>
                      </a:solidFill>
                      <a:prstDash val="solid"/>
                      <a:round/>
                      <a:headEnd type="none" w="med" len="med"/>
                      <a:tailEnd type="none" w="med" len="med"/>
                    </a:lnL>
                    <a:lnR cmpd="sng" algn="ctr" cap="flat" w="9525">
                      <a:solidFill>
                        <a:srgbClr val="F5FFF9"/>
                      </a:solidFill>
                      <a:prstDash val="solid"/>
                      <a:round/>
                      <a:headEnd type="none" w="med" len="med"/>
                      <a:tailEnd type="none" w="med" len="med"/>
                    </a:lnR>
                    <a:lnT cmpd="sng" algn="ctr" cap="flat" w="9525">
                      <a:solidFill>
                        <a:srgbClr val="F5FFF9"/>
                      </a:solidFill>
                      <a:prstDash val="solid"/>
                      <a:round/>
                      <a:headEnd type="none" w="med" len="med"/>
                      <a:tailEnd type="none" w="med" len="med"/>
                    </a:lnT>
                    <a:lnB cmpd="sng" algn="ctr" cap="flat" w="9525">
                      <a:solidFill>
                        <a:srgbClr val="F5FFF9"/>
                      </a:solidFill>
                      <a:prstDash val="solid"/>
                      <a:round/>
                      <a:headEnd type="none" w="med" len="med"/>
                      <a:tailEnd type="none" w="med" len="med"/>
                    </a:lnB>
                    <a:solidFill>
                      <a:srgbClr val="8AB79C"/>
                    </a:solidFill>
                  </a:tcPr>
                </a:tc>
                <a:tc>
                  <a:txBody>
                    <a:bodyPr anchor="t" rtlCol="false"/>
                    <a:lstStyle/>
                    <a:p>
                      <a:pPr algn="ctr">
                        <a:lnSpc>
                          <a:spcPts val="2796"/>
                        </a:lnSpc>
                        <a:defRPr/>
                      </a:pPr>
                      <a:r>
                        <a:rPr lang="en-US" sz="1997">
                          <a:solidFill>
                            <a:srgbClr val="F5FFF9"/>
                          </a:solidFill>
                          <a:latin typeface="Manifold"/>
                          <a:ea typeface="Manifold"/>
                          <a:cs typeface="Manifold"/>
                          <a:sym typeface="Manifold"/>
                        </a:rPr>
                        <a:t>✗</a:t>
                      </a:r>
                      <a:endParaRPr lang="en-US" sz="1100"/>
                    </a:p>
                  </a:txBody>
                  <a:tcPr marL="114300" marR="114300" marT="114300" marB="114300" anchor="ctr">
                    <a:lnL cmpd="sng" algn="ctr" cap="flat" w="9525">
                      <a:solidFill>
                        <a:srgbClr val="F5FFF9"/>
                      </a:solidFill>
                      <a:prstDash val="solid"/>
                      <a:round/>
                      <a:headEnd type="none" w="med" len="med"/>
                      <a:tailEnd type="none" w="med" len="med"/>
                    </a:lnL>
                    <a:lnR cmpd="sng" algn="ctr" cap="flat" w="9525">
                      <a:solidFill>
                        <a:srgbClr val="F5FFF9"/>
                      </a:solidFill>
                      <a:prstDash val="solid"/>
                      <a:round/>
                      <a:headEnd type="none" w="med" len="med"/>
                      <a:tailEnd type="none" w="med" len="med"/>
                    </a:lnR>
                    <a:lnT cmpd="sng" algn="ctr" cap="flat" w="9525">
                      <a:solidFill>
                        <a:srgbClr val="F5FFF9"/>
                      </a:solidFill>
                      <a:prstDash val="solid"/>
                      <a:round/>
                      <a:headEnd type="none" w="med" len="med"/>
                      <a:tailEnd type="none" w="med" len="med"/>
                    </a:lnT>
                    <a:lnB cmpd="sng" algn="ctr" cap="flat" w="9525">
                      <a:solidFill>
                        <a:srgbClr val="F5FFF9"/>
                      </a:solidFill>
                      <a:prstDash val="solid"/>
                      <a:round/>
                      <a:headEnd type="none" w="med" len="med"/>
                      <a:tailEnd type="none" w="med" len="med"/>
                    </a:lnB>
                    <a:solidFill>
                      <a:srgbClr val="8AB79C"/>
                    </a:solidFill>
                  </a:tcPr>
                </a:tc>
                <a:tc>
                  <a:txBody>
                    <a:bodyPr anchor="t" rtlCol="false"/>
                    <a:lstStyle/>
                    <a:p>
                      <a:pPr algn="ctr">
                        <a:lnSpc>
                          <a:spcPts val="2796"/>
                        </a:lnSpc>
                        <a:defRPr/>
                      </a:pPr>
                      <a:r>
                        <a:rPr lang="en-US" sz="1997">
                          <a:solidFill>
                            <a:srgbClr val="F5FFF9"/>
                          </a:solidFill>
                          <a:latin typeface="Manifold"/>
                          <a:ea typeface="Manifold"/>
                          <a:cs typeface="Manifold"/>
                          <a:sym typeface="Manifold"/>
                        </a:rPr>
                        <a:t>✗</a:t>
                      </a:r>
                      <a:endParaRPr lang="en-US" sz="1100"/>
                    </a:p>
                  </a:txBody>
                  <a:tcPr marL="114300" marR="114300" marT="114300" marB="114300" anchor="ctr">
                    <a:lnL cmpd="sng" algn="ctr" cap="flat" w="9525">
                      <a:solidFill>
                        <a:srgbClr val="F5FFF9"/>
                      </a:solidFill>
                      <a:prstDash val="solid"/>
                      <a:round/>
                      <a:headEnd type="none" w="med" len="med"/>
                      <a:tailEnd type="none" w="med" len="med"/>
                    </a:lnL>
                    <a:lnR cmpd="sng" algn="ctr" cap="flat" w="9525">
                      <a:solidFill>
                        <a:srgbClr val="F5FFF9"/>
                      </a:solidFill>
                      <a:prstDash val="solid"/>
                      <a:round/>
                      <a:headEnd type="none" w="med" len="med"/>
                      <a:tailEnd type="none" w="med" len="med"/>
                    </a:lnR>
                    <a:lnT cmpd="sng" algn="ctr" cap="flat" w="9525">
                      <a:solidFill>
                        <a:srgbClr val="F5FFF9"/>
                      </a:solidFill>
                      <a:prstDash val="solid"/>
                      <a:round/>
                      <a:headEnd type="none" w="med" len="med"/>
                      <a:tailEnd type="none" w="med" len="med"/>
                    </a:lnT>
                    <a:lnB cmpd="sng" algn="ctr" cap="flat" w="9525">
                      <a:solidFill>
                        <a:srgbClr val="F5FFF9"/>
                      </a:solidFill>
                      <a:prstDash val="solid"/>
                      <a:round/>
                      <a:headEnd type="none" w="med" len="med"/>
                      <a:tailEnd type="none" w="med" len="med"/>
                    </a:lnB>
                    <a:solidFill>
                      <a:srgbClr val="8AB79C"/>
                    </a:solidFill>
                  </a:tcPr>
                </a:tc>
                <a:tc>
                  <a:txBody>
                    <a:bodyPr anchor="t" rtlCol="false"/>
                    <a:lstStyle/>
                    <a:p>
                      <a:pPr algn="ctr">
                        <a:lnSpc>
                          <a:spcPts val="2796"/>
                        </a:lnSpc>
                        <a:defRPr/>
                      </a:pPr>
                      <a:r>
                        <a:rPr lang="en-US" b="true" sz="1997">
                          <a:solidFill>
                            <a:srgbClr val="F5FFF9"/>
                          </a:solidFill>
                          <a:latin typeface="Manifold Bold"/>
                          <a:ea typeface="Manifold Bold"/>
                          <a:cs typeface="Manifold Bold"/>
                          <a:sym typeface="Manifold Bold"/>
                        </a:rPr>
                        <a:t>✓</a:t>
                      </a:r>
                      <a:endParaRPr lang="en-US" sz="1100"/>
                    </a:p>
                  </a:txBody>
                  <a:tcPr marL="114300" marR="114300" marT="114300" marB="114300" anchor="ctr">
                    <a:lnL cmpd="sng" algn="ctr" cap="flat" w="9525">
                      <a:solidFill>
                        <a:srgbClr val="F5FFF9"/>
                      </a:solidFill>
                      <a:prstDash val="solid"/>
                      <a:round/>
                      <a:headEnd type="none" w="med" len="med"/>
                      <a:tailEnd type="none" w="med" len="med"/>
                    </a:lnL>
                    <a:lnR cmpd="sng" algn="ctr" cap="flat" w="9525">
                      <a:solidFill>
                        <a:srgbClr val="F5FFF9"/>
                      </a:solidFill>
                      <a:prstDash val="solid"/>
                      <a:round/>
                      <a:headEnd type="none" w="med" len="med"/>
                      <a:tailEnd type="none" w="med" len="med"/>
                    </a:lnR>
                    <a:lnT cmpd="sng" algn="ctr" cap="flat" w="9525">
                      <a:solidFill>
                        <a:srgbClr val="F5FFF9"/>
                      </a:solidFill>
                      <a:prstDash val="solid"/>
                      <a:round/>
                      <a:headEnd type="none" w="med" len="med"/>
                      <a:tailEnd type="none" w="med" len="med"/>
                    </a:lnT>
                    <a:lnB cmpd="sng" algn="ctr" cap="flat" w="9525">
                      <a:solidFill>
                        <a:srgbClr val="F5FFF9"/>
                      </a:solidFill>
                      <a:prstDash val="solid"/>
                      <a:round/>
                      <a:headEnd type="none" w="med" len="med"/>
                      <a:tailEnd type="none" w="med" len="med"/>
                    </a:lnB>
                    <a:solidFill>
                      <a:srgbClr val="23764B"/>
                    </a:solidFill>
                  </a:tcPr>
                </a:tc>
              </a:tr>
              <a:tr h="639223">
                <a:tc>
                  <a:txBody>
                    <a:bodyPr anchor="t" rtlCol="false"/>
                    <a:lstStyle/>
                    <a:p>
                      <a:pPr algn="ctr">
                        <a:lnSpc>
                          <a:spcPts val="2796"/>
                        </a:lnSpc>
                        <a:defRPr/>
                      </a:pPr>
                      <a:r>
                        <a:rPr lang="en-US" sz="1997">
                          <a:solidFill>
                            <a:srgbClr val="F5FFF9"/>
                          </a:solidFill>
                          <a:latin typeface="Manifold"/>
                          <a:ea typeface="Manifold"/>
                          <a:cs typeface="Manifold"/>
                          <a:sym typeface="Manifold"/>
                        </a:rPr>
                        <a:t>Token efficiency report</a:t>
                      </a:r>
                      <a:endParaRPr lang="en-US" sz="1100"/>
                    </a:p>
                  </a:txBody>
                  <a:tcPr marL="114300" marR="114300" marT="114300" marB="114300" anchor="ctr">
                    <a:lnL cmpd="sng" algn="ctr" cap="flat" w="9525">
                      <a:solidFill>
                        <a:srgbClr val="F5FFF9"/>
                      </a:solidFill>
                      <a:prstDash val="solid"/>
                      <a:round/>
                      <a:headEnd type="none" w="med" len="med"/>
                      <a:tailEnd type="none" w="med" len="med"/>
                    </a:lnL>
                    <a:lnR cmpd="sng" algn="ctr" cap="flat" w="9525">
                      <a:solidFill>
                        <a:srgbClr val="F5FFF9"/>
                      </a:solidFill>
                      <a:prstDash val="solid"/>
                      <a:round/>
                      <a:headEnd type="none" w="med" len="med"/>
                      <a:tailEnd type="none" w="med" len="med"/>
                    </a:lnR>
                    <a:lnT cmpd="sng" algn="ctr" cap="flat" w="9525">
                      <a:solidFill>
                        <a:srgbClr val="F5FFF9"/>
                      </a:solidFill>
                      <a:prstDash val="solid"/>
                      <a:round/>
                      <a:headEnd type="none" w="med" len="med"/>
                      <a:tailEnd type="none" w="med" len="med"/>
                    </a:lnT>
                    <a:lnB cmpd="sng" algn="ctr" cap="flat" w="9525">
                      <a:solidFill>
                        <a:srgbClr val="F5FFF9"/>
                      </a:solidFill>
                      <a:prstDash val="solid"/>
                      <a:round/>
                      <a:headEnd type="none" w="med" len="med"/>
                      <a:tailEnd type="none" w="med" len="med"/>
                    </a:lnB>
                    <a:solidFill>
                      <a:srgbClr val="8AB79C"/>
                    </a:solidFill>
                  </a:tcPr>
                </a:tc>
                <a:tc>
                  <a:txBody>
                    <a:bodyPr anchor="t" rtlCol="false"/>
                    <a:lstStyle/>
                    <a:p>
                      <a:pPr algn="ctr">
                        <a:lnSpc>
                          <a:spcPts val="2796"/>
                        </a:lnSpc>
                        <a:defRPr/>
                      </a:pPr>
                      <a:r>
                        <a:rPr lang="en-US" sz="1997">
                          <a:solidFill>
                            <a:srgbClr val="F5FFF9"/>
                          </a:solidFill>
                          <a:latin typeface="Manifold"/>
                          <a:ea typeface="Manifold"/>
                          <a:cs typeface="Manifold"/>
                          <a:sym typeface="Manifold"/>
                        </a:rPr>
                        <a:t>-</a:t>
                      </a:r>
                      <a:endParaRPr lang="en-US" sz="1100"/>
                    </a:p>
                  </a:txBody>
                  <a:tcPr marL="114300" marR="114300" marT="114300" marB="114300" anchor="ctr">
                    <a:lnL cmpd="sng" algn="ctr" cap="flat" w="9525">
                      <a:solidFill>
                        <a:srgbClr val="F5FFF9"/>
                      </a:solidFill>
                      <a:prstDash val="solid"/>
                      <a:round/>
                      <a:headEnd type="none" w="med" len="med"/>
                      <a:tailEnd type="none" w="med" len="med"/>
                    </a:lnL>
                    <a:lnR cmpd="sng" algn="ctr" cap="flat" w="9525">
                      <a:solidFill>
                        <a:srgbClr val="F5FFF9"/>
                      </a:solidFill>
                      <a:prstDash val="solid"/>
                      <a:round/>
                      <a:headEnd type="none" w="med" len="med"/>
                      <a:tailEnd type="none" w="med" len="med"/>
                    </a:lnR>
                    <a:lnT cmpd="sng" algn="ctr" cap="flat" w="9525">
                      <a:solidFill>
                        <a:srgbClr val="F5FFF9"/>
                      </a:solidFill>
                      <a:prstDash val="solid"/>
                      <a:round/>
                      <a:headEnd type="none" w="med" len="med"/>
                      <a:tailEnd type="none" w="med" len="med"/>
                    </a:lnT>
                    <a:lnB cmpd="sng" algn="ctr" cap="flat" w="9525">
                      <a:solidFill>
                        <a:srgbClr val="F5FFF9"/>
                      </a:solidFill>
                      <a:prstDash val="solid"/>
                      <a:round/>
                      <a:headEnd type="none" w="med" len="med"/>
                      <a:tailEnd type="none" w="med" len="med"/>
                    </a:lnB>
                    <a:solidFill>
                      <a:srgbClr val="8AB79C"/>
                    </a:solidFill>
                  </a:tcPr>
                </a:tc>
                <a:tc>
                  <a:txBody>
                    <a:bodyPr anchor="t" rtlCol="false"/>
                    <a:lstStyle/>
                    <a:p>
                      <a:pPr algn="ctr">
                        <a:lnSpc>
                          <a:spcPts val="2796"/>
                        </a:lnSpc>
                        <a:defRPr/>
                      </a:pPr>
                      <a:r>
                        <a:rPr lang="en-US" sz="1997">
                          <a:solidFill>
                            <a:srgbClr val="F5FFF9"/>
                          </a:solidFill>
                          <a:latin typeface="Manifold"/>
                          <a:ea typeface="Manifold"/>
                          <a:cs typeface="Manifold"/>
                          <a:sym typeface="Manifold"/>
                        </a:rPr>
                        <a:t>✓</a:t>
                      </a:r>
                      <a:endParaRPr lang="en-US" sz="1100"/>
                    </a:p>
                  </a:txBody>
                  <a:tcPr marL="114300" marR="114300" marT="114300" marB="114300" anchor="ctr">
                    <a:lnL cmpd="sng" algn="ctr" cap="flat" w="9525">
                      <a:solidFill>
                        <a:srgbClr val="F5FFF9"/>
                      </a:solidFill>
                      <a:prstDash val="solid"/>
                      <a:round/>
                      <a:headEnd type="none" w="med" len="med"/>
                      <a:tailEnd type="none" w="med" len="med"/>
                    </a:lnL>
                    <a:lnR cmpd="sng" algn="ctr" cap="flat" w="9525">
                      <a:solidFill>
                        <a:srgbClr val="F5FFF9"/>
                      </a:solidFill>
                      <a:prstDash val="solid"/>
                      <a:round/>
                      <a:headEnd type="none" w="med" len="med"/>
                      <a:tailEnd type="none" w="med" len="med"/>
                    </a:lnR>
                    <a:lnT cmpd="sng" algn="ctr" cap="flat" w="9525">
                      <a:solidFill>
                        <a:srgbClr val="F5FFF9"/>
                      </a:solidFill>
                      <a:prstDash val="solid"/>
                      <a:round/>
                      <a:headEnd type="none" w="med" len="med"/>
                      <a:tailEnd type="none" w="med" len="med"/>
                    </a:lnT>
                    <a:lnB cmpd="sng" algn="ctr" cap="flat" w="9525">
                      <a:solidFill>
                        <a:srgbClr val="F5FFF9"/>
                      </a:solidFill>
                      <a:prstDash val="solid"/>
                      <a:round/>
                      <a:headEnd type="none" w="med" len="med"/>
                      <a:tailEnd type="none" w="med" len="med"/>
                    </a:lnB>
                    <a:solidFill>
                      <a:srgbClr val="8AB79C"/>
                    </a:solidFill>
                  </a:tcPr>
                </a:tc>
                <a:tc>
                  <a:txBody>
                    <a:bodyPr anchor="t" rtlCol="false"/>
                    <a:lstStyle/>
                    <a:p>
                      <a:pPr algn="ctr">
                        <a:lnSpc>
                          <a:spcPts val="2796"/>
                        </a:lnSpc>
                        <a:defRPr/>
                      </a:pPr>
                      <a:r>
                        <a:rPr lang="en-US" sz="1997">
                          <a:solidFill>
                            <a:srgbClr val="F5FFF9"/>
                          </a:solidFill>
                          <a:latin typeface="Manifold"/>
                          <a:ea typeface="Manifold"/>
                          <a:cs typeface="Manifold"/>
                          <a:sym typeface="Manifold"/>
                        </a:rPr>
                        <a:t>-</a:t>
                      </a:r>
                      <a:endParaRPr lang="en-US" sz="1100"/>
                    </a:p>
                  </a:txBody>
                  <a:tcPr marL="114300" marR="114300" marT="114300" marB="114300" anchor="ctr">
                    <a:lnL cmpd="sng" algn="ctr" cap="flat" w="9525">
                      <a:solidFill>
                        <a:srgbClr val="F5FFF9"/>
                      </a:solidFill>
                      <a:prstDash val="solid"/>
                      <a:round/>
                      <a:headEnd type="none" w="med" len="med"/>
                      <a:tailEnd type="none" w="med" len="med"/>
                    </a:lnL>
                    <a:lnR cmpd="sng" algn="ctr" cap="flat" w="9525">
                      <a:solidFill>
                        <a:srgbClr val="F5FFF9"/>
                      </a:solidFill>
                      <a:prstDash val="solid"/>
                      <a:round/>
                      <a:headEnd type="none" w="med" len="med"/>
                      <a:tailEnd type="none" w="med" len="med"/>
                    </a:lnR>
                    <a:lnT cmpd="sng" algn="ctr" cap="flat" w="9525">
                      <a:solidFill>
                        <a:srgbClr val="F5FFF9"/>
                      </a:solidFill>
                      <a:prstDash val="solid"/>
                      <a:round/>
                      <a:headEnd type="none" w="med" len="med"/>
                      <a:tailEnd type="none" w="med" len="med"/>
                    </a:lnT>
                    <a:lnB cmpd="sng" algn="ctr" cap="flat" w="9525">
                      <a:solidFill>
                        <a:srgbClr val="F5FFF9"/>
                      </a:solidFill>
                      <a:prstDash val="solid"/>
                      <a:round/>
                      <a:headEnd type="none" w="med" len="med"/>
                      <a:tailEnd type="none" w="med" len="med"/>
                    </a:lnB>
                    <a:solidFill>
                      <a:srgbClr val="8AB79C"/>
                    </a:solidFill>
                  </a:tcPr>
                </a:tc>
                <a:tc>
                  <a:txBody>
                    <a:bodyPr anchor="t" rtlCol="false"/>
                    <a:lstStyle/>
                    <a:p>
                      <a:pPr algn="ctr">
                        <a:lnSpc>
                          <a:spcPts val="2796"/>
                        </a:lnSpc>
                        <a:defRPr/>
                      </a:pPr>
                      <a:r>
                        <a:rPr lang="en-US" sz="1997">
                          <a:solidFill>
                            <a:srgbClr val="F5FFF9"/>
                          </a:solidFill>
                          <a:latin typeface="Manifold"/>
                          <a:ea typeface="Manifold"/>
                          <a:cs typeface="Manifold"/>
                          <a:sym typeface="Manifold"/>
                        </a:rPr>
                        <a:t>-</a:t>
                      </a:r>
                      <a:endParaRPr lang="en-US" sz="1100"/>
                    </a:p>
                  </a:txBody>
                  <a:tcPr marL="114300" marR="114300" marT="114300" marB="114300" anchor="ctr">
                    <a:lnL cmpd="sng" algn="ctr" cap="flat" w="9525">
                      <a:solidFill>
                        <a:srgbClr val="F5FFF9"/>
                      </a:solidFill>
                      <a:prstDash val="solid"/>
                      <a:round/>
                      <a:headEnd type="none" w="med" len="med"/>
                      <a:tailEnd type="none" w="med" len="med"/>
                    </a:lnL>
                    <a:lnR cmpd="sng" algn="ctr" cap="flat" w="9525">
                      <a:solidFill>
                        <a:srgbClr val="F5FFF9"/>
                      </a:solidFill>
                      <a:prstDash val="solid"/>
                      <a:round/>
                      <a:headEnd type="none" w="med" len="med"/>
                      <a:tailEnd type="none" w="med" len="med"/>
                    </a:lnR>
                    <a:lnT cmpd="sng" algn="ctr" cap="flat" w="9525">
                      <a:solidFill>
                        <a:srgbClr val="F5FFF9"/>
                      </a:solidFill>
                      <a:prstDash val="solid"/>
                      <a:round/>
                      <a:headEnd type="none" w="med" len="med"/>
                      <a:tailEnd type="none" w="med" len="med"/>
                    </a:lnT>
                    <a:lnB cmpd="sng" algn="ctr" cap="flat" w="9525">
                      <a:solidFill>
                        <a:srgbClr val="F5FFF9"/>
                      </a:solidFill>
                      <a:prstDash val="solid"/>
                      <a:round/>
                      <a:headEnd type="none" w="med" len="med"/>
                      <a:tailEnd type="none" w="med" len="med"/>
                    </a:lnB>
                    <a:solidFill>
                      <a:srgbClr val="8AB79C"/>
                    </a:solidFill>
                  </a:tcPr>
                </a:tc>
                <a:tc>
                  <a:txBody>
                    <a:bodyPr anchor="t" rtlCol="false"/>
                    <a:lstStyle/>
                    <a:p>
                      <a:pPr algn="ctr">
                        <a:lnSpc>
                          <a:spcPts val="2796"/>
                        </a:lnSpc>
                        <a:defRPr/>
                      </a:pPr>
                      <a:r>
                        <a:rPr lang="en-US" b="true" sz="1997">
                          <a:solidFill>
                            <a:srgbClr val="F5FFF9"/>
                          </a:solidFill>
                          <a:latin typeface="Manifold Bold"/>
                          <a:ea typeface="Manifold Bold"/>
                          <a:cs typeface="Manifold Bold"/>
                          <a:sym typeface="Manifold Bold"/>
                        </a:rPr>
                        <a:t>✓</a:t>
                      </a:r>
                      <a:endParaRPr lang="en-US" sz="1100"/>
                    </a:p>
                  </a:txBody>
                  <a:tcPr marL="114300" marR="114300" marT="114300" marB="114300" anchor="ctr">
                    <a:lnL cmpd="sng" algn="ctr" cap="flat" w="9525">
                      <a:solidFill>
                        <a:srgbClr val="F5FFF9"/>
                      </a:solidFill>
                      <a:prstDash val="solid"/>
                      <a:round/>
                      <a:headEnd type="none" w="med" len="med"/>
                      <a:tailEnd type="none" w="med" len="med"/>
                    </a:lnL>
                    <a:lnR cmpd="sng" algn="ctr" cap="flat" w="9525">
                      <a:solidFill>
                        <a:srgbClr val="F5FFF9"/>
                      </a:solidFill>
                      <a:prstDash val="solid"/>
                      <a:round/>
                      <a:headEnd type="none" w="med" len="med"/>
                      <a:tailEnd type="none" w="med" len="med"/>
                    </a:lnR>
                    <a:lnT cmpd="sng" algn="ctr" cap="flat" w="9525">
                      <a:solidFill>
                        <a:srgbClr val="F5FFF9"/>
                      </a:solidFill>
                      <a:prstDash val="solid"/>
                      <a:round/>
                      <a:headEnd type="none" w="med" len="med"/>
                      <a:tailEnd type="none" w="med" len="med"/>
                    </a:lnT>
                    <a:lnB cmpd="sng" algn="ctr" cap="flat" w="9525">
                      <a:solidFill>
                        <a:srgbClr val="F5FFF9"/>
                      </a:solidFill>
                      <a:prstDash val="solid"/>
                      <a:round/>
                      <a:headEnd type="none" w="med" len="med"/>
                      <a:tailEnd type="none" w="med" len="med"/>
                    </a:lnB>
                    <a:solidFill>
                      <a:srgbClr val="23764B"/>
                    </a:solidFill>
                  </a:tcPr>
                </a:tc>
              </a:tr>
              <a:tr h="639223">
                <a:tc>
                  <a:txBody>
                    <a:bodyPr anchor="t" rtlCol="false"/>
                    <a:lstStyle/>
                    <a:p>
                      <a:pPr algn="ctr">
                        <a:lnSpc>
                          <a:spcPts val="2796"/>
                        </a:lnSpc>
                        <a:defRPr/>
                      </a:pPr>
                      <a:r>
                        <a:rPr lang="en-US" sz="1997">
                          <a:solidFill>
                            <a:srgbClr val="F5FFF9"/>
                          </a:solidFill>
                          <a:latin typeface="Manifold"/>
                          <a:ea typeface="Manifold"/>
                          <a:cs typeface="Manifold"/>
                          <a:sym typeface="Manifold"/>
                        </a:rPr>
                        <a:t>Multi-stage pipeline</a:t>
                      </a:r>
                      <a:endParaRPr lang="en-US" sz="1100"/>
                    </a:p>
                  </a:txBody>
                  <a:tcPr marL="114300" marR="114300" marT="114300" marB="114300" anchor="ctr">
                    <a:lnL cmpd="sng" algn="ctr" cap="flat" w="9525">
                      <a:solidFill>
                        <a:srgbClr val="F5FFF9"/>
                      </a:solidFill>
                      <a:prstDash val="solid"/>
                      <a:round/>
                      <a:headEnd type="none" w="med" len="med"/>
                      <a:tailEnd type="none" w="med" len="med"/>
                    </a:lnL>
                    <a:lnR cmpd="sng" algn="ctr" cap="flat" w="9525">
                      <a:solidFill>
                        <a:srgbClr val="F5FFF9"/>
                      </a:solidFill>
                      <a:prstDash val="solid"/>
                      <a:round/>
                      <a:headEnd type="none" w="med" len="med"/>
                      <a:tailEnd type="none" w="med" len="med"/>
                    </a:lnR>
                    <a:lnT cmpd="sng" algn="ctr" cap="flat" w="9525">
                      <a:solidFill>
                        <a:srgbClr val="F5FFF9"/>
                      </a:solidFill>
                      <a:prstDash val="solid"/>
                      <a:round/>
                      <a:headEnd type="none" w="med" len="med"/>
                      <a:tailEnd type="none" w="med" len="med"/>
                    </a:lnT>
                    <a:lnB cmpd="sng" algn="ctr" cap="flat" w="9525">
                      <a:solidFill>
                        <a:srgbClr val="F5FFF9"/>
                      </a:solidFill>
                      <a:prstDash val="solid"/>
                      <a:round/>
                      <a:headEnd type="none" w="med" len="med"/>
                      <a:tailEnd type="none" w="med" len="med"/>
                    </a:lnB>
                    <a:solidFill>
                      <a:srgbClr val="8AB79C"/>
                    </a:solidFill>
                  </a:tcPr>
                </a:tc>
                <a:tc>
                  <a:txBody>
                    <a:bodyPr anchor="t" rtlCol="false"/>
                    <a:lstStyle/>
                    <a:p>
                      <a:pPr algn="ctr">
                        <a:lnSpc>
                          <a:spcPts val="2796"/>
                        </a:lnSpc>
                        <a:defRPr/>
                      </a:pPr>
                      <a:r>
                        <a:rPr lang="en-US" sz="1997">
                          <a:solidFill>
                            <a:srgbClr val="F5FFF9"/>
                          </a:solidFill>
                          <a:latin typeface="Manifold"/>
                          <a:ea typeface="Manifold"/>
                          <a:cs typeface="Manifold"/>
                          <a:sym typeface="Manifold"/>
                        </a:rPr>
                        <a:t>✗</a:t>
                      </a:r>
                      <a:endParaRPr lang="en-US" sz="1100"/>
                    </a:p>
                  </a:txBody>
                  <a:tcPr marL="114300" marR="114300" marT="114300" marB="114300" anchor="ctr">
                    <a:lnL cmpd="sng" algn="ctr" cap="flat" w="9525">
                      <a:solidFill>
                        <a:srgbClr val="F5FFF9"/>
                      </a:solidFill>
                      <a:prstDash val="solid"/>
                      <a:round/>
                      <a:headEnd type="none" w="med" len="med"/>
                      <a:tailEnd type="none" w="med" len="med"/>
                    </a:lnL>
                    <a:lnR cmpd="sng" algn="ctr" cap="flat" w="9525">
                      <a:solidFill>
                        <a:srgbClr val="F5FFF9"/>
                      </a:solidFill>
                      <a:prstDash val="solid"/>
                      <a:round/>
                      <a:headEnd type="none" w="med" len="med"/>
                      <a:tailEnd type="none" w="med" len="med"/>
                    </a:lnR>
                    <a:lnT cmpd="sng" algn="ctr" cap="flat" w="9525">
                      <a:solidFill>
                        <a:srgbClr val="F5FFF9"/>
                      </a:solidFill>
                      <a:prstDash val="solid"/>
                      <a:round/>
                      <a:headEnd type="none" w="med" len="med"/>
                      <a:tailEnd type="none" w="med" len="med"/>
                    </a:lnT>
                    <a:lnB cmpd="sng" algn="ctr" cap="flat" w="9525">
                      <a:solidFill>
                        <a:srgbClr val="F5FFF9"/>
                      </a:solidFill>
                      <a:prstDash val="solid"/>
                      <a:round/>
                      <a:headEnd type="none" w="med" len="med"/>
                      <a:tailEnd type="none" w="med" len="med"/>
                    </a:lnB>
                    <a:solidFill>
                      <a:srgbClr val="8AB79C"/>
                    </a:solidFill>
                  </a:tcPr>
                </a:tc>
                <a:tc>
                  <a:txBody>
                    <a:bodyPr anchor="t" rtlCol="false"/>
                    <a:lstStyle/>
                    <a:p>
                      <a:pPr algn="ctr">
                        <a:lnSpc>
                          <a:spcPts val="2796"/>
                        </a:lnSpc>
                        <a:defRPr/>
                      </a:pPr>
                      <a:r>
                        <a:rPr lang="en-US" sz="1997">
                          <a:solidFill>
                            <a:srgbClr val="F5FFF9"/>
                          </a:solidFill>
                          <a:latin typeface="Manifold"/>
                          <a:ea typeface="Manifold"/>
                          <a:cs typeface="Manifold"/>
                          <a:sym typeface="Manifold"/>
                        </a:rPr>
                        <a:t>✗</a:t>
                      </a:r>
                      <a:endParaRPr lang="en-US" sz="1100"/>
                    </a:p>
                  </a:txBody>
                  <a:tcPr marL="114300" marR="114300" marT="114300" marB="114300" anchor="ctr">
                    <a:lnL cmpd="sng" algn="ctr" cap="flat" w="9525">
                      <a:solidFill>
                        <a:srgbClr val="F5FFF9"/>
                      </a:solidFill>
                      <a:prstDash val="solid"/>
                      <a:round/>
                      <a:headEnd type="none" w="med" len="med"/>
                      <a:tailEnd type="none" w="med" len="med"/>
                    </a:lnL>
                    <a:lnR cmpd="sng" algn="ctr" cap="flat" w="9525">
                      <a:solidFill>
                        <a:srgbClr val="F5FFF9"/>
                      </a:solidFill>
                      <a:prstDash val="solid"/>
                      <a:round/>
                      <a:headEnd type="none" w="med" len="med"/>
                      <a:tailEnd type="none" w="med" len="med"/>
                    </a:lnR>
                    <a:lnT cmpd="sng" algn="ctr" cap="flat" w="9525">
                      <a:solidFill>
                        <a:srgbClr val="F5FFF9"/>
                      </a:solidFill>
                      <a:prstDash val="solid"/>
                      <a:round/>
                      <a:headEnd type="none" w="med" len="med"/>
                      <a:tailEnd type="none" w="med" len="med"/>
                    </a:lnT>
                    <a:lnB cmpd="sng" algn="ctr" cap="flat" w="9525">
                      <a:solidFill>
                        <a:srgbClr val="F5FFF9"/>
                      </a:solidFill>
                      <a:prstDash val="solid"/>
                      <a:round/>
                      <a:headEnd type="none" w="med" len="med"/>
                      <a:tailEnd type="none" w="med" len="med"/>
                    </a:lnB>
                    <a:solidFill>
                      <a:srgbClr val="8AB79C"/>
                    </a:solidFill>
                  </a:tcPr>
                </a:tc>
                <a:tc>
                  <a:txBody>
                    <a:bodyPr anchor="t" rtlCol="false"/>
                    <a:lstStyle/>
                    <a:p>
                      <a:pPr algn="ctr">
                        <a:lnSpc>
                          <a:spcPts val="2796"/>
                        </a:lnSpc>
                        <a:defRPr/>
                      </a:pPr>
                      <a:r>
                        <a:rPr lang="en-US" sz="1997">
                          <a:solidFill>
                            <a:srgbClr val="F5FFF9"/>
                          </a:solidFill>
                          <a:latin typeface="Manifold"/>
                          <a:ea typeface="Manifold"/>
                          <a:cs typeface="Manifold"/>
                          <a:sym typeface="Manifold"/>
                        </a:rPr>
                        <a:t>✗</a:t>
                      </a:r>
                      <a:endParaRPr lang="en-US" sz="1100"/>
                    </a:p>
                  </a:txBody>
                  <a:tcPr marL="114300" marR="114300" marT="114300" marB="114300" anchor="ctr">
                    <a:lnL cmpd="sng" algn="ctr" cap="flat" w="9525">
                      <a:solidFill>
                        <a:srgbClr val="F5FFF9"/>
                      </a:solidFill>
                      <a:prstDash val="solid"/>
                      <a:round/>
                      <a:headEnd type="none" w="med" len="med"/>
                      <a:tailEnd type="none" w="med" len="med"/>
                    </a:lnL>
                    <a:lnR cmpd="sng" algn="ctr" cap="flat" w="9525">
                      <a:solidFill>
                        <a:srgbClr val="F5FFF9"/>
                      </a:solidFill>
                      <a:prstDash val="solid"/>
                      <a:round/>
                      <a:headEnd type="none" w="med" len="med"/>
                      <a:tailEnd type="none" w="med" len="med"/>
                    </a:lnR>
                    <a:lnT cmpd="sng" algn="ctr" cap="flat" w="9525">
                      <a:solidFill>
                        <a:srgbClr val="F5FFF9"/>
                      </a:solidFill>
                      <a:prstDash val="solid"/>
                      <a:round/>
                      <a:headEnd type="none" w="med" len="med"/>
                      <a:tailEnd type="none" w="med" len="med"/>
                    </a:lnT>
                    <a:lnB cmpd="sng" algn="ctr" cap="flat" w="9525">
                      <a:solidFill>
                        <a:srgbClr val="F5FFF9"/>
                      </a:solidFill>
                      <a:prstDash val="solid"/>
                      <a:round/>
                      <a:headEnd type="none" w="med" len="med"/>
                      <a:tailEnd type="none" w="med" len="med"/>
                    </a:lnB>
                    <a:solidFill>
                      <a:srgbClr val="8AB79C"/>
                    </a:solidFill>
                  </a:tcPr>
                </a:tc>
                <a:tc>
                  <a:txBody>
                    <a:bodyPr anchor="t" rtlCol="false"/>
                    <a:lstStyle/>
                    <a:p>
                      <a:pPr algn="ctr">
                        <a:lnSpc>
                          <a:spcPts val="2796"/>
                        </a:lnSpc>
                        <a:defRPr/>
                      </a:pPr>
                      <a:r>
                        <a:rPr lang="en-US" sz="1997">
                          <a:solidFill>
                            <a:srgbClr val="F5FFF9"/>
                          </a:solidFill>
                          <a:latin typeface="Manifold"/>
                          <a:ea typeface="Manifold"/>
                          <a:cs typeface="Manifold"/>
                          <a:sym typeface="Manifold"/>
                        </a:rPr>
                        <a:t>✗</a:t>
                      </a:r>
                      <a:endParaRPr lang="en-US" sz="1100"/>
                    </a:p>
                  </a:txBody>
                  <a:tcPr marL="114300" marR="114300" marT="114300" marB="114300" anchor="ctr">
                    <a:lnL cmpd="sng" algn="ctr" cap="flat" w="9525">
                      <a:solidFill>
                        <a:srgbClr val="F5FFF9"/>
                      </a:solidFill>
                      <a:prstDash val="solid"/>
                      <a:round/>
                      <a:headEnd type="none" w="med" len="med"/>
                      <a:tailEnd type="none" w="med" len="med"/>
                    </a:lnL>
                    <a:lnR cmpd="sng" algn="ctr" cap="flat" w="9525">
                      <a:solidFill>
                        <a:srgbClr val="F5FFF9"/>
                      </a:solidFill>
                      <a:prstDash val="solid"/>
                      <a:round/>
                      <a:headEnd type="none" w="med" len="med"/>
                      <a:tailEnd type="none" w="med" len="med"/>
                    </a:lnR>
                    <a:lnT cmpd="sng" algn="ctr" cap="flat" w="9525">
                      <a:solidFill>
                        <a:srgbClr val="F5FFF9"/>
                      </a:solidFill>
                      <a:prstDash val="solid"/>
                      <a:round/>
                      <a:headEnd type="none" w="med" len="med"/>
                      <a:tailEnd type="none" w="med" len="med"/>
                    </a:lnT>
                    <a:lnB cmpd="sng" algn="ctr" cap="flat" w="9525">
                      <a:solidFill>
                        <a:srgbClr val="F5FFF9"/>
                      </a:solidFill>
                      <a:prstDash val="solid"/>
                      <a:round/>
                      <a:headEnd type="none" w="med" len="med"/>
                      <a:tailEnd type="none" w="med" len="med"/>
                    </a:lnB>
                    <a:solidFill>
                      <a:srgbClr val="8AB79C"/>
                    </a:solidFill>
                  </a:tcPr>
                </a:tc>
                <a:tc>
                  <a:txBody>
                    <a:bodyPr anchor="t" rtlCol="false"/>
                    <a:lstStyle/>
                    <a:p>
                      <a:pPr algn="ctr">
                        <a:lnSpc>
                          <a:spcPts val="2796"/>
                        </a:lnSpc>
                        <a:defRPr/>
                      </a:pPr>
                      <a:r>
                        <a:rPr lang="en-US" b="true" sz="1997">
                          <a:solidFill>
                            <a:srgbClr val="F5FFF9"/>
                          </a:solidFill>
                          <a:latin typeface="Manifold Bold"/>
                          <a:ea typeface="Manifold Bold"/>
                          <a:cs typeface="Manifold Bold"/>
                          <a:sym typeface="Manifold Bold"/>
                        </a:rPr>
                        <a:t>✓</a:t>
                      </a:r>
                      <a:endParaRPr lang="en-US" sz="1100"/>
                    </a:p>
                  </a:txBody>
                  <a:tcPr marL="114300" marR="114300" marT="114300" marB="114300" anchor="ctr">
                    <a:lnL cmpd="sng" algn="ctr" cap="flat" w="9525">
                      <a:solidFill>
                        <a:srgbClr val="F5FFF9"/>
                      </a:solidFill>
                      <a:prstDash val="solid"/>
                      <a:round/>
                      <a:headEnd type="none" w="med" len="med"/>
                      <a:tailEnd type="none" w="med" len="med"/>
                    </a:lnL>
                    <a:lnR cmpd="sng" algn="ctr" cap="flat" w="9525">
                      <a:solidFill>
                        <a:srgbClr val="F5FFF9"/>
                      </a:solidFill>
                      <a:prstDash val="solid"/>
                      <a:round/>
                      <a:headEnd type="none" w="med" len="med"/>
                      <a:tailEnd type="none" w="med" len="med"/>
                    </a:lnR>
                    <a:lnT cmpd="sng" algn="ctr" cap="flat" w="9525">
                      <a:solidFill>
                        <a:srgbClr val="F5FFF9"/>
                      </a:solidFill>
                      <a:prstDash val="solid"/>
                      <a:round/>
                      <a:headEnd type="none" w="med" len="med"/>
                      <a:tailEnd type="none" w="med" len="med"/>
                    </a:lnT>
                    <a:lnB cmpd="sng" algn="ctr" cap="flat" w="9525">
                      <a:solidFill>
                        <a:srgbClr val="F5FFF9"/>
                      </a:solidFill>
                      <a:prstDash val="solid"/>
                      <a:round/>
                      <a:headEnd type="none" w="med" len="med"/>
                      <a:tailEnd type="none" w="med" len="med"/>
                    </a:lnB>
                    <a:solidFill>
                      <a:srgbClr val="23764B"/>
                    </a:solidFill>
                  </a:tcPr>
                </a:tc>
              </a:tr>
              <a:tr h="639223">
                <a:tc>
                  <a:txBody>
                    <a:bodyPr anchor="t" rtlCol="false"/>
                    <a:lstStyle/>
                    <a:p>
                      <a:pPr algn="ctr">
                        <a:lnSpc>
                          <a:spcPts val="2796"/>
                        </a:lnSpc>
                        <a:defRPr/>
                      </a:pPr>
                      <a:r>
                        <a:rPr lang="en-US" sz="1997">
                          <a:solidFill>
                            <a:srgbClr val="F5FFF9"/>
                          </a:solidFill>
                          <a:latin typeface="Manifold"/>
                          <a:ea typeface="Manifold"/>
                          <a:cs typeface="Manifold"/>
                          <a:sym typeface="Manifold"/>
                        </a:rPr>
                        <a:t>Comprehensive reporting</a:t>
                      </a:r>
                      <a:endParaRPr lang="en-US" sz="1100"/>
                    </a:p>
                  </a:txBody>
                  <a:tcPr marL="114300" marR="114300" marT="114300" marB="114300" anchor="ctr">
                    <a:lnL cmpd="sng" algn="ctr" cap="flat" w="9525">
                      <a:solidFill>
                        <a:srgbClr val="F5FFF9"/>
                      </a:solidFill>
                      <a:prstDash val="solid"/>
                      <a:round/>
                      <a:headEnd type="none" w="med" len="med"/>
                      <a:tailEnd type="none" w="med" len="med"/>
                    </a:lnL>
                    <a:lnR cmpd="sng" algn="ctr" cap="flat" w="9525">
                      <a:solidFill>
                        <a:srgbClr val="F5FFF9"/>
                      </a:solidFill>
                      <a:prstDash val="solid"/>
                      <a:round/>
                      <a:headEnd type="none" w="med" len="med"/>
                      <a:tailEnd type="none" w="med" len="med"/>
                    </a:lnR>
                    <a:lnT cmpd="sng" algn="ctr" cap="flat" w="9525">
                      <a:solidFill>
                        <a:srgbClr val="F5FFF9"/>
                      </a:solidFill>
                      <a:prstDash val="solid"/>
                      <a:round/>
                      <a:headEnd type="none" w="med" len="med"/>
                      <a:tailEnd type="none" w="med" len="med"/>
                    </a:lnT>
                    <a:lnB cmpd="sng" algn="ctr" cap="flat" w="9525">
                      <a:solidFill>
                        <a:srgbClr val="F5FFF9"/>
                      </a:solidFill>
                      <a:prstDash val="solid"/>
                      <a:round/>
                      <a:headEnd type="none" w="med" len="med"/>
                      <a:tailEnd type="none" w="med" len="med"/>
                    </a:lnB>
                    <a:solidFill>
                      <a:srgbClr val="8AB79C"/>
                    </a:solidFill>
                  </a:tcPr>
                </a:tc>
                <a:tc>
                  <a:txBody>
                    <a:bodyPr anchor="t" rtlCol="false"/>
                    <a:lstStyle/>
                    <a:p>
                      <a:pPr algn="ctr">
                        <a:lnSpc>
                          <a:spcPts val="2796"/>
                        </a:lnSpc>
                        <a:defRPr/>
                      </a:pPr>
                      <a:r>
                        <a:rPr lang="en-US" sz="1997">
                          <a:solidFill>
                            <a:srgbClr val="F5FFF9"/>
                          </a:solidFill>
                          <a:latin typeface="Manifold"/>
                          <a:ea typeface="Manifold"/>
                          <a:cs typeface="Manifold"/>
                          <a:sym typeface="Manifold"/>
                        </a:rPr>
                        <a:t>✗</a:t>
                      </a:r>
                      <a:endParaRPr lang="en-US" sz="1100"/>
                    </a:p>
                  </a:txBody>
                  <a:tcPr marL="114300" marR="114300" marT="114300" marB="114300" anchor="ctr">
                    <a:lnL cmpd="sng" algn="ctr" cap="flat" w="9525">
                      <a:solidFill>
                        <a:srgbClr val="F5FFF9"/>
                      </a:solidFill>
                      <a:prstDash val="solid"/>
                      <a:round/>
                      <a:headEnd type="none" w="med" len="med"/>
                      <a:tailEnd type="none" w="med" len="med"/>
                    </a:lnL>
                    <a:lnR cmpd="sng" algn="ctr" cap="flat" w="9525">
                      <a:solidFill>
                        <a:srgbClr val="F5FFF9"/>
                      </a:solidFill>
                      <a:prstDash val="solid"/>
                      <a:round/>
                      <a:headEnd type="none" w="med" len="med"/>
                      <a:tailEnd type="none" w="med" len="med"/>
                    </a:lnR>
                    <a:lnT cmpd="sng" algn="ctr" cap="flat" w="9525">
                      <a:solidFill>
                        <a:srgbClr val="F5FFF9"/>
                      </a:solidFill>
                      <a:prstDash val="solid"/>
                      <a:round/>
                      <a:headEnd type="none" w="med" len="med"/>
                      <a:tailEnd type="none" w="med" len="med"/>
                    </a:lnT>
                    <a:lnB cmpd="sng" algn="ctr" cap="flat" w="9525">
                      <a:solidFill>
                        <a:srgbClr val="F5FFF9"/>
                      </a:solidFill>
                      <a:prstDash val="solid"/>
                      <a:round/>
                      <a:headEnd type="none" w="med" len="med"/>
                      <a:tailEnd type="none" w="med" len="med"/>
                    </a:lnB>
                    <a:solidFill>
                      <a:srgbClr val="8AB79C"/>
                    </a:solidFill>
                  </a:tcPr>
                </a:tc>
                <a:tc>
                  <a:txBody>
                    <a:bodyPr anchor="t" rtlCol="false"/>
                    <a:lstStyle/>
                    <a:p>
                      <a:pPr algn="ctr">
                        <a:lnSpc>
                          <a:spcPts val="2796"/>
                        </a:lnSpc>
                        <a:defRPr/>
                      </a:pPr>
                      <a:r>
                        <a:rPr lang="en-US" sz="1997">
                          <a:solidFill>
                            <a:srgbClr val="F5FFF9"/>
                          </a:solidFill>
                          <a:latin typeface="Manifold"/>
                          <a:ea typeface="Manifold"/>
                          <a:cs typeface="Manifold"/>
                          <a:sym typeface="Manifold"/>
                        </a:rPr>
                        <a:t>✗</a:t>
                      </a:r>
                      <a:endParaRPr lang="en-US" sz="1100"/>
                    </a:p>
                  </a:txBody>
                  <a:tcPr marL="114300" marR="114300" marT="114300" marB="114300" anchor="ctr">
                    <a:lnL cmpd="sng" algn="ctr" cap="flat" w="9525">
                      <a:solidFill>
                        <a:srgbClr val="F5FFF9"/>
                      </a:solidFill>
                      <a:prstDash val="solid"/>
                      <a:round/>
                      <a:headEnd type="none" w="med" len="med"/>
                      <a:tailEnd type="none" w="med" len="med"/>
                    </a:lnL>
                    <a:lnR cmpd="sng" algn="ctr" cap="flat" w="9525">
                      <a:solidFill>
                        <a:srgbClr val="F5FFF9"/>
                      </a:solidFill>
                      <a:prstDash val="solid"/>
                      <a:round/>
                      <a:headEnd type="none" w="med" len="med"/>
                      <a:tailEnd type="none" w="med" len="med"/>
                    </a:lnR>
                    <a:lnT cmpd="sng" algn="ctr" cap="flat" w="9525">
                      <a:solidFill>
                        <a:srgbClr val="F5FFF9"/>
                      </a:solidFill>
                      <a:prstDash val="solid"/>
                      <a:round/>
                      <a:headEnd type="none" w="med" len="med"/>
                      <a:tailEnd type="none" w="med" len="med"/>
                    </a:lnT>
                    <a:lnB cmpd="sng" algn="ctr" cap="flat" w="9525">
                      <a:solidFill>
                        <a:srgbClr val="F5FFF9"/>
                      </a:solidFill>
                      <a:prstDash val="solid"/>
                      <a:round/>
                      <a:headEnd type="none" w="med" len="med"/>
                      <a:tailEnd type="none" w="med" len="med"/>
                    </a:lnB>
                    <a:solidFill>
                      <a:srgbClr val="8AB79C"/>
                    </a:solidFill>
                  </a:tcPr>
                </a:tc>
                <a:tc>
                  <a:txBody>
                    <a:bodyPr anchor="t" rtlCol="false"/>
                    <a:lstStyle/>
                    <a:p>
                      <a:pPr algn="ctr">
                        <a:lnSpc>
                          <a:spcPts val="2796"/>
                        </a:lnSpc>
                        <a:defRPr/>
                      </a:pPr>
                      <a:r>
                        <a:rPr lang="en-US" sz="1997">
                          <a:solidFill>
                            <a:srgbClr val="F5FFF9"/>
                          </a:solidFill>
                          <a:latin typeface="Manifold"/>
                          <a:ea typeface="Manifold"/>
                          <a:cs typeface="Manifold"/>
                          <a:sym typeface="Manifold"/>
                        </a:rPr>
                        <a:t>Partial</a:t>
                      </a:r>
                      <a:endParaRPr lang="en-US" sz="1100"/>
                    </a:p>
                  </a:txBody>
                  <a:tcPr marL="114300" marR="114300" marT="114300" marB="114300" anchor="ctr">
                    <a:lnL cmpd="sng" algn="ctr" cap="flat" w="9525">
                      <a:solidFill>
                        <a:srgbClr val="F5FFF9"/>
                      </a:solidFill>
                      <a:prstDash val="solid"/>
                      <a:round/>
                      <a:headEnd type="none" w="med" len="med"/>
                      <a:tailEnd type="none" w="med" len="med"/>
                    </a:lnL>
                    <a:lnR cmpd="sng" algn="ctr" cap="flat" w="9525">
                      <a:solidFill>
                        <a:srgbClr val="F5FFF9"/>
                      </a:solidFill>
                      <a:prstDash val="solid"/>
                      <a:round/>
                      <a:headEnd type="none" w="med" len="med"/>
                      <a:tailEnd type="none" w="med" len="med"/>
                    </a:lnR>
                    <a:lnT cmpd="sng" algn="ctr" cap="flat" w="9525">
                      <a:solidFill>
                        <a:srgbClr val="F5FFF9"/>
                      </a:solidFill>
                      <a:prstDash val="solid"/>
                      <a:round/>
                      <a:headEnd type="none" w="med" len="med"/>
                      <a:tailEnd type="none" w="med" len="med"/>
                    </a:lnT>
                    <a:lnB cmpd="sng" algn="ctr" cap="flat" w="9525">
                      <a:solidFill>
                        <a:srgbClr val="F5FFF9"/>
                      </a:solidFill>
                      <a:prstDash val="solid"/>
                      <a:round/>
                      <a:headEnd type="none" w="med" len="med"/>
                      <a:tailEnd type="none" w="med" len="med"/>
                    </a:lnB>
                    <a:solidFill>
                      <a:srgbClr val="8AB79C"/>
                    </a:solidFill>
                  </a:tcPr>
                </a:tc>
                <a:tc>
                  <a:txBody>
                    <a:bodyPr anchor="t" rtlCol="false"/>
                    <a:lstStyle/>
                    <a:p>
                      <a:pPr algn="ctr">
                        <a:lnSpc>
                          <a:spcPts val="2796"/>
                        </a:lnSpc>
                        <a:defRPr/>
                      </a:pPr>
                      <a:r>
                        <a:rPr lang="en-US" sz="1997">
                          <a:solidFill>
                            <a:srgbClr val="F5FFF9"/>
                          </a:solidFill>
                          <a:latin typeface="Manifold"/>
                          <a:ea typeface="Manifold"/>
                          <a:cs typeface="Manifold"/>
                          <a:sym typeface="Manifold"/>
                        </a:rPr>
                        <a:t>✗</a:t>
                      </a:r>
                      <a:endParaRPr lang="en-US" sz="1100"/>
                    </a:p>
                  </a:txBody>
                  <a:tcPr marL="114300" marR="114300" marT="114300" marB="114300" anchor="ctr">
                    <a:lnL cmpd="sng" algn="ctr" cap="flat" w="9525">
                      <a:solidFill>
                        <a:srgbClr val="F5FFF9"/>
                      </a:solidFill>
                      <a:prstDash val="solid"/>
                      <a:round/>
                      <a:headEnd type="none" w="med" len="med"/>
                      <a:tailEnd type="none" w="med" len="med"/>
                    </a:lnL>
                    <a:lnR cmpd="sng" algn="ctr" cap="flat" w="9525">
                      <a:solidFill>
                        <a:srgbClr val="F5FFF9"/>
                      </a:solidFill>
                      <a:prstDash val="solid"/>
                      <a:round/>
                      <a:headEnd type="none" w="med" len="med"/>
                      <a:tailEnd type="none" w="med" len="med"/>
                    </a:lnR>
                    <a:lnT cmpd="sng" algn="ctr" cap="flat" w="9525">
                      <a:solidFill>
                        <a:srgbClr val="F5FFF9"/>
                      </a:solidFill>
                      <a:prstDash val="solid"/>
                      <a:round/>
                      <a:headEnd type="none" w="med" len="med"/>
                      <a:tailEnd type="none" w="med" len="med"/>
                    </a:lnT>
                    <a:lnB cmpd="sng" algn="ctr" cap="flat" w="9525">
                      <a:solidFill>
                        <a:srgbClr val="F5FFF9"/>
                      </a:solidFill>
                      <a:prstDash val="solid"/>
                      <a:round/>
                      <a:headEnd type="none" w="med" len="med"/>
                      <a:tailEnd type="none" w="med" len="med"/>
                    </a:lnB>
                    <a:solidFill>
                      <a:srgbClr val="8AB79C"/>
                    </a:solidFill>
                  </a:tcPr>
                </a:tc>
                <a:tc>
                  <a:txBody>
                    <a:bodyPr anchor="t" rtlCol="false"/>
                    <a:lstStyle/>
                    <a:p>
                      <a:pPr algn="ctr">
                        <a:lnSpc>
                          <a:spcPts val="2796"/>
                        </a:lnSpc>
                        <a:defRPr/>
                      </a:pPr>
                      <a:r>
                        <a:rPr lang="en-US" b="true" sz="1997">
                          <a:solidFill>
                            <a:srgbClr val="F5FFF9"/>
                          </a:solidFill>
                          <a:latin typeface="Manifold Bold"/>
                          <a:ea typeface="Manifold Bold"/>
                          <a:cs typeface="Manifold Bold"/>
                          <a:sym typeface="Manifold Bold"/>
                        </a:rPr>
                        <a:t>✓</a:t>
                      </a:r>
                      <a:endParaRPr lang="en-US" sz="1100"/>
                    </a:p>
                  </a:txBody>
                  <a:tcPr marL="114300" marR="114300" marT="114300" marB="114300" anchor="ctr">
                    <a:lnL cmpd="sng" algn="ctr" cap="flat" w="9525">
                      <a:solidFill>
                        <a:srgbClr val="F5FFF9"/>
                      </a:solidFill>
                      <a:prstDash val="solid"/>
                      <a:round/>
                      <a:headEnd type="none" w="med" len="med"/>
                      <a:tailEnd type="none" w="med" len="med"/>
                    </a:lnL>
                    <a:lnR cmpd="sng" algn="ctr" cap="flat" w="9525">
                      <a:solidFill>
                        <a:srgbClr val="F5FFF9"/>
                      </a:solidFill>
                      <a:prstDash val="solid"/>
                      <a:round/>
                      <a:headEnd type="none" w="med" len="med"/>
                      <a:tailEnd type="none" w="med" len="med"/>
                    </a:lnR>
                    <a:lnT cmpd="sng" algn="ctr" cap="flat" w="9525">
                      <a:solidFill>
                        <a:srgbClr val="F5FFF9"/>
                      </a:solidFill>
                      <a:prstDash val="solid"/>
                      <a:round/>
                      <a:headEnd type="none" w="med" len="med"/>
                      <a:tailEnd type="none" w="med" len="med"/>
                    </a:lnT>
                    <a:lnB cmpd="sng" algn="ctr" cap="flat" w="9525">
                      <a:solidFill>
                        <a:srgbClr val="F5FFF9"/>
                      </a:solidFill>
                      <a:prstDash val="solid"/>
                      <a:round/>
                      <a:headEnd type="none" w="med" len="med"/>
                      <a:tailEnd type="none" w="med" len="med"/>
                    </a:lnB>
                    <a:solidFill>
                      <a:srgbClr val="23764B"/>
                    </a:solidFill>
                  </a:tcPr>
                </a:tc>
              </a:tr>
              <a:tr h="639223">
                <a:tc>
                  <a:txBody>
                    <a:bodyPr anchor="t" rtlCol="false"/>
                    <a:lstStyle/>
                    <a:p>
                      <a:pPr algn="ctr">
                        <a:lnSpc>
                          <a:spcPts val="2796"/>
                        </a:lnSpc>
                        <a:defRPr/>
                      </a:pPr>
                      <a:r>
                        <a:rPr lang="en-US" sz="1997">
                          <a:solidFill>
                            <a:srgbClr val="F5FFF9"/>
                          </a:solidFill>
                          <a:latin typeface="Manifold"/>
                          <a:ea typeface="Manifold"/>
                          <a:cs typeface="Manifold"/>
                          <a:sym typeface="Manifold"/>
                        </a:rPr>
                        <a:t>Access</a:t>
                      </a:r>
                      <a:endParaRPr lang="en-US" sz="1100"/>
                    </a:p>
                  </a:txBody>
                  <a:tcPr marL="114300" marR="114300" marT="114300" marB="114300" anchor="ctr">
                    <a:lnL cmpd="sng" algn="ctr" cap="flat" w="9525">
                      <a:solidFill>
                        <a:srgbClr val="F5FFF9"/>
                      </a:solidFill>
                      <a:prstDash val="solid"/>
                      <a:round/>
                      <a:headEnd type="none" w="med" len="med"/>
                      <a:tailEnd type="none" w="med" len="med"/>
                    </a:lnL>
                    <a:lnR cmpd="sng" algn="ctr" cap="flat" w="9525">
                      <a:solidFill>
                        <a:srgbClr val="F5FFF9"/>
                      </a:solidFill>
                      <a:prstDash val="solid"/>
                      <a:round/>
                      <a:headEnd type="none" w="med" len="med"/>
                      <a:tailEnd type="none" w="med" len="med"/>
                    </a:lnR>
                    <a:lnT cmpd="sng" algn="ctr" cap="flat" w="9525">
                      <a:solidFill>
                        <a:srgbClr val="F5FFF9"/>
                      </a:solidFill>
                      <a:prstDash val="solid"/>
                      <a:round/>
                      <a:headEnd type="none" w="med" len="med"/>
                      <a:tailEnd type="none" w="med" len="med"/>
                    </a:lnT>
                    <a:lnB cmpd="sng" algn="ctr" cap="flat" w="9525">
                      <a:solidFill>
                        <a:srgbClr val="F5FFF9"/>
                      </a:solidFill>
                      <a:prstDash val="solid"/>
                      <a:round/>
                      <a:headEnd type="none" w="med" len="med"/>
                      <a:tailEnd type="none" w="med" len="med"/>
                    </a:lnB>
                    <a:solidFill>
                      <a:srgbClr val="8AB79C"/>
                    </a:solidFill>
                  </a:tcPr>
                </a:tc>
                <a:tc>
                  <a:txBody>
                    <a:bodyPr anchor="t" rtlCol="false"/>
                    <a:lstStyle/>
                    <a:p>
                      <a:pPr algn="ctr">
                        <a:lnSpc>
                          <a:spcPts val="2796"/>
                        </a:lnSpc>
                        <a:defRPr/>
                      </a:pPr>
                      <a:r>
                        <a:rPr lang="en-US" sz="1997">
                          <a:solidFill>
                            <a:srgbClr val="F5FFF9"/>
                          </a:solidFill>
                          <a:latin typeface="Manifold"/>
                          <a:ea typeface="Manifold"/>
                          <a:cs typeface="Manifold"/>
                          <a:sym typeface="Manifold"/>
                        </a:rPr>
                        <a:t>Free</a:t>
                      </a:r>
                      <a:endParaRPr lang="en-US" sz="1100"/>
                    </a:p>
                  </a:txBody>
                  <a:tcPr marL="114300" marR="114300" marT="114300" marB="114300" anchor="ctr">
                    <a:lnL cmpd="sng" algn="ctr" cap="flat" w="9525">
                      <a:solidFill>
                        <a:srgbClr val="F5FFF9"/>
                      </a:solidFill>
                      <a:prstDash val="solid"/>
                      <a:round/>
                      <a:headEnd type="none" w="med" len="med"/>
                      <a:tailEnd type="none" w="med" len="med"/>
                    </a:lnL>
                    <a:lnR cmpd="sng" algn="ctr" cap="flat" w="9525">
                      <a:solidFill>
                        <a:srgbClr val="F5FFF9"/>
                      </a:solidFill>
                      <a:prstDash val="solid"/>
                      <a:round/>
                      <a:headEnd type="none" w="med" len="med"/>
                      <a:tailEnd type="none" w="med" len="med"/>
                    </a:lnR>
                    <a:lnT cmpd="sng" algn="ctr" cap="flat" w="9525">
                      <a:solidFill>
                        <a:srgbClr val="F5FFF9"/>
                      </a:solidFill>
                      <a:prstDash val="solid"/>
                      <a:round/>
                      <a:headEnd type="none" w="med" len="med"/>
                      <a:tailEnd type="none" w="med" len="med"/>
                    </a:lnT>
                    <a:lnB cmpd="sng" algn="ctr" cap="flat" w="9525">
                      <a:solidFill>
                        <a:srgbClr val="F5FFF9"/>
                      </a:solidFill>
                      <a:prstDash val="solid"/>
                      <a:round/>
                      <a:headEnd type="none" w="med" len="med"/>
                      <a:tailEnd type="none" w="med" len="med"/>
                    </a:lnB>
                    <a:solidFill>
                      <a:srgbClr val="8AB79C"/>
                    </a:solidFill>
                  </a:tcPr>
                </a:tc>
                <a:tc>
                  <a:txBody>
                    <a:bodyPr anchor="t" rtlCol="false"/>
                    <a:lstStyle/>
                    <a:p>
                      <a:pPr algn="ctr">
                        <a:lnSpc>
                          <a:spcPts val="2796"/>
                        </a:lnSpc>
                        <a:defRPr/>
                      </a:pPr>
                      <a:r>
                        <a:rPr lang="en-US" sz="1997">
                          <a:solidFill>
                            <a:srgbClr val="F5FFF9"/>
                          </a:solidFill>
                          <a:latin typeface="Manifold"/>
                          <a:ea typeface="Manifold"/>
                          <a:cs typeface="Manifold"/>
                          <a:sym typeface="Manifold"/>
                        </a:rPr>
                        <a:t>Free</a:t>
                      </a:r>
                      <a:endParaRPr lang="en-US" sz="1100"/>
                    </a:p>
                  </a:txBody>
                  <a:tcPr marL="114300" marR="114300" marT="114300" marB="114300" anchor="ctr">
                    <a:lnL cmpd="sng" algn="ctr" cap="flat" w="9525">
                      <a:solidFill>
                        <a:srgbClr val="F5FFF9"/>
                      </a:solidFill>
                      <a:prstDash val="solid"/>
                      <a:round/>
                      <a:headEnd type="none" w="med" len="med"/>
                      <a:tailEnd type="none" w="med" len="med"/>
                    </a:lnL>
                    <a:lnR cmpd="sng" algn="ctr" cap="flat" w="9525">
                      <a:solidFill>
                        <a:srgbClr val="F5FFF9"/>
                      </a:solidFill>
                      <a:prstDash val="solid"/>
                      <a:round/>
                      <a:headEnd type="none" w="med" len="med"/>
                      <a:tailEnd type="none" w="med" len="med"/>
                    </a:lnR>
                    <a:lnT cmpd="sng" algn="ctr" cap="flat" w="9525">
                      <a:solidFill>
                        <a:srgbClr val="F5FFF9"/>
                      </a:solidFill>
                      <a:prstDash val="solid"/>
                      <a:round/>
                      <a:headEnd type="none" w="med" len="med"/>
                      <a:tailEnd type="none" w="med" len="med"/>
                    </a:lnT>
                    <a:lnB cmpd="sng" algn="ctr" cap="flat" w="9525">
                      <a:solidFill>
                        <a:srgbClr val="F5FFF9"/>
                      </a:solidFill>
                      <a:prstDash val="solid"/>
                      <a:round/>
                      <a:headEnd type="none" w="med" len="med"/>
                      <a:tailEnd type="none" w="med" len="med"/>
                    </a:lnB>
                    <a:solidFill>
                      <a:srgbClr val="8AB79C"/>
                    </a:solidFill>
                  </a:tcPr>
                </a:tc>
                <a:tc>
                  <a:txBody>
                    <a:bodyPr anchor="t" rtlCol="false"/>
                    <a:lstStyle/>
                    <a:p>
                      <a:pPr algn="ctr">
                        <a:lnSpc>
                          <a:spcPts val="2796"/>
                        </a:lnSpc>
                        <a:defRPr/>
                      </a:pPr>
                      <a:r>
                        <a:rPr lang="en-US" sz="1997">
                          <a:solidFill>
                            <a:srgbClr val="F5FFF9"/>
                          </a:solidFill>
                          <a:latin typeface="Manifold"/>
                          <a:ea typeface="Manifold"/>
                          <a:cs typeface="Manifold"/>
                          <a:sym typeface="Manifold"/>
                        </a:rPr>
                        <a:t>Limited</a:t>
                      </a:r>
                      <a:endParaRPr lang="en-US" sz="1100"/>
                    </a:p>
                  </a:txBody>
                  <a:tcPr marL="114300" marR="114300" marT="114300" marB="114300" anchor="ctr">
                    <a:lnL cmpd="sng" algn="ctr" cap="flat" w="9525">
                      <a:solidFill>
                        <a:srgbClr val="F5FFF9"/>
                      </a:solidFill>
                      <a:prstDash val="solid"/>
                      <a:round/>
                      <a:headEnd type="none" w="med" len="med"/>
                      <a:tailEnd type="none" w="med" len="med"/>
                    </a:lnL>
                    <a:lnR cmpd="sng" algn="ctr" cap="flat" w="9525">
                      <a:solidFill>
                        <a:srgbClr val="F5FFF9"/>
                      </a:solidFill>
                      <a:prstDash val="solid"/>
                      <a:round/>
                      <a:headEnd type="none" w="med" len="med"/>
                      <a:tailEnd type="none" w="med" len="med"/>
                    </a:lnR>
                    <a:lnT cmpd="sng" algn="ctr" cap="flat" w="9525">
                      <a:solidFill>
                        <a:srgbClr val="F5FFF9"/>
                      </a:solidFill>
                      <a:prstDash val="solid"/>
                      <a:round/>
                      <a:headEnd type="none" w="med" len="med"/>
                      <a:tailEnd type="none" w="med" len="med"/>
                    </a:lnT>
                    <a:lnB cmpd="sng" algn="ctr" cap="flat" w="9525">
                      <a:solidFill>
                        <a:srgbClr val="F5FFF9"/>
                      </a:solidFill>
                      <a:prstDash val="solid"/>
                      <a:round/>
                      <a:headEnd type="none" w="med" len="med"/>
                      <a:tailEnd type="none" w="med" len="med"/>
                    </a:lnB>
                    <a:solidFill>
                      <a:srgbClr val="8AB79C"/>
                    </a:solidFill>
                  </a:tcPr>
                </a:tc>
                <a:tc>
                  <a:txBody>
                    <a:bodyPr anchor="t" rtlCol="false"/>
                    <a:lstStyle/>
                    <a:p>
                      <a:pPr algn="ctr">
                        <a:lnSpc>
                          <a:spcPts val="2796"/>
                        </a:lnSpc>
                        <a:defRPr/>
                      </a:pPr>
                      <a:r>
                        <a:rPr lang="en-US" sz="1997">
                          <a:solidFill>
                            <a:srgbClr val="F5FFF9"/>
                          </a:solidFill>
                          <a:latin typeface="Manifold"/>
                          <a:ea typeface="Manifold"/>
                          <a:cs typeface="Manifold"/>
                          <a:sym typeface="Manifold"/>
                        </a:rPr>
                        <a:t>Free</a:t>
                      </a:r>
                      <a:endParaRPr lang="en-US" sz="1100"/>
                    </a:p>
                  </a:txBody>
                  <a:tcPr marL="114300" marR="114300" marT="114300" marB="114300" anchor="ctr">
                    <a:lnL cmpd="sng" algn="ctr" cap="flat" w="9525">
                      <a:solidFill>
                        <a:srgbClr val="F5FFF9"/>
                      </a:solidFill>
                      <a:prstDash val="solid"/>
                      <a:round/>
                      <a:headEnd type="none" w="med" len="med"/>
                      <a:tailEnd type="none" w="med" len="med"/>
                    </a:lnL>
                    <a:lnR cmpd="sng" algn="ctr" cap="flat" w="9525">
                      <a:solidFill>
                        <a:srgbClr val="F5FFF9"/>
                      </a:solidFill>
                      <a:prstDash val="solid"/>
                      <a:round/>
                      <a:headEnd type="none" w="med" len="med"/>
                      <a:tailEnd type="none" w="med" len="med"/>
                    </a:lnR>
                    <a:lnT cmpd="sng" algn="ctr" cap="flat" w="9525">
                      <a:solidFill>
                        <a:srgbClr val="F5FFF9"/>
                      </a:solidFill>
                      <a:prstDash val="solid"/>
                      <a:round/>
                      <a:headEnd type="none" w="med" len="med"/>
                      <a:tailEnd type="none" w="med" len="med"/>
                    </a:lnT>
                    <a:lnB cmpd="sng" algn="ctr" cap="flat" w="9525">
                      <a:solidFill>
                        <a:srgbClr val="F5FFF9"/>
                      </a:solidFill>
                      <a:prstDash val="solid"/>
                      <a:round/>
                      <a:headEnd type="none" w="med" len="med"/>
                      <a:tailEnd type="none" w="med" len="med"/>
                    </a:lnB>
                    <a:solidFill>
                      <a:srgbClr val="8AB79C"/>
                    </a:solidFill>
                  </a:tcPr>
                </a:tc>
                <a:tc>
                  <a:txBody>
                    <a:bodyPr anchor="t" rtlCol="false"/>
                    <a:lstStyle/>
                    <a:p>
                      <a:pPr algn="ctr">
                        <a:lnSpc>
                          <a:spcPts val="2796"/>
                        </a:lnSpc>
                        <a:defRPr/>
                      </a:pPr>
                      <a:r>
                        <a:rPr lang="en-US" b="true" sz="1997">
                          <a:solidFill>
                            <a:srgbClr val="F5FFF9"/>
                          </a:solidFill>
                          <a:latin typeface="Manifold Bold"/>
                          <a:ea typeface="Manifold Bold"/>
                          <a:cs typeface="Manifold Bold"/>
                          <a:sym typeface="Manifold Bold"/>
                        </a:rPr>
                        <a:t>Self-hosted</a:t>
                      </a:r>
                      <a:endParaRPr lang="en-US" sz="1100"/>
                    </a:p>
                  </a:txBody>
                  <a:tcPr marL="114300" marR="114300" marT="114300" marB="114300" anchor="ctr">
                    <a:lnL cmpd="sng" algn="ctr" cap="flat" w="9525">
                      <a:solidFill>
                        <a:srgbClr val="F5FFF9"/>
                      </a:solidFill>
                      <a:prstDash val="solid"/>
                      <a:round/>
                      <a:headEnd type="none" w="med" len="med"/>
                      <a:tailEnd type="none" w="med" len="med"/>
                    </a:lnL>
                    <a:lnR cmpd="sng" algn="ctr" cap="flat" w="9525">
                      <a:solidFill>
                        <a:srgbClr val="F5FFF9"/>
                      </a:solidFill>
                      <a:prstDash val="solid"/>
                      <a:round/>
                      <a:headEnd type="none" w="med" len="med"/>
                      <a:tailEnd type="none" w="med" len="med"/>
                    </a:lnR>
                    <a:lnT cmpd="sng" algn="ctr" cap="flat" w="9525">
                      <a:solidFill>
                        <a:srgbClr val="F5FFF9"/>
                      </a:solidFill>
                      <a:prstDash val="solid"/>
                      <a:round/>
                      <a:headEnd type="none" w="med" len="med"/>
                      <a:tailEnd type="none" w="med" len="med"/>
                    </a:lnT>
                    <a:lnB cmpd="sng" algn="ctr" cap="flat" w="9525">
                      <a:solidFill>
                        <a:srgbClr val="F5FFF9"/>
                      </a:solidFill>
                      <a:prstDash val="solid"/>
                      <a:round/>
                      <a:headEnd type="none" w="med" len="med"/>
                      <a:tailEnd type="none" w="med" len="med"/>
                    </a:lnB>
                    <a:solidFill>
                      <a:srgbClr val="23764B"/>
                    </a:solidFill>
                  </a:tcPr>
                </a:tc>
              </a:tr>
            </a:tbl>
          </a:graphicData>
        </a:graphic>
      </p:graphicFrame>
      <p:grpSp>
        <p:nvGrpSpPr>
          <p:cNvPr name="Group 10" id="10"/>
          <p:cNvGrpSpPr/>
          <p:nvPr/>
        </p:nvGrpSpPr>
        <p:grpSpPr>
          <a:xfrm rot="0">
            <a:off x="1575938" y="8378486"/>
            <a:ext cx="3086100" cy="594064"/>
            <a:chOff x="0" y="0"/>
            <a:chExt cx="4114800" cy="792085"/>
          </a:xfrm>
        </p:grpSpPr>
        <p:grpSp>
          <p:nvGrpSpPr>
            <p:cNvPr name="Group 11" id="11"/>
            <p:cNvGrpSpPr/>
            <p:nvPr/>
          </p:nvGrpSpPr>
          <p:grpSpPr>
            <a:xfrm rot="0">
              <a:off x="0" y="0"/>
              <a:ext cx="4114800" cy="792085"/>
              <a:chOff x="0" y="0"/>
              <a:chExt cx="812800" cy="156461"/>
            </a:xfrm>
          </p:grpSpPr>
          <p:sp>
            <p:nvSpPr>
              <p:cNvPr name="Freeform 12" id="12"/>
              <p:cNvSpPr/>
              <p:nvPr/>
            </p:nvSpPr>
            <p:spPr>
              <a:xfrm flipH="false" flipV="false" rot="0">
                <a:off x="0" y="0"/>
                <a:ext cx="812800" cy="156461"/>
              </a:xfrm>
              <a:custGeom>
                <a:avLst/>
                <a:gdLst/>
                <a:ahLst/>
                <a:cxnLst/>
                <a:rect r="r" b="b" t="t" l="l"/>
                <a:pathLst>
                  <a:path h="156461" w="812800">
                    <a:moveTo>
                      <a:pt x="78231" y="0"/>
                    </a:moveTo>
                    <a:lnTo>
                      <a:pt x="734569" y="0"/>
                    </a:lnTo>
                    <a:cubicBezTo>
                      <a:pt x="755317" y="0"/>
                      <a:pt x="775216" y="8242"/>
                      <a:pt x="789887" y="22913"/>
                    </a:cubicBezTo>
                    <a:cubicBezTo>
                      <a:pt x="804558" y="37584"/>
                      <a:pt x="812800" y="57483"/>
                      <a:pt x="812800" y="78231"/>
                    </a:cubicBezTo>
                    <a:lnTo>
                      <a:pt x="812800" y="78231"/>
                    </a:lnTo>
                    <a:cubicBezTo>
                      <a:pt x="812800" y="121436"/>
                      <a:pt x="777775" y="156461"/>
                      <a:pt x="734569" y="156461"/>
                    </a:cubicBezTo>
                    <a:lnTo>
                      <a:pt x="78231" y="156461"/>
                    </a:lnTo>
                    <a:cubicBezTo>
                      <a:pt x="57483" y="156461"/>
                      <a:pt x="37584" y="148219"/>
                      <a:pt x="22913" y="133548"/>
                    </a:cubicBezTo>
                    <a:cubicBezTo>
                      <a:pt x="8242" y="118877"/>
                      <a:pt x="0" y="98979"/>
                      <a:pt x="0" y="78231"/>
                    </a:cubicBezTo>
                    <a:lnTo>
                      <a:pt x="0" y="78231"/>
                    </a:lnTo>
                    <a:cubicBezTo>
                      <a:pt x="0" y="57483"/>
                      <a:pt x="8242" y="37584"/>
                      <a:pt x="22913" y="22913"/>
                    </a:cubicBezTo>
                    <a:cubicBezTo>
                      <a:pt x="37584" y="8242"/>
                      <a:pt x="57483" y="0"/>
                      <a:pt x="78231" y="0"/>
                    </a:cubicBezTo>
                    <a:close/>
                  </a:path>
                </a:pathLst>
              </a:custGeom>
              <a:solidFill>
                <a:srgbClr val="457C5B"/>
              </a:solidFill>
            </p:spPr>
          </p:sp>
          <p:sp>
            <p:nvSpPr>
              <p:cNvPr name="TextBox 13" id="13"/>
              <p:cNvSpPr txBox="true"/>
              <p:nvPr/>
            </p:nvSpPr>
            <p:spPr>
              <a:xfrm>
                <a:off x="0" y="-47625"/>
                <a:ext cx="812800" cy="204086"/>
              </a:xfrm>
              <a:prstGeom prst="rect">
                <a:avLst/>
              </a:prstGeom>
            </p:spPr>
            <p:txBody>
              <a:bodyPr anchor="ctr" rtlCol="false" tIns="50800" lIns="50800" bIns="50800" rIns="50800"/>
              <a:lstStyle/>
              <a:p>
                <a:pPr algn="ctr">
                  <a:lnSpc>
                    <a:spcPts val="2936"/>
                  </a:lnSpc>
                </a:pPr>
              </a:p>
            </p:txBody>
          </p:sp>
        </p:grpSp>
        <p:sp>
          <p:nvSpPr>
            <p:cNvPr name="TextBox 14" id="14"/>
            <p:cNvSpPr txBox="true"/>
            <p:nvPr/>
          </p:nvSpPr>
          <p:spPr>
            <a:xfrm rot="0">
              <a:off x="590252" y="136281"/>
              <a:ext cx="2934295" cy="471898"/>
            </a:xfrm>
            <a:prstGeom prst="rect">
              <a:avLst/>
            </a:prstGeom>
          </p:spPr>
          <p:txBody>
            <a:bodyPr anchor="t" rtlCol="false" tIns="0" lIns="0" bIns="0" rIns="0">
              <a:spAutoFit/>
            </a:bodyPr>
            <a:lstStyle/>
            <a:p>
              <a:pPr algn="ctr">
                <a:lnSpc>
                  <a:spcPts val="2936"/>
                </a:lnSpc>
                <a:spcBef>
                  <a:spcPct val="0"/>
                </a:spcBef>
              </a:pPr>
              <a:r>
                <a:rPr lang="en-US" b="true" sz="2097">
                  <a:solidFill>
                    <a:srgbClr val="F5FFF9"/>
                  </a:solidFill>
                  <a:latin typeface="Manifold Bold"/>
                  <a:ea typeface="Manifold Bold"/>
                  <a:cs typeface="Manifold Bold"/>
                  <a:sym typeface="Manifold Bold"/>
                </a:rPr>
                <a:t>Key Gaps Identified</a:t>
              </a:r>
            </a:p>
          </p:txBody>
        </p:sp>
      </p:grpSp>
      <p:sp>
        <p:nvSpPr>
          <p:cNvPr name="AutoShape 15" id="15"/>
          <p:cNvSpPr/>
          <p:nvPr/>
        </p:nvSpPr>
        <p:spPr>
          <a:xfrm>
            <a:off x="4809448" y="8694568"/>
            <a:ext cx="346340" cy="0"/>
          </a:xfrm>
          <a:prstGeom prst="line">
            <a:avLst/>
          </a:prstGeom>
          <a:ln cap="flat" w="38100">
            <a:solidFill>
              <a:srgbClr val="1E4926"/>
            </a:solidFill>
            <a:prstDash val="solid"/>
            <a:headEnd type="none" len="sm" w="sm"/>
            <a:tailEnd type="triangle" len="med" w="lg"/>
          </a:ln>
        </p:spPr>
      </p:sp>
      <p:sp>
        <p:nvSpPr>
          <p:cNvPr name="TextBox 16" id="16"/>
          <p:cNvSpPr txBox="true"/>
          <p:nvPr/>
        </p:nvSpPr>
        <p:spPr>
          <a:xfrm rot="0">
            <a:off x="5496646" y="544382"/>
            <a:ext cx="7294709" cy="946150"/>
          </a:xfrm>
          <a:prstGeom prst="rect">
            <a:avLst/>
          </a:prstGeom>
        </p:spPr>
        <p:txBody>
          <a:bodyPr anchor="t" rtlCol="false" tIns="0" lIns="0" bIns="0" rIns="0">
            <a:spAutoFit/>
          </a:bodyPr>
          <a:lstStyle/>
          <a:p>
            <a:pPr algn="ctr">
              <a:lnSpc>
                <a:spcPts val="7699"/>
              </a:lnSpc>
            </a:pPr>
            <a:r>
              <a:rPr lang="en-US" b="true" sz="5499">
                <a:solidFill>
                  <a:srgbClr val="457C5B"/>
                </a:solidFill>
                <a:latin typeface="Manifold Ultra-Bold"/>
                <a:ea typeface="Manifold Ultra-Bold"/>
                <a:cs typeface="Manifold Ultra-Bold"/>
                <a:sym typeface="Manifold Ultra-Bold"/>
              </a:rPr>
              <a:t>GAP ANALYSIS</a:t>
            </a:r>
          </a:p>
        </p:txBody>
      </p:sp>
      <p:grpSp>
        <p:nvGrpSpPr>
          <p:cNvPr name="Group 17" id="17"/>
          <p:cNvGrpSpPr/>
          <p:nvPr/>
        </p:nvGrpSpPr>
        <p:grpSpPr>
          <a:xfrm rot="0">
            <a:off x="5298663" y="7915439"/>
            <a:ext cx="2648310" cy="1654863"/>
            <a:chOff x="0" y="0"/>
            <a:chExt cx="3531080" cy="2206484"/>
          </a:xfrm>
        </p:grpSpPr>
        <p:grpSp>
          <p:nvGrpSpPr>
            <p:cNvPr name="Group 18" id="18"/>
            <p:cNvGrpSpPr/>
            <p:nvPr/>
          </p:nvGrpSpPr>
          <p:grpSpPr>
            <a:xfrm rot="0">
              <a:off x="0" y="0"/>
              <a:ext cx="3531080" cy="2206484"/>
              <a:chOff x="0" y="0"/>
              <a:chExt cx="697497" cy="435849"/>
            </a:xfrm>
          </p:grpSpPr>
          <p:sp>
            <p:nvSpPr>
              <p:cNvPr name="Freeform 19" id="19"/>
              <p:cNvSpPr/>
              <p:nvPr/>
            </p:nvSpPr>
            <p:spPr>
              <a:xfrm flipH="false" flipV="false" rot="0">
                <a:off x="0" y="0"/>
                <a:ext cx="697497" cy="435849"/>
              </a:xfrm>
              <a:custGeom>
                <a:avLst/>
                <a:gdLst/>
                <a:ahLst/>
                <a:cxnLst/>
                <a:rect r="r" b="b" t="t" l="l"/>
                <a:pathLst>
                  <a:path h="435849" w="697497">
                    <a:moveTo>
                      <a:pt x="149091" y="0"/>
                    </a:moveTo>
                    <a:lnTo>
                      <a:pt x="548407" y="0"/>
                    </a:lnTo>
                    <a:cubicBezTo>
                      <a:pt x="587948" y="0"/>
                      <a:pt x="625870" y="15708"/>
                      <a:pt x="653830" y="43668"/>
                    </a:cubicBezTo>
                    <a:cubicBezTo>
                      <a:pt x="681790" y="71628"/>
                      <a:pt x="697497" y="109549"/>
                      <a:pt x="697497" y="149091"/>
                    </a:cubicBezTo>
                    <a:lnTo>
                      <a:pt x="697497" y="286758"/>
                    </a:lnTo>
                    <a:cubicBezTo>
                      <a:pt x="697497" y="326299"/>
                      <a:pt x="681790" y="364221"/>
                      <a:pt x="653830" y="392181"/>
                    </a:cubicBezTo>
                    <a:cubicBezTo>
                      <a:pt x="625870" y="420141"/>
                      <a:pt x="587948" y="435849"/>
                      <a:pt x="548407" y="435849"/>
                    </a:cubicBezTo>
                    <a:lnTo>
                      <a:pt x="149091" y="435849"/>
                    </a:lnTo>
                    <a:cubicBezTo>
                      <a:pt x="109549" y="435849"/>
                      <a:pt x="71628" y="420141"/>
                      <a:pt x="43668" y="392181"/>
                    </a:cubicBezTo>
                    <a:cubicBezTo>
                      <a:pt x="15708" y="364221"/>
                      <a:pt x="0" y="326299"/>
                      <a:pt x="0" y="286758"/>
                    </a:cubicBezTo>
                    <a:lnTo>
                      <a:pt x="0" y="149091"/>
                    </a:lnTo>
                    <a:cubicBezTo>
                      <a:pt x="0" y="109549"/>
                      <a:pt x="15708" y="71628"/>
                      <a:pt x="43668" y="43668"/>
                    </a:cubicBezTo>
                    <a:cubicBezTo>
                      <a:pt x="71628" y="15708"/>
                      <a:pt x="109549" y="0"/>
                      <a:pt x="149091" y="0"/>
                    </a:cubicBezTo>
                    <a:close/>
                  </a:path>
                </a:pathLst>
              </a:custGeom>
              <a:solidFill>
                <a:srgbClr val="457C5B"/>
              </a:solidFill>
            </p:spPr>
          </p:sp>
          <p:sp>
            <p:nvSpPr>
              <p:cNvPr name="TextBox 20" id="20"/>
              <p:cNvSpPr txBox="true"/>
              <p:nvPr/>
            </p:nvSpPr>
            <p:spPr>
              <a:xfrm>
                <a:off x="0" y="-47625"/>
                <a:ext cx="697497" cy="483474"/>
              </a:xfrm>
              <a:prstGeom prst="rect">
                <a:avLst/>
              </a:prstGeom>
            </p:spPr>
            <p:txBody>
              <a:bodyPr anchor="ctr" rtlCol="false" tIns="50800" lIns="50800" bIns="50800" rIns="50800"/>
              <a:lstStyle/>
              <a:p>
                <a:pPr algn="ctr">
                  <a:lnSpc>
                    <a:spcPts val="2936"/>
                  </a:lnSpc>
                </a:pPr>
              </a:p>
            </p:txBody>
          </p:sp>
        </p:grpSp>
        <p:sp>
          <p:nvSpPr>
            <p:cNvPr name="TextBox 21" id="21"/>
            <p:cNvSpPr txBox="true"/>
            <p:nvPr/>
          </p:nvSpPr>
          <p:spPr>
            <a:xfrm rot="0">
              <a:off x="69076" y="100530"/>
              <a:ext cx="3462004" cy="1957798"/>
            </a:xfrm>
            <a:prstGeom prst="rect">
              <a:avLst/>
            </a:prstGeom>
          </p:spPr>
          <p:txBody>
            <a:bodyPr anchor="t" rtlCol="false" tIns="0" lIns="0" bIns="0" rIns="0">
              <a:spAutoFit/>
            </a:bodyPr>
            <a:lstStyle/>
            <a:p>
              <a:pPr algn="ctr">
                <a:lnSpc>
                  <a:spcPts val="2936"/>
                </a:lnSpc>
                <a:spcBef>
                  <a:spcPct val="0"/>
                </a:spcBef>
              </a:pPr>
              <a:r>
                <a:rPr lang="en-US" b="true" sz="2097">
                  <a:solidFill>
                    <a:srgbClr val="F5FFF9"/>
                  </a:solidFill>
                  <a:latin typeface="Manifold Bold"/>
                  <a:ea typeface="Manifold Bold"/>
                  <a:cs typeface="Manifold Bold"/>
                  <a:sym typeface="Manifold Bold"/>
                </a:rPr>
                <a:t>No automated Evaluation of optimized prompts to actual prompts</a:t>
              </a:r>
            </a:p>
          </p:txBody>
        </p:sp>
      </p:grpSp>
      <p:grpSp>
        <p:nvGrpSpPr>
          <p:cNvPr name="Group 22" id="22"/>
          <p:cNvGrpSpPr/>
          <p:nvPr/>
        </p:nvGrpSpPr>
        <p:grpSpPr>
          <a:xfrm rot="0">
            <a:off x="8089847" y="7915439"/>
            <a:ext cx="2648310" cy="1654863"/>
            <a:chOff x="0" y="0"/>
            <a:chExt cx="3531080" cy="2206484"/>
          </a:xfrm>
        </p:grpSpPr>
        <p:grpSp>
          <p:nvGrpSpPr>
            <p:cNvPr name="Group 23" id="23"/>
            <p:cNvGrpSpPr/>
            <p:nvPr/>
          </p:nvGrpSpPr>
          <p:grpSpPr>
            <a:xfrm rot="0">
              <a:off x="0" y="0"/>
              <a:ext cx="3531080" cy="2206484"/>
              <a:chOff x="0" y="0"/>
              <a:chExt cx="697497" cy="435849"/>
            </a:xfrm>
          </p:grpSpPr>
          <p:sp>
            <p:nvSpPr>
              <p:cNvPr name="Freeform 24" id="24"/>
              <p:cNvSpPr/>
              <p:nvPr/>
            </p:nvSpPr>
            <p:spPr>
              <a:xfrm flipH="false" flipV="false" rot="0">
                <a:off x="0" y="0"/>
                <a:ext cx="697497" cy="435849"/>
              </a:xfrm>
              <a:custGeom>
                <a:avLst/>
                <a:gdLst/>
                <a:ahLst/>
                <a:cxnLst/>
                <a:rect r="r" b="b" t="t" l="l"/>
                <a:pathLst>
                  <a:path h="435849" w="697497">
                    <a:moveTo>
                      <a:pt x="149091" y="0"/>
                    </a:moveTo>
                    <a:lnTo>
                      <a:pt x="548407" y="0"/>
                    </a:lnTo>
                    <a:cubicBezTo>
                      <a:pt x="587948" y="0"/>
                      <a:pt x="625870" y="15708"/>
                      <a:pt x="653830" y="43668"/>
                    </a:cubicBezTo>
                    <a:cubicBezTo>
                      <a:pt x="681790" y="71628"/>
                      <a:pt x="697497" y="109549"/>
                      <a:pt x="697497" y="149091"/>
                    </a:cubicBezTo>
                    <a:lnTo>
                      <a:pt x="697497" y="286758"/>
                    </a:lnTo>
                    <a:cubicBezTo>
                      <a:pt x="697497" y="326299"/>
                      <a:pt x="681790" y="364221"/>
                      <a:pt x="653830" y="392181"/>
                    </a:cubicBezTo>
                    <a:cubicBezTo>
                      <a:pt x="625870" y="420141"/>
                      <a:pt x="587948" y="435849"/>
                      <a:pt x="548407" y="435849"/>
                    </a:cubicBezTo>
                    <a:lnTo>
                      <a:pt x="149091" y="435849"/>
                    </a:lnTo>
                    <a:cubicBezTo>
                      <a:pt x="109549" y="435849"/>
                      <a:pt x="71628" y="420141"/>
                      <a:pt x="43668" y="392181"/>
                    </a:cubicBezTo>
                    <a:cubicBezTo>
                      <a:pt x="15708" y="364221"/>
                      <a:pt x="0" y="326299"/>
                      <a:pt x="0" y="286758"/>
                    </a:cubicBezTo>
                    <a:lnTo>
                      <a:pt x="0" y="149091"/>
                    </a:lnTo>
                    <a:cubicBezTo>
                      <a:pt x="0" y="109549"/>
                      <a:pt x="15708" y="71628"/>
                      <a:pt x="43668" y="43668"/>
                    </a:cubicBezTo>
                    <a:cubicBezTo>
                      <a:pt x="71628" y="15708"/>
                      <a:pt x="109549" y="0"/>
                      <a:pt x="149091" y="0"/>
                    </a:cubicBezTo>
                    <a:close/>
                  </a:path>
                </a:pathLst>
              </a:custGeom>
              <a:solidFill>
                <a:srgbClr val="457C5B"/>
              </a:solidFill>
            </p:spPr>
          </p:sp>
          <p:sp>
            <p:nvSpPr>
              <p:cNvPr name="TextBox 25" id="25"/>
              <p:cNvSpPr txBox="true"/>
              <p:nvPr/>
            </p:nvSpPr>
            <p:spPr>
              <a:xfrm>
                <a:off x="0" y="-47625"/>
                <a:ext cx="697497" cy="483474"/>
              </a:xfrm>
              <a:prstGeom prst="rect">
                <a:avLst/>
              </a:prstGeom>
            </p:spPr>
            <p:txBody>
              <a:bodyPr anchor="ctr" rtlCol="false" tIns="50800" lIns="50800" bIns="50800" rIns="50800"/>
              <a:lstStyle/>
              <a:p>
                <a:pPr algn="ctr">
                  <a:lnSpc>
                    <a:spcPts val="2936"/>
                  </a:lnSpc>
                </a:pPr>
              </a:p>
            </p:txBody>
          </p:sp>
        </p:grpSp>
        <p:sp>
          <p:nvSpPr>
            <p:cNvPr name="TextBox 26" id="26"/>
            <p:cNvSpPr txBox="true"/>
            <p:nvPr/>
          </p:nvSpPr>
          <p:spPr>
            <a:xfrm rot="0">
              <a:off x="69076" y="100530"/>
              <a:ext cx="3462004" cy="1957798"/>
            </a:xfrm>
            <a:prstGeom prst="rect">
              <a:avLst/>
            </a:prstGeom>
          </p:spPr>
          <p:txBody>
            <a:bodyPr anchor="t" rtlCol="false" tIns="0" lIns="0" bIns="0" rIns="0">
              <a:spAutoFit/>
            </a:bodyPr>
            <a:lstStyle/>
            <a:p>
              <a:pPr algn="ctr">
                <a:lnSpc>
                  <a:spcPts val="2936"/>
                </a:lnSpc>
                <a:spcBef>
                  <a:spcPct val="0"/>
                </a:spcBef>
              </a:pPr>
              <a:r>
                <a:rPr lang="en-US" b="true" sz="2097">
                  <a:solidFill>
                    <a:srgbClr val="F5FFF9"/>
                  </a:solidFill>
                  <a:latin typeface="Manifold Bold"/>
                  <a:ea typeface="Manifold Bold"/>
                  <a:cs typeface="Manifold Bold"/>
                  <a:sym typeface="Manifold Bold"/>
                </a:rPr>
                <a:t>Limited or unclear handling of constraints and requirements</a:t>
              </a:r>
            </a:p>
          </p:txBody>
        </p:sp>
      </p:grpSp>
      <p:grpSp>
        <p:nvGrpSpPr>
          <p:cNvPr name="Group 27" id="27"/>
          <p:cNvGrpSpPr/>
          <p:nvPr/>
        </p:nvGrpSpPr>
        <p:grpSpPr>
          <a:xfrm rot="0">
            <a:off x="10881032" y="7915439"/>
            <a:ext cx="2648310" cy="1654863"/>
            <a:chOff x="0" y="0"/>
            <a:chExt cx="3531080" cy="2206484"/>
          </a:xfrm>
        </p:grpSpPr>
        <p:grpSp>
          <p:nvGrpSpPr>
            <p:cNvPr name="Group 28" id="28"/>
            <p:cNvGrpSpPr/>
            <p:nvPr/>
          </p:nvGrpSpPr>
          <p:grpSpPr>
            <a:xfrm rot="0">
              <a:off x="0" y="0"/>
              <a:ext cx="3531080" cy="2206484"/>
              <a:chOff x="0" y="0"/>
              <a:chExt cx="697497" cy="435849"/>
            </a:xfrm>
          </p:grpSpPr>
          <p:sp>
            <p:nvSpPr>
              <p:cNvPr name="Freeform 29" id="29"/>
              <p:cNvSpPr/>
              <p:nvPr/>
            </p:nvSpPr>
            <p:spPr>
              <a:xfrm flipH="false" flipV="false" rot="0">
                <a:off x="0" y="0"/>
                <a:ext cx="697497" cy="435849"/>
              </a:xfrm>
              <a:custGeom>
                <a:avLst/>
                <a:gdLst/>
                <a:ahLst/>
                <a:cxnLst/>
                <a:rect r="r" b="b" t="t" l="l"/>
                <a:pathLst>
                  <a:path h="435849" w="697497">
                    <a:moveTo>
                      <a:pt x="149091" y="0"/>
                    </a:moveTo>
                    <a:lnTo>
                      <a:pt x="548407" y="0"/>
                    </a:lnTo>
                    <a:cubicBezTo>
                      <a:pt x="587948" y="0"/>
                      <a:pt x="625870" y="15708"/>
                      <a:pt x="653830" y="43668"/>
                    </a:cubicBezTo>
                    <a:cubicBezTo>
                      <a:pt x="681790" y="71628"/>
                      <a:pt x="697497" y="109549"/>
                      <a:pt x="697497" y="149091"/>
                    </a:cubicBezTo>
                    <a:lnTo>
                      <a:pt x="697497" y="286758"/>
                    </a:lnTo>
                    <a:cubicBezTo>
                      <a:pt x="697497" y="326299"/>
                      <a:pt x="681790" y="364221"/>
                      <a:pt x="653830" y="392181"/>
                    </a:cubicBezTo>
                    <a:cubicBezTo>
                      <a:pt x="625870" y="420141"/>
                      <a:pt x="587948" y="435849"/>
                      <a:pt x="548407" y="435849"/>
                    </a:cubicBezTo>
                    <a:lnTo>
                      <a:pt x="149091" y="435849"/>
                    </a:lnTo>
                    <a:cubicBezTo>
                      <a:pt x="109549" y="435849"/>
                      <a:pt x="71628" y="420141"/>
                      <a:pt x="43668" y="392181"/>
                    </a:cubicBezTo>
                    <a:cubicBezTo>
                      <a:pt x="15708" y="364221"/>
                      <a:pt x="0" y="326299"/>
                      <a:pt x="0" y="286758"/>
                    </a:cubicBezTo>
                    <a:lnTo>
                      <a:pt x="0" y="149091"/>
                    </a:lnTo>
                    <a:cubicBezTo>
                      <a:pt x="0" y="109549"/>
                      <a:pt x="15708" y="71628"/>
                      <a:pt x="43668" y="43668"/>
                    </a:cubicBezTo>
                    <a:cubicBezTo>
                      <a:pt x="71628" y="15708"/>
                      <a:pt x="109549" y="0"/>
                      <a:pt x="149091" y="0"/>
                    </a:cubicBezTo>
                    <a:close/>
                  </a:path>
                </a:pathLst>
              </a:custGeom>
              <a:solidFill>
                <a:srgbClr val="457C5B"/>
              </a:solidFill>
            </p:spPr>
          </p:sp>
          <p:sp>
            <p:nvSpPr>
              <p:cNvPr name="TextBox 30" id="30"/>
              <p:cNvSpPr txBox="true"/>
              <p:nvPr/>
            </p:nvSpPr>
            <p:spPr>
              <a:xfrm>
                <a:off x="0" y="-47625"/>
                <a:ext cx="697497" cy="483474"/>
              </a:xfrm>
              <a:prstGeom prst="rect">
                <a:avLst/>
              </a:prstGeom>
            </p:spPr>
            <p:txBody>
              <a:bodyPr anchor="ctr" rtlCol="false" tIns="50800" lIns="50800" bIns="50800" rIns="50800"/>
              <a:lstStyle/>
              <a:p>
                <a:pPr algn="ctr">
                  <a:lnSpc>
                    <a:spcPts val="2936"/>
                  </a:lnSpc>
                </a:pPr>
              </a:p>
            </p:txBody>
          </p:sp>
        </p:grpSp>
        <p:sp>
          <p:nvSpPr>
            <p:cNvPr name="TextBox 31" id="31"/>
            <p:cNvSpPr txBox="true"/>
            <p:nvPr/>
          </p:nvSpPr>
          <p:spPr>
            <a:xfrm rot="0">
              <a:off x="69076" y="100530"/>
              <a:ext cx="3462004" cy="1957798"/>
            </a:xfrm>
            <a:prstGeom prst="rect">
              <a:avLst/>
            </a:prstGeom>
          </p:spPr>
          <p:txBody>
            <a:bodyPr anchor="t" rtlCol="false" tIns="0" lIns="0" bIns="0" rIns="0">
              <a:spAutoFit/>
            </a:bodyPr>
            <a:lstStyle/>
            <a:p>
              <a:pPr algn="ctr">
                <a:lnSpc>
                  <a:spcPts val="2936"/>
                </a:lnSpc>
                <a:spcBef>
                  <a:spcPct val="0"/>
                </a:spcBef>
              </a:pPr>
              <a:r>
                <a:rPr lang="en-US" b="true" sz="2097">
                  <a:solidFill>
                    <a:srgbClr val="F5FFF9"/>
                  </a:solidFill>
                  <a:latin typeface="Manifold Bold"/>
                  <a:ea typeface="Manifold Bold"/>
                  <a:cs typeface="Manifold Bold"/>
                  <a:sym typeface="Manifold Bold"/>
                </a:rPr>
                <a:t>No systematic measurement of token efficiency with quality trade-offs</a:t>
              </a:r>
            </a:p>
          </p:txBody>
        </p:sp>
      </p:grpSp>
      <p:grpSp>
        <p:nvGrpSpPr>
          <p:cNvPr name="Group 32" id="32"/>
          <p:cNvGrpSpPr/>
          <p:nvPr/>
        </p:nvGrpSpPr>
        <p:grpSpPr>
          <a:xfrm rot="0">
            <a:off x="13672217" y="7915439"/>
            <a:ext cx="3039845" cy="1654863"/>
            <a:chOff x="0" y="0"/>
            <a:chExt cx="4053127" cy="2206484"/>
          </a:xfrm>
        </p:grpSpPr>
        <p:grpSp>
          <p:nvGrpSpPr>
            <p:cNvPr name="Group 33" id="33"/>
            <p:cNvGrpSpPr/>
            <p:nvPr/>
          </p:nvGrpSpPr>
          <p:grpSpPr>
            <a:xfrm rot="0">
              <a:off x="0" y="0"/>
              <a:ext cx="4053127" cy="2206484"/>
              <a:chOff x="0" y="0"/>
              <a:chExt cx="800618" cy="435849"/>
            </a:xfrm>
          </p:grpSpPr>
          <p:sp>
            <p:nvSpPr>
              <p:cNvPr name="Freeform 34" id="34"/>
              <p:cNvSpPr/>
              <p:nvPr/>
            </p:nvSpPr>
            <p:spPr>
              <a:xfrm flipH="false" flipV="false" rot="0">
                <a:off x="0" y="0"/>
                <a:ext cx="800618" cy="435849"/>
              </a:xfrm>
              <a:custGeom>
                <a:avLst/>
                <a:gdLst/>
                <a:ahLst/>
                <a:cxnLst/>
                <a:rect r="r" b="b" t="t" l="l"/>
                <a:pathLst>
                  <a:path h="435849" w="800618">
                    <a:moveTo>
                      <a:pt x="129888" y="0"/>
                    </a:moveTo>
                    <a:lnTo>
                      <a:pt x="670730" y="0"/>
                    </a:lnTo>
                    <a:cubicBezTo>
                      <a:pt x="742465" y="0"/>
                      <a:pt x="800618" y="58153"/>
                      <a:pt x="800618" y="129888"/>
                    </a:cubicBezTo>
                    <a:lnTo>
                      <a:pt x="800618" y="305961"/>
                    </a:lnTo>
                    <a:cubicBezTo>
                      <a:pt x="800618" y="377696"/>
                      <a:pt x="742465" y="435849"/>
                      <a:pt x="670730" y="435849"/>
                    </a:cubicBezTo>
                    <a:lnTo>
                      <a:pt x="129888" y="435849"/>
                    </a:lnTo>
                    <a:cubicBezTo>
                      <a:pt x="58153" y="435849"/>
                      <a:pt x="0" y="377696"/>
                      <a:pt x="0" y="305961"/>
                    </a:cubicBezTo>
                    <a:lnTo>
                      <a:pt x="0" y="129888"/>
                    </a:lnTo>
                    <a:cubicBezTo>
                      <a:pt x="0" y="58153"/>
                      <a:pt x="58153" y="0"/>
                      <a:pt x="129888" y="0"/>
                    </a:cubicBezTo>
                    <a:close/>
                  </a:path>
                </a:pathLst>
              </a:custGeom>
              <a:solidFill>
                <a:srgbClr val="457C5B"/>
              </a:solidFill>
            </p:spPr>
          </p:sp>
          <p:sp>
            <p:nvSpPr>
              <p:cNvPr name="TextBox 35" id="35"/>
              <p:cNvSpPr txBox="true"/>
              <p:nvPr/>
            </p:nvSpPr>
            <p:spPr>
              <a:xfrm>
                <a:off x="0" y="-47625"/>
                <a:ext cx="800618" cy="483474"/>
              </a:xfrm>
              <a:prstGeom prst="rect">
                <a:avLst/>
              </a:prstGeom>
            </p:spPr>
            <p:txBody>
              <a:bodyPr anchor="ctr" rtlCol="false" tIns="50800" lIns="50800" bIns="50800" rIns="50800"/>
              <a:lstStyle/>
              <a:p>
                <a:pPr algn="ctr">
                  <a:lnSpc>
                    <a:spcPts val="2936"/>
                  </a:lnSpc>
                </a:pPr>
              </a:p>
            </p:txBody>
          </p:sp>
        </p:grpSp>
        <p:sp>
          <p:nvSpPr>
            <p:cNvPr name="TextBox 36" id="36"/>
            <p:cNvSpPr txBox="true"/>
            <p:nvPr/>
          </p:nvSpPr>
          <p:spPr>
            <a:xfrm rot="0">
              <a:off x="205758" y="100530"/>
              <a:ext cx="3641610" cy="1957798"/>
            </a:xfrm>
            <a:prstGeom prst="rect">
              <a:avLst/>
            </a:prstGeom>
          </p:spPr>
          <p:txBody>
            <a:bodyPr anchor="t" rtlCol="false" tIns="0" lIns="0" bIns="0" rIns="0">
              <a:spAutoFit/>
            </a:bodyPr>
            <a:lstStyle/>
            <a:p>
              <a:pPr algn="ctr">
                <a:lnSpc>
                  <a:spcPts val="2936"/>
                </a:lnSpc>
                <a:spcBef>
                  <a:spcPct val="0"/>
                </a:spcBef>
              </a:pPr>
              <a:r>
                <a:rPr lang="en-US" b="true" sz="2097">
                  <a:solidFill>
                    <a:srgbClr val="F5FFF9"/>
                  </a:solidFill>
                  <a:latin typeface="Manifold Bold"/>
                  <a:ea typeface="Manifold Bold"/>
                  <a:cs typeface="Manifold Bold"/>
                  <a:sym typeface="Manifold Bold"/>
                </a:rPr>
                <a:t>Absence of multi stage optimization pipeline combining rule based and Lora methods</a:t>
              </a:r>
            </a:p>
          </p:txBody>
        </p:sp>
      </p:gr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bg>
      <p:bgPr>
        <a:solidFill>
          <a:srgbClr val="F5FFF9"/>
        </a:solidFill>
      </p:bgPr>
    </p:bg>
    <p:spTree>
      <p:nvGrpSpPr>
        <p:cNvPr id="1" name=""/>
        <p:cNvGrpSpPr/>
        <p:nvPr/>
      </p:nvGrpSpPr>
      <p:grpSpPr>
        <a:xfrm>
          <a:off x="0" y="0"/>
          <a:ext cx="0" cy="0"/>
          <a:chOff x="0" y="0"/>
          <a:chExt cx="0" cy="0"/>
        </a:xfrm>
      </p:grpSpPr>
      <p:grpSp>
        <p:nvGrpSpPr>
          <p:cNvPr name="Group 2" id="2"/>
          <p:cNvGrpSpPr/>
          <p:nvPr/>
        </p:nvGrpSpPr>
        <p:grpSpPr>
          <a:xfrm rot="1065972">
            <a:off x="-1561962" y="-520880"/>
            <a:ext cx="11464130" cy="11464130"/>
            <a:chOff x="0" y="0"/>
            <a:chExt cx="812800" cy="812800"/>
          </a:xfrm>
        </p:grpSpPr>
        <p:sp>
          <p:nvSpPr>
            <p:cNvPr name="Freeform 3" id="3"/>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true">
              <a:gsLst>
                <a:gs pos="0">
                  <a:srgbClr val="9FC4AE">
                    <a:alpha val="66000"/>
                  </a:srgbClr>
                </a:gs>
                <a:gs pos="100000">
                  <a:srgbClr val="FFFFFF">
                    <a:alpha val="66000"/>
                  </a:srgbClr>
                </a:gs>
              </a:gsLst>
              <a:lin ang="0"/>
            </a:gradFill>
          </p:spPr>
        </p:sp>
        <p:sp>
          <p:nvSpPr>
            <p:cNvPr name="TextBox 4" id="4"/>
            <p:cNvSpPr txBox="true"/>
            <p:nvPr/>
          </p:nvSpPr>
          <p:spPr>
            <a:xfrm>
              <a:off x="76200" y="28575"/>
              <a:ext cx="660400" cy="708025"/>
            </a:xfrm>
            <a:prstGeom prst="rect">
              <a:avLst/>
            </a:prstGeom>
          </p:spPr>
          <p:txBody>
            <a:bodyPr anchor="ctr" rtlCol="false" tIns="50800" lIns="50800" bIns="50800" rIns="50800"/>
            <a:lstStyle/>
            <a:p>
              <a:pPr algn="ctr">
                <a:lnSpc>
                  <a:spcPts val="2936"/>
                </a:lnSpc>
              </a:pPr>
            </a:p>
          </p:txBody>
        </p:sp>
      </p:grpSp>
      <p:grpSp>
        <p:nvGrpSpPr>
          <p:cNvPr name="Group 5" id="5"/>
          <p:cNvGrpSpPr/>
          <p:nvPr/>
        </p:nvGrpSpPr>
        <p:grpSpPr>
          <a:xfrm rot="9405415">
            <a:off x="15708021" y="7901905"/>
            <a:ext cx="5159957" cy="5159957"/>
            <a:chOff x="0" y="0"/>
            <a:chExt cx="812800" cy="812800"/>
          </a:xfrm>
        </p:grpSpPr>
        <p:sp>
          <p:nvSpPr>
            <p:cNvPr name="Freeform 6" id="6"/>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true">
              <a:gsLst>
                <a:gs pos="0">
                  <a:srgbClr val="9FC4AE">
                    <a:alpha val="66000"/>
                  </a:srgbClr>
                </a:gs>
                <a:gs pos="100000">
                  <a:srgbClr val="FFFFFF">
                    <a:alpha val="66000"/>
                  </a:srgbClr>
                </a:gs>
              </a:gsLst>
              <a:lin ang="0"/>
            </a:gradFill>
          </p:spPr>
        </p:sp>
        <p:sp>
          <p:nvSpPr>
            <p:cNvPr name="TextBox 7" id="7"/>
            <p:cNvSpPr txBox="true"/>
            <p:nvPr/>
          </p:nvSpPr>
          <p:spPr>
            <a:xfrm>
              <a:off x="76200" y="28575"/>
              <a:ext cx="660400" cy="708025"/>
            </a:xfrm>
            <a:prstGeom prst="rect">
              <a:avLst/>
            </a:prstGeom>
          </p:spPr>
          <p:txBody>
            <a:bodyPr anchor="ctr" rtlCol="false" tIns="50800" lIns="50800" bIns="50800" rIns="50800"/>
            <a:lstStyle/>
            <a:p>
              <a:pPr algn="ctr">
                <a:lnSpc>
                  <a:spcPts val="2936"/>
                </a:lnSpc>
              </a:pPr>
            </a:p>
          </p:txBody>
        </p:sp>
      </p:grpSp>
      <p:sp>
        <p:nvSpPr>
          <p:cNvPr name="Freeform 8" id="8"/>
          <p:cNvSpPr/>
          <p:nvPr/>
        </p:nvSpPr>
        <p:spPr>
          <a:xfrm flipH="false" flipV="false" rot="0">
            <a:off x="185225" y="296308"/>
            <a:ext cx="1686949" cy="1283956"/>
          </a:xfrm>
          <a:custGeom>
            <a:avLst/>
            <a:gdLst/>
            <a:ahLst/>
            <a:cxnLst/>
            <a:rect r="r" b="b" t="t" l="l"/>
            <a:pathLst>
              <a:path h="1283956" w="1686949">
                <a:moveTo>
                  <a:pt x="0" y="0"/>
                </a:moveTo>
                <a:lnTo>
                  <a:pt x="1686950" y="0"/>
                </a:lnTo>
                <a:lnTo>
                  <a:pt x="1686950" y="1283956"/>
                </a:lnTo>
                <a:lnTo>
                  <a:pt x="0" y="1283956"/>
                </a:lnTo>
                <a:lnTo>
                  <a:pt x="0" y="0"/>
                </a:lnTo>
                <a:close/>
              </a:path>
            </a:pathLst>
          </a:custGeom>
          <a:blipFill>
            <a:blip r:embed="rId2"/>
            <a:stretch>
              <a:fillRect l="0" t="0" r="0" b="0"/>
            </a:stretch>
          </a:blipFill>
        </p:spPr>
      </p:sp>
      <p:sp>
        <p:nvSpPr>
          <p:cNvPr name="TextBox 9" id="9"/>
          <p:cNvSpPr txBox="true"/>
          <p:nvPr/>
        </p:nvSpPr>
        <p:spPr>
          <a:xfrm rot="0">
            <a:off x="2103120" y="566928"/>
            <a:ext cx="14081760" cy="946150"/>
          </a:xfrm>
          <a:prstGeom prst="rect">
            <a:avLst/>
          </a:prstGeom>
        </p:spPr>
        <p:txBody>
          <a:bodyPr anchor="t" rtlCol="false" tIns="0" lIns="0" bIns="0" rIns="0" wrap="square">
            <a:spAutoFit/>
          </a:bodyPr>
          <a:lstStyle/>
          <a:p>
            <a:pPr algn="ctr">
              <a:lnSpc>
                <a:spcPts val="7699"/>
              </a:lnSpc>
            </a:pPr>
            <a:r>
              <a:rPr lang="en-US" b="true" sz="5499">
                <a:solidFill>
                  <a:srgbClr val="457C5B"/>
                </a:solidFill>
                <a:latin typeface="Manifold Ultra-Bold"/>
                <a:ea typeface="Manifold Ultra-Bold"/>
                <a:cs typeface="Manifold Ultra-Bold"/>
                <a:sym typeface="Manifold Ultra-Bold"/>
              </a:rPr>
              <a:t>OUR GOAL</a:t>
            </a:r>
          </a:p>
        </p:txBody>
      </p:sp>
      <p:sp>
        <p:nvSpPr>
          <p:cNvPr id="10" name="Rounded Rectangle 9"/>
          <p:cNvSpPr/>
          <p:nvPr/>
        </p:nvSpPr>
        <p:spPr>
          <a:xfrm>
            <a:off x="914400" y="2103120"/>
            <a:ext cx="16459200" cy="1261872"/>
          </a:xfrm>
          <a:prstGeom prst="roundRect">
            <a:avLst>
              <a:gd name="adj" fmla="val 7000"/>
            </a:avLst>
          </a:prstGeom>
          <a:solidFill>
            <a:srgbClr val="FFFFFF"/>
          </a:solidFill>
          <a:ln w="19050">
            <a:solidFill>
              <a:srgbClr val="8AB79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1188720" y="2322576"/>
            <a:ext cx="822960" cy="822960"/>
          </a:xfrm>
          <a:prstGeom prst="ellipse">
            <a:avLst/>
          </a:prstGeom>
          <a:solidFill>
            <a:srgbClr val="457C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188720" y="2322576"/>
            <a:ext cx="822960" cy="822960"/>
          </a:xfrm>
          <a:prstGeom prst="rect">
            <a:avLst/>
          </a:prstGeom>
          <a:noFill/>
        </p:spPr>
        <p:txBody>
          <a:bodyPr wrap="square" anchor="ctr" lIns="0" rIns="0" tIns="0" bIns="0">
            <a:spAutoFit/>
          </a:bodyPr>
          <a:lstStyle/>
          <a:p>
            <a:pPr algn="ctr">
              <a:lnSpc>
                <a:spcPct val="110000"/>
              </a:lnSpc>
              <a:spcAft>
                <a:spcPts val="600"/>
              </a:spcAft>
            </a:pPr>
            <a:r>
              <a:rPr sz="2400" b="1">
                <a:solidFill>
                  <a:srgbClr val="F5FFF9"/>
                </a:solidFill>
                <a:latin typeface="Manifold Bold"/>
              </a:rPr>
              <a:t>1</a:t>
            </a:r>
          </a:p>
        </p:txBody>
      </p:sp>
      <p:sp>
        <p:nvSpPr>
          <p:cNvPr id="13" name="TextBox 12"/>
          <p:cNvSpPr txBox="1"/>
          <p:nvPr/>
        </p:nvSpPr>
        <p:spPr>
          <a:xfrm>
            <a:off x="2331720" y="2212848"/>
            <a:ext cx="14538960" cy="548640"/>
          </a:xfrm>
          <a:prstGeom prst="rect">
            <a:avLst/>
          </a:prstGeom>
          <a:noFill/>
        </p:spPr>
        <p:txBody>
          <a:bodyPr wrap="square" anchor="t" lIns="0" rIns="0" tIns="0" bIns="0">
            <a:spAutoFit/>
          </a:bodyPr>
          <a:lstStyle/>
          <a:p>
            <a:pPr algn="l">
              <a:lnSpc>
                <a:spcPct val="110000"/>
              </a:lnSpc>
              <a:spcAft>
                <a:spcPts val="600"/>
              </a:spcAft>
            </a:pPr>
            <a:r>
              <a:rPr sz="2300" b="1">
                <a:solidFill>
                  <a:srgbClr val="1E4926"/>
                </a:solidFill>
                <a:latin typeface="Manifold Bold"/>
              </a:rPr>
              <a:t>To find what a prompt is missing</a:t>
            </a:r>
          </a:p>
        </p:txBody>
      </p:sp>
      <p:sp>
        <p:nvSpPr>
          <p:cNvPr id="14" name="TextBox 13"/>
          <p:cNvSpPr txBox="1"/>
          <p:nvPr/>
        </p:nvSpPr>
        <p:spPr>
          <a:xfrm>
            <a:off x="2331720" y="2788920"/>
            <a:ext cx="14538960" cy="457200"/>
          </a:xfrm>
          <a:prstGeom prst="rect">
            <a:avLst/>
          </a:prstGeom>
          <a:noFill/>
        </p:spPr>
        <p:txBody>
          <a:bodyPr wrap="square" anchor="t" lIns="0" rIns="0" tIns="0" bIns="0">
            <a:spAutoFit/>
          </a:bodyPr>
          <a:lstStyle/>
          <a:p>
            <a:pPr algn="l">
              <a:lnSpc>
                <a:spcPct val="110000"/>
              </a:lnSpc>
              <a:spcAft>
                <a:spcPts val="600"/>
              </a:spcAft>
            </a:pPr>
            <a:r>
              <a:rPr sz="1800" b="0">
                <a:solidFill>
                  <a:srgbClr val="457C5B"/>
                </a:solidFill>
                <a:latin typeface="Lato"/>
              </a:rPr>
              <a:t>answer format, length, language, or which text “this” means</a:t>
            </a:r>
          </a:p>
        </p:txBody>
      </p:sp>
      <p:sp>
        <p:nvSpPr>
          <p:cNvPr id="15" name="Rounded Rectangle 14"/>
          <p:cNvSpPr/>
          <p:nvPr/>
        </p:nvSpPr>
        <p:spPr>
          <a:xfrm>
            <a:off x="914400" y="3566160"/>
            <a:ext cx="16459200" cy="1261872"/>
          </a:xfrm>
          <a:prstGeom prst="roundRect">
            <a:avLst>
              <a:gd name="adj" fmla="val 7000"/>
            </a:avLst>
          </a:prstGeom>
          <a:solidFill>
            <a:srgbClr val="E4F2EA"/>
          </a:solidFill>
          <a:ln w="19050">
            <a:solidFill>
              <a:srgbClr val="8AB79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1188720" y="3785615"/>
            <a:ext cx="822960" cy="822960"/>
          </a:xfrm>
          <a:prstGeom prst="ellipse">
            <a:avLst/>
          </a:prstGeom>
          <a:solidFill>
            <a:srgbClr val="457C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188720" y="3785615"/>
            <a:ext cx="822960" cy="822960"/>
          </a:xfrm>
          <a:prstGeom prst="rect">
            <a:avLst/>
          </a:prstGeom>
          <a:noFill/>
        </p:spPr>
        <p:txBody>
          <a:bodyPr wrap="square" anchor="ctr" lIns="0" rIns="0" tIns="0" bIns="0">
            <a:spAutoFit/>
          </a:bodyPr>
          <a:lstStyle/>
          <a:p>
            <a:pPr algn="ctr">
              <a:lnSpc>
                <a:spcPct val="110000"/>
              </a:lnSpc>
              <a:spcAft>
                <a:spcPts val="600"/>
              </a:spcAft>
            </a:pPr>
            <a:r>
              <a:rPr sz="2400" b="1">
                <a:solidFill>
                  <a:srgbClr val="F5FFF9"/>
                </a:solidFill>
                <a:latin typeface="Manifold Bold"/>
              </a:rPr>
              <a:t>2</a:t>
            </a:r>
          </a:p>
        </p:txBody>
      </p:sp>
      <p:sp>
        <p:nvSpPr>
          <p:cNvPr id="18" name="TextBox 17"/>
          <p:cNvSpPr txBox="1"/>
          <p:nvPr/>
        </p:nvSpPr>
        <p:spPr>
          <a:xfrm>
            <a:off x="2331720" y="3675887"/>
            <a:ext cx="14538960" cy="548640"/>
          </a:xfrm>
          <a:prstGeom prst="rect">
            <a:avLst/>
          </a:prstGeom>
          <a:noFill/>
        </p:spPr>
        <p:txBody>
          <a:bodyPr wrap="square" anchor="t" lIns="0" rIns="0" tIns="0" bIns="0">
            <a:spAutoFit/>
          </a:bodyPr>
          <a:lstStyle/>
          <a:p>
            <a:pPr algn="l">
              <a:lnSpc>
                <a:spcPct val="110000"/>
              </a:lnSpc>
              <a:spcAft>
                <a:spcPts val="600"/>
              </a:spcAft>
            </a:pPr>
            <a:r>
              <a:rPr sz="2300" b="1">
                <a:solidFill>
                  <a:srgbClr val="1E4926"/>
                </a:solidFill>
                <a:latin typeface="Manifold Bold"/>
              </a:rPr>
              <a:t>To fix it with simple rules</a:t>
            </a:r>
          </a:p>
        </p:txBody>
      </p:sp>
      <p:sp>
        <p:nvSpPr>
          <p:cNvPr id="19" name="TextBox 18"/>
          <p:cNvSpPr txBox="1"/>
          <p:nvPr/>
        </p:nvSpPr>
        <p:spPr>
          <a:xfrm>
            <a:off x="2331720" y="4251960"/>
            <a:ext cx="14538960" cy="457200"/>
          </a:xfrm>
          <a:prstGeom prst="rect">
            <a:avLst/>
          </a:prstGeom>
          <a:noFill/>
        </p:spPr>
        <p:txBody>
          <a:bodyPr wrap="square" anchor="t" lIns="0" rIns="0" tIns="0" bIns="0">
            <a:spAutoFit/>
          </a:bodyPr>
          <a:lstStyle/>
          <a:p>
            <a:pPr algn="l">
              <a:lnSpc>
                <a:spcPct val="110000"/>
              </a:lnSpc>
              <a:spcAft>
                <a:spcPts val="600"/>
              </a:spcAft>
            </a:pPr>
            <a:r>
              <a:rPr sz="1800" b="0">
                <a:solidFill>
                  <a:srgbClr val="457C5B"/>
                </a:solidFill>
                <a:latin typeface="Lato"/>
              </a:rPr>
              <a:t>and show every change, before and after</a:t>
            </a:r>
          </a:p>
        </p:txBody>
      </p:sp>
      <p:sp>
        <p:nvSpPr>
          <p:cNvPr id="20" name="Rounded Rectangle 19"/>
          <p:cNvSpPr/>
          <p:nvPr/>
        </p:nvSpPr>
        <p:spPr>
          <a:xfrm>
            <a:off x="914400" y="5029200"/>
            <a:ext cx="16459200" cy="1261872"/>
          </a:xfrm>
          <a:prstGeom prst="roundRect">
            <a:avLst>
              <a:gd name="adj" fmla="val 7000"/>
            </a:avLst>
          </a:prstGeom>
          <a:solidFill>
            <a:srgbClr val="FFFFFF"/>
          </a:solidFill>
          <a:ln w="19050">
            <a:solidFill>
              <a:srgbClr val="8AB79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1188720" y="5248656"/>
            <a:ext cx="822960" cy="822960"/>
          </a:xfrm>
          <a:prstGeom prst="ellipse">
            <a:avLst/>
          </a:prstGeom>
          <a:solidFill>
            <a:srgbClr val="457C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1188720" y="5248656"/>
            <a:ext cx="822960" cy="822960"/>
          </a:xfrm>
          <a:prstGeom prst="rect">
            <a:avLst/>
          </a:prstGeom>
          <a:noFill/>
        </p:spPr>
        <p:txBody>
          <a:bodyPr wrap="square" anchor="ctr" lIns="0" rIns="0" tIns="0" bIns="0">
            <a:spAutoFit/>
          </a:bodyPr>
          <a:lstStyle/>
          <a:p>
            <a:pPr algn="ctr">
              <a:lnSpc>
                <a:spcPct val="110000"/>
              </a:lnSpc>
              <a:spcAft>
                <a:spcPts val="600"/>
              </a:spcAft>
            </a:pPr>
            <a:r>
              <a:rPr sz="2400" b="1">
                <a:solidFill>
                  <a:srgbClr val="F5FFF9"/>
                </a:solidFill>
                <a:latin typeface="Manifold Bold"/>
              </a:rPr>
              <a:t>3</a:t>
            </a:r>
          </a:p>
        </p:txBody>
      </p:sp>
      <p:sp>
        <p:nvSpPr>
          <p:cNvPr id="23" name="TextBox 22"/>
          <p:cNvSpPr txBox="1"/>
          <p:nvPr/>
        </p:nvSpPr>
        <p:spPr>
          <a:xfrm>
            <a:off x="2331720" y="5138928"/>
            <a:ext cx="14538960" cy="548640"/>
          </a:xfrm>
          <a:prstGeom prst="rect">
            <a:avLst/>
          </a:prstGeom>
          <a:noFill/>
        </p:spPr>
        <p:txBody>
          <a:bodyPr wrap="square" anchor="t" lIns="0" rIns="0" tIns="0" bIns="0">
            <a:spAutoFit/>
          </a:bodyPr>
          <a:lstStyle/>
          <a:p>
            <a:pPr algn="l">
              <a:lnSpc>
                <a:spcPct val="110000"/>
              </a:lnSpc>
              <a:spcAft>
                <a:spcPts val="600"/>
              </a:spcAft>
            </a:pPr>
            <a:r>
              <a:rPr sz="2300" b="1">
                <a:solidFill>
                  <a:srgbClr val="1E4926"/>
                </a:solidFill>
                <a:latin typeface="Manifold Bold"/>
              </a:rPr>
              <a:t>To use a small AI model only when the rules are stuck</a:t>
            </a:r>
          </a:p>
        </p:txBody>
      </p:sp>
      <p:sp>
        <p:nvSpPr>
          <p:cNvPr id="24" name="TextBox 23"/>
          <p:cNvSpPr txBox="1"/>
          <p:nvPr/>
        </p:nvSpPr>
        <p:spPr>
          <a:xfrm>
            <a:off x="2331720" y="5715000"/>
            <a:ext cx="14538960" cy="457200"/>
          </a:xfrm>
          <a:prstGeom prst="rect">
            <a:avLst/>
          </a:prstGeom>
          <a:noFill/>
        </p:spPr>
        <p:txBody>
          <a:bodyPr wrap="square" anchor="t" lIns="0" rIns="0" tIns="0" bIns="0">
            <a:spAutoFit/>
          </a:bodyPr>
          <a:lstStyle/>
          <a:p>
            <a:pPr algn="l">
              <a:lnSpc>
                <a:spcPct val="110000"/>
              </a:lnSpc>
              <a:spcAft>
                <a:spcPts val="600"/>
              </a:spcAft>
            </a:pPr>
            <a:r>
              <a:rPr sz="1800" b="0">
                <a:solidFill>
                  <a:srgbClr val="457C5B"/>
                </a:solidFill>
                <a:latin typeface="Lato"/>
              </a:rPr>
              <a:t>trained by us, checked before it is used</a:t>
            </a:r>
          </a:p>
        </p:txBody>
      </p:sp>
      <p:sp>
        <p:nvSpPr>
          <p:cNvPr id="25" name="Rounded Rectangle 24"/>
          <p:cNvSpPr/>
          <p:nvPr/>
        </p:nvSpPr>
        <p:spPr>
          <a:xfrm>
            <a:off x="914400" y="6492240"/>
            <a:ext cx="16459200" cy="1261872"/>
          </a:xfrm>
          <a:prstGeom prst="roundRect">
            <a:avLst>
              <a:gd name="adj" fmla="val 7000"/>
            </a:avLst>
          </a:prstGeom>
          <a:solidFill>
            <a:srgbClr val="E4F2EA"/>
          </a:solidFill>
          <a:ln w="19050">
            <a:solidFill>
              <a:srgbClr val="8AB79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Oval 25"/>
          <p:cNvSpPr/>
          <p:nvPr/>
        </p:nvSpPr>
        <p:spPr>
          <a:xfrm>
            <a:off x="1188720" y="6711696"/>
            <a:ext cx="822960" cy="822960"/>
          </a:xfrm>
          <a:prstGeom prst="ellipse">
            <a:avLst/>
          </a:prstGeom>
          <a:solidFill>
            <a:srgbClr val="457C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1188720" y="6711696"/>
            <a:ext cx="822960" cy="822960"/>
          </a:xfrm>
          <a:prstGeom prst="rect">
            <a:avLst/>
          </a:prstGeom>
          <a:noFill/>
        </p:spPr>
        <p:txBody>
          <a:bodyPr wrap="square" anchor="ctr" lIns="0" rIns="0" tIns="0" bIns="0">
            <a:spAutoFit/>
          </a:bodyPr>
          <a:lstStyle/>
          <a:p>
            <a:pPr algn="ctr">
              <a:lnSpc>
                <a:spcPct val="110000"/>
              </a:lnSpc>
              <a:spcAft>
                <a:spcPts val="600"/>
              </a:spcAft>
            </a:pPr>
            <a:r>
              <a:rPr sz="2400" b="1">
                <a:solidFill>
                  <a:srgbClr val="F5FFF9"/>
                </a:solidFill>
                <a:latin typeface="Manifold Bold"/>
              </a:rPr>
              <a:t>4</a:t>
            </a:r>
          </a:p>
        </p:txBody>
      </p:sp>
      <p:sp>
        <p:nvSpPr>
          <p:cNvPr id="28" name="TextBox 27"/>
          <p:cNvSpPr txBox="1"/>
          <p:nvPr/>
        </p:nvSpPr>
        <p:spPr>
          <a:xfrm>
            <a:off x="2331720" y="6601968"/>
            <a:ext cx="14538960" cy="548640"/>
          </a:xfrm>
          <a:prstGeom prst="rect">
            <a:avLst/>
          </a:prstGeom>
          <a:noFill/>
        </p:spPr>
        <p:txBody>
          <a:bodyPr wrap="square" anchor="t" lIns="0" rIns="0" tIns="0" bIns="0">
            <a:spAutoFit/>
          </a:bodyPr>
          <a:lstStyle/>
          <a:p>
            <a:pPr algn="l">
              <a:lnSpc>
                <a:spcPct val="110000"/>
              </a:lnSpc>
              <a:spcAft>
                <a:spcPts val="600"/>
              </a:spcAft>
            </a:pPr>
            <a:r>
              <a:rPr sz="2300" b="1">
                <a:solidFill>
                  <a:srgbClr val="1E4926"/>
                </a:solidFill>
                <a:latin typeface="Manifold Bold"/>
              </a:rPr>
              <a:t>To write the prompt the way each AI likes it</a:t>
            </a:r>
          </a:p>
        </p:txBody>
      </p:sp>
      <p:sp>
        <p:nvSpPr>
          <p:cNvPr id="29" name="TextBox 28"/>
          <p:cNvSpPr txBox="1"/>
          <p:nvPr/>
        </p:nvSpPr>
        <p:spPr>
          <a:xfrm>
            <a:off x="2331720" y="7178040"/>
            <a:ext cx="14538960" cy="457200"/>
          </a:xfrm>
          <a:prstGeom prst="rect">
            <a:avLst/>
          </a:prstGeom>
          <a:noFill/>
        </p:spPr>
        <p:txBody>
          <a:bodyPr wrap="square" anchor="t" lIns="0" rIns="0" tIns="0" bIns="0">
            <a:spAutoFit/>
          </a:bodyPr>
          <a:lstStyle/>
          <a:p>
            <a:pPr algn="l">
              <a:lnSpc>
                <a:spcPct val="110000"/>
              </a:lnSpc>
              <a:spcAft>
                <a:spcPts val="600"/>
              </a:spcAft>
            </a:pPr>
            <a:r>
              <a:rPr sz="1800" b="0">
                <a:solidFill>
                  <a:srgbClr val="457C5B"/>
                </a:solidFill>
                <a:latin typeface="Lato"/>
              </a:rPr>
              <a:t>GPT, Gemini or Claude: same content, their layout</a:t>
            </a:r>
          </a:p>
        </p:txBody>
      </p:sp>
      <p:sp>
        <p:nvSpPr>
          <p:cNvPr id="30" name="Rounded Rectangle 29"/>
          <p:cNvSpPr/>
          <p:nvPr/>
        </p:nvSpPr>
        <p:spPr>
          <a:xfrm>
            <a:off x="914400" y="7955279"/>
            <a:ext cx="16459200" cy="1261872"/>
          </a:xfrm>
          <a:prstGeom prst="roundRect">
            <a:avLst>
              <a:gd name="adj" fmla="val 7000"/>
            </a:avLst>
          </a:prstGeom>
          <a:solidFill>
            <a:srgbClr val="FFFFFF"/>
          </a:solidFill>
          <a:ln w="19050">
            <a:solidFill>
              <a:srgbClr val="8AB79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Oval 30"/>
          <p:cNvSpPr/>
          <p:nvPr/>
        </p:nvSpPr>
        <p:spPr>
          <a:xfrm>
            <a:off x="1188720" y="8174736"/>
            <a:ext cx="822960" cy="822960"/>
          </a:xfrm>
          <a:prstGeom prst="ellipse">
            <a:avLst/>
          </a:prstGeom>
          <a:solidFill>
            <a:srgbClr val="457C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1188720" y="8174736"/>
            <a:ext cx="822960" cy="822960"/>
          </a:xfrm>
          <a:prstGeom prst="rect">
            <a:avLst/>
          </a:prstGeom>
          <a:noFill/>
        </p:spPr>
        <p:txBody>
          <a:bodyPr wrap="square" anchor="ctr" lIns="0" rIns="0" tIns="0" bIns="0">
            <a:spAutoFit/>
          </a:bodyPr>
          <a:lstStyle/>
          <a:p>
            <a:pPr algn="ctr">
              <a:lnSpc>
                <a:spcPct val="110000"/>
              </a:lnSpc>
              <a:spcAft>
                <a:spcPts val="600"/>
              </a:spcAft>
            </a:pPr>
            <a:r>
              <a:rPr sz="2400" b="1">
                <a:solidFill>
                  <a:srgbClr val="F5FFF9"/>
                </a:solidFill>
                <a:latin typeface="Manifold Bold"/>
              </a:rPr>
              <a:t>5</a:t>
            </a:r>
          </a:p>
        </p:txBody>
      </p:sp>
      <p:sp>
        <p:nvSpPr>
          <p:cNvPr id="33" name="TextBox 32"/>
          <p:cNvSpPr txBox="1"/>
          <p:nvPr/>
        </p:nvSpPr>
        <p:spPr>
          <a:xfrm>
            <a:off x="2331720" y="8065007"/>
            <a:ext cx="14538960" cy="548640"/>
          </a:xfrm>
          <a:prstGeom prst="rect">
            <a:avLst/>
          </a:prstGeom>
          <a:noFill/>
        </p:spPr>
        <p:txBody>
          <a:bodyPr wrap="square" anchor="t" lIns="0" rIns="0" tIns="0" bIns="0">
            <a:spAutoFit/>
          </a:bodyPr>
          <a:lstStyle/>
          <a:p>
            <a:pPr algn="l">
              <a:lnSpc>
                <a:spcPct val="110000"/>
              </a:lnSpc>
              <a:spcAft>
                <a:spcPts val="600"/>
              </a:spcAft>
            </a:pPr>
            <a:r>
              <a:rPr sz="2300" b="1">
                <a:solidFill>
                  <a:srgbClr val="1E4926"/>
                </a:solidFill>
                <a:latin typeface="Manifold Bold"/>
              </a:rPr>
              <a:t>To prove it with numbers</a:t>
            </a:r>
          </a:p>
        </p:txBody>
      </p:sp>
      <p:sp>
        <p:nvSpPr>
          <p:cNvPr id="34" name="TextBox 33"/>
          <p:cNvSpPr txBox="1"/>
          <p:nvPr/>
        </p:nvSpPr>
        <p:spPr>
          <a:xfrm>
            <a:off x="2331720" y="8641080"/>
            <a:ext cx="14538960" cy="457200"/>
          </a:xfrm>
          <a:prstGeom prst="rect">
            <a:avLst/>
          </a:prstGeom>
          <a:noFill/>
        </p:spPr>
        <p:txBody>
          <a:bodyPr wrap="square" anchor="t" lIns="0" rIns="0" tIns="0" bIns="0">
            <a:spAutoFit/>
          </a:bodyPr>
          <a:lstStyle/>
          <a:p>
            <a:pPr algn="l">
              <a:lnSpc>
                <a:spcPct val="110000"/>
              </a:lnSpc>
              <a:spcAft>
                <a:spcPts val="600"/>
              </a:spcAft>
            </a:pPr>
            <a:r>
              <a:rPr sz="1800" b="0">
                <a:solidFill>
                  <a:srgbClr val="457C5B"/>
                </a:solidFill>
                <a:latin typeface="Lato"/>
              </a:rPr>
              <a:t>fewer tokens, same or better answers, on prompts never seen before</a:t>
            </a:r>
          </a:p>
        </p:txBody>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bg>
      <p:bgPr>
        <a:solidFill>
          <a:srgbClr val="457C5B"/>
        </a:solidFill>
      </p:bgPr>
    </p:bg>
    <p:spTree>
      <p:nvGrpSpPr>
        <p:cNvPr id="1" name=""/>
        <p:cNvGrpSpPr/>
        <p:nvPr/>
      </p:nvGrpSpPr>
      <p:grpSpPr>
        <a:xfrm>
          <a:off x="0" y="0"/>
          <a:ext cx="0" cy="0"/>
          <a:chOff x="0" y="0"/>
          <a:chExt cx="0" cy="0"/>
        </a:xfrm>
      </p:grpSpPr>
      <p:grpSp>
        <p:nvGrpSpPr>
          <p:cNvPr name="Group 2" id="2"/>
          <p:cNvGrpSpPr/>
          <p:nvPr/>
        </p:nvGrpSpPr>
        <p:grpSpPr>
          <a:xfrm rot="9405415">
            <a:off x="-3681581" y="8273503"/>
            <a:ext cx="5159957" cy="5159957"/>
            <a:chOff x="0" y="0"/>
            <a:chExt cx="812800" cy="812800"/>
          </a:xfrm>
        </p:grpSpPr>
        <p:sp>
          <p:nvSpPr>
            <p:cNvPr name="Freeform 3" id="3"/>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true">
              <a:gsLst>
                <a:gs pos="0">
                  <a:srgbClr val="9FC4AE">
                    <a:alpha val="66000"/>
                  </a:srgbClr>
                </a:gs>
                <a:gs pos="100000">
                  <a:srgbClr val="FFFFFF">
                    <a:alpha val="66000"/>
                  </a:srgbClr>
                </a:gs>
              </a:gsLst>
              <a:lin ang="0"/>
            </a:gradFill>
          </p:spPr>
        </p:sp>
        <p:sp>
          <p:nvSpPr>
            <p:cNvPr name="TextBox 4" id="4"/>
            <p:cNvSpPr txBox="true"/>
            <p:nvPr/>
          </p:nvSpPr>
          <p:spPr>
            <a:xfrm>
              <a:off x="76200" y="28575"/>
              <a:ext cx="660400" cy="708025"/>
            </a:xfrm>
            <a:prstGeom prst="rect">
              <a:avLst/>
            </a:prstGeom>
          </p:spPr>
          <p:txBody>
            <a:bodyPr anchor="ctr" rtlCol="false" tIns="50800" lIns="50800" bIns="50800" rIns="50800"/>
            <a:lstStyle/>
            <a:p>
              <a:pPr algn="ctr">
                <a:lnSpc>
                  <a:spcPts val="2936"/>
                </a:lnSpc>
              </a:pPr>
            </a:p>
          </p:txBody>
        </p:sp>
      </p:grpSp>
      <p:grpSp>
        <p:nvGrpSpPr>
          <p:cNvPr name="Group 5" id="5"/>
          <p:cNvGrpSpPr/>
          <p:nvPr/>
        </p:nvGrpSpPr>
        <p:grpSpPr>
          <a:xfrm rot="6936434">
            <a:off x="16860459" y="8130191"/>
            <a:ext cx="5817847" cy="5817847"/>
            <a:chOff x="0" y="0"/>
            <a:chExt cx="812800" cy="812800"/>
          </a:xfrm>
        </p:grpSpPr>
        <p:sp>
          <p:nvSpPr>
            <p:cNvPr name="Freeform 6" id="6"/>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true">
              <a:gsLst>
                <a:gs pos="0">
                  <a:srgbClr val="9FC4AE">
                    <a:alpha val="66000"/>
                  </a:srgbClr>
                </a:gs>
                <a:gs pos="100000">
                  <a:srgbClr val="FFFFFF">
                    <a:alpha val="66000"/>
                  </a:srgbClr>
                </a:gs>
              </a:gsLst>
              <a:lin ang="0"/>
            </a:gradFill>
          </p:spPr>
        </p:sp>
        <p:sp>
          <p:nvSpPr>
            <p:cNvPr name="TextBox 7" id="7"/>
            <p:cNvSpPr txBox="true"/>
            <p:nvPr/>
          </p:nvSpPr>
          <p:spPr>
            <a:xfrm>
              <a:off x="76200" y="28575"/>
              <a:ext cx="660400" cy="708025"/>
            </a:xfrm>
            <a:prstGeom prst="rect">
              <a:avLst/>
            </a:prstGeom>
          </p:spPr>
          <p:txBody>
            <a:bodyPr anchor="ctr" rtlCol="false" tIns="50800" lIns="50800" bIns="50800" rIns="50800"/>
            <a:lstStyle/>
            <a:p>
              <a:pPr algn="ctr">
                <a:lnSpc>
                  <a:spcPts val="2936"/>
                </a:lnSpc>
              </a:pPr>
            </a:p>
          </p:txBody>
        </p:sp>
      </p:grpSp>
      <p:sp>
        <p:nvSpPr>
          <p:cNvPr name="TextBox 8" id="8"/>
          <p:cNvSpPr txBox="true"/>
          <p:nvPr/>
        </p:nvSpPr>
        <p:spPr>
          <a:xfrm rot="0">
            <a:off x="2103120" y="566928"/>
            <a:ext cx="14081760" cy="946150"/>
          </a:xfrm>
          <a:prstGeom prst="rect">
            <a:avLst/>
          </a:prstGeom>
        </p:spPr>
        <p:txBody>
          <a:bodyPr anchor="t" rtlCol="false" tIns="0" lIns="0" bIns="0" rIns="0" wrap="square">
            <a:spAutoFit/>
          </a:bodyPr>
          <a:lstStyle/>
          <a:p>
            <a:pPr algn="ctr">
              <a:lnSpc>
                <a:spcPts val="7699"/>
              </a:lnSpc>
            </a:pPr>
            <a:r>
              <a:rPr lang="en-US" b="true" sz="5499">
                <a:solidFill>
                  <a:srgbClr val="F5FFF9"/>
                </a:solidFill>
                <a:latin typeface="Manifold Ultra-Bold"/>
                <a:ea typeface="Manifold Ultra-Bold"/>
                <a:cs typeface="Manifold Ultra-Bold"/>
                <a:sym typeface="Manifold Ultra-Bold"/>
              </a:rPr>
              <a:t>OUR DATA</a:t>
            </a:r>
          </a:p>
        </p:txBody>
      </p:sp>
      <p:sp>
        <p:nvSpPr>
          <p:cNvPr name="Freeform 9" id="9"/>
          <p:cNvSpPr/>
          <p:nvPr/>
        </p:nvSpPr>
        <p:spPr>
          <a:xfrm flipH="false" flipV="false" rot="0">
            <a:off x="-1101602" y="-467749"/>
            <a:ext cx="2992899" cy="2992899"/>
          </a:xfrm>
          <a:custGeom>
            <a:avLst/>
            <a:gdLst/>
            <a:ahLst/>
            <a:cxnLst/>
            <a:rect r="r" b="b" t="t" l="l"/>
            <a:pathLst>
              <a:path h="2992899" w="2992899">
                <a:moveTo>
                  <a:pt x="0" y="0"/>
                </a:moveTo>
                <a:lnTo>
                  <a:pt x="2992898" y="0"/>
                </a:lnTo>
                <a:lnTo>
                  <a:pt x="2992898" y="2992898"/>
                </a:lnTo>
                <a:lnTo>
                  <a:pt x="0" y="2992898"/>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10" id="10"/>
          <p:cNvSpPr/>
          <p:nvPr/>
        </p:nvSpPr>
        <p:spPr>
          <a:xfrm flipH="true" flipV="false" rot="0">
            <a:off x="16398977" y="-467749"/>
            <a:ext cx="2992899" cy="2992899"/>
          </a:xfrm>
          <a:custGeom>
            <a:avLst/>
            <a:gdLst/>
            <a:ahLst/>
            <a:cxnLst/>
            <a:rect r="r" b="b" t="t" l="l"/>
            <a:pathLst>
              <a:path h="2992899" w="2992899">
                <a:moveTo>
                  <a:pt x="2992899" y="0"/>
                </a:moveTo>
                <a:lnTo>
                  <a:pt x="0" y="0"/>
                </a:lnTo>
                <a:lnTo>
                  <a:pt x="0" y="2992898"/>
                </a:lnTo>
                <a:lnTo>
                  <a:pt x="2992899" y="2992898"/>
                </a:lnTo>
                <a:lnTo>
                  <a:pt x="2992899"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11" id="11"/>
          <p:cNvSpPr/>
          <p:nvPr/>
        </p:nvSpPr>
        <p:spPr>
          <a:xfrm flipH="false" flipV="false" rot="0">
            <a:off x="185225" y="296308"/>
            <a:ext cx="1686949" cy="1283956"/>
          </a:xfrm>
          <a:custGeom>
            <a:avLst/>
            <a:gdLst/>
            <a:ahLst/>
            <a:cxnLst/>
            <a:rect r="r" b="b" t="t" l="l"/>
            <a:pathLst>
              <a:path h="1283956" w="1686949">
                <a:moveTo>
                  <a:pt x="0" y="0"/>
                </a:moveTo>
                <a:lnTo>
                  <a:pt x="1686950" y="0"/>
                </a:lnTo>
                <a:lnTo>
                  <a:pt x="1686950" y="1283956"/>
                </a:lnTo>
                <a:lnTo>
                  <a:pt x="0" y="1283956"/>
                </a:lnTo>
                <a:lnTo>
                  <a:pt x="0" y="0"/>
                </a:lnTo>
                <a:close/>
              </a:path>
            </a:pathLst>
          </a:custGeom>
          <a:blipFill>
            <a:blip r:embed="rId4"/>
            <a:stretch>
              <a:fillRect l="0" t="0" r="0" b="0"/>
            </a:stretch>
          </a:blipFill>
        </p:spPr>
      </p:sp>
      <p:sp>
        <p:nvSpPr>
          <p:cNvPr id="12" name="Rounded Rectangle 11"/>
          <p:cNvSpPr/>
          <p:nvPr/>
        </p:nvSpPr>
        <p:spPr>
          <a:xfrm>
            <a:off x="914400" y="2011680"/>
            <a:ext cx="7498079" cy="7315200"/>
          </a:xfrm>
          <a:prstGeom prst="roundRect">
            <a:avLst>
              <a:gd name="adj" fmla="val 7000"/>
            </a:avLst>
          </a:prstGeom>
          <a:solidFill>
            <a:srgbClr val="FFFFFF"/>
          </a:solidFill>
          <a:ln w="19050">
            <a:solidFill>
              <a:srgbClr val="8AB79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13" name="Chart 12"/>
          <p:cNvGraphicFramePr>
            <a:graphicFrameLocks noGrp="1"/>
          </p:cNvGraphicFramePr>
          <p:nvPr/>
        </p:nvGraphicFramePr>
        <p:xfrm>
          <a:off x="1097280" y="2148840"/>
          <a:ext cx="7132320" cy="7040880"/>
        </p:xfrm>
        <a:graphic>
          <a:graphicData uri="http://schemas.openxmlformats.org/drawingml/2006/chart">
            <c:chart xmlns:c="http://schemas.openxmlformats.org/drawingml/2006/chart" r:id="rId6"/>
          </a:graphicData>
        </a:graphic>
      </p:graphicFrame>
      <p:sp>
        <p:nvSpPr>
          <p:cNvPr id="14" name="Rounded Rectangle 13"/>
          <p:cNvSpPr/>
          <p:nvPr/>
        </p:nvSpPr>
        <p:spPr>
          <a:xfrm>
            <a:off x="8869680" y="2011680"/>
            <a:ext cx="8503920" cy="1298448"/>
          </a:xfrm>
          <a:prstGeom prst="roundRect">
            <a:avLst>
              <a:gd name="adj" fmla="val 7000"/>
            </a:avLst>
          </a:prstGeom>
          <a:solidFill>
            <a:srgbClr val="457C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9098280" y="2249424"/>
            <a:ext cx="822960" cy="822960"/>
          </a:xfrm>
          <a:prstGeom prst="ellipse">
            <a:avLst/>
          </a:prstGeom>
          <a:solidFill>
            <a:srgbClr val="9FC4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098280" y="2249424"/>
            <a:ext cx="822960" cy="822960"/>
          </a:xfrm>
          <a:prstGeom prst="rect">
            <a:avLst/>
          </a:prstGeom>
          <a:noFill/>
        </p:spPr>
        <p:txBody>
          <a:bodyPr wrap="square" anchor="ctr" lIns="0" rIns="0" tIns="0" bIns="0">
            <a:spAutoFit/>
          </a:bodyPr>
          <a:lstStyle/>
          <a:p>
            <a:pPr algn="ctr">
              <a:lnSpc>
                <a:spcPct val="110000"/>
              </a:lnSpc>
              <a:spcAft>
                <a:spcPts val="600"/>
              </a:spcAft>
            </a:pPr>
            <a:r>
              <a:rPr sz="2200" b="1">
                <a:solidFill>
                  <a:srgbClr val="1E4926"/>
                </a:solidFill>
                <a:latin typeface="Manifold Bold"/>
              </a:rPr>
              <a:t>1</a:t>
            </a:r>
          </a:p>
        </p:txBody>
      </p:sp>
      <p:sp>
        <p:nvSpPr>
          <p:cNvPr id="17" name="TextBox 16"/>
          <p:cNvSpPr txBox="1"/>
          <p:nvPr/>
        </p:nvSpPr>
        <p:spPr>
          <a:xfrm>
            <a:off x="10149840" y="2130552"/>
            <a:ext cx="7040880" cy="457200"/>
          </a:xfrm>
          <a:prstGeom prst="rect">
            <a:avLst/>
          </a:prstGeom>
          <a:noFill/>
        </p:spPr>
        <p:txBody>
          <a:bodyPr wrap="square" anchor="t" lIns="0" rIns="0" tIns="0" bIns="0">
            <a:spAutoFit/>
          </a:bodyPr>
          <a:lstStyle/>
          <a:p>
            <a:pPr algn="l">
              <a:lnSpc>
                <a:spcPct val="110000"/>
              </a:lnSpc>
              <a:spcAft>
                <a:spcPts val="600"/>
              </a:spcAft>
            </a:pPr>
            <a:r>
              <a:rPr sz="2000" b="1">
                <a:solidFill>
                  <a:srgbClr val="F5FFF9"/>
                </a:solidFill>
                <a:latin typeface="Manifold Bold"/>
              </a:rPr>
              <a:t>Real requests</a:t>
            </a:r>
          </a:p>
        </p:txBody>
      </p:sp>
      <p:sp>
        <p:nvSpPr>
          <p:cNvPr id="18" name="TextBox 17"/>
          <p:cNvSpPr txBox="1"/>
          <p:nvPr/>
        </p:nvSpPr>
        <p:spPr>
          <a:xfrm>
            <a:off x="10149840" y="2615184"/>
            <a:ext cx="7040880" cy="640080"/>
          </a:xfrm>
          <a:prstGeom prst="rect">
            <a:avLst/>
          </a:prstGeom>
          <a:noFill/>
        </p:spPr>
        <p:txBody>
          <a:bodyPr wrap="square" anchor="t" lIns="0" rIns="0" tIns="0" bIns="0">
            <a:spAutoFit/>
          </a:bodyPr>
          <a:lstStyle/>
          <a:p>
            <a:pPr algn="l">
              <a:lnSpc>
                <a:spcPct val="110000"/>
              </a:lnSpc>
              <a:spcAft>
                <a:spcPts val="600"/>
              </a:spcAft>
            </a:pPr>
            <a:r>
              <a:rPr sz="1600" b="0">
                <a:solidFill>
                  <a:srgbClr val="F5FFF9"/>
                </a:solidFill>
                <a:latin typeface="Lato"/>
              </a:rPr>
              <a:t>from two public datasets: Dolly (text tasks) and CodeAlpaca (code)</a:t>
            </a:r>
          </a:p>
        </p:txBody>
      </p:sp>
      <p:sp>
        <p:nvSpPr>
          <p:cNvPr id="19" name="Rounded Rectangle 18"/>
          <p:cNvSpPr/>
          <p:nvPr/>
        </p:nvSpPr>
        <p:spPr>
          <a:xfrm>
            <a:off x="8869680" y="3493008"/>
            <a:ext cx="8503920" cy="1298448"/>
          </a:xfrm>
          <a:prstGeom prst="roundRect">
            <a:avLst>
              <a:gd name="adj" fmla="val 7000"/>
            </a:avLst>
          </a:prstGeom>
          <a:solidFill>
            <a:srgbClr val="457C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9098280" y="3730752"/>
            <a:ext cx="822960" cy="822960"/>
          </a:xfrm>
          <a:prstGeom prst="ellipse">
            <a:avLst/>
          </a:prstGeom>
          <a:solidFill>
            <a:srgbClr val="9FC4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9098280" y="3730752"/>
            <a:ext cx="822960" cy="822960"/>
          </a:xfrm>
          <a:prstGeom prst="rect">
            <a:avLst/>
          </a:prstGeom>
          <a:noFill/>
        </p:spPr>
        <p:txBody>
          <a:bodyPr wrap="square" anchor="ctr" lIns="0" rIns="0" tIns="0" bIns="0">
            <a:spAutoFit/>
          </a:bodyPr>
          <a:lstStyle/>
          <a:p>
            <a:pPr algn="ctr">
              <a:lnSpc>
                <a:spcPct val="110000"/>
              </a:lnSpc>
              <a:spcAft>
                <a:spcPts val="600"/>
              </a:spcAft>
            </a:pPr>
            <a:r>
              <a:rPr sz="2200" b="1">
                <a:solidFill>
                  <a:srgbClr val="1E4926"/>
                </a:solidFill>
                <a:latin typeface="Manifold Bold"/>
              </a:rPr>
              <a:t>2</a:t>
            </a:r>
          </a:p>
        </p:txBody>
      </p:sp>
      <p:sp>
        <p:nvSpPr>
          <p:cNvPr id="22" name="TextBox 21"/>
          <p:cNvSpPr txBox="1"/>
          <p:nvPr/>
        </p:nvSpPr>
        <p:spPr>
          <a:xfrm>
            <a:off x="10149840" y="3611880"/>
            <a:ext cx="7040880" cy="457200"/>
          </a:xfrm>
          <a:prstGeom prst="rect">
            <a:avLst/>
          </a:prstGeom>
          <a:noFill/>
        </p:spPr>
        <p:txBody>
          <a:bodyPr wrap="square" anchor="t" lIns="0" rIns="0" tIns="0" bIns="0">
            <a:spAutoFit/>
          </a:bodyPr>
          <a:lstStyle/>
          <a:p>
            <a:pPr algn="l">
              <a:lnSpc>
                <a:spcPct val="110000"/>
              </a:lnSpc>
              <a:spcAft>
                <a:spcPts val="600"/>
              </a:spcAft>
            </a:pPr>
            <a:r>
              <a:rPr sz="2000" b="1">
                <a:solidFill>
                  <a:srgbClr val="F5FFF9"/>
                </a:solidFill>
                <a:latin typeface="Manifold Bold"/>
              </a:rPr>
              <a:t>Vague + clear version</a:t>
            </a:r>
          </a:p>
        </p:txBody>
      </p:sp>
      <p:sp>
        <p:nvSpPr>
          <p:cNvPr id="23" name="TextBox 22"/>
          <p:cNvSpPr txBox="1"/>
          <p:nvPr/>
        </p:nvSpPr>
        <p:spPr>
          <a:xfrm>
            <a:off x="10149840" y="4096512"/>
            <a:ext cx="7040880" cy="640080"/>
          </a:xfrm>
          <a:prstGeom prst="rect">
            <a:avLst/>
          </a:prstGeom>
          <a:noFill/>
        </p:spPr>
        <p:txBody>
          <a:bodyPr wrap="square" anchor="t" lIns="0" rIns="0" tIns="0" bIns="0">
            <a:spAutoFit/>
          </a:bodyPr>
          <a:lstStyle/>
          <a:p>
            <a:pPr algn="l">
              <a:lnSpc>
                <a:spcPct val="110000"/>
              </a:lnSpc>
              <a:spcAft>
                <a:spcPts val="600"/>
              </a:spcAft>
            </a:pPr>
            <a:r>
              <a:rPr sz="1600" b="0">
                <a:solidFill>
                  <a:srgbClr val="F5FFF9"/>
                </a:solidFill>
                <a:latin typeface="Lato"/>
              </a:rPr>
              <a:t>an AI wrote how a rushed user would type it, and a clear version</a:t>
            </a:r>
          </a:p>
        </p:txBody>
      </p:sp>
      <p:sp>
        <p:nvSpPr>
          <p:cNvPr id="24" name="Rounded Rectangle 23"/>
          <p:cNvSpPr/>
          <p:nvPr/>
        </p:nvSpPr>
        <p:spPr>
          <a:xfrm>
            <a:off x="8869680" y="4974336"/>
            <a:ext cx="8503920" cy="1298448"/>
          </a:xfrm>
          <a:prstGeom prst="roundRect">
            <a:avLst>
              <a:gd name="adj" fmla="val 7000"/>
            </a:avLst>
          </a:prstGeom>
          <a:solidFill>
            <a:srgbClr val="457C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9098280" y="5212080"/>
            <a:ext cx="822960" cy="822960"/>
          </a:xfrm>
          <a:prstGeom prst="ellipse">
            <a:avLst/>
          </a:prstGeom>
          <a:solidFill>
            <a:srgbClr val="9FC4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9098280" y="5212080"/>
            <a:ext cx="822960" cy="822960"/>
          </a:xfrm>
          <a:prstGeom prst="rect">
            <a:avLst/>
          </a:prstGeom>
          <a:noFill/>
        </p:spPr>
        <p:txBody>
          <a:bodyPr wrap="square" anchor="ctr" lIns="0" rIns="0" tIns="0" bIns="0">
            <a:spAutoFit/>
          </a:bodyPr>
          <a:lstStyle/>
          <a:p>
            <a:pPr algn="ctr">
              <a:lnSpc>
                <a:spcPct val="110000"/>
              </a:lnSpc>
              <a:spcAft>
                <a:spcPts val="600"/>
              </a:spcAft>
            </a:pPr>
            <a:r>
              <a:rPr sz="2200" b="1">
                <a:solidFill>
                  <a:srgbClr val="1E4926"/>
                </a:solidFill>
                <a:latin typeface="Manifold Bold"/>
              </a:rPr>
              <a:t>3</a:t>
            </a:r>
          </a:p>
        </p:txBody>
      </p:sp>
      <p:sp>
        <p:nvSpPr>
          <p:cNvPr id="27" name="TextBox 26"/>
          <p:cNvSpPr txBox="1"/>
          <p:nvPr/>
        </p:nvSpPr>
        <p:spPr>
          <a:xfrm>
            <a:off x="10149840" y="5093208"/>
            <a:ext cx="7040880" cy="457200"/>
          </a:xfrm>
          <a:prstGeom prst="rect">
            <a:avLst/>
          </a:prstGeom>
          <a:noFill/>
        </p:spPr>
        <p:txBody>
          <a:bodyPr wrap="square" anchor="t" lIns="0" rIns="0" tIns="0" bIns="0">
            <a:spAutoFit/>
          </a:bodyPr>
          <a:lstStyle/>
          <a:p>
            <a:pPr algn="l">
              <a:lnSpc>
                <a:spcPct val="110000"/>
              </a:lnSpc>
              <a:spcAft>
                <a:spcPts val="600"/>
              </a:spcAft>
            </a:pPr>
            <a:r>
              <a:rPr sz="2000" b="1">
                <a:solidFill>
                  <a:srgbClr val="F5FFF9"/>
                </a:solidFill>
                <a:latin typeface="Manifold Bold"/>
              </a:rPr>
              <a:t>Checked by computer</a:t>
            </a:r>
          </a:p>
        </p:txBody>
      </p:sp>
      <p:sp>
        <p:nvSpPr>
          <p:cNvPr id="28" name="TextBox 27"/>
          <p:cNvSpPr txBox="1"/>
          <p:nvPr/>
        </p:nvSpPr>
        <p:spPr>
          <a:xfrm>
            <a:off x="10149840" y="5577840"/>
            <a:ext cx="7040880" cy="640080"/>
          </a:xfrm>
          <a:prstGeom prst="rect">
            <a:avLst/>
          </a:prstGeom>
          <a:noFill/>
        </p:spPr>
        <p:txBody>
          <a:bodyPr wrap="square" anchor="t" lIns="0" rIns="0" tIns="0" bIns="0">
            <a:spAutoFit/>
          </a:bodyPr>
          <a:lstStyle/>
          <a:p>
            <a:pPr algn="l">
              <a:lnSpc>
                <a:spcPct val="110000"/>
              </a:lnSpc>
              <a:spcAft>
                <a:spcPts val="600"/>
              </a:spcAft>
            </a:pPr>
            <a:r>
              <a:rPr sz="1600" b="0">
                <a:solidFill>
                  <a:srgbClr val="F5FFF9"/>
                </a:solidFill>
                <a:latin typeface="Lato"/>
              </a:rPr>
              <a:t>drift, missing data, too long; dropped data put back</a:t>
            </a:r>
          </a:p>
        </p:txBody>
      </p:sp>
      <p:sp>
        <p:nvSpPr>
          <p:cNvPr id="29" name="Rounded Rectangle 28"/>
          <p:cNvSpPr/>
          <p:nvPr/>
        </p:nvSpPr>
        <p:spPr>
          <a:xfrm>
            <a:off x="8869680" y="6455664"/>
            <a:ext cx="8503920" cy="1298448"/>
          </a:xfrm>
          <a:prstGeom prst="roundRect">
            <a:avLst>
              <a:gd name="adj" fmla="val 7000"/>
            </a:avLst>
          </a:prstGeom>
          <a:solidFill>
            <a:srgbClr val="457C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9098280" y="6693408"/>
            <a:ext cx="822960" cy="822960"/>
          </a:xfrm>
          <a:prstGeom prst="ellipse">
            <a:avLst/>
          </a:prstGeom>
          <a:solidFill>
            <a:srgbClr val="9FC4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9098280" y="6693408"/>
            <a:ext cx="822960" cy="822960"/>
          </a:xfrm>
          <a:prstGeom prst="rect">
            <a:avLst/>
          </a:prstGeom>
          <a:noFill/>
        </p:spPr>
        <p:txBody>
          <a:bodyPr wrap="square" anchor="ctr" lIns="0" rIns="0" tIns="0" bIns="0">
            <a:spAutoFit/>
          </a:bodyPr>
          <a:lstStyle/>
          <a:p>
            <a:pPr algn="ctr">
              <a:lnSpc>
                <a:spcPct val="110000"/>
              </a:lnSpc>
              <a:spcAft>
                <a:spcPts val="600"/>
              </a:spcAft>
            </a:pPr>
            <a:r>
              <a:rPr sz="2200" b="1">
                <a:solidFill>
                  <a:srgbClr val="1E4926"/>
                </a:solidFill>
                <a:latin typeface="Manifold Bold"/>
              </a:rPr>
              <a:t>4</a:t>
            </a:r>
          </a:p>
        </p:txBody>
      </p:sp>
      <p:sp>
        <p:nvSpPr>
          <p:cNvPr id="32" name="TextBox 31"/>
          <p:cNvSpPr txBox="1"/>
          <p:nvPr/>
        </p:nvSpPr>
        <p:spPr>
          <a:xfrm>
            <a:off x="10149840" y="6574536"/>
            <a:ext cx="7040880" cy="457200"/>
          </a:xfrm>
          <a:prstGeom prst="rect">
            <a:avLst/>
          </a:prstGeom>
          <a:noFill/>
        </p:spPr>
        <p:txBody>
          <a:bodyPr wrap="square" anchor="t" lIns="0" rIns="0" tIns="0" bIns="0">
            <a:spAutoFit/>
          </a:bodyPr>
          <a:lstStyle/>
          <a:p>
            <a:pPr algn="l">
              <a:lnSpc>
                <a:spcPct val="110000"/>
              </a:lnSpc>
              <a:spcAft>
                <a:spcPts val="600"/>
              </a:spcAft>
            </a:pPr>
            <a:r>
              <a:rPr sz="2000" b="1">
                <a:solidFill>
                  <a:srgbClr val="F5FFF9"/>
                </a:solidFill>
                <a:latin typeface="Manifold Bold"/>
              </a:rPr>
              <a:t>Checked by us</a:t>
            </a:r>
          </a:p>
        </p:txBody>
      </p:sp>
      <p:sp>
        <p:nvSpPr>
          <p:cNvPr id="33" name="TextBox 32"/>
          <p:cNvSpPr txBox="1"/>
          <p:nvPr/>
        </p:nvSpPr>
        <p:spPr>
          <a:xfrm>
            <a:off x="10149840" y="7059168"/>
            <a:ext cx="7040880" cy="640080"/>
          </a:xfrm>
          <a:prstGeom prst="rect">
            <a:avLst/>
          </a:prstGeom>
          <a:noFill/>
        </p:spPr>
        <p:txBody>
          <a:bodyPr wrap="square" anchor="t" lIns="0" rIns="0" tIns="0" bIns="0">
            <a:spAutoFit/>
          </a:bodyPr>
          <a:lstStyle/>
          <a:p>
            <a:pPr algn="l">
              <a:lnSpc>
                <a:spcPct val="110000"/>
              </a:lnSpc>
              <a:spcAft>
                <a:spcPts val="600"/>
              </a:spcAft>
            </a:pPr>
            <a:r>
              <a:rPr sz="1600" b="0">
                <a:solidFill>
                  <a:srgbClr val="F5FFF9"/>
                </a:solidFill>
                <a:latin typeface="Lato"/>
              </a:rPr>
              <a:t>330 pairs read by the three of us and our guide: 295 kept</a:t>
            </a:r>
          </a:p>
        </p:txBody>
      </p:sp>
      <p:sp>
        <p:nvSpPr>
          <p:cNvPr id="34" name="Rounded Rectangle 33"/>
          <p:cNvSpPr/>
          <p:nvPr/>
        </p:nvSpPr>
        <p:spPr>
          <a:xfrm>
            <a:off x="8869680" y="7936992"/>
            <a:ext cx="8503920" cy="1298448"/>
          </a:xfrm>
          <a:prstGeom prst="roundRect">
            <a:avLst>
              <a:gd name="adj" fmla="val 7000"/>
            </a:avLst>
          </a:prstGeom>
          <a:solidFill>
            <a:srgbClr val="457C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Oval 34"/>
          <p:cNvSpPr/>
          <p:nvPr/>
        </p:nvSpPr>
        <p:spPr>
          <a:xfrm>
            <a:off x="9098280" y="8174736"/>
            <a:ext cx="822960" cy="822960"/>
          </a:xfrm>
          <a:prstGeom prst="ellipse">
            <a:avLst/>
          </a:prstGeom>
          <a:solidFill>
            <a:srgbClr val="9FC4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9098280" y="8174736"/>
            <a:ext cx="822960" cy="822960"/>
          </a:xfrm>
          <a:prstGeom prst="rect">
            <a:avLst/>
          </a:prstGeom>
          <a:noFill/>
        </p:spPr>
        <p:txBody>
          <a:bodyPr wrap="square" anchor="ctr" lIns="0" rIns="0" tIns="0" bIns="0">
            <a:spAutoFit/>
          </a:bodyPr>
          <a:lstStyle/>
          <a:p>
            <a:pPr algn="ctr">
              <a:lnSpc>
                <a:spcPct val="110000"/>
              </a:lnSpc>
              <a:spcAft>
                <a:spcPts val="600"/>
              </a:spcAft>
            </a:pPr>
            <a:r>
              <a:rPr sz="2200" b="1">
                <a:solidFill>
                  <a:srgbClr val="1E4926"/>
                </a:solidFill>
                <a:latin typeface="Manifold Bold"/>
              </a:rPr>
              <a:t>5</a:t>
            </a:r>
          </a:p>
        </p:txBody>
      </p:sp>
      <p:sp>
        <p:nvSpPr>
          <p:cNvPr id="37" name="TextBox 36"/>
          <p:cNvSpPr txBox="1"/>
          <p:nvPr/>
        </p:nvSpPr>
        <p:spPr>
          <a:xfrm>
            <a:off x="10149840" y="8055864"/>
            <a:ext cx="7040880" cy="457200"/>
          </a:xfrm>
          <a:prstGeom prst="rect">
            <a:avLst/>
          </a:prstGeom>
          <a:noFill/>
        </p:spPr>
        <p:txBody>
          <a:bodyPr wrap="square" anchor="t" lIns="0" rIns="0" tIns="0" bIns="0">
            <a:spAutoFit/>
          </a:bodyPr>
          <a:lstStyle/>
          <a:p>
            <a:pPr algn="l">
              <a:lnSpc>
                <a:spcPct val="110000"/>
              </a:lnSpc>
              <a:spcAft>
                <a:spcPts val="600"/>
              </a:spcAft>
            </a:pPr>
            <a:r>
              <a:rPr sz="2000" b="1">
                <a:solidFill>
                  <a:srgbClr val="F5FFF9"/>
                </a:solidFill>
                <a:latin typeface="Manifold Bold"/>
              </a:rPr>
              <a:t>Split once</a:t>
            </a:r>
          </a:p>
        </p:txBody>
      </p:sp>
      <p:sp>
        <p:nvSpPr>
          <p:cNvPr id="38" name="TextBox 37"/>
          <p:cNvSpPr txBox="1"/>
          <p:nvPr/>
        </p:nvSpPr>
        <p:spPr>
          <a:xfrm>
            <a:off x="10149840" y="8540496"/>
            <a:ext cx="7040880" cy="640080"/>
          </a:xfrm>
          <a:prstGeom prst="rect">
            <a:avLst/>
          </a:prstGeom>
          <a:noFill/>
        </p:spPr>
        <p:txBody>
          <a:bodyPr wrap="square" anchor="t" lIns="0" rIns="0" tIns="0" bIns="0">
            <a:spAutoFit/>
          </a:bodyPr>
          <a:lstStyle/>
          <a:p>
            <a:pPr algn="l">
              <a:lnSpc>
                <a:spcPct val="110000"/>
              </a:lnSpc>
              <a:spcAft>
                <a:spcPts val="600"/>
              </a:spcAft>
            </a:pPr>
            <a:r>
              <a:rPr sz="1600" b="0">
                <a:solidFill>
                  <a:srgbClr val="F5FFF9"/>
                </a:solidFill>
                <a:latin typeface="Lato"/>
              </a:rPr>
              <a:t>4,509 to learn from · 149 to tune · 482 to test, used only once</a:t>
            </a:r>
          </a:p>
        </p:txBody>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bg>
      <p:bgPr>
        <a:solidFill>
          <a:srgbClr val="F5FFF9"/>
        </a:solidFill>
      </p:bgPr>
    </p:bg>
    <p:spTree>
      <p:nvGrpSpPr>
        <p:cNvPr id="1" name=""/>
        <p:cNvGrpSpPr/>
        <p:nvPr/>
      </p:nvGrpSpPr>
      <p:grpSpPr>
        <a:xfrm>
          <a:off x="0" y="0"/>
          <a:ext cx="0" cy="0"/>
          <a:chOff x="0" y="0"/>
          <a:chExt cx="0" cy="0"/>
        </a:xfrm>
      </p:grpSpPr>
      <p:grpSp>
        <p:nvGrpSpPr>
          <p:cNvPr name="Group 5" id="5"/>
          <p:cNvGrpSpPr/>
          <p:nvPr/>
        </p:nvGrpSpPr>
        <p:grpSpPr>
          <a:xfrm rot="9405415">
            <a:off x="-472062" y="-2812968"/>
            <a:ext cx="5159957" cy="5159957"/>
            <a:chOff x="0" y="0"/>
            <a:chExt cx="812800" cy="812800"/>
          </a:xfrm>
        </p:grpSpPr>
        <p:sp>
          <p:nvSpPr>
            <p:cNvPr name="Freeform 6" id="6"/>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true">
              <a:gsLst>
                <a:gs pos="0">
                  <a:srgbClr val="9FC4AE">
                    <a:alpha val="66000"/>
                  </a:srgbClr>
                </a:gs>
                <a:gs pos="100000">
                  <a:srgbClr val="FFFFFF">
                    <a:alpha val="66000"/>
                  </a:srgbClr>
                </a:gs>
              </a:gsLst>
              <a:lin ang="0"/>
            </a:gradFill>
          </p:spPr>
        </p:sp>
        <p:sp>
          <p:nvSpPr>
            <p:cNvPr name="TextBox 7" id="7"/>
            <p:cNvSpPr txBox="true"/>
            <p:nvPr/>
          </p:nvSpPr>
          <p:spPr>
            <a:xfrm>
              <a:off x="76200" y="28575"/>
              <a:ext cx="660400" cy="708025"/>
            </a:xfrm>
            <a:prstGeom prst="rect">
              <a:avLst/>
            </a:prstGeom>
          </p:spPr>
          <p:txBody>
            <a:bodyPr anchor="ctr" rtlCol="false" tIns="50800" lIns="50800" bIns="50800" rIns="50800"/>
            <a:lstStyle/>
            <a:p>
              <a:pPr algn="ctr">
                <a:lnSpc>
                  <a:spcPts val="2936"/>
                </a:lnSpc>
              </a:pPr>
            </a:p>
          </p:txBody>
        </p:sp>
      </p:grpSp>
      <p:grpSp>
        <p:nvGrpSpPr>
          <p:cNvPr name="Group 8" id="8"/>
          <p:cNvGrpSpPr/>
          <p:nvPr/>
        </p:nvGrpSpPr>
        <p:grpSpPr>
          <a:xfrm rot="6936434">
            <a:off x="7303621" y="9528913"/>
            <a:ext cx="5817847" cy="5817847"/>
            <a:chOff x="0" y="0"/>
            <a:chExt cx="812800" cy="812800"/>
          </a:xfrm>
        </p:grpSpPr>
        <p:sp>
          <p:nvSpPr>
            <p:cNvPr name="Freeform 9" id="9"/>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true">
              <a:gsLst>
                <a:gs pos="0">
                  <a:srgbClr val="9FC4AE">
                    <a:alpha val="66000"/>
                  </a:srgbClr>
                </a:gs>
                <a:gs pos="100000">
                  <a:srgbClr val="FFFFFF">
                    <a:alpha val="66000"/>
                  </a:srgbClr>
                </a:gs>
              </a:gsLst>
              <a:lin ang="0"/>
            </a:gradFill>
          </p:spPr>
        </p:sp>
        <p:sp>
          <p:nvSpPr>
            <p:cNvPr name="TextBox 10" id="10"/>
            <p:cNvSpPr txBox="true"/>
            <p:nvPr/>
          </p:nvSpPr>
          <p:spPr>
            <a:xfrm>
              <a:off x="76200" y="28575"/>
              <a:ext cx="660400" cy="708025"/>
            </a:xfrm>
            <a:prstGeom prst="rect">
              <a:avLst/>
            </a:prstGeom>
          </p:spPr>
          <p:txBody>
            <a:bodyPr anchor="ctr" rtlCol="false" tIns="50800" lIns="50800" bIns="50800" rIns="50800"/>
            <a:lstStyle/>
            <a:p>
              <a:pPr algn="ctr">
                <a:lnSpc>
                  <a:spcPts val="2936"/>
                </a:lnSpc>
              </a:pPr>
            </a:p>
          </p:txBody>
        </p:sp>
      </p:grpSp>
      <p:sp>
        <p:nvSpPr>
          <p:cNvPr name="Freeform 11" id="11"/>
          <p:cNvSpPr/>
          <p:nvPr/>
        </p:nvSpPr>
        <p:spPr>
          <a:xfrm flipH="false" flipV="false" rot="0">
            <a:off x="185225" y="296308"/>
            <a:ext cx="1686949" cy="1283956"/>
          </a:xfrm>
          <a:custGeom>
            <a:avLst/>
            <a:gdLst/>
            <a:ahLst/>
            <a:cxnLst/>
            <a:rect r="r" b="b" t="t" l="l"/>
            <a:pathLst>
              <a:path h="1283956" w="1686949">
                <a:moveTo>
                  <a:pt x="0" y="0"/>
                </a:moveTo>
                <a:lnTo>
                  <a:pt x="1686950" y="0"/>
                </a:lnTo>
                <a:lnTo>
                  <a:pt x="1686950" y="1283956"/>
                </a:lnTo>
                <a:lnTo>
                  <a:pt x="0" y="1283956"/>
                </a:lnTo>
                <a:lnTo>
                  <a:pt x="0" y="0"/>
                </a:lnTo>
                <a:close/>
              </a:path>
            </a:pathLst>
          </a:custGeom>
          <a:blipFill>
            <a:blip r:embed="rId2"/>
            <a:stretch>
              <a:fillRect l="0" t="0" r="0" b="0"/>
            </a:stretch>
          </a:blipFill>
        </p:spPr>
      </p:sp>
      <p:sp>
        <p:nvSpPr>
          <p:cNvPr name="TextBox 50" id="50"/>
          <p:cNvSpPr txBox="true"/>
          <p:nvPr/>
        </p:nvSpPr>
        <p:spPr>
          <a:xfrm rot="0">
            <a:off x="2103120" y="566928"/>
            <a:ext cx="14081760" cy="946150"/>
          </a:xfrm>
          <a:prstGeom prst="rect">
            <a:avLst/>
          </a:prstGeom>
        </p:spPr>
        <p:txBody>
          <a:bodyPr anchor="t" rtlCol="false" tIns="0" lIns="0" bIns="0" rIns="0" wrap="square">
            <a:spAutoFit/>
          </a:bodyPr>
          <a:lstStyle/>
          <a:p>
            <a:pPr algn="ctr">
              <a:lnSpc>
                <a:spcPts val="7699"/>
              </a:lnSpc>
            </a:pPr>
            <a:r>
              <a:rPr lang="en-US" b="true" sz="5499">
                <a:solidFill>
                  <a:srgbClr val="457C5B"/>
                </a:solidFill>
                <a:latin typeface="Manifold Ultra-Bold"/>
                <a:ea typeface="Manifold Ultra-Bold"/>
                <a:cs typeface="Manifold Ultra-Bold"/>
                <a:sym typeface="Manifold Ultra-Bold"/>
              </a:rPr>
              <a:t>ONE EXAMPLE, START TO FINISH</a:t>
            </a:r>
          </a:p>
        </p:txBody>
      </p:sp>
      <p:sp>
        <p:nvSpPr>
          <p:cNvPr id="51" name="Rounded Rectangle 50"/>
          <p:cNvSpPr/>
          <p:nvPr/>
        </p:nvSpPr>
        <p:spPr>
          <a:xfrm>
            <a:off x="914400" y="1965960"/>
            <a:ext cx="16459200" cy="7498079"/>
          </a:xfrm>
          <a:prstGeom prst="roundRect">
            <a:avLst>
              <a:gd name="adj" fmla="val 7000"/>
            </a:avLst>
          </a:prstGeom>
          <a:solidFill>
            <a:srgbClr val="FFFFFF"/>
          </a:solidFill>
          <a:ln w="19050">
            <a:solidFill>
              <a:srgbClr val="8AB79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2" name="Picture 51" descr="deck_story.png"/>
          <p:cNvPicPr>
            <a:picLocks noChangeAspect="1"/>
          </p:cNvPicPr>
          <p:nvPr/>
        </p:nvPicPr>
        <p:blipFill>
          <a:blip r:embed="rId10"/>
          <a:stretch>
            <a:fillRect/>
          </a:stretch>
        </p:blipFill>
        <p:spPr>
          <a:xfrm>
            <a:off x="1143000" y="2103120"/>
            <a:ext cx="16002000" cy="6827520"/>
          </a:xfrm>
          <a:prstGeom prst="rect">
            <a:avLst/>
          </a:prstGeom>
        </p:spPr>
      </p:pic>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bg>
      <p:bgPr>
        <a:solidFill>
          <a:srgbClr val="F5FFF9"/>
        </a:solidFill>
      </p:bgPr>
    </p:bg>
    <p:spTree>
      <p:nvGrpSpPr>
        <p:cNvPr id="1" name=""/>
        <p:cNvGrpSpPr/>
        <p:nvPr/>
      </p:nvGrpSpPr>
      <p:grpSpPr>
        <a:xfrm>
          <a:off x="0" y="0"/>
          <a:ext cx="0" cy="0"/>
          <a:chOff x="0" y="0"/>
          <a:chExt cx="0" cy="0"/>
        </a:xfrm>
      </p:grpSpPr>
      <p:grpSp>
        <p:nvGrpSpPr>
          <p:cNvPr name="Group 2" id="2"/>
          <p:cNvGrpSpPr/>
          <p:nvPr/>
        </p:nvGrpSpPr>
        <p:grpSpPr>
          <a:xfrm rot="1065972">
            <a:off x="-1561962" y="-520880"/>
            <a:ext cx="11464130" cy="11464130"/>
            <a:chOff x="0" y="0"/>
            <a:chExt cx="812800" cy="812800"/>
          </a:xfrm>
        </p:grpSpPr>
        <p:sp>
          <p:nvSpPr>
            <p:cNvPr name="Freeform 3" id="3"/>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true">
              <a:gsLst>
                <a:gs pos="0">
                  <a:srgbClr val="9FC4AE">
                    <a:alpha val="66000"/>
                  </a:srgbClr>
                </a:gs>
                <a:gs pos="100000">
                  <a:srgbClr val="FFFFFF">
                    <a:alpha val="66000"/>
                  </a:srgbClr>
                </a:gs>
              </a:gsLst>
              <a:lin ang="0"/>
            </a:gradFill>
          </p:spPr>
        </p:sp>
        <p:sp>
          <p:nvSpPr>
            <p:cNvPr name="TextBox 4" id="4"/>
            <p:cNvSpPr txBox="true"/>
            <p:nvPr/>
          </p:nvSpPr>
          <p:spPr>
            <a:xfrm>
              <a:off x="76200" y="28575"/>
              <a:ext cx="660400" cy="708025"/>
            </a:xfrm>
            <a:prstGeom prst="rect">
              <a:avLst/>
            </a:prstGeom>
          </p:spPr>
          <p:txBody>
            <a:bodyPr anchor="ctr" rtlCol="false" tIns="50800" lIns="50800" bIns="50800" rIns="50800"/>
            <a:lstStyle/>
            <a:p>
              <a:pPr algn="ctr">
                <a:lnSpc>
                  <a:spcPts val="2936"/>
                </a:lnSpc>
              </a:pPr>
            </a:p>
          </p:txBody>
        </p:sp>
      </p:grpSp>
      <p:grpSp>
        <p:nvGrpSpPr>
          <p:cNvPr name="Group 5" id="5"/>
          <p:cNvGrpSpPr/>
          <p:nvPr/>
        </p:nvGrpSpPr>
        <p:grpSpPr>
          <a:xfrm rot="9405415">
            <a:off x="15708021" y="7901905"/>
            <a:ext cx="5159957" cy="5159957"/>
            <a:chOff x="0" y="0"/>
            <a:chExt cx="812800" cy="812800"/>
          </a:xfrm>
        </p:grpSpPr>
        <p:sp>
          <p:nvSpPr>
            <p:cNvPr name="Freeform 6" id="6"/>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true">
              <a:gsLst>
                <a:gs pos="0">
                  <a:srgbClr val="9FC4AE">
                    <a:alpha val="66000"/>
                  </a:srgbClr>
                </a:gs>
                <a:gs pos="100000">
                  <a:srgbClr val="FFFFFF">
                    <a:alpha val="66000"/>
                  </a:srgbClr>
                </a:gs>
              </a:gsLst>
              <a:lin ang="0"/>
            </a:gradFill>
          </p:spPr>
        </p:sp>
        <p:sp>
          <p:nvSpPr>
            <p:cNvPr name="TextBox 7" id="7"/>
            <p:cNvSpPr txBox="true"/>
            <p:nvPr/>
          </p:nvSpPr>
          <p:spPr>
            <a:xfrm>
              <a:off x="76200" y="28575"/>
              <a:ext cx="660400" cy="708025"/>
            </a:xfrm>
            <a:prstGeom prst="rect">
              <a:avLst/>
            </a:prstGeom>
          </p:spPr>
          <p:txBody>
            <a:bodyPr anchor="ctr" rtlCol="false" tIns="50800" lIns="50800" bIns="50800" rIns="50800"/>
            <a:lstStyle/>
            <a:p>
              <a:pPr algn="ctr">
                <a:lnSpc>
                  <a:spcPts val="2936"/>
                </a:lnSpc>
              </a:pPr>
            </a:p>
          </p:txBody>
        </p:sp>
      </p:grpSp>
      <p:sp>
        <p:nvSpPr>
          <p:cNvPr name="Freeform 8" id="8"/>
          <p:cNvSpPr/>
          <p:nvPr/>
        </p:nvSpPr>
        <p:spPr>
          <a:xfrm flipH="false" flipV="false" rot="0">
            <a:off x="185225" y="296308"/>
            <a:ext cx="1686949" cy="1283956"/>
          </a:xfrm>
          <a:custGeom>
            <a:avLst/>
            <a:gdLst/>
            <a:ahLst/>
            <a:cxnLst/>
            <a:rect r="r" b="b" t="t" l="l"/>
            <a:pathLst>
              <a:path h="1283956" w="1686949">
                <a:moveTo>
                  <a:pt x="0" y="0"/>
                </a:moveTo>
                <a:lnTo>
                  <a:pt x="1686950" y="0"/>
                </a:lnTo>
                <a:lnTo>
                  <a:pt x="1686950" y="1283956"/>
                </a:lnTo>
                <a:lnTo>
                  <a:pt x="0" y="1283956"/>
                </a:lnTo>
                <a:lnTo>
                  <a:pt x="0" y="0"/>
                </a:lnTo>
                <a:close/>
              </a:path>
            </a:pathLst>
          </a:custGeom>
          <a:blipFill>
            <a:blip r:embed="rId2"/>
            <a:stretch>
              <a:fillRect l="0" t="0" r="0" b="0"/>
            </a:stretch>
          </a:blipFill>
        </p:spPr>
      </p:sp>
      <p:sp>
        <p:nvSpPr>
          <p:cNvPr name="TextBox 9" id="9"/>
          <p:cNvSpPr txBox="true"/>
          <p:nvPr/>
        </p:nvSpPr>
        <p:spPr>
          <a:xfrm rot="0">
            <a:off x="2103120" y="566928"/>
            <a:ext cx="14081760" cy="946150"/>
          </a:xfrm>
          <a:prstGeom prst="rect">
            <a:avLst/>
          </a:prstGeom>
        </p:spPr>
        <p:txBody>
          <a:bodyPr anchor="t" rtlCol="false" tIns="0" lIns="0" bIns="0" rIns="0" wrap="square">
            <a:spAutoFit/>
          </a:bodyPr>
          <a:lstStyle/>
          <a:p>
            <a:pPr algn="ctr">
              <a:lnSpc>
                <a:spcPts val="7699"/>
              </a:lnSpc>
            </a:pPr>
            <a:r>
              <a:rPr lang="en-US" b="true" sz="5499">
                <a:solidFill>
                  <a:srgbClr val="457C5B"/>
                </a:solidFill>
                <a:latin typeface="Manifold Ultra-Bold"/>
                <a:ea typeface="Manifold Ultra-Bold"/>
                <a:cs typeface="Manifold Ultra-Bold"/>
                <a:sym typeface="Manifold Ultra-Bold"/>
              </a:rPr>
              <a:t>STEP A: UNDERSTAND THE PROMPT</a:t>
            </a:r>
          </a:p>
        </p:txBody>
      </p:sp>
      <p:pic>
        <p:nvPicPr>
          <p:cNvPr id="10" name="Picture 9" descr="story_stage-a.png"/>
          <p:cNvPicPr>
            <a:picLocks noChangeAspect="1"/>
          </p:cNvPicPr>
          <p:nvPr/>
        </p:nvPicPr>
        <p:blipFill>
          <a:blip r:embed="rId3"/>
          <a:stretch>
            <a:fillRect/>
          </a:stretch>
        </p:blipFill>
        <p:spPr>
          <a:xfrm>
            <a:off x="914400" y="2057400"/>
            <a:ext cx="8595360" cy="5442785"/>
          </a:xfrm>
          <a:prstGeom prst="rect">
            <a:avLst/>
          </a:prstGeom>
          <a:ln w="19050">
            <a:solidFill>
              <a:srgbClr val="457C5B"/>
            </a:solidFill>
          </a:ln>
        </p:spPr>
      </p:pic>
      <p:sp>
        <p:nvSpPr>
          <p:cNvPr id="11" name="Rounded Rectangle 10"/>
          <p:cNvSpPr/>
          <p:nvPr/>
        </p:nvSpPr>
        <p:spPr>
          <a:xfrm>
            <a:off x="9966960" y="2057400"/>
            <a:ext cx="7406640" cy="2240280"/>
          </a:xfrm>
          <a:prstGeom prst="roundRect">
            <a:avLst>
              <a:gd name="adj" fmla="val 7000"/>
            </a:avLst>
          </a:prstGeom>
          <a:solidFill>
            <a:srgbClr val="457C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0241280" y="2240280"/>
            <a:ext cx="6858000" cy="502920"/>
          </a:xfrm>
          <a:prstGeom prst="rect">
            <a:avLst/>
          </a:prstGeom>
          <a:noFill/>
        </p:spPr>
        <p:txBody>
          <a:bodyPr wrap="square" anchor="t" lIns="0" rIns="0" tIns="0" bIns="0">
            <a:spAutoFit/>
          </a:bodyPr>
          <a:lstStyle/>
          <a:p>
            <a:pPr algn="l">
              <a:lnSpc>
                <a:spcPct val="110000"/>
              </a:lnSpc>
              <a:spcAft>
                <a:spcPts val="600"/>
              </a:spcAft>
            </a:pPr>
            <a:r>
              <a:rPr sz="2100" b="1">
                <a:solidFill>
                  <a:srgbClr val="F5FFF9"/>
                </a:solidFill>
                <a:latin typeface="Manifold Bold"/>
              </a:rPr>
              <a:t>What kind of task is it?</a:t>
            </a:r>
          </a:p>
        </p:txBody>
      </p:sp>
      <p:sp>
        <p:nvSpPr>
          <p:cNvPr id="13" name="TextBox 12"/>
          <p:cNvSpPr txBox="1"/>
          <p:nvPr/>
        </p:nvSpPr>
        <p:spPr>
          <a:xfrm>
            <a:off x="10241280" y="2834640"/>
            <a:ext cx="6858000" cy="1371600"/>
          </a:xfrm>
          <a:prstGeom prst="rect">
            <a:avLst/>
          </a:prstGeom>
          <a:noFill/>
        </p:spPr>
        <p:txBody>
          <a:bodyPr wrap="square" anchor="t" lIns="0" rIns="0" tIns="0" bIns="0">
            <a:spAutoFit/>
          </a:bodyPr>
          <a:lstStyle/>
          <a:p>
            <a:pPr algn="l">
              <a:lnSpc>
                <a:spcPct val="110000"/>
              </a:lnSpc>
              <a:spcAft>
                <a:spcPts val="600"/>
              </a:spcAft>
            </a:pPr>
            <a:r>
              <a:rPr sz="1800" b="0">
                <a:solidFill>
                  <a:srgbClr val="F5FFF9"/>
                </a:solidFill>
                <a:latin typeface="Lato"/>
              </a:rPr>
              <a:t>Summary 52%, sorting into a label 35%. Below 60% means “not sure”, so nothing will be guessed.</a:t>
            </a:r>
          </a:p>
        </p:txBody>
      </p:sp>
      <p:sp>
        <p:nvSpPr>
          <p:cNvPr id="14" name="Rounded Rectangle 13"/>
          <p:cNvSpPr/>
          <p:nvPr/>
        </p:nvSpPr>
        <p:spPr>
          <a:xfrm>
            <a:off x="9966960" y="4507992"/>
            <a:ext cx="7406640" cy="2240280"/>
          </a:xfrm>
          <a:prstGeom prst="roundRect">
            <a:avLst>
              <a:gd name="adj" fmla="val 7000"/>
            </a:avLst>
          </a:prstGeom>
          <a:solidFill>
            <a:srgbClr val="457C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0241280" y="4690872"/>
            <a:ext cx="6858000" cy="502920"/>
          </a:xfrm>
          <a:prstGeom prst="rect">
            <a:avLst/>
          </a:prstGeom>
          <a:noFill/>
        </p:spPr>
        <p:txBody>
          <a:bodyPr wrap="square" anchor="t" lIns="0" rIns="0" tIns="0" bIns="0">
            <a:spAutoFit/>
          </a:bodyPr>
          <a:lstStyle/>
          <a:p>
            <a:pPr algn="l">
              <a:lnSpc>
                <a:spcPct val="110000"/>
              </a:lnSpc>
              <a:spcAft>
                <a:spcPts val="600"/>
              </a:spcAft>
            </a:pPr>
            <a:r>
              <a:rPr sz="2100" b="1">
                <a:solidFill>
                  <a:srgbClr val="F5FFF9"/>
                </a:solidFill>
                <a:latin typeface="Manifold Bold"/>
              </a:rPr>
              <a:t>What is missing?</a:t>
            </a:r>
          </a:p>
        </p:txBody>
      </p:sp>
      <p:sp>
        <p:nvSpPr>
          <p:cNvPr id="16" name="TextBox 15"/>
          <p:cNvSpPr txBox="1"/>
          <p:nvPr/>
        </p:nvSpPr>
        <p:spPr>
          <a:xfrm>
            <a:off x="10241280" y="5285231"/>
            <a:ext cx="6858000" cy="1371600"/>
          </a:xfrm>
          <a:prstGeom prst="rect">
            <a:avLst/>
          </a:prstGeom>
          <a:noFill/>
        </p:spPr>
        <p:txBody>
          <a:bodyPr wrap="square" anchor="t" lIns="0" rIns="0" tIns="0" bIns="0">
            <a:spAutoFit/>
          </a:bodyPr>
          <a:lstStyle/>
          <a:p>
            <a:pPr algn="l">
              <a:lnSpc>
                <a:spcPct val="110000"/>
              </a:lnSpc>
              <a:spcAft>
                <a:spcPts val="600"/>
              </a:spcAft>
            </a:pPr>
            <a:r>
              <a:rPr sz="1800" b="0">
                <a:solidFill>
                  <a:srgbClr val="F5FFF9"/>
                </a:solidFill>
                <a:latin typeface="Lato"/>
              </a:rPr>
              <a:t>No answer format. Filler words: “hey”, “can you”, “just”.</a:t>
            </a:r>
          </a:p>
        </p:txBody>
      </p:sp>
      <p:sp>
        <p:nvSpPr>
          <p:cNvPr id="17" name="Rounded Rectangle 16"/>
          <p:cNvSpPr/>
          <p:nvPr/>
        </p:nvSpPr>
        <p:spPr>
          <a:xfrm>
            <a:off x="9966960" y="6958584"/>
            <a:ext cx="7406640" cy="2240280"/>
          </a:xfrm>
          <a:prstGeom prst="roundRect">
            <a:avLst>
              <a:gd name="adj" fmla="val 7000"/>
            </a:avLst>
          </a:prstGeom>
          <a:solidFill>
            <a:srgbClr val="457C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0241280" y="7141464"/>
            <a:ext cx="6858000" cy="502920"/>
          </a:xfrm>
          <a:prstGeom prst="rect">
            <a:avLst/>
          </a:prstGeom>
          <a:noFill/>
        </p:spPr>
        <p:txBody>
          <a:bodyPr wrap="square" anchor="t" lIns="0" rIns="0" tIns="0" bIns="0">
            <a:spAutoFit/>
          </a:bodyPr>
          <a:lstStyle/>
          <a:p>
            <a:pPr algn="l">
              <a:lnSpc>
                <a:spcPct val="110000"/>
              </a:lnSpc>
              <a:spcAft>
                <a:spcPts val="600"/>
              </a:spcAft>
            </a:pPr>
            <a:r>
              <a:rPr sz="2100" b="1">
                <a:solidFill>
                  <a:srgbClr val="F5FFF9"/>
                </a:solidFill>
                <a:latin typeface="Manifold Bold"/>
              </a:rPr>
              <a:t>How does it decide?</a:t>
            </a:r>
          </a:p>
        </p:txBody>
      </p:sp>
      <p:sp>
        <p:nvSpPr>
          <p:cNvPr id="19" name="TextBox 18"/>
          <p:cNvSpPr txBox="1"/>
          <p:nvPr/>
        </p:nvSpPr>
        <p:spPr>
          <a:xfrm>
            <a:off x="10241280" y="7735824"/>
            <a:ext cx="6858000" cy="1371600"/>
          </a:xfrm>
          <a:prstGeom prst="rect">
            <a:avLst/>
          </a:prstGeom>
          <a:noFill/>
        </p:spPr>
        <p:txBody>
          <a:bodyPr wrap="square" anchor="t" lIns="0" rIns="0" tIns="0" bIns="0">
            <a:spAutoFit/>
          </a:bodyPr>
          <a:lstStyle/>
          <a:p>
            <a:pPr algn="l">
              <a:lnSpc>
                <a:spcPct val="110000"/>
              </a:lnSpc>
              <a:spcAft>
                <a:spcPts val="600"/>
              </a:spcAft>
            </a:pPr>
            <a:r>
              <a:rPr sz="1800" b="0">
                <a:solidFill>
                  <a:srgbClr val="F5FFF9"/>
                </a:solidFill>
                <a:latin typeface="Lato"/>
              </a:rPr>
              <a:t>It compares the prompt with 9,000+ example prompts from our data and checks it with word rules.</a:t>
            </a:r>
          </a:p>
        </p:txBody>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bg>
      <p:bgPr>
        <a:solidFill>
          <a:srgbClr val="F5FFF9"/>
        </a:solidFill>
      </p:bgPr>
    </p:bg>
    <p:spTree>
      <p:nvGrpSpPr>
        <p:cNvPr id="1" name=""/>
        <p:cNvGrpSpPr/>
        <p:nvPr/>
      </p:nvGrpSpPr>
      <p:grpSpPr>
        <a:xfrm>
          <a:off x="0" y="0"/>
          <a:ext cx="0" cy="0"/>
          <a:chOff x="0" y="0"/>
          <a:chExt cx="0" cy="0"/>
        </a:xfrm>
      </p:grpSpPr>
      <p:grpSp>
        <p:nvGrpSpPr>
          <p:cNvPr name="Group 2" id="2"/>
          <p:cNvGrpSpPr/>
          <p:nvPr/>
        </p:nvGrpSpPr>
        <p:grpSpPr>
          <a:xfrm rot="1065972">
            <a:off x="-1561962" y="-520880"/>
            <a:ext cx="11464130" cy="11464130"/>
            <a:chOff x="0" y="0"/>
            <a:chExt cx="812800" cy="812800"/>
          </a:xfrm>
        </p:grpSpPr>
        <p:sp>
          <p:nvSpPr>
            <p:cNvPr name="Freeform 3" id="3"/>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true">
              <a:gsLst>
                <a:gs pos="0">
                  <a:srgbClr val="9FC4AE">
                    <a:alpha val="66000"/>
                  </a:srgbClr>
                </a:gs>
                <a:gs pos="100000">
                  <a:srgbClr val="FFFFFF">
                    <a:alpha val="66000"/>
                  </a:srgbClr>
                </a:gs>
              </a:gsLst>
              <a:lin ang="0"/>
            </a:gradFill>
          </p:spPr>
        </p:sp>
        <p:sp>
          <p:nvSpPr>
            <p:cNvPr name="TextBox 4" id="4"/>
            <p:cNvSpPr txBox="true"/>
            <p:nvPr/>
          </p:nvSpPr>
          <p:spPr>
            <a:xfrm>
              <a:off x="76200" y="28575"/>
              <a:ext cx="660400" cy="708025"/>
            </a:xfrm>
            <a:prstGeom prst="rect">
              <a:avLst/>
            </a:prstGeom>
          </p:spPr>
          <p:txBody>
            <a:bodyPr anchor="ctr" rtlCol="false" tIns="50800" lIns="50800" bIns="50800" rIns="50800"/>
            <a:lstStyle/>
            <a:p>
              <a:pPr algn="ctr">
                <a:lnSpc>
                  <a:spcPts val="2936"/>
                </a:lnSpc>
              </a:pPr>
            </a:p>
          </p:txBody>
        </p:sp>
      </p:grpSp>
      <p:grpSp>
        <p:nvGrpSpPr>
          <p:cNvPr name="Group 5" id="5"/>
          <p:cNvGrpSpPr/>
          <p:nvPr/>
        </p:nvGrpSpPr>
        <p:grpSpPr>
          <a:xfrm rot="9405415">
            <a:off x="15708021" y="7901905"/>
            <a:ext cx="5159957" cy="5159957"/>
            <a:chOff x="0" y="0"/>
            <a:chExt cx="812800" cy="812800"/>
          </a:xfrm>
        </p:grpSpPr>
        <p:sp>
          <p:nvSpPr>
            <p:cNvPr name="Freeform 6" id="6"/>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true">
              <a:gsLst>
                <a:gs pos="0">
                  <a:srgbClr val="9FC4AE">
                    <a:alpha val="66000"/>
                  </a:srgbClr>
                </a:gs>
                <a:gs pos="100000">
                  <a:srgbClr val="FFFFFF">
                    <a:alpha val="66000"/>
                  </a:srgbClr>
                </a:gs>
              </a:gsLst>
              <a:lin ang="0"/>
            </a:gradFill>
          </p:spPr>
        </p:sp>
        <p:sp>
          <p:nvSpPr>
            <p:cNvPr name="TextBox 7" id="7"/>
            <p:cNvSpPr txBox="true"/>
            <p:nvPr/>
          </p:nvSpPr>
          <p:spPr>
            <a:xfrm>
              <a:off x="76200" y="28575"/>
              <a:ext cx="660400" cy="708025"/>
            </a:xfrm>
            <a:prstGeom prst="rect">
              <a:avLst/>
            </a:prstGeom>
          </p:spPr>
          <p:txBody>
            <a:bodyPr anchor="ctr" rtlCol="false" tIns="50800" lIns="50800" bIns="50800" rIns="50800"/>
            <a:lstStyle/>
            <a:p>
              <a:pPr algn="ctr">
                <a:lnSpc>
                  <a:spcPts val="2936"/>
                </a:lnSpc>
              </a:pPr>
            </a:p>
          </p:txBody>
        </p:sp>
      </p:grpSp>
      <p:sp>
        <p:nvSpPr>
          <p:cNvPr name="Freeform 8" id="8"/>
          <p:cNvSpPr/>
          <p:nvPr/>
        </p:nvSpPr>
        <p:spPr>
          <a:xfrm flipH="false" flipV="false" rot="0">
            <a:off x="185225" y="296308"/>
            <a:ext cx="1686949" cy="1283956"/>
          </a:xfrm>
          <a:custGeom>
            <a:avLst/>
            <a:gdLst/>
            <a:ahLst/>
            <a:cxnLst/>
            <a:rect r="r" b="b" t="t" l="l"/>
            <a:pathLst>
              <a:path h="1283956" w="1686949">
                <a:moveTo>
                  <a:pt x="0" y="0"/>
                </a:moveTo>
                <a:lnTo>
                  <a:pt x="1686950" y="0"/>
                </a:lnTo>
                <a:lnTo>
                  <a:pt x="1686950" y="1283956"/>
                </a:lnTo>
                <a:lnTo>
                  <a:pt x="0" y="1283956"/>
                </a:lnTo>
                <a:lnTo>
                  <a:pt x="0" y="0"/>
                </a:lnTo>
                <a:close/>
              </a:path>
            </a:pathLst>
          </a:custGeom>
          <a:blipFill>
            <a:blip r:embed="rId2"/>
            <a:stretch>
              <a:fillRect l="0" t="0" r="0" b="0"/>
            </a:stretch>
          </a:blipFill>
        </p:spPr>
      </p:sp>
      <p:sp>
        <p:nvSpPr>
          <p:cNvPr name="TextBox 9" id="9"/>
          <p:cNvSpPr txBox="true"/>
          <p:nvPr/>
        </p:nvSpPr>
        <p:spPr>
          <a:xfrm rot="0">
            <a:off x="2103120" y="566928"/>
            <a:ext cx="14081760" cy="946150"/>
          </a:xfrm>
          <a:prstGeom prst="rect">
            <a:avLst/>
          </a:prstGeom>
        </p:spPr>
        <p:txBody>
          <a:bodyPr anchor="t" rtlCol="false" tIns="0" lIns="0" bIns="0" rIns="0" wrap="square">
            <a:spAutoFit/>
          </a:bodyPr>
          <a:lstStyle/>
          <a:p>
            <a:pPr algn="ctr">
              <a:lnSpc>
                <a:spcPts val="7699"/>
              </a:lnSpc>
            </a:pPr>
            <a:r>
              <a:rPr lang="en-US" b="true" sz="5499">
                <a:solidFill>
                  <a:srgbClr val="457C5B"/>
                </a:solidFill>
                <a:latin typeface="Manifold Ultra-Bold"/>
                <a:ea typeface="Manifold Ultra-Bold"/>
                <a:cs typeface="Manifold Ultra-Bold"/>
                <a:sym typeface="Manifold Ultra-Bold"/>
              </a:rPr>
              <a:t>STEP B: FIX WITH SIMPLE RULES</a:t>
            </a:r>
          </a:p>
        </p:txBody>
      </p:sp>
      <p:pic>
        <p:nvPicPr>
          <p:cNvPr id="10" name="Picture 9" descr="story_stage-b.png"/>
          <p:cNvPicPr>
            <a:picLocks noChangeAspect="1"/>
          </p:cNvPicPr>
          <p:nvPr/>
        </p:nvPicPr>
        <p:blipFill>
          <a:blip r:embed="rId3"/>
          <a:stretch>
            <a:fillRect/>
          </a:stretch>
        </p:blipFill>
        <p:spPr>
          <a:xfrm>
            <a:off x="914400" y="2057400"/>
            <a:ext cx="8595360" cy="5428648"/>
          </a:xfrm>
          <a:prstGeom prst="rect">
            <a:avLst/>
          </a:prstGeom>
          <a:ln w="19050">
            <a:solidFill>
              <a:srgbClr val="457C5B"/>
            </a:solidFill>
          </a:ln>
        </p:spPr>
      </p:pic>
      <p:sp>
        <p:nvSpPr>
          <p:cNvPr id="11" name="Rounded Rectangle 10"/>
          <p:cNvSpPr/>
          <p:nvPr/>
        </p:nvSpPr>
        <p:spPr>
          <a:xfrm>
            <a:off x="9966960" y="2057400"/>
            <a:ext cx="7406640" cy="2651760"/>
          </a:xfrm>
          <a:prstGeom prst="roundRect">
            <a:avLst>
              <a:gd name="adj" fmla="val 7000"/>
            </a:avLst>
          </a:prstGeom>
          <a:solidFill>
            <a:srgbClr val="FFFFFF"/>
          </a:solidFill>
          <a:ln w="19050">
            <a:solidFill>
              <a:srgbClr val="457C5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0241280" y="2194560"/>
            <a:ext cx="6858000" cy="457200"/>
          </a:xfrm>
          <a:prstGeom prst="rect">
            <a:avLst/>
          </a:prstGeom>
          <a:noFill/>
        </p:spPr>
        <p:txBody>
          <a:bodyPr wrap="square" anchor="t" lIns="0" rIns="0" tIns="0" bIns="0">
            <a:spAutoFit/>
          </a:bodyPr>
          <a:lstStyle/>
          <a:p>
            <a:pPr algn="l">
              <a:lnSpc>
                <a:spcPct val="110000"/>
              </a:lnSpc>
              <a:spcAft>
                <a:spcPts val="600"/>
              </a:spcAft>
            </a:pPr>
            <a:r>
              <a:rPr sz="1700" b="1">
                <a:solidFill>
                  <a:srgbClr val="8E1711"/>
                </a:solidFill>
                <a:latin typeface="Manifold Bold"/>
              </a:rPr>
              <a:t>BEFORE</a:t>
            </a:r>
          </a:p>
        </p:txBody>
      </p:sp>
      <p:sp>
        <p:nvSpPr>
          <p:cNvPr id="13" name="TextBox 12"/>
          <p:cNvSpPr txBox="1"/>
          <p:nvPr/>
        </p:nvSpPr>
        <p:spPr>
          <a:xfrm>
            <a:off x="10241280" y="2606040"/>
            <a:ext cx="6858000" cy="731520"/>
          </a:xfrm>
          <a:prstGeom prst="rect">
            <a:avLst/>
          </a:prstGeom>
          <a:noFill/>
        </p:spPr>
        <p:txBody>
          <a:bodyPr wrap="square" anchor="t" lIns="0" rIns="0" tIns="0" bIns="0">
            <a:spAutoFit/>
          </a:bodyPr>
          <a:lstStyle/>
          <a:p>
            <a:pPr algn="l">
              <a:lnSpc>
                <a:spcPct val="100000"/>
              </a:lnSpc>
              <a:spcAft>
                <a:spcPts val="600"/>
              </a:spcAft>
            </a:pPr>
            <a:r>
              <a:rPr sz="1700" b="0">
                <a:solidFill>
                  <a:srgbClr val="1E4926"/>
                </a:solidFill>
                <a:latin typeface="Courier New"/>
              </a:rPr>
              <a:t>hey can you just tell me if this review is good or bad</a:t>
            </a:r>
          </a:p>
        </p:txBody>
      </p:sp>
      <p:sp>
        <p:nvSpPr>
          <p:cNvPr id="14" name="TextBox 13"/>
          <p:cNvSpPr txBox="1"/>
          <p:nvPr/>
        </p:nvSpPr>
        <p:spPr>
          <a:xfrm>
            <a:off x="10241280" y="3383280"/>
            <a:ext cx="6858000" cy="457200"/>
          </a:xfrm>
          <a:prstGeom prst="rect">
            <a:avLst/>
          </a:prstGeom>
          <a:noFill/>
        </p:spPr>
        <p:txBody>
          <a:bodyPr wrap="square" anchor="t" lIns="0" rIns="0" tIns="0" bIns="0">
            <a:spAutoFit/>
          </a:bodyPr>
          <a:lstStyle/>
          <a:p>
            <a:pPr algn="l">
              <a:lnSpc>
                <a:spcPct val="110000"/>
              </a:lnSpc>
              <a:spcAft>
                <a:spcPts val="600"/>
              </a:spcAft>
            </a:pPr>
            <a:r>
              <a:rPr sz="1700" b="1">
                <a:solidFill>
                  <a:srgbClr val="457C5B"/>
                </a:solidFill>
                <a:latin typeface="Manifold Bold"/>
              </a:rPr>
              <a:t>AFTER</a:t>
            </a:r>
          </a:p>
        </p:txBody>
      </p:sp>
      <p:sp>
        <p:nvSpPr>
          <p:cNvPr id="15" name="TextBox 14"/>
          <p:cNvSpPr txBox="1"/>
          <p:nvPr/>
        </p:nvSpPr>
        <p:spPr>
          <a:xfrm>
            <a:off x="10241280" y="3794760"/>
            <a:ext cx="6858000" cy="731520"/>
          </a:xfrm>
          <a:prstGeom prst="rect">
            <a:avLst/>
          </a:prstGeom>
          <a:noFill/>
        </p:spPr>
        <p:txBody>
          <a:bodyPr wrap="square" anchor="t" lIns="0" rIns="0" tIns="0" bIns="0">
            <a:spAutoFit/>
          </a:bodyPr>
          <a:lstStyle/>
          <a:p>
            <a:pPr algn="l">
              <a:lnSpc>
                <a:spcPct val="100000"/>
              </a:lnSpc>
              <a:spcAft>
                <a:spcPts val="600"/>
              </a:spcAft>
            </a:pPr>
            <a:r>
              <a:rPr sz="1700" b="0">
                <a:solidFill>
                  <a:srgbClr val="1E4926"/>
                </a:solidFill>
                <a:latin typeface="Courier New"/>
              </a:rPr>
              <a:t>Tell me if this review is good or bad.</a:t>
            </a:r>
          </a:p>
        </p:txBody>
      </p:sp>
      <p:sp>
        <p:nvSpPr>
          <p:cNvPr id="16" name="TextBox 15"/>
          <p:cNvSpPr txBox="1"/>
          <p:nvPr/>
        </p:nvSpPr>
        <p:spPr>
          <a:xfrm>
            <a:off x="9966960" y="4937760"/>
            <a:ext cx="7406640" cy="457200"/>
          </a:xfrm>
          <a:prstGeom prst="rect">
            <a:avLst/>
          </a:prstGeom>
          <a:noFill/>
        </p:spPr>
        <p:txBody>
          <a:bodyPr wrap="square" anchor="t" lIns="0" rIns="0" tIns="0" bIns="0">
            <a:spAutoFit/>
          </a:bodyPr>
          <a:lstStyle/>
          <a:p>
            <a:pPr algn="l">
              <a:lnSpc>
                <a:spcPct val="110000"/>
              </a:lnSpc>
              <a:spcAft>
                <a:spcPts val="600"/>
              </a:spcAft>
            </a:pPr>
            <a:r>
              <a:rPr sz="1900" b="1">
                <a:solidFill>
                  <a:srgbClr val="457C5B"/>
                </a:solidFill>
                <a:latin typeface="Manifold Bold"/>
              </a:rPr>
              <a:t>15 SMALL RULES, EACH ONE TESTED</a:t>
            </a:r>
          </a:p>
        </p:txBody>
      </p:sp>
      <p:sp>
        <p:nvSpPr>
          <p:cNvPr id="17" name="Rounded Rectangle 16"/>
          <p:cNvSpPr/>
          <p:nvPr/>
        </p:nvSpPr>
        <p:spPr>
          <a:xfrm>
            <a:off x="9966960" y="5532120"/>
            <a:ext cx="2377440" cy="603504"/>
          </a:xfrm>
          <a:prstGeom prst="roundRect">
            <a:avLst>
              <a:gd name="adj" fmla="val 7000"/>
            </a:avLst>
          </a:prstGeom>
          <a:solidFill>
            <a:srgbClr val="E4F2EA"/>
          </a:solidFill>
          <a:ln w="19050">
            <a:solidFill>
              <a:srgbClr val="8AB79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0058400" y="5532120"/>
            <a:ext cx="2194560" cy="603504"/>
          </a:xfrm>
          <a:prstGeom prst="rect">
            <a:avLst/>
          </a:prstGeom>
          <a:noFill/>
        </p:spPr>
        <p:txBody>
          <a:bodyPr wrap="square" anchor="ctr" lIns="0" rIns="0" tIns="0" bIns="0">
            <a:spAutoFit/>
          </a:bodyPr>
          <a:lstStyle/>
          <a:p>
            <a:pPr algn="ctr">
              <a:lnSpc>
                <a:spcPct val="110000"/>
              </a:lnSpc>
              <a:spcAft>
                <a:spcPts val="600"/>
              </a:spcAft>
            </a:pPr>
            <a:r>
              <a:rPr sz="1500" b="0">
                <a:solidFill>
                  <a:srgbClr val="1E4926"/>
                </a:solidFill>
                <a:latin typeface="Lato"/>
              </a:rPr>
              <a:t>remove filler</a:t>
            </a:r>
          </a:p>
        </p:txBody>
      </p:sp>
      <p:sp>
        <p:nvSpPr>
          <p:cNvPr id="19" name="Rounded Rectangle 18"/>
          <p:cNvSpPr/>
          <p:nvPr/>
        </p:nvSpPr>
        <p:spPr>
          <a:xfrm>
            <a:off x="12481560" y="5532120"/>
            <a:ext cx="2377440" cy="603504"/>
          </a:xfrm>
          <a:prstGeom prst="roundRect">
            <a:avLst>
              <a:gd name="adj" fmla="val 7000"/>
            </a:avLst>
          </a:prstGeom>
          <a:solidFill>
            <a:srgbClr val="E4F2EA"/>
          </a:solidFill>
          <a:ln w="19050">
            <a:solidFill>
              <a:srgbClr val="8AB79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2573000" y="5532120"/>
            <a:ext cx="2194560" cy="603504"/>
          </a:xfrm>
          <a:prstGeom prst="rect">
            <a:avLst/>
          </a:prstGeom>
          <a:noFill/>
        </p:spPr>
        <p:txBody>
          <a:bodyPr wrap="square" anchor="ctr" lIns="0" rIns="0" tIns="0" bIns="0">
            <a:spAutoFit/>
          </a:bodyPr>
          <a:lstStyle/>
          <a:p>
            <a:pPr algn="ctr">
              <a:lnSpc>
                <a:spcPct val="110000"/>
              </a:lnSpc>
              <a:spcAft>
                <a:spcPts val="600"/>
              </a:spcAft>
            </a:pPr>
            <a:r>
              <a:rPr sz="1500" b="0">
                <a:solidFill>
                  <a:srgbClr val="1E4926"/>
                </a:solidFill>
                <a:latin typeface="Lato"/>
              </a:rPr>
              <a:t>remove repeats</a:t>
            </a:r>
          </a:p>
        </p:txBody>
      </p:sp>
      <p:sp>
        <p:nvSpPr>
          <p:cNvPr id="21" name="Rounded Rectangle 20"/>
          <p:cNvSpPr/>
          <p:nvPr/>
        </p:nvSpPr>
        <p:spPr>
          <a:xfrm>
            <a:off x="14996159" y="5532120"/>
            <a:ext cx="2377440" cy="603504"/>
          </a:xfrm>
          <a:prstGeom prst="roundRect">
            <a:avLst>
              <a:gd name="adj" fmla="val 7000"/>
            </a:avLst>
          </a:prstGeom>
          <a:solidFill>
            <a:srgbClr val="E4F2EA"/>
          </a:solidFill>
          <a:ln w="19050">
            <a:solidFill>
              <a:srgbClr val="8AB79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15087600" y="5532120"/>
            <a:ext cx="2194560" cy="603504"/>
          </a:xfrm>
          <a:prstGeom prst="rect">
            <a:avLst/>
          </a:prstGeom>
          <a:noFill/>
        </p:spPr>
        <p:txBody>
          <a:bodyPr wrap="square" anchor="ctr" lIns="0" rIns="0" tIns="0" bIns="0">
            <a:spAutoFit/>
          </a:bodyPr>
          <a:lstStyle/>
          <a:p>
            <a:pPr algn="ctr">
              <a:lnSpc>
                <a:spcPct val="110000"/>
              </a:lnSpc>
              <a:spcAft>
                <a:spcPts val="600"/>
              </a:spcAft>
            </a:pPr>
            <a:r>
              <a:rPr sz="1500" b="0">
                <a:solidFill>
                  <a:srgbClr val="1E4926"/>
                </a:solidFill>
                <a:latin typeface="Lato"/>
              </a:rPr>
              <a:t>move pasted data</a:t>
            </a:r>
          </a:p>
        </p:txBody>
      </p:sp>
      <p:sp>
        <p:nvSpPr>
          <p:cNvPr id="23" name="Rounded Rectangle 22"/>
          <p:cNvSpPr/>
          <p:nvPr/>
        </p:nvSpPr>
        <p:spPr>
          <a:xfrm>
            <a:off x="9966960" y="6281928"/>
            <a:ext cx="2377440" cy="603504"/>
          </a:xfrm>
          <a:prstGeom prst="roundRect">
            <a:avLst>
              <a:gd name="adj" fmla="val 7000"/>
            </a:avLst>
          </a:prstGeom>
          <a:solidFill>
            <a:srgbClr val="E4F2EA"/>
          </a:solidFill>
          <a:ln w="19050">
            <a:solidFill>
              <a:srgbClr val="8AB79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10058400" y="6281928"/>
            <a:ext cx="2194560" cy="603504"/>
          </a:xfrm>
          <a:prstGeom prst="rect">
            <a:avLst/>
          </a:prstGeom>
          <a:noFill/>
        </p:spPr>
        <p:txBody>
          <a:bodyPr wrap="square" anchor="ctr" lIns="0" rIns="0" tIns="0" bIns="0">
            <a:spAutoFit/>
          </a:bodyPr>
          <a:lstStyle/>
          <a:p>
            <a:pPr algn="ctr">
              <a:lnSpc>
                <a:spcPct val="110000"/>
              </a:lnSpc>
              <a:spcAft>
                <a:spcPts val="600"/>
              </a:spcAft>
            </a:pPr>
            <a:r>
              <a:rPr sz="1500" b="0">
                <a:solidFill>
                  <a:srgbClr val="1E4926"/>
                </a:solidFill>
                <a:latin typeface="Lato"/>
              </a:rPr>
              <a:t>add answer format</a:t>
            </a:r>
          </a:p>
        </p:txBody>
      </p:sp>
      <p:sp>
        <p:nvSpPr>
          <p:cNvPr id="25" name="Rounded Rectangle 24"/>
          <p:cNvSpPr/>
          <p:nvPr/>
        </p:nvSpPr>
        <p:spPr>
          <a:xfrm>
            <a:off x="12481560" y="6281928"/>
            <a:ext cx="2377440" cy="603504"/>
          </a:xfrm>
          <a:prstGeom prst="roundRect">
            <a:avLst>
              <a:gd name="adj" fmla="val 7000"/>
            </a:avLst>
          </a:prstGeom>
          <a:solidFill>
            <a:srgbClr val="E4F2EA"/>
          </a:solidFill>
          <a:ln w="19050">
            <a:solidFill>
              <a:srgbClr val="8AB79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12573000" y="6281928"/>
            <a:ext cx="2194560" cy="603504"/>
          </a:xfrm>
          <a:prstGeom prst="rect">
            <a:avLst/>
          </a:prstGeom>
          <a:noFill/>
        </p:spPr>
        <p:txBody>
          <a:bodyPr wrap="square" anchor="ctr" lIns="0" rIns="0" tIns="0" bIns="0">
            <a:spAutoFit/>
          </a:bodyPr>
          <a:lstStyle/>
          <a:p>
            <a:pPr algn="ctr">
              <a:lnSpc>
                <a:spcPct val="110000"/>
              </a:lnSpc>
              <a:spcAft>
                <a:spcPts val="600"/>
              </a:spcAft>
            </a:pPr>
            <a:r>
              <a:rPr sz="1500" b="0">
                <a:solidFill>
                  <a:srgbClr val="1E4926"/>
                </a:solidFill>
                <a:latin typeface="Lato"/>
              </a:rPr>
              <a:t>add length</a:t>
            </a:r>
          </a:p>
        </p:txBody>
      </p:sp>
      <p:sp>
        <p:nvSpPr>
          <p:cNvPr id="27" name="Rounded Rectangle 26"/>
          <p:cNvSpPr/>
          <p:nvPr/>
        </p:nvSpPr>
        <p:spPr>
          <a:xfrm>
            <a:off x="14996159" y="6281928"/>
            <a:ext cx="2377440" cy="603504"/>
          </a:xfrm>
          <a:prstGeom prst="roundRect">
            <a:avLst>
              <a:gd name="adj" fmla="val 7000"/>
            </a:avLst>
          </a:prstGeom>
          <a:solidFill>
            <a:srgbClr val="E4F2EA"/>
          </a:solidFill>
          <a:ln w="19050">
            <a:solidFill>
              <a:srgbClr val="8AB79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15087600" y="6281928"/>
            <a:ext cx="2194560" cy="603504"/>
          </a:xfrm>
          <a:prstGeom prst="rect">
            <a:avLst/>
          </a:prstGeom>
          <a:noFill/>
        </p:spPr>
        <p:txBody>
          <a:bodyPr wrap="square" anchor="ctr" lIns="0" rIns="0" tIns="0" bIns="0">
            <a:spAutoFit/>
          </a:bodyPr>
          <a:lstStyle/>
          <a:p>
            <a:pPr algn="ctr">
              <a:lnSpc>
                <a:spcPct val="110000"/>
              </a:lnSpc>
              <a:spcAft>
                <a:spcPts val="600"/>
              </a:spcAft>
            </a:pPr>
            <a:r>
              <a:rPr sz="1500" b="0">
                <a:solidFill>
                  <a:srgbClr val="1E4926"/>
                </a:solidFill>
                <a:latin typeface="Lato"/>
              </a:rPr>
              <a:t>add language</a:t>
            </a:r>
          </a:p>
        </p:txBody>
      </p:sp>
      <p:sp>
        <p:nvSpPr>
          <p:cNvPr id="29" name="Rounded Rectangle 28"/>
          <p:cNvSpPr/>
          <p:nvPr/>
        </p:nvSpPr>
        <p:spPr>
          <a:xfrm>
            <a:off x="9966960" y="7031736"/>
            <a:ext cx="2377440" cy="603504"/>
          </a:xfrm>
          <a:prstGeom prst="roundRect">
            <a:avLst>
              <a:gd name="adj" fmla="val 7000"/>
            </a:avLst>
          </a:prstGeom>
          <a:solidFill>
            <a:srgbClr val="E4F2EA"/>
          </a:solidFill>
          <a:ln w="19050">
            <a:solidFill>
              <a:srgbClr val="8AB79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058400" y="7031736"/>
            <a:ext cx="2194560" cy="603504"/>
          </a:xfrm>
          <a:prstGeom prst="rect">
            <a:avLst/>
          </a:prstGeom>
          <a:noFill/>
        </p:spPr>
        <p:txBody>
          <a:bodyPr wrap="square" anchor="ctr" lIns="0" rIns="0" tIns="0" bIns="0">
            <a:spAutoFit/>
          </a:bodyPr>
          <a:lstStyle/>
          <a:p>
            <a:pPr algn="ctr">
              <a:lnSpc>
                <a:spcPct val="110000"/>
              </a:lnSpc>
              <a:spcAft>
                <a:spcPts val="600"/>
              </a:spcAft>
            </a:pPr>
            <a:r>
              <a:rPr sz="1500" b="0">
                <a:solidFill>
                  <a:srgbClr val="1E4926"/>
                </a:solidFill>
                <a:latin typeface="Lato"/>
              </a:rPr>
              <a:t>list the labels</a:t>
            </a:r>
          </a:p>
        </p:txBody>
      </p:sp>
      <p:sp>
        <p:nvSpPr>
          <p:cNvPr id="31" name="Rounded Rectangle 30"/>
          <p:cNvSpPr/>
          <p:nvPr/>
        </p:nvSpPr>
        <p:spPr>
          <a:xfrm>
            <a:off x="12481560" y="7031736"/>
            <a:ext cx="2377440" cy="603504"/>
          </a:xfrm>
          <a:prstGeom prst="roundRect">
            <a:avLst>
              <a:gd name="adj" fmla="val 7000"/>
            </a:avLst>
          </a:prstGeom>
          <a:solidFill>
            <a:srgbClr val="E4F2EA"/>
          </a:solidFill>
          <a:ln w="19050">
            <a:solidFill>
              <a:srgbClr val="8AB79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12573000" y="7031736"/>
            <a:ext cx="2194560" cy="603504"/>
          </a:xfrm>
          <a:prstGeom prst="rect">
            <a:avLst/>
          </a:prstGeom>
          <a:noFill/>
        </p:spPr>
        <p:txBody>
          <a:bodyPr wrap="square" anchor="ctr" lIns="0" rIns="0" tIns="0" bIns="0">
            <a:spAutoFit/>
          </a:bodyPr>
          <a:lstStyle/>
          <a:p>
            <a:pPr algn="ctr">
              <a:lnSpc>
                <a:spcPct val="110000"/>
              </a:lnSpc>
              <a:spcAft>
                <a:spcPts val="600"/>
              </a:spcAft>
            </a:pPr>
            <a:r>
              <a:rPr sz="1500" b="0">
                <a:solidFill>
                  <a:srgbClr val="1E4926"/>
                </a:solidFill>
                <a:latin typeface="Lato"/>
              </a:rPr>
              <a:t>answer from the text</a:t>
            </a:r>
          </a:p>
        </p:txBody>
      </p:sp>
      <p:sp>
        <p:nvSpPr>
          <p:cNvPr id="33" name="Rounded Rectangle 32"/>
          <p:cNvSpPr/>
          <p:nvPr/>
        </p:nvSpPr>
        <p:spPr>
          <a:xfrm>
            <a:off x="14996159" y="7031736"/>
            <a:ext cx="2377440" cy="603504"/>
          </a:xfrm>
          <a:prstGeom prst="roundRect">
            <a:avLst>
              <a:gd name="adj" fmla="val 7000"/>
            </a:avLst>
          </a:prstGeom>
          <a:solidFill>
            <a:srgbClr val="E4F2EA"/>
          </a:solidFill>
          <a:ln w="19050">
            <a:solidFill>
              <a:srgbClr val="8AB79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15087600" y="7031736"/>
            <a:ext cx="2194560" cy="603504"/>
          </a:xfrm>
          <a:prstGeom prst="rect">
            <a:avLst/>
          </a:prstGeom>
          <a:noFill/>
        </p:spPr>
        <p:txBody>
          <a:bodyPr wrap="square" anchor="ctr" lIns="0" rIns="0" tIns="0" bIns="0">
            <a:spAutoFit/>
          </a:bodyPr>
          <a:lstStyle/>
          <a:p>
            <a:pPr algn="ctr">
              <a:lnSpc>
                <a:spcPct val="110000"/>
              </a:lnSpc>
              <a:spcAft>
                <a:spcPts val="600"/>
              </a:spcAft>
            </a:pPr>
            <a:r>
              <a:rPr sz="1500" b="0">
                <a:solidFill>
                  <a:srgbClr val="1E4926"/>
                </a:solidFill>
                <a:latin typeface="Lato"/>
              </a:rPr>
              <a:t>attachments</a:t>
            </a:r>
          </a:p>
        </p:txBody>
      </p:sp>
      <p:sp>
        <p:nvSpPr>
          <p:cNvPr id="35" name="Rounded Rectangle 34"/>
          <p:cNvSpPr/>
          <p:nvPr/>
        </p:nvSpPr>
        <p:spPr>
          <a:xfrm>
            <a:off x="9966960" y="7863840"/>
            <a:ext cx="7406640" cy="1508760"/>
          </a:xfrm>
          <a:prstGeom prst="roundRect">
            <a:avLst>
              <a:gd name="adj" fmla="val 7000"/>
            </a:avLst>
          </a:prstGeom>
          <a:solidFill>
            <a:srgbClr val="1E49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10241280" y="7973568"/>
            <a:ext cx="6858000" cy="1325880"/>
          </a:xfrm>
          <a:prstGeom prst="rect">
            <a:avLst/>
          </a:prstGeom>
          <a:noFill/>
        </p:spPr>
        <p:txBody>
          <a:bodyPr wrap="square" anchor="ctr" lIns="0" rIns="0" tIns="0" bIns="0">
            <a:spAutoFit/>
          </a:bodyPr>
          <a:lstStyle/>
          <a:p>
            <a:pPr algn="l">
              <a:lnSpc>
                <a:spcPct val="110000"/>
              </a:lnSpc>
              <a:spcAft>
                <a:spcPts val="600"/>
              </a:spcAft>
            </a:pPr>
            <a:r>
              <a:rPr sz="1800" b="0">
                <a:solidFill>
                  <a:srgbClr val="F5FFF9"/>
                </a:solidFill>
                <a:latin typeface="Lato"/>
              </a:rPr>
              <a:t>Not sure of the task? Then no rule adds a format. The question goes to Step C.</a:t>
            </a:r>
          </a:p>
        </p:txBody>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bg>
      <p:bgPr>
        <a:solidFill>
          <a:srgbClr val="F5FFF9"/>
        </a:solidFill>
      </p:bgPr>
    </p:bg>
    <p:spTree>
      <p:nvGrpSpPr>
        <p:cNvPr id="1" name=""/>
        <p:cNvGrpSpPr/>
        <p:nvPr/>
      </p:nvGrpSpPr>
      <p:grpSpPr>
        <a:xfrm>
          <a:off x="0" y="0"/>
          <a:ext cx="0" cy="0"/>
          <a:chOff x="0" y="0"/>
          <a:chExt cx="0" cy="0"/>
        </a:xfrm>
      </p:grpSpPr>
      <p:grpSp>
        <p:nvGrpSpPr>
          <p:cNvPr name="Group 5" id="5"/>
          <p:cNvGrpSpPr/>
          <p:nvPr/>
        </p:nvGrpSpPr>
        <p:grpSpPr>
          <a:xfrm rot="9405415">
            <a:off x="-472062" y="-2812968"/>
            <a:ext cx="5159957" cy="5159957"/>
            <a:chOff x="0" y="0"/>
            <a:chExt cx="812800" cy="812800"/>
          </a:xfrm>
        </p:grpSpPr>
        <p:sp>
          <p:nvSpPr>
            <p:cNvPr name="Freeform 6" id="6"/>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true">
              <a:gsLst>
                <a:gs pos="0">
                  <a:srgbClr val="9FC4AE">
                    <a:alpha val="66000"/>
                  </a:srgbClr>
                </a:gs>
                <a:gs pos="100000">
                  <a:srgbClr val="FFFFFF">
                    <a:alpha val="66000"/>
                  </a:srgbClr>
                </a:gs>
              </a:gsLst>
              <a:lin ang="0"/>
            </a:gradFill>
          </p:spPr>
        </p:sp>
        <p:sp>
          <p:nvSpPr>
            <p:cNvPr name="TextBox 7" id="7"/>
            <p:cNvSpPr txBox="true"/>
            <p:nvPr/>
          </p:nvSpPr>
          <p:spPr>
            <a:xfrm>
              <a:off x="76200" y="28575"/>
              <a:ext cx="660400" cy="708025"/>
            </a:xfrm>
            <a:prstGeom prst="rect">
              <a:avLst/>
            </a:prstGeom>
          </p:spPr>
          <p:txBody>
            <a:bodyPr anchor="ctr" rtlCol="false" tIns="50800" lIns="50800" bIns="50800" rIns="50800"/>
            <a:lstStyle/>
            <a:p>
              <a:pPr algn="ctr">
                <a:lnSpc>
                  <a:spcPts val="2936"/>
                </a:lnSpc>
              </a:pPr>
            </a:p>
          </p:txBody>
        </p:sp>
      </p:grpSp>
      <p:grpSp>
        <p:nvGrpSpPr>
          <p:cNvPr name="Group 8" id="8"/>
          <p:cNvGrpSpPr/>
          <p:nvPr/>
        </p:nvGrpSpPr>
        <p:grpSpPr>
          <a:xfrm rot="6936434">
            <a:off x="7303621" y="9528913"/>
            <a:ext cx="5817847" cy="5817847"/>
            <a:chOff x="0" y="0"/>
            <a:chExt cx="812800" cy="812800"/>
          </a:xfrm>
        </p:grpSpPr>
        <p:sp>
          <p:nvSpPr>
            <p:cNvPr name="Freeform 9" id="9"/>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true">
              <a:gsLst>
                <a:gs pos="0">
                  <a:srgbClr val="9FC4AE">
                    <a:alpha val="66000"/>
                  </a:srgbClr>
                </a:gs>
                <a:gs pos="100000">
                  <a:srgbClr val="FFFFFF">
                    <a:alpha val="66000"/>
                  </a:srgbClr>
                </a:gs>
              </a:gsLst>
              <a:lin ang="0"/>
            </a:gradFill>
          </p:spPr>
        </p:sp>
        <p:sp>
          <p:nvSpPr>
            <p:cNvPr name="TextBox 10" id="10"/>
            <p:cNvSpPr txBox="true"/>
            <p:nvPr/>
          </p:nvSpPr>
          <p:spPr>
            <a:xfrm>
              <a:off x="76200" y="28575"/>
              <a:ext cx="660400" cy="708025"/>
            </a:xfrm>
            <a:prstGeom prst="rect">
              <a:avLst/>
            </a:prstGeom>
          </p:spPr>
          <p:txBody>
            <a:bodyPr anchor="ctr" rtlCol="false" tIns="50800" lIns="50800" bIns="50800" rIns="50800"/>
            <a:lstStyle/>
            <a:p>
              <a:pPr algn="ctr">
                <a:lnSpc>
                  <a:spcPts val="2936"/>
                </a:lnSpc>
              </a:pPr>
            </a:p>
          </p:txBody>
        </p:sp>
      </p:grpSp>
      <p:sp>
        <p:nvSpPr>
          <p:cNvPr name="Freeform 11" id="11"/>
          <p:cNvSpPr/>
          <p:nvPr/>
        </p:nvSpPr>
        <p:spPr>
          <a:xfrm flipH="false" flipV="false" rot="0">
            <a:off x="185225" y="296308"/>
            <a:ext cx="1686949" cy="1283956"/>
          </a:xfrm>
          <a:custGeom>
            <a:avLst/>
            <a:gdLst/>
            <a:ahLst/>
            <a:cxnLst/>
            <a:rect r="r" b="b" t="t" l="l"/>
            <a:pathLst>
              <a:path h="1283956" w="1686949">
                <a:moveTo>
                  <a:pt x="0" y="0"/>
                </a:moveTo>
                <a:lnTo>
                  <a:pt x="1686950" y="0"/>
                </a:lnTo>
                <a:lnTo>
                  <a:pt x="1686950" y="1283956"/>
                </a:lnTo>
                <a:lnTo>
                  <a:pt x="0" y="1283956"/>
                </a:lnTo>
                <a:lnTo>
                  <a:pt x="0" y="0"/>
                </a:lnTo>
                <a:close/>
              </a:path>
            </a:pathLst>
          </a:custGeom>
          <a:blipFill>
            <a:blip r:embed="rId2"/>
            <a:stretch>
              <a:fillRect l="0" t="0" r="0" b="0"/>
            </a:stretch>
          </a:blipFill>
        </p:spPr>
      </p:sp>
      <p:sp>
        <p:nvSpPr>
          <p:cNvPr name="TextBox 50" id="50"/>
          <p:cNvSpPr txBox="true"/>
          <p:nvPr/>
        </p:nvSpPr>
        <p:spPr>
          <a:xfrm rot="0">
            <a:off x="2103120" y="566928"/>
            <a:ext cx="14081760" cy="946150"/>
          </a:xfrm>
          <a:prstGeom prst="rect">
            <a:avLst/>
          </a:prstGeom>
        </p:spPr>
        <p:txBody>
          <a:bodyPr anchor="t" rtlCol="false" tIns="0" lIns="0" bIns="0" rIns="0" wrap="square">
            <a:spAutoFit/>
          </a:bodyPr>
          <a:lstStyle/>
          <a:p>
            <a:pPr algn="ctr">
              <a:lnSpc>
                <a:spcPts val="7699"/>
              </a:lnSpc>
            </a:pPr>
            <a:r>
              <a:rPr lang="en-US" b="true" sz="5499">
                <a:solidFill>
                  <a:srgbClr val="457C5B"/>
                </a:solidFill>
                <a:latin typeface="Manifold Ultra-Bold"/>
                <a:ea typeface="Manifold Ultra-Bold"/>
                <a:cs typeface="Manifold Ultra-Bold"/>
                <a:sym typeface="Manifold Ultra-Bold"/>
              </a:rPr>
              <a:t>STEP C: A SMALL MODEL, ONLY WHEN STUCK</a:t>
            </a:r>
          </a:p>
        </p:txBody>
      </p:sp>
      <p:sp>
        <p:nvSpPr>
          <p:cNvPr id="51" name="Rounded Rectangle 50"/>
          <p:cNvSpPr/>
          <p:nvPr/>
        </p:nvSpPr>
        <p:spPr>
          <a:xfrm>
            <a:off x="914400" y="1965960"/>
            <a:ext cx="11247120" cy="5486400"/>
          </a:xfrm>
          <a:prstGeom prst="roundRect">
            <a:avLst>
              <a:gd name="adj" fmla="val 7000"/>
            </a:avLst>
          </a:prstGeom>
          <a:solidFill>
            <a:srgbClr val="FFFFFF"/>
          </a:solidFill>
          <a:ln w="19050">
            <a:solidFill>
              <a:srgbClr val="8AB79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2" name="Picture 51" descr="deck_stage_c_simple.png"/>
          <p:cNvPicPr>
            <a:picLocks noChangeAspect="1"/>
          </p:cNvPicPr>
          <p:nvPr/>
        </p:nvPicPr>
        <p:blipFill>
          <a:blip r:embed="rId10"/>
          <a:stretch>
            <a:fillRect/>
          </a:stretch>
        </p:blipFill>
        <p:spPr>
          <a:xfrm>
            <a:off x="1051560" y="2057400"/>
            <a:ext cx="11056490" cy="5303519"/>
          </a:xfrm>
          <a:prstGeom prst="rect">
            <a:avLst/>
          </a:prstGeom>
        </p:spPr>
      </p:pic>
      <p:sp>
        <p:nvSpPr>
          <p:cNvPr id="53" name="Rounded Rectangle 52"/>
          <p:cNvSpPr/>
          <p:nvPr/>
        </p:nvSpPr>
        <p:spPr>
          <a:xfrm>
            <a:off x="914400" y="7680960"/>
            <a:ext cx="11247120" cy="1691640"/>
          </a:xfrm>
          <a:prstGeom prst="roundRect">
            <a:avLst>
              <a:gd name="adj" fmla="val 7000"/>
            </a:avLst>
          </a:prstGeom>
          <a:solidFill>
            <a:srgbClr val="457C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1188720" y="7772400"/>
            <a:ext cx="10698480" cy="1508760"/>
          </a:xfrm>
          <a:prstGeom prst="rect">
            <a:avLst/>
          </a:prstGeom>
          <a:noFill/>
        </p:spPr>
        <p:txBody>
          <a:bodyPr wrap="square" anchor="ctr" lIns="0" rIns="0" tIns="0" bIns="0">
            <a:spAutoFit/>
          </a:bodyPr>
          <a:lstStyle/>
          <a:p>
            <a:pPr algn="l">
              <a:lnSpc>
                <a:spcPct val="110000"/>
              </a:lnSpc>
              <a:spcAft>
                <a:spcPts val="600"/>
              </a:spcAft>
            </a:pPr>
            <a:r>
              <a:rPr sz="1900" b="0">
                <a:solidFill>
                  <a:srgbClr val="F5FFF9"/>
                </a:solidFill>
                <a:latin typeface="Lato"/>
              </a:rPr>
              <a:t>For our example it added </a:t>
            </a:r>
            <a:r>
              <a:rPr sz="1900" b="1">
                <a:solidFill>
                  <a:srgbClr val="F5FFF9"/>
                </a:solidFill>
                <a:latin typeface="Manifold Bold"/>
              </a:rPr>
              <a:t>“Provide only the label.”</a:t>
            </a:r>
            <a:r>
              <a:rPr sz="1900" b="0">
                <a:solidFill>
                  <a:srgbClr val="F5FFF9"/>
                </a:solidFill>
                <a:latin typeface="Lato"/>
              </a:rPr>
              <a:t> and suggested </a:t>
            </a:r>
            <a:r>
              <a:rPr sz="1900" b="1">
                <a:solidFill>
                  <a:srgbClr val="F5FFF9"/>
                </a:solidFill>
                <a:latin typeface="Manifold Bold"/>
              </a:rPr>
              <a:t>“sort into a label”</a:t>
            </a:r>
            <a:r>
              <a:rPr sz="1900" b="0">
                <a:solidFill>
                  <a:srgbClr val="F5FFF9"/>
                </a:solidFill>
                <a:latin typeface="Lato"/>
              </a:rPr>
              <a:t>. The app asks the user to confirm.</a:t>
            </a:r>
          </a:p>
        </p:txBody>
      </p:sp>
      <p:sp>
        <p:nvSpPr>
          <p:cNvPr id="55" name="Rounded Rectangle 54"/>
          <p:cNvSpPr/>
          <p:nvPr/>
        </p:nvSpPr>
        <p:spPr>
          <a:xfrm>
            <a:off x="12527280" y="1965960"/>
            <a:ext cx="4846320" cy="2286000"/>
          </a:xfrm>
          <a:prstGeom prst="roundRect">
            <a:avLst>
              <a:gd name="adj" fmla="val 7000"/>
            </a:avLst>
          </a:prstGeom>
          <a:solidFill>
            <a:srgbClr val="457C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TextBox 55"/>
          <p:cNvSpPr txBox="1"/>
          <p:nvPr/>
        </p:nvSpPr>
        <p:spPr>
          <a:xfrm>
            <a:off x="12710159" y="2103120"/>
            <a:ext cx="4480559" cy="1143000"/>
          </a:xfrm>
          <a:prstGeom prst="rect">
            <a:avLst/>
          </a:prstGeom>
          <a:noFill/>
        </p:spPr>
        <p:txBody>
          <a:bodyPr wrap="square" anchor="ctr" lIns="0" rIns="0" tIns="0" bIns="0">
            <a:spAutoFit/>
          </a:bodyPr>
          <a:lstStyle/>
          <a:p>
            <a:pPr algn="ctr">
              <a:lnSpc>
                <a:spcPct val="110000"/>
              </a:lnSpc>
              <a:spcAft>
                <a:spcPts val="600"/>
              </a:spcAft>
            </a:pPr>
            <a:r>
              <a:rPr sz="4000" b="0">
                <a:solidFill>
                  <a:srgbClr val="F5FFF9"/>
                </a:solidFill>
                <a:latin typeface="Manifold Ultra-Bold"/>
              </a:rPr>
              <a:t>6 in 100</a:t>
            </a:r>
          </a:p>
        </p:txBody>
      </p:sp>
      <p:sp>
        <p:nvSpPr>
          <p:cNvPr id="57" name="TextBox 56"/>
          <p:cNvSpPr txBox="1"/>
          <p:nvPr/>
        </p:nvSpPr>
        <p:spPr>
          <a:xfrm>
            <a:off x="12755880" y="3291839"/>
            <a:ext cx="4389120" cy="914400"/>
          </a:xfrm>
          <a:prstGeom prst="rect">
            <a:avLst/>
          </a:prstGeom>
          <a:noFill/>
        </p:spPr>
        <p:txBody>
          <a:bodyPr wrap="square" anchor="t" lIns="0" rIns="0" tIns="0" bIns="0">
            <a:spAutoFit/>
          </a:bodyPr>
          <a:lstStyle/>
          <a:p>
            <a:pPr algn="ctr">
              <a:lnSpc>
                <a:spcPct val="110000"/>
              </a:lnSpc>
              <a:spcAft>
                <a:spcPts val="600"/>
              </a:spcAft>
            </a:pPr>
            <a:r>
              <a:rPr sz="1700" b="0">
                <a:solidFill>
                  <a:srgbClr val="F5FFF9"/>
                </a:solidFill>
                <a:latin typeface="Lato"/>
              </a:rPr>
              <a:t>prompts need Step C; the rules handle the rest</a:t>
            </a:r>
          </a:p>
        </p:txBody>
      </p:sp>
      <p:sp>
        <p:nvSpPr>
          <p:cNvPr id="58" name="Rounded Rectangle 57"/>
          <p:cNvSpPr/>
          <p:nvPr/>
        </p:nvSpPr>
        <p:spPr>
          <a:xfrm>
            <a:off x="12527280" y="4434840"/>
            <a:ext cx="4846320" cy="2514600"/>
          </a:xfrm>
          <a:prstGeom prst="roundRect">
            <a:avLst>
              <a:gd name="adj" fmla="val 7000"/>
            </a:avLst>
          </a:prstGeom>
          <a:solidFill>
            <a:srgbClr val="457C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TextBox 58"/>
          <p:cNvSpPr txBox="1"/>
          <p:nvPr/>
        </p:nvSpPr>
        <p:spPr>
          <a:xfrm>
            <a:off x="12801600" y="4526280"/>
            <a:ext cx="4297680" cy="411480"/>
          </a:xfrm>
          <a:prstGeom prst="rect">
            <a:avLst/>
          </a:prstGeom>
          <a:noFill/>
        </p:spPr>
        <p:txBody>
          <a:bodyPr wrap="square" anchor="t" lIns="0" rIns="0" tIns="0" bIns="0">
            <a:spAutoFit/>
          </a:bodyPr>
          <a:lstStyle/>
          <a:p>
            <a:pPr algn="l">
              <a:lnSpc>
                <a:spcPct val="110000"/>
              </a:lnSpc>
              <a:spcAft>
                <a:spcPts val="600"/>
              </a:spcAft>
            </a:pPr>
            <a:r>
              <a:rPr sz="1500" b="1">
                <a:solidFill>
                  <a:srgbClr val="F5FFF9"/>
                </a:solidFill>
                <a:latin typeface="Manifold Bold"/>
              </a:rPr>
              <a:t>ANSWERS THAT PASS THE CHECK</a:t>
            </a:r>
          </a:p>
        </p:txBody>
      </p:sp>
      <p:sp>
        <p:nvSpPr>
          <p:cNvPr id="60" name="TextBox 59"/>
          <p:cNvSpPr txBox="1"/>
          <p:nvPr/>
        </p:nvSpPr>
        <p:spPr>
          <a:xfrm>
            <a:off x="12801600" y="4983480"/>
            <a:ext cx="2377440" cy="822960"/>
          </a:xfrm>
          <a:prstGeom prst="rect">
            <a:avLst/>
          </a:prstGeom>
          <a:noFill/>
        </p:spPr>
        <p:txBody>
          <a:bodyPr wrap="square" anchor="ctr" lIns="0" rIns="0" tIns="0" bIns="0">
            <a:spAutoFit/>
          </a:bodyPr>
          <a:lstStyle/>
          <a:p>
            <a:pPr algn="l">
              <a:lnSpc>
                <a:spcPct val="110000"/>
              </a:lnSpc>
              <a:spcAft>
                <a:spcPts val="600"/>
              </a:spcAft>
            </a:pPr>
            <a:r>
              <a:rPr sz="3000" b="0">
                <a:solidFill>
                  <a:srgbClr val="F5FFF9"/>
                </a:solidFill>
                <a:latin typeface="Manifold Ultra-Bold"/>
              </a:rPr>
              <a:t>5 / 100</a:t>
            </a:r>
          </a:p>
        </p:txBody>
      </p:sp>
      <p:sp>
        <p:nvSpPr>
          <p:cNvPr id="61" name="TextBox 60"/>
          <p:cNvSpPr txBox="1"/>
          <p:nvPr/>
        </p:nvSpPr>
        <p:spPr>
          <a:xfrm>
            <a:off x="15270480" y="4983480"/>
            <a:ext cx="2011680" cy="822960"/>
          </a:xfrm>
          <a:prstGeom prst="rect">
            <a:avLst/>
          </a:prstGeom>
          <a:noFill/>
        </p:spPr>
        <p:txBody>
          <a:bodyPr wrap="square" anchor="ctr" lIns="0" rIns="0" tIns="0" bIns="0">
            <a:spAutoFit/>
          </a:bodyPr>
          <a:lstStyle/>
          <a:p>
            <a:pPr algn="l">
              <a:lnSpc>
                <a:spcPct val="110000"/>
              </a:lnSpc>
              <a:spcAft>
                <a:spcPts val="600"/>
              </a:spcAft>
            </a:pPr>
            <a:r>
              <a:rPr sz="1600" b="0">
                <a:solidFill>
                  <a:srgbClr val="9FC4AE"/>
                </a:solidFill>
                <a:latin typeface="Lato"/>
              </a:rPr>
              <a:t>before training</a:t>
            </a:r>
          </a:p>
        </p:txBody>
      </p:sp>
      <p:sp>
        <p:nvSpPr>
          <p:cNvPr id="62" name="TextBox 61"/>
          <p:cNvSpPr txBox="1"/>
          <p:nvPr/>
        </p:nvSpPr>
        <p:spPr>
          <a:xfrm>
            <a:off x="12801600" y="5943600"/>
            <a:ext cx="2377440" cy="822960"/>
          </a:xfrm>
          <a:prstGeom prst="rect">
            <a:avLst/>
          </a:prstGeom>
          <a:noFill/>
        </p:spPr>
        <p:txBody>
          <a:bodyPr wrap="square" anchor="ctr" lIns="0" rIns="0" tIns="0" bIns="0">
            <a:spAutoFit/>
          </a:bodyPr>
          <a:lstStyle/>
          <a:p>
            <a:pPr algn="l">
              <a:lnSpc>
                <a:spcPct val="110000"/>
              </a:lnSpc>
              <a:spcAft>
                <a:spcPts val="600"/>
              </a:spcAft>
            </a:pPr>
            <a:r>
              <a:rPr sz="3000" b="0">
                <a:solidFill>
                  <a:srgbClr val="F5FFF9"/>
                </a:solidFill>
                <a:latin typeface="Manifold Ultra-Bold"/>
              </a:rPr>
              <a:t>98 / 100</a:t>
            </a:r>
          </a:p>
        </p:txBody>
      </p:sp>
      <p:sp>
        <p:nvSpPr>
          <p:cNvPr id="63" name="TextBox 62"/>
          <p:cNvSpPr txBox="1"/>
          <p:nvPr/>
        </p:nvSpPr>
        <p:spPr>
          <a:xfrm>
            <a:off x="15270480" y="5943600"/>
            <a:ext cx="2011680" cy="822960"/>
          </a:xfrm>
          <a:prstGeom prst="rect">
            <a:avLst/>
          </a:prstGeom>
          <a:noFill/>
        </p:spPr>
        <p:txBody>
          <a:bodyPr wrap="square" anchor="ctr" lIns="0" rIns="0" tIns="0" bIns="0">
            <a:spAutoFit/>
          </a:bodyPr>
          <a:lstStyle/>
          <a:p>
            <a:pPr algn="l">
              <a:lnSpc>
                <a:spcPct val="110000"/>
              </a:lnSpc>
              <a:spcAft>
                <a:spcPts val="600"/>
              </a:spcAft>
            </a:pPr>
            <a:r>
              <a:rPr sz="1600" b="0">
                <a:solidFill>
                  <a:srgbClr val="9FC4AE"/>
                </a:solidFill>
                <a:latin typeface="Lato"/>
              </a:rPr>
              <a:t>after our training</a:t>
            </a:r>
          </a:p>
        </p:txBody>
      </p:sp>
      <p:sp>
        <p:nvSpPr>
          <p:cNvPr id="64" name="Rounded Rectangle 63"/>
          <p:cNvSpPr/>
          <p:nvPr/>
        </p:nvSpPr>
        <p:spPr>
          <a:xfrm>
            <a:off x="12527280" y="7132320"/>
            <a:ext cx="4846320" cy="2240280"/>
          </a:xfrm>
          <a:prstGeom prst="roundRect">
            <a:avLst>
              <a:gd name="adj" fmla="val 7000"/>
            </a:avLst>
          </a:prstGeom>
          <a:solidFill>
            <a:srgbClr val="457C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TextBox 64"/>
          <p:cNvSpPr txBox="1"/>
          <p:nvPr/>
        </p:nvSpPr>
        <p:spPr>
          <a:xfrm>
            <a:off x="12710159" y="7269480"/>
            <a:ext cx="4480559" cy="1120140"/>
          </a:xfrm>
          <a:prstGeom prst="rect">
            <a:avLst/>
          </a:prstGeom>
          <a:noFill/>
        </p:spPr>
        <p:txBody>
          <a:bodyPr wrap="square" anchor="ctr" lIns="0" rIns="0" tIns="0" bIns="0">
            <a:spAutoFit/>
          </a:bodyPr>
          <a:lstStyle/>
          <a:p>
            <a:pPr algn="ctr">
              <a:lnSpc>
                <a:spcPct val="110000"/>
              </a:lnSpc>
              <a:spcAft>
                <a:spcPts val="600"/>
              </a:spcAft>
            </a:pPr>
            <a:r>
              <a:rPr sz="4000" b="0">
                <a:solidFill>
                  <a:srgbClr val="F5FFF9"/>
                </a:solidFill>
                <a:latin typeface="Manifold Ultra-Bold"/>
              </a:rPr>
              <a:t>51 min</a:t>
            </a:r>
          </a:p>
        </p:txBody>
      </p:sp>
      <p:sp>
        <p:nvSpPr>
          <p:cNvPr id="66" name="TextBox 65"/>
          <p:cNvSpPr txBox="1"/>
          <p:nvPr/>
        </p:nvSpPr>
        <p:spPr>
          <a:xfrm>
            <a:off x="12755880" y="8431682"/>
            <a:ext cx="4389120" cy="896112"/>
          </a:xfrm>
          <a:prstGeom prst="rect">
            <a:avLst/>
          </a:prstGeom>
          <a:noFill/>
        </p:spPr>
        <p:txBody>
          <a:bodyPr wrap="square" anchor="t" lIns="0" rIns="0" tIns="0" bIns="0">
            <a:spAutoFit/>
          </a:bodyPr>
          <a:lstStyle/>
          <a:p>
            <a:pPr algn="ctr">
              <a:lnSpc>
                <a:spcPct val="110000"/>
              </a:lnSpc>
              <a:spcAft>
                <a:spcPts val="600"/>
              </a:spcAft>
            </a:pPr>
            <a:r>
              <a:rPr sz="1700" b="0">
                <a:solidFill>
                  <a:srgbClr val="F5FFF9"/>
                </a:solidFill>
                <a:latin typeface="Lato"/>
              </a:rPr>
              <a:t>to train on a 4 GB laptop GPU</a:t>
            </a:r>
          </a:p>
        </p:txBody>
      </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bg>
      <p:bgPr>
        <a:solidFill>
          <a:srgbClr val="F5FFF9"/>
        </a:solidFill>
      </p:bgPr>
    </p:bg>
    <p:spTree>
      <p:nvGrpSpPr>
        <p:cNvPr id="1" name=""/>
        <p:cNvGrpSpPr/>
        <p:nvPr/>
      </p:nvGrpSpPr>
      <p:grpSpPr>
        <a:xfrm>
          <a:off x="0" y="0"/>
          <a:ext cx="0" cy="0"/>
          <a:chOff x="0" y="0"/>
          <a:chExt cx="0" cy="0"/>
        </a:xfrm>
      </p:grpSpPr>
      <p:grpSp>
        <p:nvGrpSpPr>
          <p:cNvPr name="Group 2" id="2"/>
          <p:cNvGrpSpPr/>
          <p:nvPr/>
        </p:nvGrpSpPr>
        <p:grpSpPr>
          <a:xfrm rot="9405415">
            <a:off x="-2955826" y="-922147"/>
            <a:ext cx="5159957" cy="5159957"/>
            <a:chOff x="0" y="0"/>
            <a:chExt cx="812800" cy="812800"/>
          </a:xfrm>
        </p:grpSpPr>
        <p:sp>
          <p:nvSpPr>
            <p:cNvPr name="Freeform 3" id="3"/>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true">
              <a:gsLst>
                <a:gs pos="0">
                  <a:srgbClr val="9FC4AE">
                    <a:alpha val="66000"/>
                  </a:srgbClr>
                </a:gs>
                <a:gs pos="100000">
                  <a:srgbClr val="FFFFFF">
                    <a:alpha val="66000"/>
                  </a:srgbClr>
                </a:gs>
              </a:gsLst>
              <a:lin ang="0"/>
            </a:gradFill>
          </p:spPr>
        </p:sp>
        <p:sp>
          <p:nvSpPr>
            <p:cNvPr name="TextBox 4" id="4"/>
            <p:cNvSpPr txBox="true"/>
            <p:nvPr/>
          </p:nvSpPr>
          <p:spPr>
            <a:xfrm>
              <a:off x="76200" y="28575"/>
              <a:ext cx="660400" cy="708025"/>
            </a:xfrm>
            <a:prstGeom prst="rect">
              <a:avLst/>
            </a:prstGeom>
          </p:spPr>
          <p:txBody>
            <a:bodyPr anchor="ctr" rtlCol="false" tIns="50800" lIns="50800" bIns="50800" rIns="50800"/>
            <a:lstStyle/>
            <a:p>
              <a:pPr algn="ctr">
                <a:lnSpc>
                  <a:spcPts val="2936"/>
                </a:lnSpc>
              </a:pPr>
            </a:p>
          </p:txBody>
        </p:sp>
      </p:grpSp>
      <p:grpSp>
        <p:nvGrpSpPr>
          <p:cNvPr name="Group 5" id="5"/>
          <p:cNvGrpSpPr/>
          <p:nvPr/>
        </p:nvGrpSpPr>
        <p:grpSpPr>
          <a:xfrm rot="6936434">
            <a:off x="16470692" y="738526"/>
            <a:ext cx="5817847" cy="5817847"/>
            <a:chOff x="0" y="0"/>
            <a:chExt cx="812800" cy="812800"/>
          </a:xfrm>
        </p:grpSpPr>
        <p:sp>
          <p:nvSpPr>
            <p:cNvPr name="Freeform 6" id="6"/>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true">
              <a:gsLst>
                <a:gs pos="0">
                  <a:srgbClr val="9FC4AE">
                    <a:alpha val="66000"/>
                  </a:srgbClr>
                </a:gs>
                <a:gs pos="100000">
                  <a:srgbClr val="FFFFFF">
                    <a:alpha val="66000"/>
                  </a:srgbClr>
                </a:gs>
              </a:gsLst>
              <a:lin ang="0"/>
            </a:gradFill>
          </p:spPr>
        </p:sp>
        <p:sp>
          <p:nvSpPr>
            <p:cNvPr name="TextBox 7" id="7"/>
            <p:cNvSpPr txBox="true"/>
            <p:nvPr/>
          </p:nvSpPr>
          <p:spPr>
            <a:xfrm>
              <a:off x="76200" y="28575"/>
              <a:ext cx="660400" cy="708025"/>
            </a:xfrm>
            <a:prstGeom prst="rect">
              <a:avLst/>
            </a:prstGeom>
          </p:spPr>
          <p:txBody>
            <a:bodyPr anchor="ctr" rtlCol="false" tIns="50800" lIns="50800" bIns="50800" rIns="50800"/>
            <a:lstStyle/>
            <a:p>
              <a:pPr algn="ctr">
                <a:lnSpc>
                  <a:spcPts val="2936"/>
                </a:lnSpc>
              </a:pPr>
            </a:p>
          </p:txBody>
        </p:sp>
      </p:grpSp>
      <p:sp>
        <p:nvSpPr>
          <p:cNvPr name="Freeform 8" id="8"/>
          <p:cNvSpPr/>
          <p:nvPr/>
        </p:nvSpPr>
        <p:spPr>
          <a:xfrm flipH="false" flipV="true" rot="0">
            <a:off x="12732070" y="8737690"/>
            <a:ext cx="4647136" cy="778395"/>
          </a:xfrm>
          <a:custGeom>
            <a:avLst/>
            <a:gdLst/>
            <a:ahLst/>
            <a:cxnLst/>
            <a:rect r="r" b="b" t="t" l="l"/>
            <a:pathLst>
              <a:path h="778395" w="4647136">
                <a:moveTo>
                  <a:pt x="0" y="778395"/>
                </a:moveTo>
                <a:lnTo>
                  <a:pt x="4647136" y="778395"/>
                </a:lnTo>
                <a:lnTo>
                  <a:pt x="4647136" y="0"/>
                </a:lnTo>
                <a:lnTo>
                  <a:pt x="0" y="0"/>
                </a:lnTo>
                <a:lnTo>
                  <a:pt x="0" y="778395"/>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9" id="9"/>
          <p:cNvSpPr/>
          <p:nvPr/>
        </p:nvSpPr>
        <p:spPr>
          <a:xfrm flipH="true" flipV="true" rot="0">
            <a:off x="908794" y="8737690"/>
            <a:ext cx="4647136" cy="778395"/>
          </a:xfrm>
          <a:custGeom>
            <a:avLst/>
            <a:gdLst/>
            <a:ahLst/>
            <a:cxnLst/>
            <a:rect r="r" b="b" t="t" l="l"/>
            <a:pathLst>
              <a:path h="778395" w="4647136">
                <a:moveTo>
                  <a:pt x="4647136" y="778395"/>
                </a:moveTo>
                <a:lnTo>
                  <a:pt x="0" y="778395"/>
                </a:lnTo>
                <a:lnTo>
                  <a:pt x="0" y="0"/>
                </a:lnTo>
                <a:lnTo>
                  <a:pt x="4647136" y="0"/>
                </a:lnTo>
                <a:lnTo>
                  <a:pt x="4647136" y="778395"/>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10" id="10"/>
          <p:cNvSpPr txBox="true"/>
          <p:nvPr/>
        </p:nvSpPr>
        <p:spPr>
          <a:xfrm rot="0">
            <a:off x="2103120" y="566928"/>
            <a:ext cx="14081760" cy="946150"/>
          </a:xfrm>
          <a:prstGeom prst="rect">
            <a:avLst/>
          </a:prstGeom>
        </p:spPr>
        <p:txBody>
          <a:bodyPr anchor="t" rtlCol="false" tIns="0" lIns="0" bIns="0" rIns="0" wrap="square">
            <a:spAutoFit/>
          </a:bodyPr>
          <a:lstStyle/>
          <a:p>
            <a:pPr algn="ctr">
              <a:lnSpc>
                <a:spcPts val="7699"/>
              </a:lnSpc>
            </a:pPr>
            <a:r>
              <a:rPr lang="en-US" b="true" sz="5499">
                <a:solidFill>
                  <a:srgbClr val="457C5B"/>
                </a:solidFill>
                <a:latin typeface="Manifold Ultra-Bold"/>
                <a:ea typeface="Manifold Ultra-Bold"/>
                <a:cs typeface="Manifold Ultra-Bold"/>
                <a:sym typeface="Manifold Ultra-Bold"/>
              </a:rPr>
              <a:t>STEP D: WRITTEN FOR YOUR AI</a:t>
            </a:r>
          </a:p>
        </p:txBody>
      </p:sp>
      <p:sp>
        <p:nvSpPr>
          <p:cNvPr name="Freeform 44" id="44"/>
          <p:cNvSpPr/>
          <p:nvPr/>
        </p:nvSpPr>
        <p:spPr>
          <a:xfrm flipH="false" flipV="false" rot="0">
            <a:off x="185225" y="296308"/>
            <a:ext cx="1686949" cy="1283956"/>
          </a:xfrm>
          <a:custGeom>
            <a:avLst/>
            <a:gdLst/>
            <a:ahLst/>
            <a:cxnLst/>
            <a:rect r="r" b="b" t="t" l="l"/>
            <a:pathLst>
              <a:path h="1283956" w="1686949">
                <a:moveTo>
                  <a:pt x="0" y="0"/>
                </a:moveTo>
                <a:lnTo>
                  <a:pt x="1686950" y="0"/>
                </a:lnTo>
                <a:lnTo>
                  <a:pt x="1686950" y="1283956"/>
                </a:lnTo>
                <a:lnTo>
                  <a:pt x="0" y="1283956"/>
                </a:lnTo>
                <a:lnTo>
                  <a:pt x="0" y="0"/>
                </a:lnTo>
                <a:close/>
              </a:path>
            </a:pathLst>
          </a:custGeom>
          <a:blipFill>
            <a:blip r:embed="rId6"/>
            <a:stretch>
              <a:fillRect l="0" t="0" r="0" b="0"/>
            </a:stretch>
          </a:blipFill>
        </p:spPr>
      </p:sp>
      <p:sp>
        <p:nvSpPr>
          <p:cNvPr id="45" name="Rounded Rectangle 44"/>
          <p:cNvSpPr/>
          <p:nvPr/>
        </p:nvSpPr>
        <p:spPr>
          <a:xfrm>
            <a:off x="914400" y="2011680"/>
            <a:ext cx="5303520" cy="6035040"/>
          </a:xfrm>
          <a:prstGeom prst="roundRect">
            <a:avLst>
              <a:gd name="adj" fmla="val 7000"/>
            </a:avLst>
          </a:prstGeom>
          <a:solidFill>
            <a:srgbClr val="FFFFFF"/>
          </a:solidFill>
          <a:ln w="19050">
            <a:solidFill>
              <a:srgbClr val="457C5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1143000" y="2148840"/>
            <a:ext cx="4846320" cy="502920"/>
          </a:xfrm>
          <a:prstGeom prst="rect">
            <a:avLst/>
          </a:prstGeom>
          <a:noFill/>
        </p:spPr>
        <p:txBody>
          <a:bodyPr wrap="square" anchor="t" lIns="0" rIns="0" tIns="0" bIns="0">
            <a:spAutoFit/>
          </a:bodyPr>
          <a:lstStyle/>
          <a:p>
            <a:pPr algn="l">
              <a:lnSpc>
                <a:spcPct val="110000"/>
              </a:lnSpc>
              <a:spcAft>
                <a:spcPts val="600"/>
              </a:spcAft>
            </a:pPr>
            <a:r>
              <a:rPr sz="2200" b="1">
                <a:solidFill>
                  <a:srgbClr val="457C5B"/>
                </a:solidFill>
                <a:latin typeface="Manifold Bold"/>
              </a:rPr>
              <a:t>Claude</a:t>
            </a:r>
          </a:p>
        </p:txBody>
      </p:sp>
      <p:sp>
        <p:nvSpPr>
          <p:cNvPr id="47" name="TextBox 46"/>
          <p:cNvSpPr txBox="1"/>
          <p:nvPr/>
        </p:nvSpPr>
        <p:spPr>
          <a:xfrm>
            <a:off x="1143000" y="2743200"/>
            <a:ext cx="4846320" cy="5166359"/>
          </a:xfrm>
          <a:prstGeom prst="rect">
            <a:avLst/>
          </a:prstGeom>
          <a:noFill/>
        </p:spPr>
        <p:txBody>
          <a:bodyPr wrap="square" anchor="t" lIns="0" rIns="0" tIns="0" bIns="0">
            <a:spAutoFit/>
          </a:bodyPr>
          <a:lstStyle/>
          <a:p>
            <a:pPr algn="l">
              <a:lnSpc>
                <a:spcPct val="100000"/>
              </a:lnSpc>
              <a:spcAft>
                <a:spcPts val="0"/>
              </a:spcAft>
            </a:pPr>
            <a:r>
              <a:rPr sz="1400" b="0">
                <a:solidFill>
                  <a:srgbClr val="1E4926"/>
                </a:solidFill>
                <a:latin typeface="Courier New"/>
              </a:rPr>
              <a:t>&lt;context&gt;
&lt;document&gt;
The battery lasts two
days and the camera is
great, but the phone
heats up while gaming.
&lt;/document&gt;
&lt;/context&gt;
&lt;task&gt;
Tell me if this review
is good or bad.
&lt;/task&gt;
&lt;output_format&gt;
Provide only the label.
&lt;/output_format&gt;</a:t>
            </a:r>
          </a:p>
        </p:txBody>
      </p:sp>
      <p:sp>
        <p:nvSpPr>
          <p:cNvPr id="48" name="Rounded Rectangle 47"/>
          <p:cNvSpPr/>
          <p:nvPr/>
        </p:nvSpPr>
        <p:spPr>
          <a:xfrm>
            <a:off x="6492240" y="2011680"/>
            <a:ext cx="5303520" cy="6035040"/>
          </a:xfrm>
          <a:prstGeom prst="roundRect">
            <a:avLst>
              <a:gd name="adj" fmla="val 7000"/>
            </a:avLst>
          </a:prstGeom>
          <a:solidFill>
            <a:srgbClr val="FFFFFF"/>
          </a:solidFill>
          <a:ln w="19050">
            <a:solidFill>
              <a:srgbClr val="457C5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6720840" y="2148840"/>
            <a:ext cx="4846320" cy="502920"/>
          </a:xfrm>
          <a:prstGeom prst="rect">
            <a:avLst/>
          </a:prstGeom>
          <a:noFill/>
        </p:spPr>
        <p:txBody>
          <a:bodyPr wrap="square" anchor="t" lIns="0" rIns="0" tIns="0" bIns="0">
            <a:spAutoFit/>
          </a:bodyPr>
          <a:lstStyle/>
          <a:p>
            <a:pPr algn="l">
              <a:lnSpc>
                <a:spcPct val="110000"/>
              </a:lnSpc>
              <a:spcAft>
                <a:spcPts val="600"/>
              </a:spcAft>
            </a:pPr>
            <a:r>
              <a:rPr sz="2200" b="1">
                <a:solidFill>
                  <a:srgbClr val="457C5B"/>
                </a:solidFill>
                <a:latin typeface="Manifold Bold"/>
              </a:rPr>
              <a:t>GPT</a:t>
            </a:r>
          </a:p>
        </p:txBody>
      </p:sp>
      <p:sp>
        <p:nvSpPr>
          <p:cNvPr id="50" name="TextBox 49"/>
          <p:cNvSpPr txBox="1"/>
          <p:nvPr/>
        </p:nvSpPr>
        <p:spPr>
          <a:xfrm>
            <a:off x="6720840" y="2743200"/>
            <a:ext cx="4846320" cy="5166359"/>
          </a:xfrm>
          <a:prstGeom prst="rect">
            <a:avLst/>
          </a:prstGeom>
          <a:noFill/>
        </p:spPr>
        <p:txBody>
          <a:bodyPr wrap="square" anchor="t" lIns="0" rIns="0" tIns="0" bIns="0">
            <a:spAutoFit/>
          </a:bodyPr>
          <a:lstStyle/>
          <a:p>
            <a:pPr algn="l">
              <a:lnSpc>
                <a:spcPct val="100000"/>
              </a:lnSpc>
              <a:spcAft>
                <a:spcPts val="0"/>
              </a:spcAft>
            </a:pPr>
            <a:r>
              <a:rPr sz="1400" b="0">
                <a:solidFill>
                  <a:srgbClr val="1E4926"/>
                </a:solidFill>
                <a:latin typeface="Courier New"/>
              </a:rPr>
              <a:t>### Task
Tell me if this review
is good or bad.
### Context
Document:
```
The battery lasts two
days and the camera ...
```
### Output format
Provide only the label.</a:t>
            </a:r>
          </a:p>
        </p:txBody>
      </p:sp>
      <p:sp>
        <p:nvSpPr>
          <p:cNvPr id="51" name="Rounded Rectangle 50"/>
          <p:cNvSpPr/>
          <p:nvPr/>
        </p:nvSpPr>
        <p:spPr>
          <a:xfrm>
            <a:off x="12070080" y="2011680"/>
            <a:ext cx="5303520" cy="6035040"/>
          </a:xfrm>
          <a:prstGeom prst="roundRect">
            <a:avLst>
              <a:gd name="adj" fmla="val 7000"/>
            </a:avLst>
          </a:prstGeom>
          <a:solidFill>
            <a:srgbClr val="FFFFFF"/>
          </a:solidFill>
          <a:ln w="19050">
            <a:solidFill>
              <a:srgbClr val="457C5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12298680" y="2148840"/>
            <a:ext cx="4846320" cy="502920"/>
          </a:xfrm>
          <a:prstGeom prst="rect">
            <a:avLst/>
          </a:prstGeom>
          <a:noFill/>
        </p:spPr>
        <p:txBody>
          <a:bodyPr wrap="square" anchor="t" lIns="0" rIns="0" tIns="0" bIns="0">
            <a:spAutoFit/>
          </a:bodyPr>
          <a:lstStyle/>
          <a:p>
            <a:pPr algn="l">
              <a:lnSpc>
                <a:spcPct val="110000"/>
              </a:lnSpc>
              <a:spcAft>
                <a:spcPts val="600"/>
              </a:spcAft>
            </a:pPr>
            <a:r>
              <a:rPr sz="2200" b="1">
                <a:solidFill>
                  <a:srgbClr val="457C5B"/>
                </a:solidFill>
                <a:latin typeface="Manifold Bold"/>
              </a:rPr>
              <a:t>Gemini</a:t>
            </a:r>
          </a:p>
        </p:txBody>
      </p:sp>
      <p:sp>
        <p:nvSpPr>
          <p:cNvPr id="53" name="TextBox 52"/>
          <p:cNvSpPr txBox="1"/>
          <p:nvPr/>
        </p:nvSpPr>
        <p:spPr>
          <a:xfrm>
            <a:off x="12298680" y="2743200"/>
            <a:ext cx="4846320" cy="5166359"/>
          </a:xfrm>
          <a:prstGeom prst="rect">
            <a:avLst/>
          </a:prstGeom>
          <a:noFill/>
        </p:spPr>
        <p:txBody>
          <a:bodyPr wrap="square" anchor="t" lIns="0" rIns="0" tIns="0" bIns="0">
            <a:spAutoFit/>
          </a:bodyPr>
          <a:lstStyle/>
          <a:p>
            <a:pPr algn="l">
              <a:lnSpc>
                <a:spcPct val="100000"/>
              </a:lnSpc>
              <a:spcAft>
                <a:spcPts val="0"/>
              </a:spcAft>
            </a:pPr>
            <a:r>
              <a:rPr sz="1400" b="0">
                <a:solidFill>
                  <a:srgbClr val="1E4926"/>
                </a:solidFill>
                <a:latin typeface="Courier New"/>
              </a:rPr>
              <a:t>Task: Tell me if this
review is good or bad.
Output format: Provide
only the label.
Context:
Document:
```
The battery lasts two
days and the camera ...
```</a:t>
            </a:r>
          </a:p>
        </p:txBody>
      </p:sp>
      <p:sp>
        <p:nvSpPr>
          <p:cNvPr id="54" name="Rounded Rectangle 53"/>
          <p:cNvSpPr/>
          <p:nvPr/>
        </p:nvSpPr>
        <p:spPr>
          <a:xfrm>
            <a:off x="914400" y="8275320"/>
            <a:ext cx="16459200" cy="1097280"/>
          </a:xfrm>
          <a:prstGeom prst="roundRect">
            <a:avLst>
              <a:gd name="adj" fmla="val 7000"/>
            </a:avLst>
          </a:prstGeom>
          <a:solidFill>
            <a:srgbClr val="457C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1188720" y="8321040"/>
            <a:ext cx="15910559" cy="1005840"/>
          </a:xfrm>
          <a:prstGeom prst="rect">
            <a:avLst/>
          </a:prstGeom>
          <a:noFill/>
        </p:spPr>
        <p:txBody>
          <a:bodyPr wrap="square" anchor="ctr" lIns="0" rIns="0" tIns="0" bIns="0">
            <a:spAutoFit/>
          </a:bodyPr>
          <a:lstStyle/>
          <a:p>
            <a:pPr algn="l">
              <a:lnSpc>
                <a:spcPct val="110000"/>
              </a:lnSpc>
              <a:spcAft>
                <a:spcPts val="600"/>
              </a:spcAft>
            </a:pPr>
            <a:r>
              <a:rPr sz="1900" b="0">
                <a:solidFill>
                  <a:srgbClr val="F5FFF9"/>
                </a:solidFill>
                <a:latin typeface="Lato"/>
              </a:rPr>
              <a:t>Same content for every AI, in the layout its makers recommend. Our prompt for GPT: 50 tokens, counted exactly.</a:t>
            </a:r>
          </a:p>
        </p:txBody>
      </p:sp>
    </p:spTree>
  </p:cSld>
  <p:clrMapOvr>
    <a:masterClrMapping/>
  </p:clrMapOvr>
</p:sld>
</file>

<file path=ppt/slides/slide12.xml><?xml version="1.0" encoding="utf-8"?>
<p:sld xmlns:p="http://schemas.openxmlformats.org/presentationml/2006/main" xmlns:a="http://schemas.openxmlformats.org/drawingml/2006/main" xmlns:r="http://schemas.openxmlformats.org/officeDocument/2006/relationships">
  <p:cSld>
    <p:bg>
      <p:bgPr>
        <a:solidFill>
          <a:srgbClr val="457C5B"/>
        </a:solidFill>
      </p:bgPr>
    </p:bg>
    <p:spTree>
      <p:nvGrpSpPr>
        <p:cNvPr id="1" name=""/>
        <p:cNvGrpSpPr/>
        <p:nvPr/>
      </p:nvGrpSpPr>
      <p:grpSpPr>
        <a:xfrm>
          <a:off x="0" y="0"/>
          <a:ext cx="0" cy="0"/>
          <a:chOff x="0" y="0"/>
          <a:chExt cx="0" cy="0"/>
        </a:xfrm>
      </p:grpSpPr>
      <p:grpSp>
        <p:nvGrpSpPr>
          <p:cNvPr name="Group 72" id="72"/>
          <p:cNvGrpSpPr/>
          <p:nvPr/>
        </p:nvGrpSpPr>
        <p:grpSpPr>
          <a:xfrm rot="6936434">
            <a:off x="16860459" y="8130191"/>
            <a:ext cx="5817847" cy="5817847"/>
            <a:chOff x="0" y="0"/>
            <a:chExt cx="812800" cy="812800"/>
          </a:xfrm>
        </p:grpSpPr>
        <p:sp>
          <p:nvSpPr>
            <p:cNvPr name="Freeform 73" id="73"/>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true">
              <a:gsLst>
                <a:gs pos="0">
                  <a:srgbClr val="9FC4AE">
                    <a:alpha val="66000"/>
                  </a:srgbClr>
                </a:gs>
                <a:gs pos="100000">
                  <a:srgbClr val="FFFFFF">
                    <a:alpha val="66000"/>
                  </a:srgbClr>
                </a:gs>
              </a:gsLst>
              <a:lin ang="0"/>
            </a:gradFill>
          </p:spPr>
        </p:sp>
        <p:sp>
          <p:nvSpPr>
            <p:cNvPr name="TextBox 74" id="74"/>
            <p:cNvSpPr txBox="true"/>
            <p:nvPr/>
          </p:nvSpPr>
          <p:spPr>
            <a:xfrm>
              <a:off x="76200" y="28575"/>
              <a:ext cx="660400" cy="708025"/>
            </a:xfrm>
            <a:prstGeom prst="rect">
              <a:avLst/>
            </a:prstGeom>
          </p:spPr>
          <p:txBody>
            <a:bodyPr anchor="ctr" rtlCol="false" tIns="50800" lIns="50800" bIns="50800" rIns="50800"/>
            <a:lstStyle/>
            <a:p>
              <a:pPr algn="ctr">
                <a:lnSpc>
                  <a:spcPts val="2936"/>
                </a:lnSpc>
              </a:pPr>
            </a:p>
          </p:txBody>
        </p:sp>
      </p:grpSp>
      <p:grpSp>
        <p:nvGrpSpPr>
          <p:cNvPr name="Group 75" id="75"/>
          <p:cNvGrpSpPr/>
          <p:nvPr/>
        </p:nvGrpSpPr>
        <p:grpSpPr>
          <a:xfrm rot="9405415">
            <a:off x="-3681581" y="8273503"/>
            <a:ext cx="5159957" cy="5159957"/>
            <a:chOff x="0" y="0"/>
            <a:chExt cx="812800" cy="812800"/>
          </a:xfrm>
        </p:grpSpPr>
        <p:sp>
          <p:nvSpPr>
            <p:cNvPr name="Freeform 76" id="76"/>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true">
              <a:gsLst>
                <a:gs pos="0">
                  <a:srgbClr val="9FC4AE">
                    <a:alpha val="66000"/>
                  </a:srgbClr>
                </a:gs>
                <a:gs pos="100000">
                  <a:srgbClr val="FFFFFF">
                    <a:alpha val="66000"/>
                  </a:srgbClr>
                </a:gs>
              </a:gsLst>
              <a:lin ang="0"/>
            </a:gradFill>
          </p:spPr>
        </p:sp>
        <p:sp>
          <p:nvSpPr>
            <p:cNvPr name="TextBox 77" id="77"/>
            <p:cNvSpPr txBox="true"/>
            <p:nvPr/>
          </p:nvSpPr>
          <p:spPr>
            <a:xfrm>
              <a:off x="76200" y="28575"/>
              <a:ext cx="660400" cy="708025"/>
            </a:xfrm>
            <a:prstGeom prst="rect">
              <a:avLst/>
            </a:prstGeom>
          </p:spPr>
          <p:txBody>
            <a:bodyPr anchor="ctr" rtlCol="false" tIns="50800" lIns="50800" bIns="50800" rIns="50800"/>
            <a:lstStyle/>
            <a:p>
              <a:pPr algn="ctr">
                <a:lnSpc>
                  <a:spcPts val="2936"/>
                </a:lnSpc>
              </a:pPr>
            </a:p>
          </p:txBody>
        </p:sp>
      </p:grpSp>
      <p:sp>
        <p:nvSpPr>
          <p:cNvPr name="Freeform 78" id="78"/>
          <p:cNvSpPr/>
          <p:nvPr/>
        </p:nvSpPr>
        <p:spPr>
          <a:xfrm flipH="false" flipV="false" rot="0">
            <a:off x="-1101602" y="-467749"/>
            <a:ext cx="2992899" cy="2992899"/>
          </a:xfrm>
          <a:custGeom>
            <a:avLst/>
            <a:gdLst/>
            <a:ahLst/>
            <a:cxnLst/>
            <a:rect r="r" b="b" t="t" l="l"/>
            <a:pathLst>
              <a:path h="2992899" w="2992899">
                <a:moveTo>
                  <a:pt x="0" y="0"/>
                </a:moveTo>
                <a:lnTo>
                  <a:pt x="2992898" y="0"/>
                </a:lnTo>
                <a:lnTo>
                  <a:pt x="2992898" y="2992898"/>
                </a:lnTo>
                <a:lnTo>
                  <a:pt x="0" y="2992898"/>
                </a:lnTo>
                <a:lnTo>
                  <a:pt x="0" y="0"/>
                </a:lnTo>
                <a:close/>
              </a:path>
            </a:pathLst>
          </a:custGeom>
          <a:blipFill>
            <a:blip r:embed="rId12">
              <a:extLst>
                <a:ext uri="{96DAC541-7B7A-43D3-8B79-37D633B846F1}">
                  <asvg:svgBlip xmlns:asvg="http://schemas.microsoft.com/office/drawing/2016/SVG/main" r:embed="rId13"/>
                </a:ext>
              </a:extLst>
            </a:blip>
            <a:stretch>
              <a:fillRect l="0" t="0" r="0" b="0"/>
            </a:stretch>
          </a:blipFill>
        </p:spPr>
      </p:sp>
      <p:sp>
        <p:nvSpPr>
          <p:cNvPr name="Freeform 79" id="79"/>
          <p:cNvSpPr/>
          <p:nvPr/>
        </p:nvSpPr>
        <p:spPr>
          <a:xfrm flipH="false" flipV="false" rot="0">
            <a:off x="185225" y="296308"/>
            <a:ext cx="1686949" cy="1283956"/>
          </a:xfrm>
          <a:custGeom>
            <a:avLst/>
            <a:gdLst/>
            <a:ahLst/>
            <a:cxnLst/>
            <a:rect r="r" b="b" t="t" l="l"/>
            <a:pathLst>
              <a:path h="1283956" w="1686949">
                <a:moveTo>
                  <a:pt x="0" y="0"/>
                </a:moveTo>
                <a:lnTo>
                  <a:pt x="1686950" y="0"/>
                </a:lnTo>
                <a:lnTo>
                  <a:pt x="1686950" y="1283956"/>
                </a:lnTo>
                <a:lnTo>
                  <a:pt x="0" y="1283956"/>
                </a:lnTo>
                <a:lnTo>
                  <a:pt x="0" y="0"/>
                </a:lnTo>
                <a:close/>
              </a:path>
            </a:pathLst>
          </a:custGeom>
          <a:blipFill>
            <a:blip r:embed="rId14"/>
            <a:stretch>
              <a:fillRect l="0" t="0" r="0" b="0"/>
            </a:stretch>
          </a:blipFill>
        </p:spPr>
      </p:sp>
      <p:sp>
        <p:nvSpPr>
          <p:cNvPr name="Freeform 80" id="80"/>
          <p:cNvSpPr/>
          <p:nvPr/>
        </p:nvSpPr>
        <p:spPr>
          <a:xfrm flipH="true" flipV="false" rot="0">
            <a:off x="16398977" y="-467749"/>
            <a:ext cx="2992899" cy="2992899"/>
          </a:xfrm>
          <a:custGeom>
            <a:avLst/>
            <a:gdLst/>
            <a:ahLst/>
            <a:cxnLst/>
            <a:rect r="r" b="b" t="t" l="l"/>
            <a:pathLst>
              <a:path h="2992899" w="2992899">
                <a:moveTo>
                  <a:pt x="2992899" y="0"/>
                </a:moveTo>
                <a:lnTo>
                  <a:pt x="0" y="0"/>
                </a:lnTo>
                <a:lnTo>
                  <a:pt x="0" y="2992898"/>
                </a:lnTo>
                <a:lnTo>
                  <a:pt x="2992899" y="2992898"/>
                </a:lnTo>
                <a:lnTo>
                  <a:pt x="2992899" y="0"/>
                </a:lnTo>
                <a:close/>
              </a:path>
            </a:pathLst>
          </a:custGeom>
          <a:blipFill>
            <a:blip r:embed="rId12">
              <a:extLst>
                <a:ext uri="{96DAC541-7B7A-43D3-8B79-37D633B846F1}">
                  <asvg:svgBlip xmlns:asvg="http://schemas.microsoft.com/office/drawing/2016/SVG/main" r:embed="rId13"/>
                </a:ext>
              </a:extLst>
            </a:blip>
            <a:stretch>
              <a:fillRect l="0" t="0" r="0" b="0"/>
            </a:stretch>
          </a:blipFill>
        </p:spPr>
      </p:sp>
      <p:sp>
        <p:nvSpPr>
          <p:cNvPr name="TextBox 81" id="81"/>
          <p:cNvSpPr txBox="true"/>
          <p:nvPr/>
        </p:nvSpPr>
        <p:spPr>
          <a:xfrm rot="0">
            <a:off x="2103120" y="566928"/>
            <a:ext cx="14081760" cy="946150"/>
          </a:xfrm>
          <a:prstGeom prst="rect">
            <a:avLst/>
          </a:prstGeom>
        </p:spPr>
        <p:txBody>
          <a:bodyPr anchor="t" rtlCol="false" tIns="0" lIns="0" bIns="0" rIns="0" wrap="square">
            <a:spAutoFit/>
          </a:bodyPr>
          <a:lstStyle/>
          <a:p>
            <a:pPr algn="ctr">
              <a:lnSpc>
                <a:spcPts val="7699"/>
              </a:lnSpc>
            </a:pPr>
            <a:r>
              <a:rPr lang="en-US" b="true" sz="5499">
                <a:solidFill>
                  <a:srgbClr val="F5FFF9"/>
                </a:solidFill>
                <a:latin typeface="Manifold Ultra-Bold"/>
                <a:ea typeface="Manifold Ultra-Bold"/>
                <a:cs typeface="Manifold Ultra-Bold"/>
                <a:sym typeface="Manifold Ultra-Bold"/>
              </a:rPr>
              <a:t>THE RESULT FOR OUR EXAMPLE</a:t>
            </a:r>
          </a:p>
        </p:txBody>
      </p:sp>
      <p:sp>
        <p:nvSpPr>
          <p:cNvPr id="82" name="Rounded Rectangle 81"/>
          <p:cNvSpPr/>
          <p:nvPr/>
        </p:nvSpPr>
        <p:spPr>
          <a:xfrm>
            <a:off x="914400" y="1965960"/>
            <a:ext cx="8778240" cy="7452360"/>
          </a:xfrm>
          <a:prstGeom prst="roundRect">
            <a:avLst>
              <a:gd name="adj" fmla="val 7000"/>
            </a:avLst>
          </a:prstGeom>
          <a:solidFill>
            <a:srgbClr val="F5FF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3" name="Picture 82" descr="story_compare.png"/>
          <p:cNvPicPr>
            <a:picLocks noChangeAspect="1"/>
          </p:cNvPicPr>
          <p:nvPr/>
        </p:nvPicPr>
        <p:blipFill>
          <a:blip r:embed="rId15"/>
          <a:srcRect l="39167" t="47445"/>
          <a:stretch>
            <a:fillRect/>
          </a:stretch>
        </p:blipFill>
        <p:spPr>
          <a:xfrm>
            <a:off x="1051560" y="2103120"/>
            <a:ext cx="7277735" cy="7178040"/>
          </a:xfrm>
          <a:prstGeom prst="rect">
            <a:avLst/>
          </a:prstGeom>
        </p:spPr>
      </p:pic>
      <p:sp>
        <p:nvSpPr>
          <p:cNvPr id="84" name="Rounded Rectangle 83"/>
          <p:cNvSpPr/>
          <p:nvPr/>
        </p:nvSpPr>
        <p:spPr>
          <a:xfrm>
            <a:off x="10058400" y="1965960"/>
            <a:ext cx="7315200" cy="2286000"/>
          </a:xfrm>
          <a:prstGeom prst="roundRect">
            <a:avLst>
              <a:gd name="adj" fmla="val 7000"/>
            </a:avLst>
          </a:prstGeom>
          <a:solidFill>
            <a:srgbClr val="F5FF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5" name="TextBox 84"/>
          <p:cNvSpPr txBox="1"/>
          <p:nvPr/>
        </p:nvSpPr>
        <p:spPr>
          <a:xfrm>
            <a:off x="10332720" y="2130552"/>
            <a:ext cx="6766560" cy="457200"/>
          </a:xfrm>
          <a:prstGeom prst="rect">
            <a:avLst/>
          </a:prstGeom>
          <a:noFill/>
        </p:spPr>
        <p:txBody>
          <a:bodyPr wrap="square" anchor="t" lIns="0" rIns="0" tIns="0" bIns="0">
            <a:spAutoFit/>
          </a:bodyPr>
          <a:lstStyle/>
          <a:p>
            <a:pPr algn="l">
              <a:lnSpc>
                <a:spcPct val="110000"/>
              </a:lnSpc>
              <a:spcAft>
                <a:spcPts val="600"/>
              </a:spcAft>
            </a:pPr>
            <a:r>
              <a:rPr sz="1800" b="1">
                <a:solidFill>
                  <a:srgbClr val="1E4926"/>
                </a:solidFill>
                <a:latin typeface="Manifold Bold"/>
              </a:rPr>
              <a:t>Total tokens</a:t>
            </a:r>
          </a:p>
        </p:txBody>
      </p:sp>
      <p:sp>
        <p:nvSpPr>
          <p:cNvPr id="86" name="TextBox 85"/>
          <p:cNvSpPr txBox="1"/>
          <p:nvPr/>
        </p:nvSpPr>
        <p:spPr>
          <a:xfrm>
            <a:off x="10332720" y="2624328"/>
            <a:ext cx="3291840" cy="822960"/>
          </a:xfrm>
          <a:prstGeom prst="rect">
            <a:avLst/>
          </a:prstGeom>
          <a:noFill/>
        </p:spPr>
        <p:txBody>
          <a:bodyPr wrap="square" anchor="ctr" lIns="0" rIns="0" tIns="0" bIns="0">
            <a:spAutoFit/>
          </a:bodyPr>
          <a:lstStyle/>
          <a:p>
            <a:pPr algn="l">
              <a:lnSpc>
                <a:spcPct val="110000"/>
              </a:lnSpc>
              <a:spcAft>
                <a:spcPts val="600"/>
              </a:spcAft>
            </a:pPr>
            <a:r>
              <a:rPr sz="4200" b="0">
                <a:solidFill>
                  <a:srgbClr val="1E4926"/>
                </a:solidFill>
                <a:latin typeface="Manifold Ultra-Bold"/>
              </a:rPr>
              <a:t>270</a:t>
            </a:r>
          </a:p>
        </p:txBody>
      </p:sp>
      <p:sp>
        <p:nvSpPr>
          <p:cNvPr id="87" name="TextBox 86"/>
          <p:cNvSpPr txBox="1"/>
          <p:nvPr/>
        </p:nvSpPr>
        <p:spPr>
          <a:xfrm>
            <a:off x="10332720" y="3447288"/>
            <a:ext cx="3291840" cy="365760"/>
          </a:xfrm>
          <a:prstGeom prst="rect">
            <a:avLst/>
          </a:prstGeom>
          <a:noFill/>
        </p:spPr>
        <p:txBody>
          <a:bodyPr wrap="square" anchor="t" lIns="0" rIns="0" tIns="0" bIns="0">
            <a:spAutoFit/>
          </a:bodyPr>
          <a:lstStyle/>
          <a:p>
            <a:pPr algn="l">
              <a:lnSpc>
                <a:spcPct val="110000"/>
              </a:lnSpc>
              <a:spcAft>
                <a:spcPts val="600"/>
              </a:spcAft>
            </a:pPr>
            <a:r>
              <a:rPr sz="1500" b="0">
                <a:solidFill>
                  <a:srgbClr val="457C5B"/>
                </a:solidFill>
                <a:latin typeface="Lato"/>
              </a:rPr>
              <a:t>vague prompt</a:t>
            </a:r>
          </a:p>
        </p:txBody>
      </p:sp>
      <p:sp>
        <p:nvSpPr>
          <p:cNvPr id="88" name="TextBox 87"/>
          <p:cNvSpPr txBox="1"/>
          <p:nvPr/>
        </p:nvSpPr>
        <p:spPr>
          <a:xfrm>
            <a:off x="13716000" y="2624328"/>
            <a:ext cx="3291840" cy="822960"/>
          </a:xfrm>
          <a:prstGeom prst="rect">
            <a:avLst/>
          </a:prstGeom>
          <a:noFill/>
        </p:spPr>
        <p:txBody>
          <a:bodyPr wrap="square" anchor="ctr" lIns="0" rIns="0" tIns="0" bIns="0">
            <a:spAutoFit/>
          </a:bodyPr>
          <a:lstStyle/>
          <a:p>
            <a:pPr algn="l">
              <a:lnSpc>
                <a:spcPct val="110000"/>
              </a:lnSpc>
              <a:spcAft>
                <a:spcPts val="600"/>
              </a:spcAft>
            </a:pPr>
            <a:r>
              <a:rPr sz="4200" b="0">
                <a:solidFill>
                  <a:srgbClr val="1E4926"/>
                </a:solidFill>
                <a:latin typeface="Manifold Ultra-Bold"/>
              </a:rPr>
              <a:t>162</a:t>
            </a:r>
          </a:p>
        </p:txBody>
      </p:sp>
      <p:sp>
        <p:nvSpPr>
          <p:cNvPr id="89" name="TextBox 88"/>
          <p:cNvSpPr txBox="1"/>
          <p:nvPr/>
        </p:nvSpPr>
        <p:spPr>
          <a:xfrm>
            <a:off x="13716000" y="3447288"/>
            <a:ext cx="3291840" cy="365760"/>
          </a:xfrm>
          <a:prstGeom prst="rect">
            <a:avLst/>
          </a:prstGeom>
          <a:noFill/>
        </p:spPr>
        <p:txBody>
          <a:bodyPr wrap="square" anchor="t" lIns="0" rIns="0" tIns="0" bIns="0">
            <a:spAutoFit/>
          </a:bodyPr>
          <a:lstStyle/>
          <a:p>
            <a:pPr algn="l">
              <a:lnSpc>
                <a:spcPct val="110000"/>
              </a:lnSpc>
              <a:spcAft>
                <a:spcPts val="600"/>
              </a:spcAft>
            </a:pPr>
            <a:r>
              <a:rPr sz="1500" b="0">
                <a:solidFill>
                  <a:srgbClr val="457C5B"/>
                </a:solidFill>
                <a:latin typeface="Lato"/>
              </a:rPr>
              <a:t>optimized</a:t>
            </a:r>
          </a:p>
        </p:txBody>
      </p:sp>
      <p:sp>
        <p:nvSpPr>
          <p:cNvPr id="90" name="Rounded Rectangle 89"/>
          <p:cNvSpPr/>
          <p:nvPr/>
        </p:nvSpPr>
        <p:spPr>
          <a:xfrm>
            <a:off x="10058400" y="4434840"/>
            <a:ext cx="7315200" cy="2286000"/>
          </a:xfrm>
          <a:prstGeom prst="roundRect">
            <a:avLst>
              <a:gd name="adj" fmla="val 7000"/>
            </a:avLst>
          </a:prstGeom>
          <a:solidFill>
            <a:srgbClr val="F5FF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1" name="TextBox 90"/>
          <p:cNvSpPr txBox="1"/>
          <p:nvPr/>
        </p:nvSpPr>
        <p:spPr>
          <a:xfrm>
            <a:off x="10332720" y="4599431"/>
            <a:ext cx="6766560" cy="457200"/>
          </a:xfrm>
          <a:prstGeom prst="rect">
            <a:avLst/>
          </a:prstGeom>
          <a:noFill/>
        </p:spPr>
        <p:txBody>
          <a:bodyPr wrap="square" anchor="t" lIns="0" rIns="0" tIns="0" bIns="0">
            <a:spAutoFit/>
          </a:bodyPr>
          <a:lstStyle/>
          <a:p>
            <a:pPr algn="l">
              <a:lnSpc>
                <a:spcPct val="110000"/>
              </a:lnSpc>
              <a:spcAft>
                <a:spcPts val="600"/>
              </a:spcAft>
            </a:pPr>
            <a:r>
              <a:rPr sz="1800" b="1">
                <a:solidFill>
                  <a:srgbClr val="1E4926"/>
                </a:solidFill>
                <a:latin typeface="Manifold Bold"/>
              </a:rPr>
              <a:t>Tokens in the answer</a:t>
            </a:r>
          </a:p>
        </p:txBody>
      </p:sp>
      <p:sp>
        <p:nvSpPr>
          <p:cNvPr id="92" name="TextBox 91"/>
          <p:cNvSpPr txBox="1"/>
          <p:nvPr/>
        </p:nvSpPr>
        <p:spPr>
          <a:xfrm>
            <a:off x="10332720" y="5093207"/>
            <a:ext cx="3291840" cy="822960"/>
          </a:xfrm>
          <a:prstGeom prst="rect">
            <a:avLst/>
          </a:prstGeom>
          <a:noFill/>
        </p:spPr>
        <p:txBody>
          <a:bodyPr wrap="square" anchor="ctr" lIns="0" rIns="0" tIns="0" bIns="0">
            <a:spAutoFit/>
          </a:bodyPr>
          <a:lstStyle/>
          <a:p>
            <a:pPr algn="l">
              <a:lnSpc>
                <a:spcPct val="110000"/>
              </a:lnSpc>
              <a:spcAft>
                <a:spcPts val="600"/>
              </a:spcAft>
            </a:pPr>
            <a:r>
              <a:rPr sz="4200" b="0">
                <a:solidFill>
                  <a:srgbClr val="1E4926"/>
                </a:solidFill>
                <a:latin typeface="Manifold Ultra-Bold"/>
              </a:rPr>
              <a:t>166</a:t>
            </a:r>
          </a:p>
        </p:txBody>
      </p:sp>
      <p:sp>
        <p:nvSpPr>
          <p:cNvPr id="93" name="TextBox 92"/>
          <p:cNvSpPr txBox="1"/>
          <p:nvPr/>
        </p:nvSpPr>
        <p:spPr>
          <a:xfrm>
            <a:off x="10332720" y="5916168"/>
            <a:ext cx="3291840" cy="365760"/>
          </a:xfrm>
          <a:prstGeom prst="rect">
            <a:avLst/>
          </a:prstGeom>
          <a:noFill/>
        </p:spPr>
        <p:txBody>
          <a:bodyPr wrap="square" anchor="t" lIns="0" rIns="0" tIns="0" bIns="0">
            <a:spAutoFit/>
          </a:bodyPr>
          <a:lstStyle/>
          <a:p>
            <a:pPr algn="l">
              <a:lnSpc>
                <a:spcPct val="110000"/>
              </a:lnSpc>
              <a:spcAft>
                <a:spcPts val="600"/>
              </a:spcAft>
            </a:pPr>
            <a:r>
              <a:rPr sz="1500" b="0">
                <a:solidFill>
                  <a:srgbClr val="457C5B"/>
                </a:solidFill>
                <a:latin typeface="Lato"/>
              </a:rPr>
              <a:t>vague prompt</a:t>
            </a:r>
          </a:p>
        </p:txBody>
      </p:sp>
      <p:sp>
        <p:nvSpPr>
          <p:cNvPr id="94" name="TextBox 93"/>
          <p:cNvSpPr txBox="1"/>
          <p:nvPr/>
        </p:nvSpPr>
        <p:spPr>
          <a:xfrm>
            <a:off x="13716000" y="5093207"/>
            <a:ext cx="3291840" cy="822960"/>
          </a:xfrm>
          <a:prstGeom prst="rect">
            <a:avLst/>
          </a:prstGeom>
          <a:noFill/>
        </p:spPr>
        <p:txBody>
          <a:bodyPr wrap="square" anchor="ctr" lIns="0" rIns="0" tIns="0" bIns="0">
            <a:spAutoFit/>
          </a:bodyPr>
          <a:lstStyle/>
          <a:p>
            <a:pPr algn="l">
              <a:lnSpc>
                <a:spcPct val="110000"/>
              </a:lnSpc>
              <a:spcAft>
                <a:spcPts val="600"/>
              </a:spcAft>
            </a:pPr>
            <a:r>
              <a:rPr sz="4200" b="0">
                <a:solidFill>
                  <a:srgbClr val="1E4926"/>
                </a:solidFill>
                <a:latin typeface="Manifold Ultra-Bold"/>
              </a:rPr>
              <a:t>41</a:t>
            </a:r>
          </a:p>
        </p:txBody>
      </p:sp>
      <p:sp>
        <p:nvSpPr>
          <p:cNvPr id="95" name="TextBox 94"/>
          <p:cNvSpPr txBox="1"/>
          <p:nvPr/>
        </p:nvSpPr>
        <p:spPr>
          <a:xfrm>
            <a:off x="13716000" y="5916168"/>
            <a:ext cx="3291840" cy="365760"/>
          </a:xfrm>
          <a:prstGeom prst="rect">
            <a:avLst/>
          </a:prstGeom>
          <a:noFill/>
        </p:spPr>
        <p:txBody>
          <a:bodyPr wrap="square" anchor="t" lIns="0" rIns="0" tIns="0" bIns="0">
            <a:spAutoFit/>
          </a:bodyPr>
          <a:lstStyle/>
          <a:p>
            <a:pPr algn="l">
              <a:lnSpc>
                <a:spcPct val="110000"/>
              </a:lnSpc>
              <a:spcAft>
                <a:spcPts val="600"/>
              </a:spcAft>
            </a:pPr>
            <a:r>
              <a:rPr sz="1500" b="0">
                <a:solidFill>
                  <a:srgbClr val="457C5B"/>
                </a:solidFill>
                <a:latin typeface="Lato"/>
              </a:rPr>
              <a:t>optimized</a:t>
            </a:r>
          </a:p>
        </p:txBody>
      </p:sp>
      <p:sp>
        <p:nvSpPr>
          <p:cNvPr id="96" name="Rounded Rectangle 95"/>
          <p:cNvSpPr/>
          <p:nvPr/>
        </p:nvSpPr>
        <p:spPr>
          <a:xfrm>
            <a:off x="10058400" y="6903720"/>
            <a:ext cx="7315200" cy="2514600"/>
          </a:xfrm>
          <a:prstGeom prst="roundRect">
            <a:avLst>
              <a:gd name="adj" fmla="val 7000"/>
            </a:avLst>
          </a:prstGeom>
          <a:solidFill>
            <a:srgbClr val="F5FF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7" name="TextBox 96"/>
          <p:cNvSpPr txBox="1"/>
          <p:nvPr/>
        </p:nvSpPr>
        <p:spPr>
          <a:xfrm>
            <a:off x="10332720" y="7068312"/>
            <a:ext cx="6766560" cy="457200"/>
          </a:xfrm>
          <a:prstGeom prst="rect">
            <a:avLst/>
          </a:prstGeom>
          <a:noFill/>
        </p:spPr>
        <p:txBody>
          <a:bodyPr wrap="square" anchor="t" lIns="0" rIns="0" tIns="0" bIns="0">
            <a:spAutoFit/>
          </a:bodyPr>
          <a:lstStyle/>
          <a:p>
            <a:pPr algn="l">
              <a:lnSpc>
                <a:spcPct val="110000"/>
              </a:lnSpc>
              <a:spcAft>
                <a:spcPts val="600"/>
              </a:spcAft>
            </a:pPr>
            <a:r>
              <a:rPr sz="1800" b="1">
                <a:solidFill>
                  <a:srgbClr val="1E4926"/>
                </a:solidFill>
                <a:latin typeface="Manifold Bold"/>
              </a:rPr>
              <a:t>Answer</a:t>
            </a:r>
          </a:p>
        </p:txBody>
      </p:sp>
      <p:sp>
        <p:nvSpPr>
          <p:cNvPr id="98" name="TextBox 97"/>
          <p:cNvSpPr txBox="1"/>
          <p:nvPr/>
        </p:nvSpPr>
        <p:spPr>
          <a:xfrm>
            <a:off x="10332720" y="7562088"/>
            <a:ext cx="3291840" cy="822960"/>
          </a:xfrm>
          <a:prstGeom prst="rect">
            <a:avLst/>
          </a:prstGeom>
          <a:noFill/>
        </p:spPr>
        <p:txBody>
          <a:bodyPr wrap="square" anchor="ctr" lIns="0" rIns="0" tIns="0" bIns="0">
            <a:spAutoFit/>
          </a:bodyPr>
          <a:lstStyle/>
          <a:p>
            <a:pPr algn="l">
              <a:lnSpc>
                <a:spcPct val="110000"/>
              </a:lnSpc>
              <a:spcAft>
                <a:spcPts val="600"/>
              </a:spcAft>
            </a:pPr>
            <a:r>
              <a:rPr sz="3400" b="0">
                <a:solidFill>
                  <a:srgbClr val="1E4926"/>
                </a:solidFill>
                <a:latin typeface="Manifold Ultra-Bold"/>
              </a:rPr>
              <a:t>a page</a:t>
            </a:r>
          </a:p>
        </p:txBody>
      </p:sp>
      <p:sp>
        <p:nvSpPr>
          <p:cNvPr id="99" name="TextBox 98"/>
          <p:cNvSpPr txBox="1"/>
          <p:nvPr/>
        </p:nvSpPr>
        <p:spPr>
          <a:xfrm>
            <a:off x="10332720" y="8385048"/>
            <a:ext cx="3291840" cy="365760"/>
          </a:xfrm>
          <a:prstGeom prst="rect">
            <a:avLst/>
          </a:prstGeom>
          <a:noFill/>
        </p:spPr>
        <p:txBody>
          <a:bodyPr wrap="square" anchor="t" lIns="0" rIns="0" tIns="0" bIns="0">
            <a:spAutoFit/>
          </a:bodyPr>
          <a:lstStyle/>
          <a:p>
            <a:pPr algn="l">
              <a:lnSpc>
                <a:spcPct val="110000"/>
              </a:lnSpc>
              <a:spcAft>
                <a:spcPts val="600"/>
              </a:spcAft>
            </a:pPr>
            <a:r>
              <a:rPr sz="1500" b="0">
                <a:solidFill>
                  <a:srgbClr val="457C5B"/>
                </a:solidFill>
                <a:latin typeface="Lato"/>
              </a:rPr>
              <a:t>vague prompt</a:t>
            </a:r>
          </a:p>
        </p:txBody>
      </p:sp>
      <p:sp>
        <p:nvSpPr>
          <p:cNvPr id="100" name="TextBox 99"/>
          <p:cNvSpPr txBox="1"/>
          <p:nvPr/>
        </p:nvSpPr>
        <p:spPr>
          <a:xfrm>
            <a:off x="13716000" y="7562088"/>
            <a:ext cx="3291840" cy="822960"/>
          </a:xfrm>
          <a:prstGeom prst="rect">
            <a:avLst/>
          </a:prstGeom>
          <a:noFill/>
        </p:spPr>
        <p:txBody>
          <a:bodyPr wrap="square" anchor="ctr" lIns="0" rIns="0" tIns="0" bIns="0">
            <a:spAutoFit/>
          </a:bodyPr>
          <a:lstStyle/>
          <a:p>
            <a:pPr algn="l">
              <a:lnSpc>
                <a:spcPct val="110000"/>
              </a:lnSpc>
              <a:spcAft>
                <a:spcPts val="600"/>
              </a:spcAft>
            </a:pPr>
            <a:r>
              <a:rPr sz="3400" b="0">
                <a:solidFill>
                  <a:srgbClr val="1E4926"/>
                </a:solidFill>
                <a:latin typeface="Manifold Ultra-Bold"/>
              </a:rPr>
              <a:t>“good”</a:t>
            </a:r>
          </a:p>
        </p:txBody>
      </p:sp>
      <p:sp>
        <p:nvSpPr>
          <p:cNvPr id="101" name="TextBox 100"/>
          <p:cNvSpPr txBox="1"/>
          <p:nvPr/>
        </p:nvSpPr>
        <p:spPr>
          <a:xfrm>
            <a:off x="13716000" y="8385048"/>
            <a:ext cx="3291840" cy="365760"/>
          </a:xfrm>
          <a:prstGeom prst="rect">
            <a:avLst/>
          </a:prstGeom>
          <a:noFill/>
        </p:spPr>
        <p:txBody>
          <a:bodyPr wrap="square" anchor="t" lIns="0" rIns="0" tIns="0" bIns="0">
            <a:spAutoFit/>
          </a:bodyPr>
          <a:lstStyle/>
          <a:p>
            <a:pPr algn="l">
              <a:lnSpc>
                <a:spcPct val="110000"/>
              </a:lnSpc>
              <a:spcAft>
                <a:spcPts val="600"/>
              </a:spcAft>
            </a:pPr>
            <a:r>
              <a:rPr sz="1500" b="0">
                <a:solidFill>
                  <a:srgbClr val="457C5B"/>
                </a:solidFill>
                <a:latin typeface="Lato"/>
              </a:rPr>
              <a:t>optimized</a:t>
            </a:r>
          </a:p>
        </p:txBody>
      </p:sp>
      <p:sp>
        <p:nvSpPr>
          <p:cNvPr id="102" name="TextBox 101"/>
          <p:cNvSpPr txBox="1"/>
          <p:nvPr/>
        </p:nvSpPr>
        <p:spPr>
          <a:xfrm>
            <a:off x="10332720" y="8915400"/>
            <a:ext cx="6766560" cy="411480"/>
          </a:xfrm>
          <a:prstGeom prst="rect">
            <a:avLst/>
          </a:prstGeom>
          <a:noFill/>
        </p:spPr>
        <p:txBody>
          <a:bodyPr wrap="square" anchor="t" lIns="0" rIns="0" tIns="0" bIns="0">
            <a:spAutoFit/>
          </a:bodyPr>
          <a:lstStyle/>
          <a:p>
            <a:pPr algn="l">
              <a:lnSpc>
                <a:spcPct val="110000"/>
              </a:lnSpc>
              <a:spcAft>
                <a:spcPts val="600"/>
              </a:spcAft>
            </a:pPr>
            <a:r>
              <a:rPr sz="1500" b="0">
                <a:solidFill>
                  <a:srgbClr val="1E4926"/>
                </a:solidFill>
                <a:latin typeface="Lato"/>
              </a:rPr>
              <a:t>Same AI for both: OpenAI's GPT model (gpt-oss-120b)</a:t>
            </a:r>
          </a:p>
        </p:txBody>
      </p:sp>
    </p:spTree>
  </p:cSld>
  <p:clrMapOvr>
    <a:masterClrMapping/>
  </p:clrMapOvr>
</p:sld>
</file>

<file path=ppt/slides/slide13.xml><?xml version="1.0" encoding="utf-8"?>
<p:sld xmlns:p="http://schemas.openxmlformats.org/presentationml/2006/main" xmlns:a="http://schemas.openxmlformats.org/drawingml/2006/main" xmlns:r="http://schemas.openxmlformats.org/officeDocument/2006/relationships">
  <p:cSld>
    <p:bg>
      <p:bgPr>
        <a:solidFill>
          <a:srgbClr val="F5FFF9"/>
        </a:solidFill>
      </p:bgPr>
    </p:bg>
    <p:spTree>
      <p:nvGrpSpPr>
        <p:cNvPr id="1" name=""/>
        <p:cNvGrpSpPr/>
        <p:nvPr/>
      </p:nvGrpSpPr>
      <p:grpSpPr>
        <a:xfrm>
          <a:off x="0" y="0"/>
          <a:ext cx="0" cy="0"/>
          <a:chOff x="0" y="0"/>
          <a:chExt cx="0" cy="0"/>
        </a:xfrm>
      </p:grpSpPr>
      <p:grpSp>
        <p:nvGrpSpPr>
          <p:cNvPr name="Group 2" id="2"/>
          <p:cNvGrpSpPr/>
          <p:nvPr/>
        </p:nvGrpSpPr>
        <p:grpSpPr>
          <a:xfrm rot="1065972">
            <a:off x="-1561962" y="-520880"/>
            <a:ext cx="11464130" cy="11464130"/>
            <a:chOff x="0" y="0"/>
            <a:chExt cx="812800" cy="812800"/>
          </a:xfrm>
        </p:grpSpPr>
        <p:sp>
          <p:nvSpPr>
            <p:cNvPr name="Freeform 3" id="3"/>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true">
              <a:gsLst>
                <a:gs pos="0">
                  <a:srgbClr val="9FC4AE">
                    <a:alpha val="66000"/>
                  </a:srgbClr>
                </a:gs>
                <a:gs pos="100000">
                  <a:srgbClr val="FFFFFF">
                    <a:alpha val="66000"/>
                  </a:srgbClr>
                </a:gs>
              </a:gsLst>
              <a:lin ang="0"/>
            </a:gradFill>
          </p:spPr>
        </p:sp>
        <p:sp>
          <p:nvSpPr>
            <p:cNvPr name="TextBox 4" id="4"/>
            <p:cNvSpPr txBox="true"/>
            <p:nvPr/>
          </p:nvSpPr>
          <p:spPr>
            <a:xfrm>
              <a:off x="76200" y="28575"/>
              <a:ext cx="660400" cy="708025"/>
            </a:xfrm>
            <a:prstGeom prst="rect">
              <a:avLst/>
            </a:prstGeom>
          </p:spPr>
          <p:txBody>
            <a:bodyPr anchor="ctr" rtlCol="false" tIns="50800" lIns="50800" bIns="50800" rIns="50800"/>
            <a:lstStyle/>
            <a:p>
              <a:pPr algn="ctr">
                <a:lnSpc>
                  <a:spcPts val="2936"/>
                </a:lnSpc>
              </a:pPr>
            </a:p>
          </p:txBody>
        </p:sp>
      </p:grpSp>
      <p:grpSp>
        <p:nvGrpSpPr>
          <p:cNvPr name="Group 5" id="5"/>
          <p:cNvGrpSpPr/>
          <p:nvPr/>
        </p:nvGrpSpPr>
        <p:grpSpPr>
          <a:xfrm rot="9405415">
            <a:off x="15708021" y="7901905"/>
            <a:ext cx="5159957" cy="5159957"/>
            <a:chOff x="0" y="0"/>
            <a:chExt cx="812800" cy="812800"/>
          </a:xfrm>
        </p:grpSpPr>
        <p:sp>
          <p:nvSpPr>
            <p:cNvPr name="Freeform 6" id="6"/>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true">
              <a:gsLst>
                <a:gs pos="0">
                  <a:srgbClr val="9FC4AE">
                    <a:alpha val="66000"/>
                  </a:srgbClr>
                </a:gs>
                <a:gs pos="100000">
                  <a:srgbClr val="FFFFFF">
                    <a:alpha val="66000"/>
                  </a:srgbClr>
                </a:gs>
              </a:gsLst>
              <a:lin ang="0"/>
            </a:gradFill>
          </p:spPr>
        </p:sp>
        <p:sp>
          <p:nvSpPr>
            <p:cNvPr name="TextBox 7" id="7"/>
            <p:cNvSpPr txBox="true"/>
            <p:nvPr/>
          </p:nvSpPr>
          <p:spPr>
            <a:xfrm>
              <a:off x="76200" y="28575"/>
              <a:ext cx="660400" cy="708025"/>
            </a:xfrm>
            <a:prstGeom prst="rect">
              <a:avLst/>
            </a:prstGeom>
          </p:spPr>
          <p:txBody>
            <a:bodyPr anchor="ctr" rtlCol="false" tIns="50800" lIns="50800" bIns="50800" rIns="50800"/>
            <a:lstStyle/>
            <a:p>
              <a:pPr algn="ctr">
                <a:lnSpc>
                  <a:spcPts val="2936"/>
                </a:lnSpc>
              </a:pPr>
            </a:p>
          </p:txBody>
        </p:sp>
      </p:grpSp>
      <p:sp>
        <p:nvSpPr>
          <p:cNvPr name="Freeform 8" id="8"/>
          <p:cNvSpPr/>
          <p:nvPr/>
        </p:nvSpPr>
        <p:spPr>
          <a:xfrm flipH="false" flipV="false" rot="0">
            <a:off x="185225" y="296308"/>
            <a:ext cx="1686949" cy="1283956"/>
          </a:xfrm>
          <a:custGeom>
            <a:avLst/>
            <a:gdLst/>
            <a:ahLst/>
            <a:cxnLst/>
            <a:rect r="r" b="b" t="t" l="l"/>
            <a:pathLst>
              <a:path h="1283956" w="1686949">
                <a:moveTo>
                  <a:pt x="0" y="0"/>
                </a:moveTo>
                <a:lnTo>
                  <a:pt x="1686950" y="0"/>
                </a:lnTo>
                <a:lnTo>
                  <a:pt x="1686950" y="1283956"/>
                </a:lnTo>
                <a:lnTo>
                  <a:pt x="0" y="1283956"/>
                </a:lnTo>
                <a:lnTo>
                  <a:pt x="0" y="0"/>
                </a:lnTo>
                <a:close/>
              </a:path>
            </a:pathLst>
          </a:custGeom>
          <a:blipFill>
            <a:blip r:embed="rId2"/>
            <a:stretch>
              <a:fillRect l="0" t="0" r="0" b="0"/>
            </a:stretch>
          </a:blipFill>
        </p:spPr>
      </p:sp>
      <p:sp>
        <p:nvSpPr>
          <p:cNvPr name="TextBox 9" id="9"/>
          <p:cNvSpPr txBox="true"/>
          <p:nvPr/>
        </p:nvSpPr>
        <p:spPr>
          <a:xfrm rot="0">
            <a:off x="2103120" y="566928"/>
            <a:ext cx="14081760" cy="946150"/>
          </a:xfrm>
          <a:prstGeom prst="rect">
            <a:avLst/>
          </a:prstGeom>
        </p:spPr>
        <p:txBody>
          <a:bodyPr anchor="t" rtlCol="false" tIns="0" lIns="0" bIns="0" rIns="0" wrap="square">
            <a:spAutoFit/>
          </a:bodyPr>
          <a:lstStyle/>
          <a:p>
            <a:pPr algn="ctr">
              <a:lnSpc>
                <a:spcPts val="7699"/>
              </a:lnSpc>
            </a:pPr>
            <a:r>
              <a:rPr lang="en-US" b="true" sz="5499">
                <a:solidFill>
                  <a:srgbClr val="457C5B"/>
                </a:solidFill>
                <a:latin typeface="Manifold Ultra-Bold"/>
                <a:ea typeface="Manifold Ultra-Bold"/>
                <a:cs typeface="Manifold Ultra-Bold"/>
                <a:sym typeface="Manifold Ultra-Bold"/>
              </a:rPr>
              <a:t>DOES IT WORK ON 482 NEW PROMPTS?</a:t>
            </a:r>
          </a:p>
        </p:txBody>
      </p:sp>
      <p:sp>
        <p:nvSpPr>
          <p:cNvPr id="10" name="Rounded Rectangle 9"/>
          <p:cNvSpPr/>
          <p:nvPr/>
        </p:nvSpPr>
        <p:spPr>
          <a:xfrm>
            <a:off x="914400" y="1965960"/>
            <a:ext cx="9692640" cy="7452360"/>
          </a:xfrm>
          <a:prstGeom prst="roundRect">
            <a:avLst>
              <a:gd name="adj" fmla="val 7000"/>
            </a:avLst>
          </a:prstGeom>
          <a:solidFill>
            <a:srgbClr val="FFFFFF"/>
          </a:solidFill>
          <a:ln w="19050">
            <a:solidFill>
              <a:srgbClr val="8AB79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11" name="Chart 10"/>
          <p:cNvGraphicFramePr>
            <a:graphicFrameLocks noGrp="1"/>
          </p:cNvGraphicFramePr>
          <p:nvPr/>
        </p:nvGraphicFramePr>
        <p:xfrm>
          <a:off x="1097280" y="2103120"/>
          <a:ext cx="9326880" cy="7223760"/>
        </p:xfrm>
        <a:graphic>
          <a:graphicData uri="http://schemas.openxmlformats.org/drawingml/2006/chart">
            <c:chart xmlns:c="http://schemas.openxmlformats.org/drawingml/2006/chart" r:id="rId3"/>
          </a:graphicData>
        </a:graphic>
      </p:graphicFrame>
      <p:sp>
        <p:nvSpPr>
          <p:cNvPr id="12" name="Rounded Rectangle 11"/>
          <p:cNvSpPr/>
          <p:nvPr/>
        </p:nvSpPr>
        <p:spPr>
          <a:xfrm>
            <a:off x="10972800" y="1965960"/>
            <a:ext cx="6400800" cy="2194560"/>
          </a:xfrm>
          <a:prstGeom prst="roundRect">
            <a:avLst>
              <a:gd name="adj" fmla="val 7000"/>
            </a:avLst>
          </a:prstGeom>
          <a:solidFill>
            <a:srgbClr val="457C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1155680" y="2103120"/>
            <a:ext cx="6035040" cy="1097280"/>
          </a:xfrm>
          <a:prstGeom prst="rect">
            <a:avLst/>
          </a:prstGeom>
          <a:noFill/>
        </p:spPr>
        <p:txBody>
          <a:bodyPr wrap="square" anchor="ctr" lIns="0" rIns="0" tIns="0" bIns="0">
            <a:spAutoFit/>
          </a:bodyPr>
          <a:lstStyle/>
          <a:p>
            <a:pPr algn="ctr">
              <a:lnSpc>
                <a:spcPct val="110000"/>
              </a:lnSpc>
              <a:spcAft>
                <a:spcPts val="600"/>
              </a:spcAft>
            </a:pPr>
            <a:r>
              <a:rPr sz="4200" b="0">
                <a:solidFill>
                  <a:srgbClr val="F5FFF9"/>
                </a:solidFill>
                <a:latin typeface="Manifold Ultra-Bold"/>
              </a:rPr>
              <a:t>39% fewer</a:t>
            </a:r>
          </a:p>
        </p:txBody>
      </p:sp>
      <p:sp>
        <p:nvSpPr>
          <p:cNvPr id="14" name="TextBox 13"/>
          <p:cNvSpPr txBox="1"/>
          <p:nvPr/>
        </p:nvSpPr>
        <p:spPr>
          <a:xfrm>
            <a:off x="11201400" y="3238804"/>
            <a:ext cx="5943600" cy="877824"/>
          </a:xfrm>
          <a:prstGeom prst="rect">
            <a:avLst/>
          </a:prstGeom>
          <a:noFill/>
        </p:spPr>
        <p:txBody>
          <a:bodyPr wrap="square" anchor="t" lIns="0" rIns="0" tIns="0" bIns="0">
            <a:spAutoFit/>
          </a:bodyPr>
          <a:lstStyle/>
          <a:p>
            <a:pPr algn="ctr">
              <a:lnSpc>
                <a:spcPct val="110000"/>
              </a:lnSpc>
              <a:spcAft>
                <a:spcPts val="600"/>
              </a:spcAft>
            </a:pPr>
            <a:r>
              <a:rPr sz="1700" b="0">
                <a:solidFill>
                  <a:srgbClr val="F5FFF9"/>
                </a:solidFill>
                <a:latin typeface="Lato"/>
              </a:rPr>
              <a:t>total tokens per prompt (482 test prompts)</a:t>
            </a:r>
          </a:p>
        </p:txBody>
      </p:sp>
      <p:sp>
        <p:nvSpPr>
          <p:cNvPr id="15" name="Rounded Rectangle 14"/>
          <p:cNvSpPr/>
          <p:nvPr/>
        </p:nvSpPr>
        <p:spPr>
          <a:xfrm>
            <a:off x="10972800" y="4343400"/>
            <a:ext cx="6400800" cy="2240280"/>
          </a:xfrm>
          <a:prstGeom prst="roundRect">
            <a:avLst>
              <a:gd name="adj" fmla="val 7000"/>
            </a:avLst>
          </a:prstGeom>
          <a:solidFill>
            <a:srgbClr val="457C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1247120" y="4507992"/>
            <a:ext cx="5852160" cy="457200"/>
          </a:xfrm>
          <a:prstGeom prst="rect">
            <a:avLst/>
          </a:prstGeom>
          <a:noFill/>
        </p:spPr>
        <p:txBody>
          <a:bodyPr wrap="square" anchor="t" lIns="0" rIns="0" tIns="0" bIns="0">
            <a:spAutoFit/>
          </a:bodyPr>
          <a:lstStyle/>
          <a:p>
            <a:pPr algn="l">
              <a:lnSpc>
                <a:spcPct val="110000"/>
              </a:lnSpc>
              <a:spcAft>
                <a:spcPts val="600"/>
              </a:spcAft>
            </a:pPr>
            <a:r>
              <a:rPr sz="1800" b="1">
                <a:solidFill>
                  <a:srgbClr val="F5FFF9"/>
                </a:solidFill>
                <a:latin typeface="Manifold Bold"/>
              </a:rPr>
              <a:t>Answer format stated</a:t>
            </a:r>
          </a:p>
        </p:txBody>
      </p:sp>
      <p:sp>
        <p:nvSpPr>
          <p:cNvPr id="17" name="TextBox 16"/>
          <p:cNvSpPr txBox="1"/>
          <p:nvPr/>
        </p:nvSpPr>
        <p:spPr>
          <a:xfrm>
            <a:off x="11247120" y="5001768"/>
            <a:ext cx="2834640" cy="822960"/>
          </a:xfrm>
          <a:prstGeom prst="rect">
            <a:avLst/>
          </a:prstGeom>
          <a:noFill/>
        </p:spPr>
        <p:txBody>
          <a:bodyPr wrap="square" anchor="ctr" lIns="0" rIns="0" tIns="0" bIns="0">
            <a:spAutoFit/>
          </a:bodyPr>
          <a:lstStyle/>
          <a:p>
            <a:pPr algn="l">
              <a:lnSpc>
                <a:spcPct val="110000"/>
              </a:lnSpc>
              <a:spcAft>
                <a:spcPts val="600"/>
              </a:spcAft>
            </a:pPr>
            <a:r>
              <a:rPr sz="3000" b="0">
                <a:solidFill>
                  <a:srgbClr val="F5FFF9"/>
                </a:solidFill>
                <a:latin typeface="Manifold Ultra-Bold"/>
              </a:rPr>
              <a:t>3 in 100</a:t>
            </a:r>
          </a:p>
        </p:txBody>
      </p:sp>
      <p:sp>
        <p:nvSpPr>
          <p:cNvPr id="18" name="TextBox 17"/>
          <p:cNvSpPr txBox="1"/>
          <p:nvPr/>
        </p:nvSpPr>
        <p:spPr>
          <a:xfrm>
            <a:off x="11247120" y="5824728"/>
            <a:ext cx="2834640" cy="365760"/>
          </a:xfrm>
          <a:prstGeom prst="rect">
            <a:avLst/>
          </a:prstGeom>
          <a:noFill/>
        </p:spPr>
        <p:txBody>
          <a:bodyPr wrap="square" anchor="t" lIns="0" rIns="0" tIns="0" bIns="0">
            <a:spAutoFit/>
          </a:bodyPr>
          <a:lstStyle/>
          <a:p>
            <a:pPr algn="l">
              <a:lnSpc>
                <a:spcPct val="110000"/>
              </a:lnSpc>
              <a:spcAft>
                <a:spcPts val="600"/>
              </a:spcAft>
            </a:pPr>
            <a:r>
              <a:rPr sz="1500" b="0">
                <a:solidFill>
                  <a:srgbClr val="9FC4AE"/>
                </a:solidFill>
                <a:latin typeface="Lato"/>
              </a:rPr>
              <a:t>vague prompt</a:t>
            </a:r>
          </a:p>
        </p:txBody>
      </p:sp>
      <p:sp>
        <p:nvSpPr>
          <p:cNvPr id="19" name="TextBox 18"/>
          <p:cNvSpPr txBox="1"/>
          <p:nvPr/>
        </p:nvSpPr>
        <p:spPr>
          <a:xfrm>
            <a:off x="14173200" y="5001768"/>
            <a:ext cx="2834640" cy="822960"/>
          </a:xfrm>
          <a:prstGeom prst="rect">
            <a:avLst/>
          </a:prstGeom>
          <a:noFill/>
        </p:spPr>
        <p:txBody>
          <a:bodyPr wrap="square" anchor="ctr" lIns="0" rIns="0" tIns="0" bIns="0">
            <a:spAutoFit/>
          </a:bodyPr>
          <a:lstStyle/>
          <a:p>
            <a:pPr algn="l">
              <a:lnSpc>
                <a:spcPct val="110000"/>
              </a:lnSpc>
              <a:spcAft>
                <a:spcPts val="600"/>
              </a:spcAft>
            </a:pPr>
            <a:r>
              <a:rPr sz="3000" b="0">
                <a:solidFill>
                  <a:srgbClr val="F5FFF9"/>
                </a:solidFill>
                <a:latin typeface="Manifold Ultra-Bold"/>
              </a:rPr>
              <a:t>95 in 100</a:t>
            </a:r>
          </a:p>
        </p:txBody>
      </p:sp>
      <p:sp>
        <p:nvSpPr>
          <p:cNvPr id="20" name="TextBox 19"/>
          <p:cNvSpPr txBox="1"/>
          <p:nvPr/>
        </p:nvSpPr>
        <p:spPr>
          <a:xfrm>
            <a:off x="14173200" y="5824728"/>
            <a:ext cx="2834640" cy="365760"/>
          </a:xfrm>
          <a:prstGeom prst="rect">
            <a:avLst/>
          </a:prstGeom>
          <a:noFill/>
        </p:spPr>
        <p:txBody>
          <a:bodyPr wrap="square" anchor="t" lIns="0" rIns="0" tIns="0" bIns="0">
            <a:spAutoFit/>
          </a:bodyPr>
          <a:lstStyle/>
          <a:p>
            <a:pPr algn="l">
              <a:lnSpc>
                <a:spcPct val="110000"/>
              </a:lnSpc>
              <a:spcAft>
                <a:spcPts val="600"/>
              </a:spcAft>
            </a:pPr>
            <a:r>
              <a:rPr sz="1500" b="0">
                <a:solidFill>
                  <a:srgbClr val="9FC4AE"/>
                </a:solidFill>
                <a:latin typeface="Lato"/>
              </a:rPr>
              <a:t>optimized</a:t>
            </a:r>
          </a:p>
        </p:txBody>
      </p:sp>
      <p:sp>
        <p:nvSpPr>
          <p:cNvPr id="21" name="Rounded Rectangle 20"/>
          <p:cNvSpPr/>
          <p:nvPr/>
        </p:nvSpPr>
        <p:spPr>
          <a:xfrm>
            <a:off x="10972800" y="6766560"/>
            <a:ext cx="6400800" cy="2651760"/>
          </a:xfrm>
          <a:prstGeom prst="roundRect">
            <a:avLst>
              <a:gd name="adj" fmla="val 7000"/>
            </a:avLst>
          </a:prstGeom>
          <a:solidFill>
            <a:srgbClr val="457C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11247120" y="6931152"/>
            <a:ext cx="5852160" cy="457200"/>
          </a:xfrm>
          <a:prstGeom prst="rect">
            <a:avLst/>
          </a:prstGeom>
          <a:noFill/>
        </p:spPr>
        <p:txBody>
          <a:bodyPr wrap="square" anchor="t" lIns="0" rIns="0" tIns="0" bIns="0">
            <a:spAutoFit/>
          </a:bodyPr>
          <a:lstStyle/>
          <a:p>
            <a:pPr algn="l">
              <a:lnSpc>
                <a:spcPct val="110000"/>
              </a:lnSpc>
              <a:spcAft>
                <a:spcPts val="600"/>
              </a:spcAft>
            </a:pPr>
            <a:r>
              <a:rPr sz="1800" b="1">
                <a:solidFill>
                  <a:srgbClr val="F5FFF9"/>
                </a:solidFill>
                <a:latin typeface="Manifold Bold"/>
              </a:rPr>
              <a:t>Quality, blind judge (0-10)</a:t>
            </a:r>
          </a:p>
        </p:txBody>
      </p:sp>
      <p:sp>
        <p:nvSpPr>
          <p:cNvPr id="23" name="TextBox 22"/>
          <p:cNvSpPr txBox="1"/>
          <p:nvPr/>
        </p:nvSpPr>
        <p:spPr>
          <a:xfrm>
            <a:off x="11247120" y="7424928"/>
            <a:ext cx="2834640" cy="822960"/>
          </a:xfrm>
          <a:prstGeom prst="rect">
            <a:avLst/>
          </a:prstGeom>
          <a:noFill/>
        </p:spPr>
        <p:txBody>
          <a:bodyPr wrap="square" anchor="ctr" lIns="0" rIns="0" tIns="0" bIns="0">
            <a:spAutoFit/>
          </a:bodyPr>
          <a:lstStyle/>
          <a:p>
            <a:pPr algn="l">
              <a:lnSpc>
                <a:spcPct val="110000"/>
              </a:lnSpc>
              <a:spcAft>
                <a:spcPts val="600"/>
              </a:spcAft>
            </a:pPr>
            <a:r>
              <a:rPr sz="3600" b="0">
                <a:solidFill>
                  <a:srgbClr val="F5FFF9"/>
                </a:solidFill>
                <a:latin typeface="Manifold Ultra-Bold"/>
              </a:rPr>
              <a:t>8.2</a:t>
            </a:r>
          </a:p>
        </p:txBody>
      </p:sp>
      <p:sp>
        <p:nvSpPr>
          <p:cNvPr id="24" name="TextBox 23"/>
          <p:cNvSpPr txBox="1"/>
          <p:nvPr/>
        </p:nvSpPr>
        <p:spPr>
          <a:xfrm>
            <a:off x="11247120" y="8247888"/>
            <a:ext cx="2834640" cy="365760"/>
          </a:xfrm>
          <a:prstGeom prst="rect">
            <a:avLst/>
          </a:prstGeom>
          <a:noFill/>
        </p:spPr>
        <p:txBody>
          <a:bodyPr wrap="square" anchor="t" lIns="0" rIns="0" tIns="0" bIns="0">
            <a:spAutoFit/>
          </a:bodyPr>
          <a:lstStyle/>
          <a:p>
            <a:pPr algn="l">
              <a:lnSpc>
                <a:spcPct val="110000"/>
              </a:lnSpc>
              <a:spcAft>
                <a:spcPts val="600"/>
              </a:spcAft>
            </a:pPr>
            <a:r>
              <a:rPr sz="1500" b="0">
                <a:solidFill>
                  <a:srgbClr val="9FC4AE"/>
                </a:solidFill>
                <a:latin typeface="Lato"/>
              </a:rPr>
              <a:t>vague prompt</a:t>
            </a:r>
          </a:p>
        </p:txBody>
      </p:sp>
      <p:sp>
        <p:nvSpPr>
          <p:cNvPr id="25" name="TextBox 24"/>
          <p:cNvSpPr txBox="1"/>
          <p:nvPr/>
        </p:nvSpPr>
        <p:spPr>
          <a:xfrm>
            <a:off x="14173200" y="7424928"/>
            <a:ext cx="2834640" cy="822960"/>
          </a:xfrm>
          <a:prstGeom prst="rect">
            <a:avLst/>
          </a:prstGeom>
          <a:noFill/>
        </p:spPr>
        <p:txBody>
          <a:bodyPr wrap="square" anchor="ctr" lIns="0" rIns="0" tIns="0" bIns="0">
            <a:spAutoFit/>
          </a:bodyPr>
          <a:lstStyle/>
          <a:p>
            <a:pPr algn="l">
              <a:lnSpc>
                <a:spcPct val="110000"/>
              </a:lnSpc>
              <a:spcAft>
                <a:spcPts val="600"/>
              </a:spcAft>
            </a:pPr>
            <a:r>
              <a:rPr sz="3600" b="0">
                <a:solidFill>
                  <a:srgbClr val="F5FFF9"/>
                </a:solidFill>
                <a:latin typeface="Manifold Ultra-Bold"/>
              </a:rPr>
              <a:t>9.0</a:t>
            </a:r>
          </a:p>
        </p:txBody>
      </p:sp>
      <p:sp>
        <p:nvSpPr>
          <p:cNvPr id="26" name="TextBox 25"/>
          <p:cNvSpPr txBox="1"/>
          <p:nvPr/>
        </p:nvSpPr>
        <p:spPr>
          <a:xfrm>
            <a:off x="14173200" y="8247888"/>
            <a:ext cx="2834640" cy="365760"/>
          </a:xfrm>
          <a:prstGeom prst="rect">
            <a:avLst/>
          </a:prstGeom>
          <a:noFill/>
        </p:spPr>
        <p:txBody>
          <a:bodyPr wrap="square" anchor="t" lIns="0" rIns="0" tIns="0" bIns="0">
            <a:spAutoFit/>
          </a:bodyPr>
          <a:lstStyle/>
          <a:p>
            <a:pPr algn="l">
              <a:lnSpc>
                <a:spcPct val="110000"/>
              </a:lnSpc>
              <a:spcAft>
                <a:spcPts val="600"/>
              </a:spcAft>
            </a:pPr>
            <a:r>
              <a:rPr sz="1500" b="0">
                <a:solidFill>
                  <a:srgbClr val="9FC4AE"/>
                </a:solidFill>
                <a:latin typeface="Lato"/>
              </a:rPr>
              <a:t>optimized</a:t>
            </a:r>
          </a:p>
        </p:txBody>
      </p:sp>
      <p:sp>
        <p:nvSpPr>
          <p:cNvPr id="27" name="TextBox 26"/>
          <p:cNvSpPr txBox="1"/>
          <p:nvPr/>
        </p:nvSpPr>
        <p:spPr>
          <a:xfrm>
            <a:off x="11247120" y="8915400"/>
            <a:ext cx="5852160" cy="411480"/>
          </a:xfrm>
          <a:prstGeom prst="rect">
            <a:avLst/>
          </a:prstGeom>
          <a:noFill/>
        </p:spPr>
        <p:txBody>
          <a:bodyPr wrap="square" anchor="t" lIns="0" rIns="0" tIns="0" bIns="0">
            <a:spAutoFit/>
          </a:bodyPr>
          <a:lstStyle/>
          <a:p>
            <a:pPr algn="l">
              <a:lnSpc>
                <a:spcPct val="110000"/>
              </a:lnSpc>
              <a:spcAft>
                <a:spcPts val="600"/>
              </a:spcAft>
            </a:pPr>
            <a:r>
              <a:rPr sz="1500" b="0">
                <a:solidFill>
                  <a:srgbClr val="F5FFF9"/>
                </a:solidFill>
                <a:latin typeface="Lato"/>
              </a:rPr>
              <a:t>Task done right: 67% vs 85%</a:t>
            </a:r>
          </a:p>
        </p:txBody>
      </p:sp>
    </p:spTree>
  </p:cSld>
  <p:clrMapOvr>
    <a:masterClrMapping/>
  </p:clrMapOvr>
</p:sld>
</file>

<file path=ppt/slides/slide14.xml><?xml version="1.0" encoding="utf-8"?>
<p:sld xmlns:p="http://schemas.openxmlformats.org/presentationml/2006/main" xmlns:a="http://schemas.openxmlformats.org/drawingml/2006/main" xmlns:r="http://schemas.openxmlformats.org/officeDocument/2006/relationships">
  <p:cSld>
    <p:bg>
      <p:bgPr>
        <a:solidFill>
          <a:srgbClr val="F5FFF9"/>
        </a:solidFill>
      </p:bgPr>
    </p:bg>
    <p:spTree>
      <p:nvGrpSpPr>
        <p:cNvPr id="1" name=""/>
        <p:cNvGrpSpPr/>
        <p:nvPr/>
      </p:nvGrpSpPr>
      <p:grpSpPr>
        <a:xfrm>
          <a:off x="0" y="0"/>
          <a:ext cx="0" cy="0"/>
          <a:chOff x="0" y="0"/>
          <a:chExt cx="0" cy="0"/>
        </a:xfrm>
      </p:grpSpPr>
      <p:grpSp>
        <p:nvGrpSpPr>
          <p:cNvPr name="Group 5" id="5"/>
          <p:cNvGrpSpPr/>
          <p:nvPr/>
        </p:nvGrpSpPr>
        <p:grpSpPr>
          <a:xfrm rot="9405415">
            <a:off x="-472062" y="-2812968"/>
            <a:ext cx="5159957" cy="5159957"/>
            <a:chOff x="0" y="0"/>
            <a:chExt cx="812800" cy="812800"/>
          </a:xfrm>
        </p:grpSpPr>
        <p:sp>
          <p:nvSpPr>
            <p:cNvPr name="Freeform 6" id="6"/>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true">
              <a:gsLst>
                <a:gs pos="0">
                  <a:srgbClr val="9FC4AE">
                    <a:alpha val="66000"/>
                  </a:srgbClr>
                </a:gs>
                <a:gs pos="100000">
                  <a:srgbClr val="FFFFFF">
                    <a:alpha val="66000"/>
                  </a:srgbClr>
                </a:gs>
              </a:gsLst>
              <a:lin ang="0"/>
            </a:gradFill>
          </p:spPr>
        </p:sp>
        <p:sp>
          <p:nvSpPr>
            <p:cNvPr name="TextBox 7" id="7"/>
            <p:cNvSpPr txBox="true"/>
            <p:nvPr/>
          </p:nvSpPr>
          <p:spPr>
            <a:xfrm>
              <a:off x="76200" y="28575"/>
              <a:ext cx="660400" cy="708025"/>
            </a:xfrm>
            <a:prstGeom prst="rect">
              <a:avLst/>
            </a:prstGeom>
          </p:spPr>
          <p:txBody>
            <a:bodyPr anchor="ctr" rtlCol="false" tIns="50800" lIns="50800" bIns="50800" rIns="50800"/>
            <a:lstStyle/>
            <a:p>
              <a:pPr algn="ctr">
                <a:lnSpc>
                  <a:spcPts val="2936"/>
                </a:lnSpc>
              </a:pPr>
            </a:p>
          </p:txBody>
        </p:sp>
      </p:grpSp>
      <p:grpSp>
        <p:nvGrpSpPr>
          <p:cNvPr name="Group 8" id="8"/>
          <p:cNvGrpSpPr/>
          <p:nvPr/>
        </p:nvGrpSpPr>
        <p:grpSpPr>
          <a:xfrm rot="6936434">
            <a:off x="7303621" y="9528913"/>
            <a:ext cx="5817847" cy="5817847"/>
            <a:chOff x="0" y="0"/>
            <a:chExt cx="812800" cy="812800"/>
          </a:xfrm>
        </p:grpSpPr>
        <p:sp>
          <p:nvSpPr>
            <p:cNvPr name="Freeform 9" id="9"/>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true">
              <a:gsLst>
                <a:gs pos="0">
                  <a:srgbClr val="9FC4AE">
                    <a:alpha val="66000"/>
                  </a:srgbClr>
                </a:gs>
                <a:gs pos="100000">
                  <a:srgbClr val="FFFFFF">
                    <a:alpha val="66000"/>
                  </a:srgbClr>
                </a:gs>
              </a:gsLst>
              <a:lin ang="0"/>
            </a:gradFill>
          </p:spPr>
        </p:sp>
        <p:sp>
          <p:nvSpPr>
            <p:cNvPr name="TextBox 10" id="10"/>
            <p:cNvSpPr txBox="true"/>
            <p:nvPr/>
          </p:nvSpPr>
          <p:spPr>
            <a:xfrm>
              <a:off x="76200" y="28575"/>
              <a:ext cx="660400" cy="708025"/>
            </a:xfrm>
            <a:prstGeom prst="rect">
              <a:avLst/>
            </a:prstGeom>
          </p:spPr>
          <p:txBody>
            <a:bodyPr anchor="ctr" rtlCol="false" tIns="50800" lIns="50800" bIns="50800" rIns="50800"/>
            <a:lstStyle/>
            <a:p>
              <a:pPr algn="ctr">
                <a:lnSpc>
                  <a:spcPts val="2936"/>
                </a:lnSpc>
              </a:pPr>
            </a:p>
          </p:txBody>
        </p:sp>
      </p:grpSp>
      <p:sp>
        <p:nvSpPr>
          <p:cNvPr name="Freeform 11" id="11"/>
          <p:cNvSpPr/>
          <p:nvPr/>
        </p:nvSpPr>
        <p:spPr>
          <a:xfrm flipH="false" flipV="false" rot="0">
            <a:off x="185225" y="296308"/>
            <a:ext cx="1686949" cy="1283956"/>
          </a:xfrm>
          <a:custGeom>
            <a:avLst/>
            <a:gdLst/>
            <a:ahLst/>
            <a:cxnLst/>
            <a:rect r="r" b="b" t="t" l="l"/>
            <a:pathLst>
              <a:path h="1283956" w="1686949">
                <a:moveTo>
                  <a:pt x="0" y="0"/>
                </a:moveTo>
                <a:lnTo>
                  <a:pt x="1686950" y="0"/>
                </a:lnTo>
                <a:lnTo>
                  <a:pt x="1686950" y="1283956"/>
                </a:lnTo>
                <a:lnTo>
                  <a:pt x="0" y="1283956"/>
                </a:lnTo>
                <a:lnTo>
                  <a:pt x="0" y="0"/>
                </a:lnTo>
                <a:close/>
              </a:path>
            </a:pathLst>
          </a:custGeom>
          <a:blipFill>
            <a:blip r:embed="rId2"/>
            <a:stretch>
              <a:fillRect l="0" t="0" r="0" b="0"/>
            </a:stretch>
          </a:blipFill>
        </p:spPr>
      </p:sp>
      <p:sp>
        <p:nvSpPr>
          <p:cNvPr name="TextBox 50" id="50"/>
          <p:cNvSpPr txBox="true"/>
          <p:nvPr/>
        </p:nvSpPr>
        <p:spPr>
          <a:xfrm rot="0">
            <a:off x="2103120" y="566928"/>
            <a:ext cx="14081760" cy="946150"/>
          </a:xfrm>
          <a:prstGeom prst="rect">
            <a:avLst/>
          </a:prstGeom>
        </p:spPr>
        <p:txBody>
          <a:bodyPr anchor="t" rtlCol="false" tIns="0" lIns="0" bIns="0" rIns="0" wrap="square">
            <a:spAutoFit/>
          </a:bodyPr>
          <a:lstStyle/>
          <a:p>
            <a:pPr algn="ctr">
              <a:lnSpc>
                <a:spcPts val="7699"/>
              </a:lnSpc>
            </a:pPr>
            <a:r>
              <a:rPr lang="en-US" b="true" sz="5499">
                <a:solidFill>
                  <a:srgbClr val="457C5B"/>
                </a:solidFill>
                <a:latin typeface="Manifold Ultra-Bold"/>
                <a:ea typeface="Manifold Ultra-Bold"/>
                <a:cs typeface="Manifold Ultra-Bold"/>
                <a:sym typeface="Manifold Ultra-Bold"/>
              </a:rPr>
              <a:t>TESTING</a:t>
            </a:r>
          </a:p>
        </p:txBody>
      </p:sp>
      <p:sp>
        <p:nvSpPr>
          <p:cNvPr id="51" name="Rounded Rectangle 50"/>
          <p:cNvSpPr/>
          <p:nvPr/>
        </p:nvSpPr>
        <p:spPr>
          <a:xfrm>
            <a:off x="914400" y="1965960"/>
            <a:ext cx="5303520" cy="4343400"/>
          </a:xfrm>
          <a:prstGeom prst="roundRect">
            <a:avLst>
              <a:gd name="adj" fmla="val 7000"/>
            </a:avLst>
          </a:prstGeom>
          <a:solidFill>
            <a:srgbClr val="457C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1188720" y="2103120"/>
            <a:ext cx="2743200" cy="457200"/>
          </a:xfrm>
          <a:prstGeom prst="rect">
            <a:avLst/>
          </a:prstGeom>
          <a:noFill/>
        </p:spPr>
        <p:txBody>
          <a:bodyPr wrap="square" anchor="t" lIns="0" rIns="0" tIns="0" bIns="0">
            <a:spAutoFit/>
          </a:bodyPr>
          <a:lstStyle/>
          <a:p>
            <a:pPr algn="l">
              <a:lnSpc>
                <a:spcPct val="110000"/>
              </a:lnSpc>
              <a:spcAft>
                <a:spcPts val="600"/>
              </a:spcAft>
            </a:pPr>
            <a:r>
              <a:rPr sz="2000" b="1">
                <a:solidFill>
                  <a:srgbClr val="F5FFF9"/>
                </a:solidFill>
                <a:latin typeface="Manifold Bold"/>
              </a:rPr>
              <a:t>UNIT</a:t>
            </a:r>
          </a:p>
        </p:txBody>
      </p:sp>
      <p:sp>
        <p:nvSpPr>
          <p:cNvPr id="53" name="TextBox 52"/>
          <p:cNvSpPr txBox="1"/>
          <p:nvPr/>
        </p:nvSpPr>
        <p:spPr>
          <a:xfrm>
            <a:off x="1188720" y="2606040"/>
            <a:ext cx="4754880" cy="914400"/>
          </a:xfrm>
          <a:prstGeom prst="rect">
            <a:avLst/>
          </a:prstGeom>
          <a:noFill/>
        </p:spPr>
        <p:txBody>
          <a:bodyPr wrap="square" anchor="ctr" lIns="0" rIns="0" tIns="0" bIns="0">
            <a:spAutoFit/>
          </a:bodyPr>
          <a:lstStyle/>
          <a:p>
            <a:pPr algn="l">
              <a:lnSpc>
                <a:spcPct val="110000"/>
              </a:lnSpc>
              <a:spcAft>
                <a:spcPts val="600"/>
              </a:spcAft>
            </a:pPr>
            <a:r>
              <a:rPr sz="4600" b="0">
                <a:solidFill>
                  <a:srgbClr val="F5FFF9"/>
                </a:solidFill>
                <a:latin typeface="Manifold Ultra-Bold"/>
              </a:rPr>
              <a:t>798</a:t>
            </a:r>
          </a:p>
        </p:txBody>
      </p:sp>
      <p:sp>
        <p:nvSpPr>
          <p:cNvPr id="54" name="TextBox 53"/>
          <p:cNvSpPr txBox="1"/>
          <p:nvPr/>
        </p:nvSpPr>
        <p:spPr>
          <a:xfrm>
            <a:off x="1188720" y="3566160"/>
            <a:ext cx="4754880" cy="457200"/>
          </a:xfrm>
          <a:prstGeom prst="rect">
            <a:avLst/>
          </a:prstGeom>
          <a:noFill/>
        </p:spPr>
        <p:txBody>
          <a:bodyPr wrap="square" anchor="t" lIns="0" rIns="0" tIns="0" bIns="0">
            <a:spAutoFit/>
          </a:bodyPr>
          <a:lstStyle/>
          <a:p>
            <a:pPr algn="l">
              <a:lnSpc>
                <a:spcPct val="110000"/>
              </a:lnSpc>
              <a:spcAft>
                <a:spcPts val="600"/>
              </a:spcAft>
            </a:pPr>
            <a:r>
              <a:rPr sz="1700" b="0">
                <a:solidFill>
                  <a:srgbClr val="9FC4AE"/>
                </a:solidFill>
                <a:latin typeface="Lato"/>
              </a:rPr>
              <a:t>automatic tests, all pass</a:t>
            </a:r>
          </a:p>
        </p:txBody>
      </p:sp>
      <p:sp>
        <p:nvSpPr>
          <p:cNvPr id="55" name="TextBox 54"/>
          <p:cNvSpPr txBox="1"/>
          <p:nvPr/>
        </p:nvSpPr>
        <p:spPr>
          <a:xfrm>
            <a:off x="1188720" y="4251960"/>
            <a:ext cx="4754880" cy="1920240"/>
          </a:xfrm>
          <a:prstGeom prst="rect">
            <a:avLst/>
          </a:prstGeom>
          <a:noFill/>
        </p:spPr>
        <p:txBody>
          <a:bodyPr wrap="square" anchor="t" lIns="0" rIns="0" tIns="0" bIns="0">
            <a:spAutoFit/>
          </a:bodyPr>
          <a:lstStyle/>
          <a:p>
            <a:pPr algn="l">
              <a:lnSpc>
                <a:spcPct val="110000"/>
              </a:lnSpc>
              <a:spcAft>
                <a:spcPts val="1000"/>
              </a:spcAft>
            </a:pPr>
            <a:r>
              <a:rPr sz="1400" b="0">
                <a:solidFill>
                  <a:srgbClr val="9FC4AE"/>
                </a:solidFill>
                <a:latin typeface="Lato"/>
              </a:rPr>
              <a:t>●  </a:t>
            </a:r>
            <a:r>
              <a:rPr sz="2000" b="0">
                <a:solidFill>
                  <a:srgbClr val="F5FFF9"/>
                </a:solidFill>
                <a:latin typeface="Lato"/>
              </a:rPr>
              <a:t>every rule tested on its own</a:t>
            </a:r>
          </a:p>
          <a:p>
            <a:pPr algn="l">
              <a:lnSpc>
                <a:spcPct val="110000"/>
              </a:lnSpc>
              <a:spcAft>
                <a:spcPts val="1000"/>
              </a:spcAft>
            </a:pPr>
            <a:r>
              <a:rPr sz="1400" b="0">
                <a:solidFill>
                  <a:srgbClr val="9FC4AE"/>
                </a:solidFill>
                <a:latin typeface="Lato"/>
              </a:rPr>
              <a:t>●  </a:t>
            </a:r>
            <a:r>
              <a:rPr sz="2000" b="0">
                <a:solidFill>
                  <a:srgbClr val="F5FFF9"/>
                </a:solidFill>
                <a:latin typeface="Lato"/>
              </a:rPr>
              <a:t>4 sample cases per module in the report</a:t>
            </a:r>
          </a:p>
        </p:txBody>
      </p:sp>
      <p:sp>
        <p:nvSpPr>
          <p:cNvPr id="56" name="Rounded Rectangle 55"/>
          <p:cNvSpPr/>
          <p:nvPr/>
        </p:nvSpPr>
        <p:spPr>
          <a:xfrm>
            <a:off x="6492240" y="1965960"/>
            <a:ext cx="5303520" cy="4343400"/>
          </a:xfrm>
          <a:prstGeom prst="roundRect">
            <a:avLst>
              <a:gd name="adj" fmla="val 7000"/>
            </a:avLst>
          </a:prstGeom>
          <a:solidFill>
            <a:srgbClr val="457C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TextBox 56"/>
          <p:cNvSpPr txBox="1"/>
          <p:nvPr/>
        </p:nvSpPr>
        <p:spPr>
          <a:xfrm>
            <a:off x="6766559" y="2103120"/>
            <a:ext cx="2743200" cy="457200"/>
          </a:xfrm>
          <a:prstGeom prst="rect">
            <a:avLst/>
          </a:prstGeom>
          <a:noFill/>
        </p:spPr>
        <p:txBody>
          <a:bodyPr wrap="square" anchor="t" lIns="0" rIns="0" tIns="0" bIns="0">
            <a:spAutoFit/>
          </a:bodyPr>
          <a:lstStyle/>
          <a:p>
            <a:pPr algn="l">
              <a:lnSpc>
                <a:spcPct val="110000"/>
              </a:lnSpc>
              <a:spcAft>
                <a:spcPts val="600"/>
              </a:spcAft>
            </a:pPr>
            <a:r>
              <a:rPr sz="2000" b="1">
                <a:solidFill>
                  <a:srgbClr val="F5FFF9"/>
                </a:solidFill>
                <a:latin typeface="Manifold Bold"/>
              </a:rPr>
              <a:t>INTEGRATION</a:t>
            </a:r>
          </a:p>
        </p:txBody>
      </p:sp>
      <p:sp>
        <p:nvSpPr>
          <p:cNvPr id="58" name="TextBox 57"/>
          <p:cNvSpPr txBox="1"/>
          <p:nvPr/>
        </p:nvSpPr>
        <p:spPr>
          <a:xfrm>
            <a:off x="6766559" y="2606040"/>
            <a:ext cx="4754880" cy="914400"/>
          </a:xfrm>
          <a:prstGeom prst="rect">
            <a:avLst/>
          </a:prstGeom>
          <a:noFill/>
        </p:spPr>
        <p:txBody>
          <a:bodyPr wrap="square" anchor="ctr" lIns="0" rIns="0" tIns="0" bIns="0">
            <a:spAutoFit/>
          </a:bodyPr>
          <a:lstStyle/>
          <a:p>
            <a:pPr algn="l">
              <a:lnSpc>
                <a:spcPct val="110000"/>
              </a:lnSpc>
              <a:spcAft>
                <a:spcPts val="600"/>
              </a:spcAft>
            </a:pPr>
            <a:r>
              <a:rPr sz="4600" b="0">
                <a:solidFill>
                  <a:srgbClr val="F5FFF9"/>
                </a:solidFill>
                <a:latin typeface="Manifold Ultra-Bold"/>
              </a:rPr>
              <a:t>42 / 50</a:t>
            </a:r>
          </a:p>
        </p:txBody>
      </p:sp>
      <p:sp>
        <p:nvSpPr>
          <p:cNvPr id="59" name="TextBox 58"/>
          <p:cNvSpPr txBox="1"/>
          <p:nvPr/>
        </p:nvSpPr>
        <p:spPr>
          <a:xfrm>
            <a:off x="6766559" y="3566160"/>
            <a:ext cx="4754880" cy="457200"/>
          </a:xfrm>
          <a:prstGeom prst="rect">
            <a:avLst/>
          </a:prstGeom>
          <a:noFill/>
        </p:spPr>
        <p:txBody>
          <a:bodyPr wrap="square" anchor="t" lIns="0" rIns="0" tIns="0" bIns="0">
            <a:spAutoFit/>
          </a:bodyPr>
          <a:lstStyle/>
          <a:p>
            <a:pPr algn="l">
              <a:lnSpc>
                <a:spcPct val="110000"/>
              </a:lnSpc>
              <a:spcAft>
                <a:spcPts val="600"/>
              </a:spcAft>
            </a:pPr>
            <a:r>
              <a:rPr sz="1700" b="0">
                <a:solidFill>
                  <a:srgbClr val="9FC4AE"/>
                </a:solidFill>
                <a:latin typeface="Lato"/>
              </a:rPr>
              <a:t>real-life questions right (vague: 37)</a:t>
            </a:r>
          </a:p>
        </p:txBody>
      </p:sp>
      <p:sp>
        <p:nvSpPr>
          <p:cNvPr id="60" name="TextBox 59"/>
          <p:cNvSpPr txBox="1"/>
          <p:nvPr/>
        </p:nvSpPr>
        <p:spPr>
          <a:xfrm>
            <a:off x="6766559" y="4251960"/>
            <a:ext cx="4754880" cy="1920240"/>
          </a:xfrm>
          <a:prstGeom prst="rect">
            <a:avLst/>
          </a:prstGeom>
          <a:noFill/>
        </p:spPr>
        <p:txBody>
          <a:bodyPr wrap="square" anchor="t" lIns="0" rIns="0" tIns="0" bIns="0">
            <a:spAutoFit/>
          </a:bodyPr>
          <a:lstStyle/>
          <a:p>
            <a:pPr algn="l">
              <a:lnSpc>
                <a:spcPct val="110000"/>
              </a:lnSpc>
              <a:spcAft>
                <a:spcPts val="1000"/>
              </a:spcAft>
            </a:pPr>
            <a:r>
              <a:rPr sz="1400" b="0">
                <a:solidFill>
                  <a:srgbClr val="9FC4AE"/>
                </a:solidFill>
                <a:latin typeface="Lato"/>
              </a:rPr>
              <a:t>●  </a:t>
            </a:r>
            <a:r>
              <a:rPr sz="2000" b="0">
                <a:solidFill>
                  <a:srgbClr val="F5FFF9"/>
                </a:solidFill>
                <a:latin typeface="Lato"/>
              </a:rPr>
              <a:t>10 per task type</a:t>
            </a:r>
          </a:p>
          <a:p>
            <a:pPr algn="l">
              <a:lnSpc>
                <a:spcPct val="110000"/>
              </a:lnSpc>
              <a:spcAft>
                <a:spcPts val="1000"/>
              </a:spcAft>
            </a:pPr>
            <a:r>
              <a:rPr sz="1400" b="0">
                <a:solidFill>
                  <a:srgbClr val="9FC4AE"/>
                </a:solidFill>
                <a:latin typeface="Lato"/>
              </a:rPr>
              <a:t>●  </a:t>
            </a:r>
            <a:r>
              <a:rPr sz="2000" b="0">
                <a:solidFill>
                  <a:srgbClr val="F5FFF9"/>
                </a:solidFill>
                <a:latin typeface="Lato"/>
              </a:rPr>
              <a:t>29.6% fewer tokens</a:t>
            </a:r>
          </a:p>
        </p:txBody>
      </p:sp>
      <p:sp>
        <p:nvSpPr>
          <p:cNvPr id="61" name="Rounded Rectangle 60"/>
          <p:cNvSpPr/>
          <p:nvPr/>
        </p:nvSpPr>
        <p:spPr>
          <a:xfrm>
            <a:off x="12070080" y="1965960"/>
            <a:ext cx="5303520" cy="4343400"/>
          </a:xfrm>
          <a:prstGeom prst="roundRect">
            <a:avLst>
              <a:gd name="adj" fmla="val 7000"/>
            </a:avLst>
          </a:prstGeom>
          <a:solidFill>
            <a:srgbClr val="457C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TextBox 61"/>
          <p:cNvSpPr txBox="1"/>
          <p:nvPr/>
        </p:nvSpPr>
        <p:spPr>
          <a:xfrm>
            <a:off x="12344400" y="2103120"/>
            <a:ext cx="2743200" cy="457200"/>
          </a:xfrm>
          <a:prstGeom prst="rect">
            <a:avLst/>
          </a:prstGeom>
          <a:noFill/>
        </p:spPr>
        <p:txBody>
          <a:bodyPr wrap="square" anchor="t" lIns="0" rIns="0" tIns="0" bIns="0">
            <a:spAutoFit/>
          </a:bodyPr>
          <a:lstStyle/>
          <a:p>
            <a:pPr algn="l">
              <a:lnSpc>
                <a:spcPct val="110000"/>
              </a:lnSpc>
              <a:spcAft>
                <a:spcPts val="600"/>
              </a:spcAft>
            </a:pPr>
            <a:r>
              <a:rPr sz="2000" b="1">
                <a:solidFill>
                  <a:srgbClr val="F5FFF9"/>
                </a:solidFill>
                <a:latin typeface="Manifold Bold"/>
              </a:rPr>
              <a:t>SYSTEM</a:t>
            </a:r>
          </a:p>
        </p:txBody>
      </p:sp>
      <p:sp>
        <p:nvSpPr>
          <p:cNvPr id="63" name="TextBox 62"/>
          <p:cNvSpPr txBox="1"/>
          <p:nvPr/>
        </p:nvSpPr>
        <p:spPr>
          <a:xfrm>
            <a:off x="12344400" y="2606040"/>
            <a:ext cx="4754880" cy="914400"/>
          </a:xfrm>
          <a:prstGeom prst="rect">
            <a:avLst/>
          </a:prstGeom>
          <a:noFill/>
        </p:spPr>
        <p:txBody>
          <a:bodyPr wrap="square" anchor="ctr" lIns="0" rIns="0" tIns="0" bIns="0">
            <a:spAutoFit/>
          </a:bodyPr>
          <a:lstStyle/>
          <a:p>
            <a:pPr algn="l">
              <a:lnSpc>
                <a:spcPct val="110000"/>
              </a:lnSpc>
              <a:spcAft>
                <a:spcPts val="600"/>
              </a:spcAft>
            </a:pPr>
            <a:r>
              <a:rPr sz="4600" b="0">
                <a:solidFill>
                  <a:srgbClr val="F5FFF9"/>
                </a:solidFill>
                <a:latin typeface="Manifold Ultra-Bold"/>
              </a:rPr>
              <a:t>13 / 13</a:t>
            </a:r>
          </a:p>
        </p:txBody>
      </p:sp>
      <p:sp>
        <p:nvSpPr>
          <p:cNvPr id="64" name="TextBox 63"/>
          <p:cNvSpPr txBox="1"/>
          <p:nvPr/>
        </p:nvSpPr>
        <p:spPr>
          <a:xfrm>
            <a:off x="12344400" y="3566160"/>
            <a:ext cx="4754880" cy="457200"/>
          </a:xfrm>
          <a:prstGeom prst="rect">
            <a:avLst/>
          </a:prstGeom>
          <a:noFill/>
        </p:spPr>
        <p:txBody>
          <a:bodyPr wrap="square" anchor="t" lIns="0" rIns="0" tIns="0" bIns="0">
            <a:spAutoFit/>
          </a:bodyPr>
          <a:lstStyle/>
          <a:p>
            <a:pPr algn="l">
              <a:lnSpc>
                <a:spcPct val="110000"/>
              </a:lnSpc>
              <a:spcAft>
                <a:spcPts val="600"/>
              </a:spcAft>
            </a:pPr>
            <a:r>
              <a:rPr sz="1700" b="0">
                <a:solidFill>
                  <a:srgbClr val="9FC4AE"/>
                </a:solidFill>
                <a:latin typeface="Lato"/>
              </a:rPr>
              <a:t>browser tests of the whole app pass</a:t>
            </a:r>
          </a:p>
        </p:txBody>
      </p:sp>
      <p:sp>
        <p:nvSpPr>
          <p:cNvPr id="65" name="TextBox 64"/>
          <p:cNvSpPr txBox="1"/>
          <p:nvPr/>
        </p:nvSpPr>
        <p:spPr>
          <a:xfrm>
            <a:off x="12344400" y="4251960"/>
            <a:ext cx="4754880" cy="1920240"/>
          </a:xfrm>
          <a:prstGeom prst="rect">
            <a:avLst/>
          </a:prstGeom>
          <a:noFill/>
        </p:spPr>
        <p:txBody>
          <a:bodyPr wrap="square" anchor="t" lIns="0" rIns="0" tIns="0" bIns="0">
            <a:spAutoFit/>
          </a:bodyPr>
          <a:lstStyle/>
          <a:p>
            <a:pPr algn="l">
              <a:lnSpc>
                <a:spcPct val="110000"/>
              </a:lnSpc>
              <a:spcAft>
                <a:spcPts val="1000"/>
              </a:spcAft>
            </a:pPr>
            <a:r>
              <a:rPr sz="1400" b="0">
                <a:solidFill>
                  <a:srgbClr val="9FC4AE"/>
                </a:solidFill>
                <a:latin typeface="Lato"/>
              </a:rPr>
              <a:t>●  </a:t>
            </a:r>
            <a:r>
              <a:rPr sz="2000" b="0">
                <a:solidFill>
                  <a:srgbClr val="F5FFF9"/>
                </a:solidFill>
                <a:latin typeface="Lato"/>
              </a:rPr>
              <a:t>482 test prompts run once</a:t>
            </a:r>
          </a:p>
          <a:p>
            <a:pPr algn="l">
              <a:lnSpc>
                <a:spcPct val="110000"/>
              </a:lnSpc>
              <a:spcAft>
                <a:spcPts val="1000"/>
              </a:spcAft>
            </a:pPr>
            <a:r>
              <a:rPr sz="1400" b="0">
                <a:solidFill>
                  <a:srgbClr val="9FC4AE"/>
                </a:solidFill>
                <a:latin typeface="Lato"/>
              </a:rPr>
              <a:t>●  </a:t>
            </a:r>
            <a:r>
              <a:rPr sz="2000" b="0">
                <a:solidFill>
                  <a:srgbClr val="F5FFF9"/>
                </a:solidFill>
                <a:latin typeface="Lato"/>
              </a:rPr>
              <a:t>frozen code checked byte by byte</a:t>
            </a:r>
          </a:p>
        </p:txBody>
      </p:sp>
      <p:sp>
        <p:nvSpPr>
          <p:cNvPr id="66" name="Rounded Rectangle 65"/>
          <p:cNvSpPr/>
          <p:nvPr/>
        </p:nvSpPr>
        <p:spPr>
          <a:xfrm>
            <a:off x="914400" y="6492240"/>
            <a:ext cx="16459200" cy="2926080"/>
          </a:xfrm>
          <a:prstGeom prst="roundRect">
            <a:avLst>
              <a:gd name="adj" fmla="val 7000"/>
            </a:avLst>
          </a:prstGeom>
          <a:solidFill>
            <a:srgbClr val="FFFFFF"/>
          </a:solidFill>
          <a:ln w="19050">
            <a:solidFill>
              <a:srgbClr val="8AB79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7" name="Chart 66"/>
          <p:cNvGraphicFramePr>
            <a:graphicFrameLocks noGrp="1"/>
          </p:cNvGraphicFramePr>
          <p:nvPr/>
        </p:nvGraphicFramePr>
        <p:xfrm>
          <a:off x="1097280" y="6583680"/>
          <a:ext cx="16093440" cy="2743200"/>
        </p:xfrm>
        <a:graphic>
          <a:graphicData uri="http://schemas.openxmlformats.org/drawingml/2006/chart">
            <c:chart xmlns:c="http://schemas.openxmlformats.org/drawingml/2006/chart" r:id="rId10"/>
          </a:graphicData>
        </a:graphic>
      </p:graphicFrame>
    </p:spTree>
  </p:cSld>
  <p:clrMapOvr>
    <a:masterClrMapping/>
  </p:clrMapOvr>
</p:sld>
</file>

<file path=ppt/slides/slide15.xml><?xml version="1.0" encoding="utf-8"?>
<p:sld xmlns:p="http://schemas.openxmlformats.org/presentationml/2006/main" xmlns:a="http://schemas.openxmlformats.org/drawingml/2006/main" xmlns:r="http://schemas.openxmlformats.org/officeDocument/2006/relationships">
  <p:cSld>
    <p:bg>
      <p:bgPr>
        <a:solidFill>
          <a:srgbClr val="F5FFF9"/>
        </a:solidFill>
      </p:bgPr>
    </p:bg>
    <p:spTree>
      <p:nvGrpSpPr>
        <p:cNvPr id="1" name=""/>
        <p:cNvGrpSpPr/>
        <p:nvPr/>
      </p:nvGrpSpPr>
      <p:grpSpPr>
        <a:xfrm>
          <a:off x="0" y="0"/>
          <a:ext cx="0" cy="0"/>
          <a:chOff x="0" y="0"/>
          <a:chExt cx="0" cy="0"/>
        </a:xfrm>
      </p:grpSpPr>
      <p:grpSp>
        <p:nvGrpSpPr>
          <p:cNvPr name="Group 2" id="2"/>
          <p:cNvGrpSpPr/>
          <p:nvPr/>
        </p:nvGrpSpPr>
        <p:grpSpPr>
          <a:xfrm rot="9405415">
            <a:off x="-2955826" y="-922147"/>
            <a:ext cx="5159957" cy="5159957"/>
            <a:chOff x="0" y="0"/>
            <a:chExt cx="812800" cy="812800"/>
          </a:xfrm>
        </p:grpSpPr>
        <p:sp>
          <p:nvSpPr>
            <p:cNvPr name="Freeform 3" id="3"/>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true">
              <a:gsLst>
                <a:gs pos="0">
                  <a:srgbClr val="9FC4AE">
                    <a:alpha val="66000"/>
                  </a:srgbClr>
                </a:gs>
                <a:gs pos="100000">
                  <a:srgbClr val="FFFFFF">
                    <a:alpha val="66000"/>
                  </a:srgbClr>
                </a:gs>
              </a:gsLst>
              <a:lin ang="0"/>
            </a:gradFill>
          </p:spPr>
        </p:sp>
        <p:sp>
          <p:nvSpPr>
            <p:cNvPr name="TextBox 4" id="4"/>
            <p:cNvSpPr txBox="true"/>
            <p:nvPr/>
          </p:nvSpPr>
          <p:spPr>
            <a:xfrm>
              <a:off x="76200" y="28575"/>
              <a:ext cx="660400" cy="708025"/>
            </a:xfrm>
            <a:prstGeom prst="rect">
              <a:avLst/>
            </a:prstGeom>
          </p:spPr>
          <p:txBody>
            <a:bodyPr anchor="ctr" rtlCol="false" tIns="50800" lIns="50800" bIns="50800" rIns="50800"/>
            <a:lstStyle/>
            <a:p>
              <a:pPr algn="ctr">
                <a:lnSpc>
                  <a:spcPts val="2936"/>
                </a:lnSpc>
              </a:pPr>
            </a:p>
          </p:txBody>
        </p:sp>
      </p:grpSp>
      <p:grpSp>
        <p:nvGrpSpPr>
          <p:cNvPr name="Group 5" id="5"/>
          <p:cNvGrpSpPr/>
          <p:nvPr/>
        </p:nvGrpSpPr>
        <p:grpSpPr>
          <a:xfrm rot="6936434">
            <a:off x="16470692" y="738526"/>
            <a:ext cx="5817847" cy="5817847"/>
            <a:chOff x="0" y="0"/>
            <a:chExt cx="812800" cy="812800"/>
          </a:xfrm>
        </p:grpSpPr>
        <p:sp>
          <p:nvSpPr>
            <p:cNvPr name="Freeform 6" id="6"/>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true">
              <a:gsLst>
                <a:gs pos="0">
                  <a:srgbClr val="9FC4AE">
                    <a:alpha val="66000"/>
                  </a:srgbClr>
                </a:gs>
                <a:gs pos="100000">
                  <a:srgbClr val="FFFFFF">
                    <a:alpha val="66000"/>
                  </a:srgbClr>
                </a:gs>
              </a:gsLst>
              <a:lin ang="0"/>
            </a:gradFill>
          </p:spPr>
        </p:sp>
        <p:sp>
          <p:nvSpPr>
            <p:cNvPr name="TextBox 7" id="7"/>
            <p:cNvSpPr txBox="true"/>
            <p:nvPr/>
          </p:nvSpPr>
          <p:spPr>
            <a:xfrm>
              <a:off x="76200" y="28575"/>
              <a:ext cx="660400" cy="708025"/>
            </a:xfrm>
            <a:prstGeom prst="rect">
              <a:avLst/>
            </a:prstGeom>
          </p:spPr>
          <p:txBody>
            <a:bodyPr anchor="ctr" rtlCol="false" tIns="50800" lIns="50800" bIns="50800" rIns="50800"/>
            <a:lstStyle/>
            <a:p>
              <a:pPr algn="ctr">
                <a:lnSpc>
                  <a:spcPts val="2936"/>
                </a:lnSpc>
              </a:pPr>
            </a:p>
          </p:txBody>
        </p:sp>
      </p:grpSp>
      <p:sp>
        <p:nvSpPr>
          <p:cNvPr name="Freeform 8" id="8"/>
          <p:cNvSpPr/>
          <p:nvPr/>
        </p:nvSpPr>
        <p:spPr>
          <a:xfrm flipH="false" flipV="true" rot="0">
            <a:off x="12732070" y="8737690"/>
            <a:ext cx="4647136" cy="778395"/>
          </a:xfrm>
          <a:custGeom>
            <a:avLst/>
            <a:gdLst/>
            <a:ahLst/>
            <a:cxnLst/>
            <a:rect r="r" b="b" t="t" l="l"/>
            <a:pathLst>
              <a:path h="778395" w="4647136">
                <a:moveTo>
                  <a:pt x="0" y="778395"/>
                </a:moveTo>
                <a:lnTo>
                  <a:pt x="4647136" y="778395"/>
                </a:lnTo>
                <a:lnTo>
                  <a:pt x="4647136" y="0"/>
                </a:lnTo>
                <a:lnTo>
                  <a:pt x="0" y="0"/>
                </a:lnTo>
                <a:lnTo>
                  <a:pt x="0" y="778395"/>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9" id="9"/>
          <p:cNvSpPr/>
          <p:nvPr/>
        </p:nvSpPr>
        <p:spPr>
          <a:xfrm flipH="true" flipV="true" rot="0">
            <a:off x="908794" y="8737690"/>
            <a:ext cx="4647136" cy="778395"/>
          </a:xfrm>
          <a:custGeom>
            <a:avLst/>
            <a:gdLst/>
            <a:ahLst/>
            <a:cxnLst/>
            <a:rect r="r" b="b" t="t" l="l"/>
            <a:pathLst>
              <a:path h="778395" w="4647136">
                <a:moveTo>
                  <a:pt x="4647136" y="778395"/>
                </a:moveTo>
                <a:lnTo>
                  <a:pt x="0" y="778395"/>
                </a:lnTo>
                <a:lnTo>
                  <a:pt x="0" y="0"/>
                </a:lnTo>
                <a:lnTo>
                  <a:pt x="4647136" y="0"/>
                </a:lnTo>
                <a:lnTo>
                  <a:pt x="4647136" y="778395"/>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10" id="10"/>
          <p:cNvSpPr txBox="true"/>
          <p:nvPr/>
        </p:nvSpPr>
        <p:spPr>
          <a:xfrm rot="0">
            <a:off x="2103120" y="566928"/>
            <a:ext cx="14081760" cy="946150"/>
          </a:xfrm>
          <a:prstGeom prst="rect">
            <a:avLst/>
          </a:prstGeom>
        </p:spPr>
        <p:txBody>
          <a:bodyPr anchor="t" rtlCol="false" tIns="0" lIns="0" bIns="0" rIns="0" wrap="square">
            <a:spAutoFit/>
          </a:bodyPr>
          <a:lstStyle/>
          <a:p>
            <a:pPr algn="ctr">
              <a:lnSpc>
                <a:spcPts val="7699"/>
              </a:lnSpc>
            </a:pPr>
            <a:r>
              <a:rPr lang="en-US" b="true" sz="5499">
                <a:solidFill>
                  <a:srgbClr val="457C5B"/>
                </a:solidFill>
                <a:latin typeface="Manifold Ultra-Bold"/>
                <a:ea typeface="Manifold Ultra-Bold"/>
                <a:cs typeface="Manifold Ultra-Bold"/>
                <a:sym typeface="Manifold Ultra-Bold"/>
              </a:rPr>
              <a:t>THE WORKING APP</a:t>
            </a:r>
          </a:p>
        </p:txBody>
      </p:sp>
      <p:sp>
        <p:nvSpPr>
          <p:cNvPr name="Freeform 44" id="44"/>
          <p:cNvSpPr/>
          <p:nvPr/>
        </p:nvSpPr>
        <p:spPr>
          <a:xfrm flipH="false" flipV="false" rot="0">
            <a:off x="185225" y="296308"/>
            <a:ext cx="1686949" cy="1283956"/>
          </a:xfrm>
          <a:custGeom>
            <a:avLst/>
            <a:gdLst/>
            <a:ahLst/>
            <a:cxnLst/>
            <a:rect r="r" b="b" t="t" l="l"/>
            <a:pathLst>
              <a:path h="1283956" w="1686949">
                <a:moveTo>
                  <a:pt x="0" y="0"/>
                </a:moveTo>
                <a:lnTo>
                  <a:pt x="1686950" y="0"/>
                </a:lnTo>
                <a:lnTo>
                  <a:pt x="1686950" y="1283956"/>
                </a:lnTo>
                <a:lnTo>
                  <a:pt x="0" y="1283956"/>
                </a:lnTo>
                <a:lnTo>
                  <a:pt x="0" y="0"/>
                </a:lnTo>
                <a:close/>
              </a:path>
            </a:pathLst>
          </a:custGeom>
          <a:blipFill>
            <a:blip r:embed="rId6"/>
            <a:stretch>
              <a:fillRect l="0" t="0" r="0" b="0"/>
            </a:stretch>
          </a:blipFill>
        </p:spPr>
      </p:sp>
      <p:pic>
        <p:nvPicPr>
          <p:cNvPr id="45" name="Picture 44" descr="story_optimize_full.png"/>
          <p:cNvPicPr>
            <a:picLocks noChangeAspect="1"/>
          </p:cNvPicPr>
          <p:nvPr/>
        </p:nvPicPr>
        <p:blipFill>
          <a:blip r:embed="rId7"/>
          <a:srcRect l="16667" t="4878" b="47967"/>
          <a:stretch>
            <a:fillRect/>
          </a:stretch>
        </p:blipFill>
        <p:spPr>
          <a:xfrm>
            <a:off x="914400" y="2011680"/>
            <a:ext cx="10058400" cy="7292340"/>
          </a:xfrm>
          <a:prstGeom prst="rect">
            <a:avLst/>
          </a:prstGeom>
          <a:ln w="19050">
            <a:solidFill>
              <a:srgbClr val="457C5B"/>
            </a:solidFill>
          </a:ln>
        </p:spPr>
      </p:pic>
      <p:sp>
        <p:nvSpPr>
          <p:cNvPr id="46" name="Rounded Rectangle 45"/>
          <p:cNvSpPr/>
          <p:nvPr/>
        </p:nvSpPr>
        <p:spPr>
          <a:xfrm>
            <a:off x="11338560" y="2011680"/>
            <a:ext cx="6035040" cy="7315200"/>
          </a:xfrm>
          <a:prstGeom prst="roundRect">
            <a:avLst>
              <a:gd name="adj" fmla="val 7000"/>
            </a:avLst>
          </a:prstGeom>
          <a:solidFill>
            <a:srgbClr val="457C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11612880" y="2194560"/>
            <a:ext cx="5486400" cy="502920"/>
          </a:xfrm>
          <a:prstGeom prst="rect">
            <a:avLst/>
          </a:prstGeom>
          <a:noFill/>
        </p:spPr>
        <p:txBody>
          <a:bodyPr wrap="square" anchor="t" lIns="0" rIns="0" tIns="0" bIns="0">
            <a:spAutoFit/>
          </a:bodyPr>
          <a:lstStyle/>
          <a:p>
            <a:pPr algn="l">
              <a:lnSpc>
                <a:spcPct val="110000"/>
              </a:lnSpc>
              <a:spcAft>
                <a:spcPts val="600"/>
              </a:spcAft>
            </a:pPr>
            <a:r>
              <a:rPr sz="2200" b="1">
                <a:solidFill>
                  <a:srgbClr val="F5FFF9"/>
                </a:solidFill>
                <a:latin typeface="Manifold Bold"/>
              </a:rPr>
              <a:t>LIVE DEMO</a:t>
            </a:r>
          </a:p>
        </p:txBody>
      </p:sp>
      <p:sp>
        <p:nvSpPr>
          <p:cNvPr id="48" name="Oval 47"/>
          <p:cNvSpPr/>
          <p:nvPr/>
        </p:nvSpPr>
        <p:spPr>
          <a:xfrm>
            <a:off x="11612880" y="2926080"/>
            <a:ext cx="777240" cy="777240"/>
          </a:xfrm>
          <a:prstGeom prst="ellipse">
            <a:avLst/>
          </a:prstGeom>
          <a:solidFill>
            <a:srgbClr val="9FC4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11612880" y="2926080"/>
            <a:ext cx="777240" cy="777240"/>
          </a:xfrm>
          <a:prstGeom prst="rect">
            <a:avLst/>
          </a:prstGeom>
          <a:noFill/>
        </p:spPr>
        <p:txBody>
          <a:bodyPr wrap="square" anchor="ctr" lIns="0" rIns="0" tIns="0" bIns="0">
            <a:spAutoFit/>
          </a:bodyPr>
          <a:lstStyle/>
          <a:p>
            <a:pPr algn="ctr">
              <a:lnSpc>
                <a:spcPct val="110000"/>
              </a:lnSpc>
              <a:spcAft>
                <a:spcPts val="600"/>
              </a:spcAft>
            </a:pPr>
            <a:r>
              <a:rPr sz="2200" b="1">
                <a:solidFill>
                  <a:srgbClr val="1E4926"/>
                </a:solidFill>
                <a:latin typeface="Manifold Bold"/>
              </a:rPr>
              <a:t>1</a:t>
            </a:r>
          </a:p>
        </p:txBody>
      </p:sp>
      <p:sp>
        <p:nvSpPr>
          <p:cNvPr id="50" name="TextBox 49"/>
          <p:cNvSpPr txBox="1"/>
          <p:nvPr/>
        </p:nvSpPr>
        <p:spPr>
          <a:xfrm>
            <a:off x="12618720" y="2880360"/>
            <a:ext cx="4572000" cy="457200"/>
          </a:xfrm>
          <a:prstGeom prst="rect">
            <a:avLst/>
          </a:prstGeom>
          <a:noFill/>
        </p:spPr>
        <p:txBody>
          <a:bodyPr wrap="square" anchor="t" lIns="0" rIns="0" tIns="0" bIns="0">
            <a:spAutoFit/>
          </a:bodyPr>
          <a:lstStyle/>
          <a:p>
            <a:pPr algn="l">
              <a:lnSpc>
                <a:spcPct val="110000"/>
              </a:lnSpc>
              <a:spcAft>
                <a:spcPts val="600"/>
              </a:spcAft>
            </a:pPr>
            <a:r>
              <a:rPr sz="2000" b="1">
                <a:solidFill>
                  <a:srgbClr val="F5FFF9"/>
                </a:solidFill>
                <a:latin typeface="Manifold Bold"/>
              </a:rPr>
              <a:t>Optimize</a:t>
            </a:r>
          </a:p>
        </p:txBody>
      </p:sp>
      <p:sp>
        <p:nvSpPr>
          <p:cNvPr id="51" name="TextBox 50"/>
          <p:cNvSpPr txBox="1"/>
          <p:nvPr/>
        </p:nvSpPr>
        <p:spPr>
          <a:xfrm>
            <a:off x="12618720" y="3383280"/>
            <a:ext cx="4572000" cy="822960"/>
          </a:xfrm>
          <a:prstGeom prst="rect">
            <a:avLst/>
          </a:prstGeom>
          <a:noFill/>
        </p:spPr>
        <p:txBody>
          <a:bodyPr wrap="square" anchor="t" lIns="0" rIns="0" tIns="0" bIns="0">
            <a:spAutoFit/>
          </a:bodyPr>
          <a:lstStyle/>
          <a:p>
            <a:pPr algn="l">
              <a:lnSpc>
                <a:spcPct val="110000"/>
              </a:lnSpc>
              <a:spcAft>
                <a:spcPts val="600"/>
              </a:spcAft>
            </a:pPr>
            <a:r>
              <a:rPr sz="1700" b="0">
                <a:solidFill>
                  <a:srgbClr val="F5FFF9"/>
                </a:solidFill>
                <a:latin typeface="Lato"/>
              </a:rPr>
              <a:t>our review example: every step on screen</a:t>
            </a:r>
          </a:p>
        </p:txBody>
      </p:sp>
      <p:sp>
        <p:nvSpPr>
          <p:cNvPr id="52" name="Oval 51"/>
          <p:cNvSpPr/>
          <p:nvPr/>
        </p:nvSpPr>
        <p:spPr>
          <a:xfrm>
            <a:off x="11612880" y="4480560"/>
            <a:ext cx="777240" cy="777240"/>
          </a:xfrm>
          <a:prstGeom prst="ellipse">
            <a:avLst/>
          </a:prstGeom>
          <a:solidFill>
            <a:srgbClr val="9FC4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11612880" y="4480560"/>
            <a:ext cx="777240" cy="777240"/>
          </a:xfrm>
          <a:prstGeom prst="rect">
            <a:avLst/>
          </a:prstGeom>
          <a:noFill/>
        </p:spPr>
        <p:txBody>
          <a:bodyPr wrap="square" anchor="ctr" lIns="0" rIns="0" tIns="0" bIns="0">
            <a:spAutoFit/>
          </a:bodyPr>
          <a:lstStyle/>
          <a:p>
            <a:pPr algn="ctr">
              <a:lnSpc>
                <a:spcPct val="110000"/>
              </a:lnSpc>
              <a:spcAft>
                <a:spcPts val="600"/>
              </a:spcAft>
            </a:pPr>
            <a:r>
              <a:rPr sz="2200" b="1">
                <a:solidFill>
                  <a:srgbClr val="1E4926"/>
                </a:solidFill>
                <a:latin typeface="Manifold Bold"/>
              </a:rPr>
              <a:t>2</a:t>
            </a:r>
          </a:p>
        </p:txBody>
      </p:sp>
      <p:sp>
        <p:nvSpPr>
          <p:cNvPr id="54" name="TextBox 53"/>
          <p:cNvSpPr txBox="1"/>
          <p:nvPr/>
        </p:nvSpPr>
        <p:spPr>
          <a:xfrm>
            <a:off x="12618720" y="4434840"/>
            <a:ext cx="4572000" cy="457200"/>
          </a:xfrm>
          <a:prstGeom prst="rect">
            <a:avLst/>
          </a:prstGeom>
          <a:noFill/>
        </p:spPr>
        <p:txBody>
          <a:bodyPr wrap="square" anchor="t" lIns="0" rIns="0" tIns="0" bIns="0">
            <a:spAutoFit/>
          </a:bodyPr>
          <a:lstStyle/>
          <a:p>
            <a:pPr algn="l">
              <a:lnSpc>
                <a:spcPct val="110000"/>
              </a:lnSpc>
              <a:spcAft>
                <a:spcPts val="600"/>
              </a:spcAft>
            </a:pPr>
            <a:r>
              <a:rPr sz="2000" b="1">
                <a:solidFill>
                  <a:srgbClr val="F5FFF9"/>
                </a:solidFill>
                <a:latin typeface="Manifold Bold"/>
              </a:rPr>
              <a:t>Compare</a:t>
            </a:r>
          </a:p>
        </p:txBody>
      </p:sp>
      <p:sp>
        <p:nvSpPr>
          <p:cNvPr id="55" name="TextBox 54"/>
          <p:cNvSpPr txBox="1"/>
          <p:nvPr/>
        </p:nvSpPr>
        <p:spPr>
          <a:xfrm>
            <a:off x="12618720" y="4937760"/>
            <a:ext cx="4572000" cy="822960"/>
          </a:xfrm>
          <a:prstGeom prst="rect">
            <a:avLst/>
          </a:prstGeom>
          <a:noFill/>
        </p:spPr>
        <p:txBody>
          <a:bodyPr wrap="square" anchor="t" lIns="0" rIns="0" tIns="0" bIns="0">
            <a:spAutoFit/>
          </a:bodyPr>
          <a:lstStyle/>
          <a:p>
            <a:pPr algn="l">
              <a:lnSpc>
                <a:spcPct val="110000"/>
              </a:lnSpc>
              <a:spcAft>
                <a:spcPts val="600"/>
              </a:spcAft>
            </a:pPr>
            <a:r>
              <a:rPr sz="1700" b="0">
                <a:solidFill>
                  <a:srgbClr val="F5FFF9"/>
                </a:solidFill>
                <a:latin typeface="Lato"/>
              </a:rPr>
              <a:t>both prompts on a real AI</a:t>
            </a:r>
          </a:p>
        </p:txBody>
      </p:sp>
      <p:sp>
        <p:nvSpPr>
          <p:cNvPr id="56" name="Oval 55"/>
          <p:cNvSpPr/>
          <p:nvPr/>
        </p:nvSpPr>
        <p:spPr>
          <a:xfrm>
            <a:off x="11612880" y="6035040"/>
            <a:ext cx="777240" cy="777240"/>
          </a:xfrm>
          <a:prstGeom prst="ellipse">
            <a:avLst/>
          </a:prstGeom>
          <a:solidFill>
            <a:srgbClr val="9FC4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TextBox 56"/>
          <p:cNvSpPr txBox="1"/>
          <p:nvPr/>
        </p:nvSpPr>
        <p:spPr>
          <a:xfrm>
            <a:off x="11612880" y="6035040"/>
            <a:ext cx="777240" cy="777240"/>
          </a:xfrm>
          <a:prstGeom prst="rect">
            <a:avLst/>
          </a:prstGeom>
          <a:noFill/>
        </p:spPr>
        <p:txBody>
          <a:bodyPr wrap="square" anchor="ctr" lIns="0" rIns="0" tIns="0" bIns="0">
            <a:spAutoFit/>
          </a:bodyPr>
          <a:lstStyle/>
          <a:p>
            <a:pPr algn="ctr">
              <a:lnSpc>
                <a:spcPct val="110000"/>
              </a:lnSpc>
              <a:spcAft>
                <a:spcPts val="600"/>
              </a:spcAft>
            </a:pPr>
            <a:r>
              <a:rPr sz="2200" b="1">
                <a:solidFill>
                  <a:srgbClr val="1E4926"/>
                </a:solidFill>
                <a:latin typeface="Manifold Bold"/>
              </a:rPr>
              <a:t>3</a:t>
            </a:r>
          </a:p>
        </p:txBody>
      </p:sp>
      <p:sp>
        <p:nvSpPr>
          <p:cNvPr id="58" name="TextBox 57"/>
          <p:cNvSpPr txBox="1"/>
          <p:nvPr/>
        </p:nvSpPr>
        <p:spPr>
          <a:xfrm>
            <a:off x="12618720" y="5989320"/>
            <a:ext cx="4572000" cy="457200"/>
          </a:xfrm>
          <a:prstGeom prst="rect">
            <a:avLst/>
          </a:prstGeom>
          <a:noFill/>
        </p:spPr>
        <p:txBody>
          <a:bodyPr wrap="square" anchor="t" lIns="0" rIns="0" tIns="0" bIns="0">
            <a:spAutoFit/>
          </a:bodyPr>
          <a:lstStyle/>
          <a:p>
            <a:pPr algn="l">
              <a:lnSpc>
                <a:spcPct val="110000"/>
              </a:lnSpc>
              <a:spcAft>
                <a:spcPts val="600"/>
              </a:spcAft>
            </a:pPr>
            <a:r>
              <a:rPr sz="2000" b="1">
                <a:solidFill>
                  <a:srgbClr val="F5FFF9"/>
                </a:solidFill>
                <a:latin typeface="Manifold Bold"/>
              </a:rPr>
              <a:t>History</a:t>
            </a:r>
          </a:p>
        </p:txBody>
      </p:sp>
      <p:sp>
        <p:nvSpPr>
          <p:cNvPr id="59" name="TextBox 58"/>
          <p:cNvSpPr txBox="1"/>
          <p:nvPr/>
        </p:nvSpPr>
        <p:spPr>
          <a:xfrm>
            <a:off x="12618720" y="6492240"/>
            <a:ext cx="4572000" cy="822960"/>
          </a:xfrm>
          <a:prstGeom prst="rect">
            <a:avLst/>
          </a:prstGeom>
          <a:noFill/>
        </p:spPr>
        <p:txBody>
          <a:bodyPr wrap="square" anchor="t" lIns="0" rIns="0" tIns="0" bIns="0">
            <a:spAutoFit/>
          </a:bodyPr>
          <a:lstStyle/>
          <a:p>
            <a:pPr algn="l">
              <a:lnSpc>
                <a:spcPct val="110000"/>
              </a:lnSpc>
              <a:spcAft>
                <a:spcPts val="600"/>
              </a:spcAft>
            </a:pPr>
            <a:r>
              <a:rPr sz="1700" b="0">
                <a:solidFill>
                  <a:srgbClr val="F5FFF9"/>
                </a:solidFill>
                <a:latin typeface="Lato"/>
              </a:rPr>
              <a:t>past prompts, deleted after 30 days</a:t>
            </a:r>
          </a:p>
        </p:txBody>
      </p:sp>
      <p:sp>
        <p:nvSpPr>
          <p:cNvPr id="60" name="Oval 59"/>
          <p:cNvSpPr/>
          <p:nvPr/>
        </p:nvSpPr>
        <p:spPr>
          <a:xfrm>
            <a:off x="11612880" y="7589520"/>
            <a:ext cx="777240" cy="777240"/>
          </a:xfrm>
          <a:prstGeom prst="ellipse">
            <a:avLst/>
          </a:prstGeom>
          <a:solidFill>
            <a:srgbClr val="9FC4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TextBox 60"/>
          <p:cNvSpPr txBox="1"/>
          <p:nvPr/>
        </p:nvSpPr>
        <p:spPr>
          <a:xfrm>
            <a:off x="11612880" y="7589520"/>
            <a:ext cx="777240" cy="777240"/>
          </a:xfrm>
          <a:prstGeom prst="rect">
            <a:avLst/>
          </a:prstGeom>
          <a:noFill/>
        </p:spPr>
        <p:txBody>
          <a:bodyPr wrap="square" anchor="ctr" lIns="0" rIns="0" tIns="0" bIns="0">
            <a:spAutoFit/>
          </a:bodyPr>
          <a:lstStyle/>
          <a:p>
            <a:pPr algn="ctr">
              <a:lnSpc>
                <a:spcPct val="110000"/>
              </a:lnSpc>
              <a:spcAft>
                <a:spcPts val="600"/>
              </a:spcAft>
            </a:pPr>
            <a:r>
              <a:rPr sz="2200" b="1">
                <a:solidFill>
                  <a:srgbClr val="1E4926"/>
                </a:solidFill>
                <a:latin typeface="Manifold Bold"/>
              </a:rPr>
              <a:t>4</a:t>
            </a:r>
          </a:p>
        </p:txBody>
      </p:sp>
      <p:sp>
        <p:nvSpPr>
          <p:cNvPr id="62" name="TextBox 61"/>
          <p:cNvSpPr txBox="1"/>
          <p:nvPr/>
        </p:nvSpPr>
        <p:spPr>
          <a:xfrm>
            <a:off x="12618720" y="7543800"/>
            <a:ext cx="4572000" cy="457200"/>
          </a:xfrm>
          <a:prstGeom prst="rect">
            <a:avLst/>
          </a:prstGeom>
          <a:noFill/>
        </p:spPr>
        <p:txBody>
          <a:bodyPr wrap="square" anchor="t" lIns="0" rIns="0" tIns="0" bIns="0">
            <a:spAutoFit/>
          </a:bodyPr>
          <a:lstStyle/>
          <a:p>
            <a:pPr algn="l">
              <a:lnSpc>
                <a:spcPct val="110000"/>
              </a:lnSpc>
              <a:spcAft>
                <a:spcPts val="600"/>
              </a:spcAft>
            </a:pPr>
            <a:r>
              <a:rPr sz="2000" b="1">
                <a:solidFill>
                  <a:srgbClr val="F5FFF9"/>
                </a:solidFill>
                <a:latin typeface="Manifold Bold"/>
              </a:rPr>
              <a:t>Test suite</a:t>
            </a:r>
          </a:p>
        </p:txBody>
      </p:sp>
      <p:sp>
        <p:nvSpPr>
          <p:cNvPr id="63" name="TextBox 62"/>
          <p:cNvSpPr txBox="1"/>
          <p:nvPr/>
        </p:nvSpPr>
        <p:spPr>
          <a:xfrm>
            <a:off x="12618720" y="8046720"/>
            <a:ext cx="4572000" cy="822960"/>
          </a:xfrm>
          <a:prstGeom prst="rect">
            <a:avLst/>
          </a:prstGeom>
          <a:noFill/>
        </p:spPr>
        <p:txBody>
          <a:bodyPr wrap="square" anchor="t" lIns="0" rIns="0" tIns="0" bIns="0">
            <a:spAutoFit/>
          </a:bodyPr>
          <a:lstStyle/>
          <a:p>
            <a:pPr algn="l">
              <a:lnSpc>
                <a:spcPct val="110000"/>
              </a:lnSpc>
              <a:spcAft>
                <a:spcPts val="600"/>
              </a:spcAft>
            </a:pPr>
            <a:r>
              <a:rPr sz="1700" b="0">
                <a:solidFill>
                  <a:srgbClr val="F5FFF9"/>
                </a:solidFill>
                <a:latin typeface="Lato"/>
              </a:rPr>
              <a:t>the 50 real-life questions</a:t>
            </a:r>
          </a:p>
        </p:txBody>
      </p:sp>
    </p:spTree>
  </p:cSld>
  <p:clrMapOvr>
    <a:masterClrMapping/>
  </p:clrMapOvr>
</p:sld>
</file>

<file path=ppt/slides/slide16.xml><?xml version="1.0" encoding="utf-8"?>
<p:sld xmlns:p="http://schemas.openxmlformats.org/presentationml/2006/main" xmlns:a="http://schemas.openxmlformats.org/drawingml/2006/main" xmlns:r="http://schemas.openxmlformats.org/officeDocument/2006/relationships">
  <p:cSld>
    <p:bg>
      <p:bgPr>
        <a:solidFill>
          <a:srgbClr val="457C5B"/>
        </a:solidFill>
      </p:bgPr>
    </p:bg>
    <p:spTree>
      <p:nvGrpSpPr>
        <p:cNvPr id="1" name=""/>
        <p:cNvGrpSpPr/>
        <p:nvPr/>
      </p:nvGrpSpPr>
      <p:grpSpPr>
        <a:xfrm>
          <a:off x="0" y="0"/>
          <a:ext cx="0" cy="0"/>
          <a:chOff x="0" y="0"/>
          <a:chExt cx="0" cy="0"/>
        </a:xfrm>
      </p:grpSpPr>
      <p:grpSp>
        <p:nvGrpSpPr>
          <p:cNvPr name="Group 2" id="2"/>
          <p:cNvGrpSpPr/>
          <p:nvPr/>
        </p:nvGrpSpPr>
        <p:grpSpPr>
          <a:xfrm rot="9405415">
            <a:off x="-3401275" y="-1868725"/>
            <a:ext cx="5159957" cy="5159957"/>
            <a:chOff x="0" y="0"/>
            <a:chExt cx="812800" cy="812800"/>
          </a:xfrm>
        </p:grpSpPr>
        <p:sp>
          <p:nvSpPr>
            <p:cNvPr name="Freeform 3" id="3"/>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true">
              <a:gsLst>
                <a:gs pos="0">
                  <a:srgbClr val="9FC4AE">
                    <a:alpha val="66000"/>
                  </a:srgbClr>
                </a:gs>
                <a:gs pos="100000">
                  <a:srgbClr val="FFFFFF">
                    <a:alpha val="66000"/>
                  </a:srgbClr>
                </a:gs>
              </a:gsLst>
              <a:lin ang="0"/>
            </a:gradFill>
          </p:spPr>
        </p:sp>
        <p:sp>
          <p:nvSpPr>
            <p:cNvPr name="TextBox 4" id="4"/>
            <p:cNvSpPr txBox="true"/>
            <p:nvPr/>
          </p:nvSpPr>
          <p:spPr>
            <a:xfrm>
              <a:off x="76200" y="28575"/>
              <a:ext cx="660400" cy="708025"/>
            </a:xfrm>
            <a:prstGeom prst="rect">
              <a:avLst/>
            </a:prstGeom>
          </p:spPr>
          <p:txBody>
            <a:bodyPr anchor="ctr" rtlCol="false" tIns="50800" lIns="50800" bIns="50800" rIns="50800"/>
            <a:lstStyle/>
            <a:p>
              <a:pPr algn="ctr">
                <a:lnSpc>
                  <a:spcPts val="2936"/>
                </a:lnSpc>
              </a:pPr>
            </a:p>
          </p:txBody>
        </p:sp>
      </p:grpSp>
      <p:grpSp>
        <p:nvGrpSpPr>
          <p:cNvPr name="Group 5" id="5"/>
          <p:cNvGrpSpPr/>
          <p:nvPr/>
        </p:nvGrpSpPr>
        <p:grpSpPr>
          <a:xfrm rot="6936434">
            <a:off x="17514712" y="5360057"/>
            <a:ext cx="5817847" cy="5817847"/>
            <a:chOff x="0" y="0"/>
            <a:chExt cx="812800" cy="812800"/>
          </a:xfrm>
        </p:grpSpPr>
        <p:sp>
          <p:nvSpPr>
            <p:cNvPr name="Freeform 6" id="6"/>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true">
              <a:gsLst>
                <a:gs pos="0">
                  <a:srgbClr val="9FC4AE">
                    <a:alpha val="66000"/>
                  </a:srgbClr>
                </a:gs>
                <a:gs pos="100000">
                  <a:srgbClr val="FFFFFF">
                    <a:alpha val="66000"/>
                  </a:srgbClr>
                </a:gs>
              </a:gsLst>
              <a:lin ang="0"/>
            </a:gradFill>
          </p:spPr>
        </p:sp>
        <p:sp>
          <p:nvSpPr>
            <p:cNvPr name="TextBox 7" id="7"/>
            <p:cNvSpPr txBox="true"/>
            <p:nvPr/>
          </p:nvSpPr>
          <p:spPr>
            <a:xfrm>
              <a:off x="76200" y="28575"/>
              <a:ext cx="660400" cy="708025"/>
            </a:xfrm>
            <a:prstGeom prst="rect">
              <a:avLst/>
            </a:prstGeom>
          </p:spPr>
          <p:txBody>
            <a:bodyPr anchor="ctr" rtlCol="false" tIns="50800" lIns="50800" bIns="50800" rIns="50800"/>
            <a:lstStyle/>
            <a:p>
              <a:pPr algn="ctr">
                <a:lnSpc>
                  <a:spcPts val="2936"/>
                </a:lnSpc>
              </a:pPr>
            </a:p>
          </p:txBody>
        </p:sp>
      </p:grpSp>
      <p:sp>
        <p:nvSpPr>
          <p:cNvPr name="TextBox 8" id="8"/>
          <p:cNvSpPr txBox="true"/>
          <p:nvPr/>
        </p:nvSpPr>
        <p:spPr>
          <a:xfrm rot="0">
            <a:off x="2103120" y="566928"/>
            <a:ext cx="14081760" cy="946150"/>
          </a:xfrm>
          <a:prstGeom prst="rect">
            <a:avLst/>
          </a:prstGeom>
        </p:spPr>
        <p:txBody>
          <a:bodyPr anchor="t" rtlCol="false" tIns="0" lIns="0" bIns="0" rIns="0" wrap="square">
            <a:spAutoFit/>
          </a:bodyPr>
          <a:lstStyle/>
          <a:p>
            <a:pPr algn="ctr">
              <a:lnSpc>
                <a:spcPts val="7699"/>
              </a:lnSpc>
            </a:pPr>
            <a:r>
              <a:rPr lang="en-US" b="true" sz="5499">
                <a:solidFill>
                  <a:srgbClr val="F5FFF9"/>
                </a:solidFill>
                <a:latin typeface="Manifold Ultra-Bold"/>
                <a:ea typeface="Manifold Ultra-Bold"/>
                <a:cs typeface="Manifold Ultra-Bold"/>
                <a:sym typeface="Manifold Ultra-Bold"/>
              </a:rPr>
              <a:t>CHALLENGES AND NEXT STEPS</a:t>
            </a:r>
          </a:p>
        </p:txBody>
      </p:sp>
      <p:sp>
        <p:nvSpPr>
          <p:cNvPr name="Freeform 21" id="21"/>
          <p:cNvSpPr/>
          <p:nvPr/>
        </p:nvSpPr>
        <p:spPr>
          <a:xfrm flipH="false" flipV="false" rot="0">
            <a:off x="-2006420" y="8933198"/>
            <a:ext cx="2992899" cy="2992899"/>
          </a:xfrm>
          <a:custGeom>
            <a:avLst/>
            <a:gdLst/>
            <a:ahLst/>
            <a:cxnLst/>
            <a:rect r="r" b="b" t="t" l="l"/>
            <a:pathLst>
              <a:path h="2992899" w="2992899">
                <a:moveTo>
                  <a:pt x="0" y="0"/>
                </a:moveTo>
                <a:lnTo>
                  <a:pt x="2992899" y="0"/>
                </a:lnTo>
                <a:lnTo>
                  <a:pt x="2992899" y="2992899"/>
                </a:lnTo>
                <a:lnTo>
                  <a:pt x="0" y="2992899"/>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22" id="22"/>
          <p:cNvSpPr/>
          <p:nvPr/>
        </p:nvSpPr>
        <p:spPr>
          <a:xfrm flipH="false" flipV="false" rot="0">
            <a:off x="16543197" y="-785196"/>
            <a:ext cx="2992899" cy="2992899"/>
          </a:xfrm>
          <a:custGeom>
            <a:avLst/>
            <a:gdLst/>
            <a:ahLst/>
            <a:cxnLst/>
            <a:rect r="r" b="b" t="t" l="l"/>
            <a:pathLst>
              <a:path h="2992899" w="2992899">
                <a:moveTo>
                  <a:pt x="0" y="0"/>
                </a:moveTo>
                <a:lnTo>
                  <a:pt x="2992898" y="0"/>
                </a:lnTo>
                <a:lnTo>
                  <a:pt x="2992898" y="2992899"/>
                </a:lnTo>
                <a:lnTo>
                  <a:pt x="0" y="2992899"/>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23" id="23"/>
          <p:cNvSpPr/>
          <p:nvPr/>
        </p:nvSpPr>
        <p:spPr>
          <a:xfrm flipH="false" flipV="false" rot="0">
            <a:off x="185225" y="296308"/>
            <a:ext cx="1686949" cy="1283956"/>
          </a:xfrm>
          <a:custGeom>
            <a:avLst/>
            <a:gdLst/>
            <a:ahLst/>
            <a:cxnLst/>
            <a:rect r="r" b="b" t="t" l="l"/>
            <a:pathLst>
              <a:path h="1283956" w="1686949">
                <a:moveTo>
                  <a:pt x="0" y="0"/>
                </a:moveTo>
                <a:lnTo>
                  <a:pt x="1686950" y="0"/>
                </a:lnTo>
                <a:lnTo>
                  <a:pt x="1686950" y="1283956"/>
                </a:lnTo>
                <a:lnTo>
                  <a:pt x="0" y="1283956"/>
                </a:lnTo>
                <a:lnTo>
                  <a:pt x="0" y="0"/>
                </a:lnTo>
                <a:close/>
              </a:path>
            </a:pathLst>
          </a:custGeom>
          <a:blipFill>
            <a:blip r:embed="rId4"/>
            <a:stretch>
              <a:fillRect l="0" t="0" r="0" b="0"/>
            </a:stretch>
          </a:blipFill>
        </p:spPr>
      </p:sp>
      <p:sp>
        <p:nvSpPr>
          <p:cNvPr id="24" name="TextBox 23"/>
          <p:cNvSpPr txBox="1"/>
          <p:nvPr/>
        </p:nvSpPr>
        <p:spPr>
          <a:xfrm>
            <a:off x="914400" y="2011680"/>
            <a:ext cx="7863840" cy="502920"/>
          </a:xfrm>
          <a:prstGeom prst="rect">
            <a:avLst/>
          </a:prstGeom>
          <a:noFill/>
        </p:spPr>
        <p:txBody>
          <a:bodyPr wrap="square" anchor="t" lIns="0" rIns="0" tIns="0" bIns="0">
            <a:spAutoFit/>
          </a:bodyPr>
          <a:lstStyle/>
          <a:p>
            <a:pPr algn="l">
              <a:lnSpc>
                <a:spcPct val="110000"/>
              </a:lnSpc>
              <a:spcAft>
                <a:spcPts val="600"/>
              </a:spcAft>
            </a:pPr>
            <a:r>
              <a:rPr sz="2000" b="1">
                <a:solidFill>
                  <a:srgbClr val="F5FFF9"/>
                </a:solidFill>
                <a:latin typeface="Manifold Bold"/>
              </a:rPr>
              <a:t>WHAT WAS HARD, AND WHAT WE DID</a:t>
            </a:r>
          </a:p>
        </p:txBody>
      </p:sp>
      <p:sp>
        <p:nvSpPr>
          <p:cNvPr id="25" name="Rounded Rectangle 24"/>
          <p:cNvSpPr/>
          <p:nvPr/>
        </p:nvSpPr>
        <p:spPr>
          <a:xfrm>
            <a:off x="914400" y="2697480"/>
            <a:ext cx="7863840" cy="1463040"/>
          </a:xfrm>
          <a:prstGeom prst="roundRect">
            <a:avLst>
              <a:gd name="adj" fmla="val 7000"/>
            </a:avLst>
          </a:prstGeom>
          <a:solidFill>
            <a:srgbClr val="F5FF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1188720" y="2834640"/>
            <a:ext cx="7315200" cy="502920"/>
          </a:xfrm>
          <a:prstGeom prst="rect">
            <a:avLst/>
          </a:prstGeom>
          <a:noFill/>
        </p:spPr>
        <p:txBody>
          <a:bodyPr wrap="square" anchor="t" lIns="0" rIns="0" tIns="0" bIns="0">
            <a:spAutoFit/>
          </a:bodyPr>
          <a:lstStyle/>
          <a:p>
            <a:pPr algn="l">
              <a:lnSpc>
                <a:spcPct val="110000"/>
              </a:lnSpc>
              <a:spcAft>
                <a:spcPts val="600"/>
              </a:spcAft>
            </a:pPr>
            <a:r>
              <a:rPr sz="1900" b="1">
                <a:solidFill>
                  <a:srgbClr val="1E4926"/>
                </a:solidFill>
                <a:latin typeface="Manifold Bold"/>
              </a:rPr>
              <a:t>AI-written data dropped facts</a:t>
            </a:r>
          </a:p>
        </p:txBody>
      </p:sp>
      <p:sp>
        <p:nvSpPr>
          <p:cNvPr id="27" name="TextBox 26"/>
          <p:cNvSpPr txBox="1"/>
          <p:nvPr/>
        </p:nvSpPr>
        <p:spPr>
          <a:xfrm>
            <a:off x="1188720" y="3429000"/>
            <a:ext cx="7315200" cy="640080"/>
          </a:xfrm>
          <a:prstGeom prst="rect">
            <a:avLst/>
          </a:prstGeom>
          <a:noFill/>
        </p:spPr>
        <p:txBody>
          <a:bodyPr wrap="square" anchor="t" lIns="0" rIns="0" tIns="0" bIns="0">
            <a:spAutoFit/>
          </a:bodyPr>
          <a:lstStyle/>
          <a:p>
            <a:pPr algn="l">
              <a:lnSpc>
                <a:spcPct val="110000"/>
              </a:lnSpc>
              <a:spcAft>
                <a:spcPts val="600"/>
              </a:spcAft>
            </a:pPr>
            <a:r>
              <a:rPr sz="1700" b="0">
                <a:solidFill>
                  <a:srgbClr val="457C5B"/>
                </a:solidFill>
                <a:latin typeface="Lato"/>
              </a:rPr>
              <a:t>computer checks, repair, and we read 330 pairs</a:t>
            </a:r>
          </a:p>
        </p:txBody>
      </p:sp>
      <p:sp>
        <p:nvSpPr>
          <p:cNvPr id="28" name="Rounded Rectangle 27"/>
          <p:cNvSpPr/>
          <p:nvPr/>
        </p:nvSpPr>
        <p:spPr>
          <a:xfrm>
            <a:off x="914400" y="4361688"/>
            <a:ext cx="7863840" cy="1463040"/>
          </a:xfrm>
          <a:prstGeom prst="roundRect">
            <a:avLst>
              <a:gd name="adj" fmla="val 7000"/>
            </a:avLst>
          </a:prstGeom>
          <a:solidFill>
            <a:srgbClr val="F5FF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1188720" y="4498848"/>
            <a:ext cx="7315200" cy="502920"/>
          </a:xfrm>
          <a:prstGeom prst="rect">
            <a:avLst/>
          </a:prstGeom>
          <a:noFill/>
        </p:spPr>
        <p:txBody>
          <a:bodyPr wrap="square" anchor="t" lIns="0" rIns="0" tIns="0" bIns="0">
            <a:spAutoFit/>
          </a:bodyPr>
          <a:lstStyle/>
          <a:p>
            <a:pPr algn="l">
              <a:lnSpc>
                <a:spcPct val="110000"/>
              </a:lnSpc>
              <a:spcAft>
                <a:spcPts val="600"/>
              </a:spcAft>
            </a:pPr>
            <a:r>
              <a:rPr sz="1900" b="1">
                <a:solidFill>
                  <a:srgbClr val="1E4926"/>
                </a:solidFill>
                <a:latin typeface="Manifold Bold"/>
              </a:rPr>
              <a:t>The small model made things up</a:t>
            </a:r>
          </a:p>
        </p:txBody>
      </p:sp>
      <p:sp>
        <p:nvSpPr>
          <p:cNvPr id="30" name="TextBox 29"/>
          <p:cNvSpPr txBox="1"/>
          <p:nvPr/>
        </p:nvSpPr>
        <p:spPr>
          <a:xfrm>
            <a:off x="1188720" y="5093208"/>
            <a:ext cx="7315200" cy="640080"/>
          </a:xfrm>
          <a:prstGeom prst="rect">
            <a:avLst/>
          </a:prstGeom>
          <a:noFill/>
        </p:spPr>
        <p:txBody>
          <a:bodyPr wrap="square" anchor="t" lIns="0" rIns="0" tIns="0" bIns="0">
            <a:spAutoFit/>
          </a:bodyPr>
          <a:lstStyle/>
          <a:p>
            <a:pPr algn="l">
              <a:lnSpc>
                <a:spcPct val="110000"/>
              </a:lnSpc>
              <a:spcAft>
                <a:spcPts val="600"/>
              </a:spcAft>
            </a:pPr>
            <a:r>
              <a:rPr sz="1700" b="0">
                <a:solidFill>
                  <a:srgbClr val="457C5B"/>
                </a:solidFill>
                <a:latin typeface="Lato"/>
              </a:rPr>
              <a:t>training (5 to 98 in 100) and a check before use</a:t>
            </a:r>
          </a:p>
        </p:txBody>
      </p:sp>
      <p:sp>
        <p:nvSpPr>
          <p:cNvPr id="31" name="Rounded Rectangle 30"/>
          <p:cNvSpPr/>
          <p:nvPr/>
        </p:nvSpPr>
        <p:spPr>
          <a:xfrm>
            <a:off x="914400" y="6025896"/>
            <a:ext cx="7863840" cy="1463040"/>
          </a:xfrm>
          <a:prstGeom prst="roundRect">
            <a:avLst>
              <a:gd name="adj" fmla="val 7000"/>
            </a:avLst>
          </a:prstGeom>
          <a:solidFill>
            <a:srgbClr val="F5FF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1188720" y="6163056"/>
            <a:ext cx="7315200" cy="502920"/>
          </a:xfrm>
          <a:prstGeom prst="rect">
            <a:avLst/>
          </a:prstGeom>
          <a:noFill/>
        </p:spPr>
        <p:txBody>
          <a:bodyPr wrap="square" anchor="t" lIns="0" rIns="0" tIns="0" bIns="0">
            <a:spAutoFit/>
          </a:bodyPr>
          <a:lstStyle/>
          <a:p>
            <a:pPr algn="l">
              <a:lnSpc>
                <a:spcPct val="110000"/>
              </a:lnSpc>
              <a:spcAft>
                <a:spcPts val="600"/>
              </a:spcAft>
            </a:pPr>
            <a:r>
              <a:rPr sz="1900" b="1">
                <a:solidFill>
                  <a:srgbClr val="1E4926"/>
                </a:solidFill>
                <a:latin typeface="Manifold Bold"/>
              </a:rPr>
              <a:t>Free AI limits per day</a:t>
            </a:r>
          </a:p>
        </p:txBody>
      </p:sp>
      <p:sp>
        <p:nvSpPr>
          <p:cNvPr id="33" name="TextBox 32"/>
          <p:cNvSpPr txBox="1"/>
          <p:nvPr/>
        </p:nvSpPr>
        <p:spPr>
          <a:xfrm>
            <a:off x="1188720" y="6757416"/>
            <a:ext cx="7315200" cy="640080"/>
          </a:xfrm>
          <a:prstGeom prst="rect">
            <a:avLst/>
          </a:prstGeom>
          <a:noFill/>
        </p:spPr>
        <p:txBody>
          <a:bodyPr wrap="square" anchor="t" lIns="0" rIns="0" tIns="0" bIns="0">
            <a:spAutoFit/>
          </a:bodyPr>
          <a:lstStyle/>
          <a:p>
            <a:pPr algn="l">
              <a:lnSpc>
                <a:spcPct val="110000"/>
              </a:lnSpc>
              <a:spcAft>
                <a:spcPts val="600"/>
              </a:spcAft>
            </a:pPr>
            <a:r>
              <a:rPr sz="1700" b="0">
                <a:solidFill>
                  <a:srgbClr val="457C5B"/>
                </a:solidFill>
                <a:latin typeface="Lato"/>
              </a:rPr>
              <a:t>a usage log, pacing, runs that resume next day</a:t>
            </a:r>
          </a:p>
        </p:txBody>
      </p:sp>
      <p:sp>
        <p:nvSpPr>
          <p:cNvPr id="34" name="Rounded Rectangle 33"/>
          <p:cNvSpPr/>
          <p:nvPr/>
        </p:nvSpPr>
        <p:spPr>
          <a:xfrm>
            <a:off x="914400" y="7690104"/>
            <a:ext cx="7863840" cy="1463040"/>
          </a:xfrm>
          <a:prstGeom prst="roundRect">
            <a:avLst>
              <a:gd name="adj" fmla="val 7000"/>
            </a:avLst>
          </a:prstGeom>
          <a:solidFill>
            <a:srgbClr val="F5FF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1188720" y="7827264"/>
            <a:ext cx="7315200" cy="502920"/>
          </a:xfrm>
          <a:prstGeom prst="rect">
            <a:avLst/>
          </a:prstGeom>
          <a:noFill/>
        </p:spPr>
        <p:txBody>
          <a:bodyPr wrap="square" anchor="t" lIns="0" rIns="0" tIns="0" bIns="0">
            <a:spAutoFit/>
          </a:bodyPr>
          <a:lstStyle/>
          <a:p>
            <a:pPr algn="l">
              <a:lnSpc>
                <a:spcPct val="110000"/>
              </a:lnSpc>
              <a:spcAft>
                <a:spcPts val="600"/>
              </a:spcAft>
            </a:pPr>
            <a:r>
              <a:rPr sz="1900" b="1">
                <a:solidFill>
                  <a:srgbClr val="1E4926"/>
                </a:solidFill>
                <a:latin typeface="Manifold Bold"/>
              </a:rPr>
              <a:t>4 GB laptop GPU</a:t>
            </a:r>
          </a:p>
        </p:txBody>
      </p:sp>
      <p:sp>
        <p:nvSpPr>
          <p:cNvPr id="36" name="TextBox 35"/>
          <p:cNvSpPr txBox="1"/>
          <p:nvPr/>
        </p:nvSpPr>
        <p:spPr>
          <a:xfrm>
            <a:off x="1188720" y="8421624"/>
            <a:ext cx="7315200" cy="640080"/>
          </a:xfrm>
          <a:prstGeom prst="rect">
            <a:avLst/>
          </a:prstGeom>
          <a:noFill/>
        </p:spPr>
        <p:txBody>
          <a:bodyPr wrap="square" anchor="t" lIns="0" rIns="0" tIns="0" bIns="0">
            <a:spAutoFit/>
          </a:bodyPr>
          <a:lstStyle/>
          <a:p>
            <a:pPr algn="l">
              <a:lnSpc>
                <a:spcPct val="110000"/>
              </a:lnSpc>
              <a:spcAft>
                <a:spcPts val="600"/>
              </a:spcAft>
            </a:pPr>
            <a:r>
              <a:rPr sz="1700" b="0">
                <a:solidFill>
                  <a:srgbClr val="457C5B"/>
                </a:solidFill>
                <a:latin typeface="Lato"/>
              </a:rPr>
              <a:t>memory-saving training: 51 minutes</a:t>
            </a:r>
          </a:p>
        </p:txBody>
      </p:sp>
      <p:sp>
        <p:nvSpPr>
          <p:cNvPr id="37" name="TextBox 36"/>
          <p:cNvSpPr txBox="1"/>
          <p:nvPr/>
        </p:nvSpPr>
        <p:spPr>
          <a:xfrm>
            <a:off x="9509760" y="2011680"/>
            <a:ext cx="7863840" cy="502920"/>
          </a:xfrm>
          <a:prstGeom prst="rect">
            <a:avLst/>
          </a:prstGeom>
          <a:noFill/>
        </p:spPr>
        <p:txBody>
          <a:bodyPr wrap="square" anchor="t" lIns="0" rIns="0" tIns="0" bIns="0">
            <a:spAutoFit/>
          </a:bodyPr>
          <a:lstStyle/>
          <a:p>
            <a:pPr algn="l">
              <a:lnSpc>
                <a:spcPct val="110000"/>
              </a:lnSpc>
              <a:spcAft>
                <a:spcPts val="600"/>
              </a:spcAft>
            </a:pPr>
            <a:r>
              <a:rPr sz="2000" b="1">
                <a:solidFill>
                  <a:srgbClr val="F5FFF9"/>
                </a:solidFill>
                <a:latin typeface="Manifold Bold"/>
              </a:rPr>
              <a:t>NEXT STEPS</a:t>
            </a:r>
          </a:p>
        </p:txBody>
      </p:sp>
      <p:sp>
        <p:nvSpPr>
          <p:cNvPr id="38" name="Rounded Rectangle 37"/>
          <p:cNvSpPr/>
          <p:nvPr/>
        </p:nvSpPr>
        <p:spPr>
          <a:xfrm>
            <a:off x="9509760" y="2697480"/>
            <a:ext cx="7863840" cy="1463040"/>
          </a:xfrm>
          <a:prstGeom prst="roundRect">
            <a:avLst>
              <a:gd name="adj" fmla="val 7000"/>
            </a:avLst>
          </a:prstGeom>
          <a:solidFill>
            <a:srgbClr val="9FC4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Oval 38"/>
          <p:cNvSpPr/>
          <p:nvPr/>
        </p:nvSpPr>
        <p:spPr>
          <a:xfrm>
            <a:off x="9738360" y="3026664"/>
            <a:ext cx="804672" cy="804672"/>
          </a:xfrm>
          <a:prstGeom prst="ellipse">
            <a:avLst/>
          </a:prstGeom>
          <a:solidFill>
            <a:srgbClr val="F5FF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9738360" y="3026664"/>
            <a:ext cx="804672" cy="804672"/>
          </a:xfrm>
          <a:prstGeom prst="rect">
            <a:avLst/>
          </a:prstGeom>
          <a:noFill/>
        </p:spPr>
        <p:txBody>
          <a:bodyPr wrap="square" anchor="ctr" lIns="0" rIns="0" tIns="0" bIns="0">
            <a:spAutoFit/>
          </a:bodyPr>
          <a:lstStyle/>
          <a:p>
            <a:pPr algn="ctr">
              <a:lnSpc>
                <a:spcPct val="110000"/>
              </a:lnSpc>
              <a:spcAft>
                <a:spcPts val="600"/>
              </a:spcAft>
            </a:pPr>
            <a:r>
              <a:rPr sz="2200" b="1">
                <a:solidFill>
                  <a:srgbClr val="1E4926"/>
                </a:solidFill>
                <a:latin typeface="Manifold Bold"/>
              </a:rPr>
              <a:t>1</a:t>
            </a:r>
          </a:p>
        </p:txBody>
      </p:sp>
      <p:sp>
        <p:nvSpPr>
          <p:cNvPr id="41" name="TextBox 40"/>
          <p:cNvSpPr txBox="1"/>
          <p:nvPr/>
        </p:nvSpPr>
        <p:spPr>
          <a:xfrm>
            <a:off x="10789920" y="2834640"/>
            <a:ext cx="6400800" cy="502920"/>
          </a:xfrm>
          <a:prstGeom prst="rect">
            <a:avLst/>
          </a:prstGeom>
          <a:noFill/>
        </p:spPr>
        <p:txBody>
          <a:bodyPr wrap="square" anchor="t" lIns="0" rIns="0" tIns="0" bIns="0">
            <a:spAutoFit/>
          </a:bodyPr>
          <a:lstStyle/>
          <a:p>
            <a:pPr algn="l">
              <a:lnSpc>
                <a:spcPct val="110000"/>
              </a:lnSpc>
              <a:spcAft>
                <a:spcPts val="600"/>
              </a:spcAft>
            </a:pPr>
            <a:r>
              <a:rPr sz="1900" b="1">
                <a:solidFill>
                  <a:srgbClr val="1E4926"/>
                </a:solidFill>
                <a:latin typeface="Manifold Bold"/>
              </a:rPr>
              <a:t>Lean mode</a:t>
            </a:r>
          </a:p>
        </p:txBody>
      </p:sp>
      <p:sp>
        <p:nvSpPr>
          <p:cNvPr id="42" name="TextBox 41"/>
          <p:cNvSpPr txBox="1"/>
          <p:nvPr/>
        </p:nvSpPr>
        <p:spPr>
          <a:xfrm>
            <a:off x="10789920" y="3429000"/>
            <a:ext cx="6400800" cy="640080"/>
          </a:xfrm>
          <a:prstGeom prst="rect">
            <a:avLst/>
          </a:prstGeom>
          <a:noFill/>
        </p:spPr>
        <p:txBody>
          <a:bodyPr wrap="square" anchor="t" lIns="0" rIns="0" tIns="0" bIns="0">
            <a:spAutoFit/>
          </a:bodyPr>
          <a:lstStyle/>
          <a:p>
            <a:pPr algn="l">
              <a:lnSpc>
                <a:spcPct val="110000"/>
              </a:lnSpc>
              <a:spcAft>
                <a:spcPts val="600"/>
              </a:spcAft>
            </a:pPr>
            <a:r>
              <a:rPr sz="1700" b="0">
                <a:solidFill>
                  <a:srgbClr val="1E4926"/>
                </a:solidFill>
                <a:latin typeface="Lato"/>
              </a:rPr>
              <a:t>add less when the answer is already short</a:t>
            </a:r>
          </a:p>
        </p:txBody>
      </p:sp>
      <p:sp>
        <p:nvSpPr>
          <p:cNvPr id="43" name="Rounded Rectangle 42"/>
          <p:cNvSpPr/>
          <p:nvPr/>
        </p:nvSpPr>
        <p:spPr>
          <a:xfrm>
            <a:off x="9509760" y="4361688"/>
            <a:ext cx="7863840" cy="1463040"/>
          </a:xfrm>
          <a:prstGeom prst="roundRect">
            <a:avLst>
              <a:gd name="adj" fmla="val 7000"/>
            </a:avLst>
          </a:prstGeom>
          <a:solidFill>
            <a:srgbClr val="9FC4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Oval 43"/>
          <p:cNvSpPr/>
          <p:nvPr/>
        </p:nvSpPr>
        <p:spPr>
          <a:xfrm>
            <a:off x="9738360" y="4690872"/>
            <a:ext cx="804672" cy="804672"/>
          </a:xfrm>
          <a:prstGeom prst="ellipse">
            <a:avLst/>
          </a:prstGeom>
          <a:solidFill>
            <a:srgbClr val="F5FF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9738360" y="4690872"/>
            <a:ext cx="804672" cy="804672"/>
          </a:xfrm>
          <a:prstGeom prst="rect">
            <a:avLst/>
          </a:prstGeom>
          <a:noFill/>
        </p:spPr>
        <p:txBody>
          <a:bodyPr wrap="square" anchor="ctr" lIns="0" rIns="0" tIns="0" bIns="0">
            <a:spAutoFit/>
          </a:bodyPr>
          <a:lstStyle/>
          <a:p>
            <a:pPr algn="ctr">
              <a:lnSpc>
                <a:spcPct val="110000"/>
              </a:lnSpc>
              <a:spcAft>
                <a:spcPts val="600"/>
              </a:spcAft>
            </a:pPr>
            <a:r>
              <a:rPr sz="2200" b="1">
                <a:solidFill>
                  <a:srgbClr val="1E4926"/>
                </a:solidFill>
                <a:latin typeface="Manifold Bold"/>
              </a:rPr>
              <a:t>2</a:t>
            </a:r>
          </a:p>
        </p:txBody>
      </p:sp>
      <p:sp>
        <p:nvSpPr>
          <p:cNvPr id="46" name="TextBox 45"/>
          <p:cNvSpPr txBox="1"/>
          <p:nvPr/>
        </p:nvSpPr>
        <p:spPr>
          <a:xfrm>
            <a:off x="10789920" y="4498848"/>
            <a:ext cx="6400800" cy="502920"/>
          </a:xfrm>
          <a:prstGeom prst="rect">
            <a:avLst/>
          </a:prstGeom>
          <a:noFill/>
        </p:spPr>
        <p:txBody>
          <a:bodyPr wrap="square" anchor="t" lIns="0" rIns="0" tIns="0" bIns="0">
            <a:spAutoFit/>
          </a:bodyPr>
          <a:lstStyle/>
          <a:p>
            <a:pPr algn="l">
              <a:lnSpc>
                <a:spcPct val="110000"/>
              </a:lnSpc>
              <a:spcAft>
                <a:spcPts val="600"/>
              </a:spcAft>
            </a:pPr>
            <a:r>
              <a:rPr sz="1900" b="1">
                <a:solidFill>
                  <a:srgbClr val="1E4926"/>
                </a:solidFill>
                <a:latin typeface="Manifold Bold"/>
              </a:rPr>
              <a:t>Real GPT, Claude, Gemini</a:t>
            </a:r>
          </a:p>
        </p:txBody>
      </p:sp>
      <p:sp>
        <p:nvSpPr>
          <p:cNvPr id="47" name="TextBox 46"/>
          <p:cNvSpPr txBox="1"/>
          <p:nvPr/>
        </p:nvSpPr>
        <p:spPr>
          <a:xfrm>
            <a:off x="10789920" y="5093208"/>
            <a:ext cx="6400800" cy="640080"/>
          </a:xfrm>
          <a:prstGeom prst="rect">
            <a:avLst/>
          </a:prstGeom>
          <a:noFill/>
        </p:spPr>
        <p:txBody>
          <a:bodyPr wrap="square" anchor="t" lIns="0" rIns="0" tIns="0" bIns="0">
            <a:spAutoFit/>
          </a:bodyPr>
          <a:lstStyle/>
          <a:p>
            <a:pPr algn="l">
              <a:lnSpc>
                <a:spcPct val="110000"/>
              </a:lnSpc>
              <a:spcAft>
                <a:spcPts val="600"/>
              </a:spcAft>
            </a:pPr>
            <a:r>
              <a:rPr sz="1700" b="0">
                <a:solidFill>
                  <a:srgbClr val="1E4926"/>
                </a:solidFill>
                <a:latin typeface="Lato"/>
              </a:rPr>
              <a:t>with paid API keys</a:t>
            </a:r>
          </a:p>
        </p:txBody>
      </p:sp>
      <p:sp>
        <p:nvSpPr>
          <p:cNvPr id="48" name="Rounded Rectangle 47"/>
          <p:cNvSpPr/>
          <p:nvPr/>
        </p:nvSpPr>
        <p:spPr>
          <a:xfrm>
            <a:off x="9509760" y="6025896"/>
            <a:ext cx="7863840" cy="1463040"/>
          </a:xfrm>
          <a:prstGeom prst="roundRect">
            <a:avLst>
              <a:gd name="adj" fmla="val 7000"/>
            </a:avLst>
          </a:prstGeom>
          <a:solidFill>
            <a:srgbClr val="9FC4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Oval 48"/>
          <p:cNvSpPr/>
          <p:nvPr/>
        </p:nvSpPr>
        <p:spPr>
          <a:xfrm>
            <a:off x="9738360" y="6355080"/>
            <a:ext cx="804672" cy="804672"/>
          </a:xfrm>
          <a:prstGeom prst="ellipse">
            <a:avLst/>
          </a:prstGeom>
          <a:solidFill>
            <a:srgbClr val="F5FF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9738360" y="6355080"/>
            <a:ext cx="804672" cy="804672"/>
          </a:xfrm>
          <a:prstGeom prst="rect">
            <a:avLst/>
          </a:prstGeom>
          <a:noFill/>
        </p:spPr>
        <p:txBody>
          <a:bodyPr wrap="square" anchor="ctr" lIns="0" rIns="0" tIns="0" bIns="0">
            <a:spAutoFit/>
          </a:bodyPr>
          <a:lstStyle/>
          <a:p>
            <a:pPr algn="ctr">
              <a:lnSpc>
                <a:spcPct val="110000"/>
              </a:lnSpc>
              <a:spcAft>
                <a:spcPts val="600"/>
              </a:spcAft>
            </a:pPr>
            <a:r>
              <a:rPr sz="2200" b="1">
                <a:solidFill>
                  <a:srgbClr val="1E4926"/>
                </a:solidFill>
                <a:latin typeface="Manifold Bold"/>
              </a:rPr>
              <a:t>3</a:t>
            </a:r>
          </a:p>
        </p:txBody>
      </p:sp>
      <p:sp>
        <p:nvSpPr>
          <p:cNvPr id="51" name="TextBox 50"/>
          <p:cNvSpPr txBox="1"/>
          <p:nvPr/>
        </p:nvSpPr>
        <p:spPr>
          <a:xfrm>
            <a:off x="10789920" y="6163056"/>
            <a:ext cx="6400800" cy="502920"/>
          </a:xfrm>
          <a:prstGeom prst="rect">
            <a:avLst/>
          </a:prstGeom>
          <a:noFill/>
        </p:spPr>
        <p:txBody>
          <a:bodyPr wrap="square" anchor="t" lIns="0" rIns="0" tIns="0" bIns="0">
            <a:spAutoFit/>
          </a:bodyPr>
          <a:lstStyle/>
          <a:p>
            <a:pPr algn="l">
              <a:lnSpc>
                <a:spcPct val="110000"/>
              </a:lnSpc>
              <a:spcAft>
                <a:spcPts val="600"/>
              </a:spcAft>
            </a:pPr>
            <a:r>
              <a:rPr sz="1900" b="1">
                <a:solidFill>
                  <a:srgbClr val="1E4926"/>
                </a:solidFill>
                <a:latin typeface="Manifold Bold"/>
              </a:rPr>
              <a:t>Bigger tests</a:t>
            </a:r>
          </a:p>
        </p:txBody>
      </p:sp>
      <p:sp>
        <p:nvSpPr>
          <p:cNvPr id="52" name="TextBox 51"/>
          <p:cNvSpPr txBox="1"/>
          <p:nvPr/>
        </p:nvSpPr>
        <p:spPr>
          <a:xfrm>
            <a:off x="10789920" y="6757416"/>
            <a:ext cx="6400800" cy="640080"/>
          </a:xfrm>
          <a:prstGeom prst="rect">
            <a:avLst/>
          </a:prstGeom>
          <a:noFill/>
        </p:spPr>
        <p:txBody>
          <a:bodyPr wrap="square" anchor="t" lIns="0" rIns="0" tIns="0" bIns="0">
            <a:spAutoFit/>
          </a:bodyPr>
          <a:lstStyle/>
          <a:p>
            <a:pPr algn="l">
              <a:lnSpc>
                <a:spcPct val="110000"/>
              </a:lnSpc>
              <a:spcAft>
                <a:spcPts val="600"/>
              </a:spcAft>
            </a:pPr>
            <a:r>
              <a:rPr sz="1700" b="0">
                <a:solidFill>
                  <a:srgbClr val="1E4926"/>
                </a:solidFill>
                <a:latin typeface="Lato"/>
              </a:rPr>
              <a:t>more real-life questions, written by outsiders</a:t>
            </a:r>
          </a:p>
        </p:txBody>
      </p:sp>
      <p:sp>
        <p:nvSpPr>
          <p:cNvPr id="53" name="Rounded Rectangle 52"/>
          <p:cNvSpPr/>
          <p:nvPr/>
        </p:nvSpPr>
        <p:spPr>
          <a:xfrm>
            <a:off x="9509760" y="7690104"/>
            <a:ext cx="7863840" cy="1463040"/>
          </a:xfrm>
          <a:prstGeom prst="roundRect">
            <a:avLst>
              <a:gd name="adj" fmla="val 7000"/>
            </a:avLst>
          </a:prstGeom>
          <a:solidFill>
            <a:srgbClr val="9FC4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Oval 53"/>
          <p:cNvSpPr/>
          <p:nvPr/>
        </p:nvSpPr>
        <p:spPr>
          <a:xfrm>
            <a:off x="9738360" y="8019288"/>
            <a:ext cx="804672" cy="804672"/>
          </a:xfrm>
          <a:prstGeom prst="ellipse">
            <a:avLst/>
          </a:prstGeom>
          <a:solidFill>
            <a:srgbClr val="F5FF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9738360" y="8019288"/>
            <a:ext cx="804672" cy="804672"/>
          </a:xfrm>
          <a:prstGeom prst="rect">
            <a:avLst/>
          </a:prstGeom>
          <a:noFill/>
        </p:spPr>
        <p:txBody>
          <a:bodyPr wrap="square" anchor="ctr" lIns="0" rIns="0" tIns="0" bIns="0">
            <a:spAutoFit/>
          </a:bodyPr>
          <a:lstStyle/>
          <a:p>
            <a:pPr algn="ctr">
              <a:lnSpc>
                <a:spcPct val="110000"/>
              </a:lnSpc>
              <a:spcAft>
                <a:spcPts val="600"/>
              </a:spcAft>
            </a:pPr>
            <a:r>
              <a:rPr sz="2200" b="1">
                <a:solidFill>
                  <a:srgbClr val="1E4926"/>
                </a:solidFill>
                <a:latin typeface="Manifold Bold"/>
              </a:rPr>
              <a:t>4</a:t>
            </a:r>
          </a:p>
        </p:txBody>
      </p:sp>
      <p:sp>
        <p:nvSpPr>
          <p:cNvPr id="56" name="TextBox 55"/>
          <p:cNvSpPr txBox="1"/>
          <p:nvPr/>
        </p:nvSpPr>
        <p:spPr>
          <a:xfrm>
            <a:off x="10789920" y="7827264"/>
            <a:ext cx="6400800" cy="502920"/>
          </a:xfrm>
          <a:prstGeom prst="rect">
            <a:avLst/>
          </a:prstGeom>
          <a:noFill/>
        </p:spPr>
        <p:txBody>
          <a:bodyPr wrap="square" anchor="t" lIns="0" rIns="0" tIns="0" bIns="0">
            <a:spAutoFit/>
          </a:bodyPr>
          <a:lstStyle/>
          <a:p>
            <a:pPr algn="l">
              <a:lnSpc>
                <a:spcPct val="110000"/>
              </a:lnSpc>
              <a:spcAft>
                <a:spcPts val="600"/>
              </a:spcAft>
            </a:pPr>
            <a:r>
              <a:rPr sz="1900" b="1">
                <a:solidFill>
                  <a:srgbClr val="1E4926"/>
                </a:solidFill>
                <a:latin typeface="Manifold Bold"/>
              </a:rPr>
              <a:t>Research paper</a:t>
            </a:r>
          </a:p>
        </p:txBody>
      </p:sp>
      <p:sp>
        <p:nvSpPr>
          <p:cNvPr id="57" name="TextBox 56"/>
          <p:cNvSpPr txBox="1"/>
          <p:nvPr/>
        </p:nvSpPr>
        <p:spPr>
          <a:xfrm>
            <a:off x="10789920" y="8421624"/>
            <a:ext cx="6400800" cy="640080"/>
          </a:xfrm>
          <a:prstGeom prst="rect">
            <a:avLst/>
          </a:prstGeom>
          <a:noFill/>
        </p:spPr>
        <p:txBody>
          <a:bodyPr wrap="square" anchor="t" lIns="0" rIns="0" tIns="0" bIns="0">
            <a:spAutoFit/>
          </a:bodyPr>
          <a:lstStyle/>
          <a:p>
            <a:pPr algn="l">
              <a:lnSpc>
                <a:spcPct val="110000"/>
              </a:lnSpc>
              <a:spcAft>
                <a:spcPts val="600"/>
              </a:spcAft>
            </a:pPr>
            <a:r>
              <a:rPr sz="1700" b="0">
                <a:solidFill>
                  <a:srgbClr val="1E4926"/>
                </a:solidFill>
                <a:latin typeface="Lato"/>
              </a:rPr>
              <a:t>on the method and results</a:t>
            </a:r>
          </a:p>
        </p:txBody>
      </p:sp>
    </p:spTree>
  </p:cSld>
  <p:clrMapOvr>
    <a:masterClrMapping/>
  </p:clrMapOvr>
</p:sld>
</file>

<file path=ppt/slides/slide17.xml><?xml version="1.0" encoding="utf-8"?>
<p:sld xmlns:p="http://schemas.openxmlformats.org/presentationml/2006/main" xmlns:a="http://schemas.openxmlformats.org/drawingml/2006/main" xmlns:r="http://schemas.openxmlformats.org/officeDocument/2006/relationships">
  <p:cSld>
    <p:bg>
      <p:bgPr>
        <a:solidFill>
          <a:srgbClr val="457C5B"/>
        </a:solidFill>
      </p:bgPr>
    </p:bg>
    <p:spTree>
      <p:nvGrpSpPr>
        <p:cNvPr id="1" name=""/>
        <p:cNvGrpSpPr/>
        <p:nvPr/>
      </p:nvGrpSpPr>
      <p:grpSpPr>
        <a:xfrm>
          <a:off x="0" y="0"/>
          <a:ext cx="0" cy="0"/>
          <a:chOff x="0" y="0"/>
          <a:chExt cx="0" cy="0"/>
        </a:xfrm>
      </p:grpSpPr>
      <p:grpSp>
        <p:nvGrpSpPr>
          <p:cNvPr name="Group 2" id="2"/>
          <p:cNvGrpSpPr/>
          <p:nvPr/>
        </p:nvGrpSpPr>
        <p:grpSpPr>
          <a:xfrm rot="0">
            <a:off x="-1265404" y="2220741"/>
            <a:ext cx="20818807" cy="5845518"/>
            <a:chOff x="0" y="0"/>
            <a:chExt cx="5836242" cy="1638704"/>
          </a:xfrm>
        </p:grpSpPr>
        <p:sp>
          <p:nvSpPr>
            <p:cNvPr name="Freeform 3" id="3"/>
            <p:cNvSpPr/>
            <p:nvPr/>
          </p:nvSpPr>
          <p:spPr>
            <a:xfrm flipH="false" flipV="false" rot="0">
              <a:off x="0" y="0"/>
              <a:ext cx="5836242" cy="1638704"/>
            </a:xfrm>
            <a:custGeom>
              <a:avLst/>
              <a:gdLst/>
              <a:ahLst/>
              <a:cxnLst/>
              <a:rect r="r" b="b" t="t" l="l"/>
              <a:pathLst>
                <a:path h="1638704" w="5836242">
                  <a:moveTo>
                    <a:pt x="6694" y="0"/>
                  </a:moveTo>
                  <a:lnTo>
                    <a:pt x="5829548" y="0"/>
                  </a:lnTo>
                  <a:cubicBezTo>
                    <a:pt x="5833245" y="0"/>
                    <a:pt x="5836242" y="2997"/>
                    <a:pt x="5836242" y="6694"/>
                  </a:cubicBezTo>
                  <a:lnTo>
                    <a:pt x="5836242" y="1632010"/>
                  </a:lnTo>
                  <a:cubicBezTo>
                    <a:pt x="5836242" y="1635707"/>
                    <a:pt x="5833245" y="1638704"/>
                    <a:pt x="5829548" y="1638704"/>
                  </a:cubicBezTo>
                  <a:lnTo>
                    <a:pt x="6694" y="1638704"/>
                  </a:lnTo>
                  <a:cubicBezTo>
                    <a:pt x="2997" y="1638704"/>
                    <a:pt x="0" y="1635707"/>
                    <a:pt x="0" y="1632010"/>
                  </a:cubicBezTo>
                  <a:lnTo>
                    <a:pt x="0" y="6694"/>
                  </a:lnTo>
                  <a:cubicBezTo>
                    <a:pt x="0" y="2997"/>
                    <a:pt x="2997" y="0"/>
                    <a:pt x="6694" y="0"/>
                  </a:cubicBezTo>
                  <a:close/>
                </a:path>
              </a:pathLst>
            </a:custGeom>
            <a:solidFill>
              <a:srgbClr val="F5FFF9"/>
            </a:solidFill>
          </p:spPr>
        </p:sp>
        <p:sp>
          <p:nvSpPr>
            <p:cNvPr name="TextBox 4" id="4"/>
            <p:cNvSpPr txBox="true"/>
            <p:nvPr/>
          </p:nvSpPr>
          <p:spPr>
            <a:xfrm>
              <a:off x="0" y="-47625"/>
              <a:ext cx="5836242" cy="1686329"/>
            </a:xfrm>
            <a:prstGeom prst="rect">
              <a:avLst/>
            </a:prstGeom>
          </p:spPr>
          <p:txBody>
            <a:bodyPr anchor="ctr" rtlCol="false" tIns="50800" lIns="50800" bIns="50800" rIns="50800"/>
            <a:lstStyle/>
            <a:p>
              <a:pPr algn="ctr">
                <a:lnSpc>
                  <a:spcPts val="2936"/>
                </a:lnSpc>
              </a:pPr>
            </a:p>
          </p:txBody>
        </p:sp>
      </p:grpSp>
      <p:sp>
        <p:nvSpPr>
          <p:cNvPr name="TextBox 5" id="5"/>
          <p:cNvSpPr txBox="true"/>
          <p:nvPr/>
        </p:nvSpPr>
        <p:spPr>
          <a:xfrm rot="0">
            <a:off x="3060598" y="4033474"/>
            <a:ext cx="12166804" cy="1991386"/>
          </a:xfrm>
          <a:prstGeom prst="rect">
            <a:avLst/>
          </a:prstGeom>
        </p:spPr>
        <p:txBody>
          <a:bodyPr anchor="t" rtlCol="false" tIns="0" lIns="0" bIns="0" rIns="0">
            <a:spAutoFit/>
          </a:bodyPr>
          <a:lstStyle/>
          <a:p>
            <a:pPr algn="ctr">
              <a:lnSpc>
                <a:spcPts val="16238"/>
              </a:lnSpc>
            </a:pPr>
            <a:r>
              <a:rPr lang="en-US" b="true" sz="11598">
                <a:solidFill>
                  <a:srgbClr val="457C5B"/>
                </a:solidFill>
                <a:latin typeface="Manifold Ultra-Bold"/>
                <a:ea typeface="Manifold Ultra-Bold"/>
                <a:cs typeface="Manifold Ultra-Bold"/>
                <a:sym typeface="Manifold Ultra-Bold"/>
              </a:rPr>
              <a:t>THANK YOU</a:t>
            </a:r>
          </a:p>
        </p:txBody>
      </p:sp>
      <p:sp>
        <p:nvSpPr>
          <p:cNvPr name="Freeform 6" id="6"/>
          <p:cNvSpPr/>
          <p:nvPr/>
        </p:nvSpPr>
        <p:spPr>
          <a:xfrm flipH="false" flipV="false" rot="0">
            <a:off x="-1366088" y="-1038481"/>
            <a:ext cx="2992899" cy="2992899"/>
          </a:xfrm>
          <a:custGeom>
            <a:avLst/>
            <a:gdLst/>
            <a:ahLst/>
            <a:cxnLst/>
            <a:rect r="r" b="b" t="t" l="l"/>
            <a:pathLst>
              <a:path h="2992899" w="2992899">
                <a:moveTo>
                  <a:pt x="0" y="0"/>
                </a:moveTo>
                <a:lnTo>
                  <a:pt x="2992899" y="0"/>
                </a:lnTo>
                <a:lnTo>
                  <a:pt x="2992899" y="2992899"/>
                </a:lnTo>
                <a:lnTo>
                  <a:pt x="0" y="2992899"/>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7" id="7"/>
          <p:cNvSpPr/>
          <p:nvPr/>
        </p:nvSpPr>
        <p:spPr>
          <a:xfrm flipH="true" flipV="false" rot="0">
            <a:off x="16791551" y="-1038481"/>
            <a:ext cx="2992899" cy="2992899"/>
          </a:xfrm>
          <a:custGeom>
            <a:avLst/>
            <a:gdLst/>
            <a:ahLst/>
            <a:cxnLst/>
            <a:rect r="r" b="b" t="t" l="l"/>
            <a:pathLst>
              <a:path h="2992899" w="2992899">
                <a:moveTo>
                  <a:pt x="2992898" y="0"/>
                </a:moveTo>
                <a:lnTo>
                  <a:pt x="0" y="0"/>
                </a:lnTo>
                <a:lnTo>
                  <a:pt x="0" y="2992899"/>
                </a:lnTo>
                <a:lnTo>
                  <a:pt x="2992898" y="2992899"/>
                </a:lnTo>
                <a:lnTo>
                  <a:pt x="2992898"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8" id="8"/>
          <p:cNvSpPr/>
          <p:nvPr/>
        </p:nvSpPr>
        <p:spPr>
          <a:xfrm flipH="false" flipV="false" rot="-10800000">
            <a:off x="16560505" y="8332959"/>
            <a:ext cx="2992899" cy="2992899"/>
          </a:xfrm>
          <a:custGeom>
            <a:avLst/>
            <a:gdLst/>
            <a:ahLst/>
            <a:cxnLst/>
            <a:rect r="r" b="b" t="t" l="l"/>
            <a:pathLst>
              <a:path h="2992899" w="2992899">
                <a:moveTo>
                  <a:pt x="0" y="0"/>
                </a:moveTo>
                <a:lnTo>
                  <a:pt x="2992899" y="0"/>
                </a:lnTo>
                <a:lnTo>
                  <a:pt x="2992899" y="2992899"/>
                </a:lnTo>
                <a:lnTo>
                  <a:pt x="0" y="2992899"/>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9" id="9"/>
          <p:cNvSpPr/>
          <p:nvPr/>
        </p:nvSpPr>
        <p:spPr>
          <a:xfrm flipH="true" flipV="false" rot="-10800000">
            <a:off x="-1597133" y="8332959"/>
            <a:ext cx="2992899" cy="2992899"/>
          </a:xfrm>
          <a:custGeom>
            <a:avLst/>
            <a:gdLst/>
            <a:ahLst/>
            <a:cxnLst/>
            <a:rect r="r" b="b" t="t" l="l"/>
            <a:pathLst>
              <a:path h="2992899" w="2992899">
                <a:moveTo>
                  <a:pt x="2992899" y="0"/>
                </a:moveTo>
                <a:lnTo>
                  <a:pt x="0" y="0"/>
                </a:lnTo>
                <a:lnTo>
                  <a:pt x="0" y="2992899"/>
                </a:lnTo>
                <a:lnTo>
                  <a:pt x="2992899" y="2992899"/>
                </a:lnTo>
                <a:lnTo>
                  <a:pt x="2992899"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10" id="10"/>
          <p:cNvSpPr/>
          <p:nvPr/>
        </p:nvSpPr>
        <p:spPr>
          <a:xfrm flipH="true" flipV="false" rot="-10800000">
            <a:off x="10580266" y="5932520"/>
            <a:ext cx="4647136" cy="778395"/>
          </a:xfrm>
          <a:custGeom>
            <a:avLst/>
            <a:gdLst/>
            <a:ahLst/>
            <a:cxnLst/>
            <a:rect r="r" b="b" t="t" l="l"/>
            <a:pathLst>
              <a:path h="778395" w="4647136">
                <a:moveTo>
                  <a:pt x="4647136" y="0"/>
                </a:moveTo>
                <a:lnTo>
                  <a:pt x="0" y="0"/>
                </a:lnTo>
                <a:lnTo>
                  <a:pt x="0" y="778395"/>
                </a:lnTo>
                <a:lnTo>
                  <a:pt x="4647136" y="778395"/>
                </a:lnTo>
                <a:lnTo>
                  <a:pt x="4647136"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11" id="11"/>
          <p:cNvSpPr/>
          <p:nvPr/>
        </p:nvSpPr>
        <p:spPr>
          <a:xfrm flipH="false" flipV="true" rot="-10800000">
            <a:off x="3060598" y="3603980"/>
            <a:ext cx="4647136" cy="778395"/>
          </a:xfrm>
          <a:custGeom>
            <a:avLst/>
            <a:gdLst/>
            <a:ahLst/>
            <a:cxnLst/>
            <a:rect r="r" b="b" t="t" l="l"/>
            <a:pathLst>
              <a:path h="778395" w="4647136">
                <a:moveTo>
                  <a:pt x="0" y="778395"/>
                </a:moveTo>
                <a:lnTo>
                  <a:pt x="4647136" y="778395"/>
                </a:lnTo>
                <a:lnTo>
                  <a:pt x="4647136" y="0"/>
                </a:lnTo>
                <a:lnTo>
                  <a:pt x="0" y="0"/>
                </a:lnTo>
                <a:lnTo>
                  <a:pt x="0" y="778395"/>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12" id="12"/>
          <p:cNvSpPr/>
          <p:nvPr/>
        </p:nvSpPr>
        <p:spPr>
          <a:xfrm flipH="false" flipV="false" rot="0">
            <a:off x="185225" y="296308"/>
            <a:ext cx="1686949" cy="1283956"/>
          </a:xfrm>
          <a:custGeom>
            <a:avLst/>
            <a:gdLst/>
            <a:ahLst/>
            <a:cxnLst/>
            <a:rect r="r" b="b" t="t" l="l"/>
            <a:pathLst>
              <a:path h="1283956" w="1686949">
                <a:moveTo>
                  <a:pt x="0" y="0"/>
                </a:moveTo>
                <a:lnTo>
                  <a:pt x="1686950" y="0"/>
                </a:lnTo>
                <a:lnTo>
                  <a:pt x="1686950" y="1283956"/>
                </a:lnTo>
                <a:lnTo>
                  <a:pt x="0" y="1283956"/>
                </a:lnTo>
                <a:lnTo>
                  <a:pt x="0" y="0"/>
                </a:lnTo>
                <a:close/>
              </a:path>
            </a:pathLst>
          </a:custGeom>
          <a:blipFill>
            <a:blip r:embed="rId6"/>
            <a:stretch>
              <a:fillRect l="0" t="0" r="0" b="0"/>
            </a:stretch>
          </a:blipFill>
        </p:spPr>
      </p:sp>
    </p:spTree>
  </p:cSld>
  <p:clrMapOvr>
    <a:masterClrMapping/>
  </p:clrMapOvr>
</p:sld>
</file>

<file path=ppt/slides/slide18.xml><?xml version="1.0" encoding="utf-8"?>
<p:sld xmlns:p="http://schemas.openxmlformats.org/presentationml/2006/main" xmlns:a="http://schemas.openxmlformats.org/drawingml/2006/main" xmlns:r="http://schemas.openxmlformats.org/officeDocument/2006/relationships">
  <p:cSld>
    <p:bg>
      <p:bgPr>
        <a:solidFill>
          <a:srgbClr val="F5FFF9"/>
        </a:solidFill>
      </p:bgPr>
    </p:bg>
    <p:spTree>
      <p:nvGrpSpPr>
        <p:cNvPr id="1" name=""/>
        <p:cNvGrpSpPr/>
        <p:nvPr/>
      </p:nvGrpSpPr>
      <p:grpSpPr>
        <a:xfrm>
          <a:off x="0" y="0"/>
          <a:ext cx="0" cy="0"/>
          <a:chOff x="0" y="0"/>
          <a:chExt cx="0" cy="0"/>
        </a:xfrm>
      </p:grpSpPr>
      <p:grpSp>
        <p:nvGrpSpPr>
          <p:cNvPr name="Group 2" id="2"/>
          <p:cNvGrpSpPr/>
          <p:nvPr/>
        </p:nvGrpSpPr>
        <p:grpSpPr>
          <a:xfrm rot="9405415">
            <a:off x="-2579979" y="7012408"/>
            <a:ext cx="5159957" cy="5159957"/>
            <a:chOff x="0" y="0"/>
            <a:chExt cx="812800" cy="812800"/>
          </a:xfrm>
        </p:grpSpPr>
        <p:sp>
          <p:nvSpPr>
            <p:cNvPr name="Freeform 3" id="3"/>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true">
              <a:gsLst>
                <a:gs pos="0">
                  <a:srgbClr val="9FC4AE">
                    <a:alpha val="66000"/>
                  </a:srgbClr>
                </a:gs>
                <a:gs pos="100000">
                  <a:srgbClr val="FFFFFF">
                    <a:alpha val="66000"/>
                  </a:srgbClr>
                </a:gs>
              </a:gsLst>
              <a:lin ang="0"/>
            </a:gradFill>
          </p:spPr>
        </p:sp>
        <p:sp>
          <p:nvSpPr>
            <p:cNvPr name="TextBox 4" id="4"/>
            <p:cNvSpPr txBox="true"/>
            <p:nvPr/>
          </p:nvSpPr>
          <p:spPr>
            <a:xfrm>
              <a:off x="76200" y="28575"/>
              <a:ext cx="660400" cy="708025"/>
            </a:xfrm>
            <a:prstGeom prst="rect">
              <a:avLst/>
            </a:prstGeom>
          </p:spPr>
          <p:txBody>
            <a:bodyPr anchor="ctr" rtlCol="false" tIns="50800" lIns="50800" bIns="50800" rIns="50800"/>
            <a:lstStyle/>
            <a:p>
              <a:pPr algn="ctr">
                <a:lnSpc>
                  <a:spcPts val="2936"/>
                </a:lnSpc>
              </a:pPr>
            </a:p>
          </p:txBody>
        </p:sp>
      </p:grpSp>
      <p:sp>
        <p:nvSpPr>
          <p:cNvPr name="TextBox 5" id="5"/>
          <p:cNvSpPr txBox="true"/>
          <p:nvPr/>
        </p:nvSpPr>
        <p:spPr>
          <a:xfrm rot="0">
            <a:off x="5496646" y="109261"/>
            <a:ext cx="7294709" cy="946150"/>
          </a:xfrm>
          <a:prstGeom prst="rect">
            <a:avLst/>
          </a:prstGeom>
        </p:spPr>
        <p:txBody>
          <a:bodyPr anchor="t" rtlCol="false" tIns="0" lIns="0" bIns="0" rIns="0">
            <a:spAutoFit/>
          </a:bodyPr>
          <a:lstStyle/>
          <a:p>
            <a:pPr algn="ctr">
              <a:lnSpc>
                <a:spcPts val="7699"/>
              </a:lnSpc>
            </a:pPr>
            <a:r>
              <a:rPr lang="en-US" b="true" sz="5499">
                <a:solidFill>
                  <a:srgbClr val="457C5B"/>
                </a:solidFill>
                <a:latin typeface="Manifold Ultra-Bold"/>
                <a:ea typeface="Manifold Ultra-Bold"/>
                <a:cs typeface="Manifold Ultra-Bold"/>
                <a:sym typeface="Manifold Ultra-Bold"/>
              </a:rPr>
              <a:t>TECH STACK </a:t>
            </a:r>
          </a:p>
        </p:txBody>
      </p:sp>
      <p:grpSp>
        <p:nvGrpSpPr>
          <p:cNvPr name="Group 6" id="6"/>
          <p:cNvGrpSpPr/>
          <p:nvPr/>
        </p:nvGrpSpPr>
        <p:grpSpPr>
          <a:xfrm rot="1047160">
            <a:off x="14730658" y="4516008"/>
            <a:ext cx="5817847" cy="5817847"/>
            <a:chOff x="0" y="0"/>
            <a:chExt cx="812800" cy="812800"/>
          </a:xfrm>
        </p:grpSpPr>
        <p:sp>
          <p:nvSpPr>
            <p:cNvPr name="Freeform 7" id="7"/>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true">
              <a:gsLst>
                <a:gs pos="0">
                  <a:srgbClr val="9FC4AE">
                    <a:alpha val="66000"/>
                  </a:srgbClr>
                </a:gs>
                <a:gs pos="100000">
                  <a:srgbClr val="FFFFFF">
                    <a:alpha val="66000"/>
                  </a:srgbClr>
                </a:gs>
              </a:gsLst>
              <a:lin ang="0"/>
            </a:gradFill>
          </p:spPr>
        </p:sp>
        <p:sp>
          <p:nvSpPr>
            <p:cNvPr name="TextBox 8" id="8"/>
            <p:cNvSpPr txBox="true"/>
            <p:nvPr/>
          </p:nvSpPr>
          <p:spPr>
            <a:xfrm>
              <a:off x="76200" y="28575"/>
              <a:ext cx="660400" cy="708025"/>
            </a:xfrm>
            <a:prstGeom prst="rect">
              <a:avLst/>
            </a:prstGeom>
          </p:spPr>
          <p:txBody>
            <a:bodyPr anchor="ctr" rtlCol="false" tIns="50800" lIns="50800" bIns="50800" rIns="50800"/>
            <a:lstStyle/>
            <a:p>
              <a:pPr algn="ctr">
                <a:lnSpc>
                  <a:spcPts val="2936"/>
                </a:lnSpc>
              </a:pPr>
            </a:p>
          </p:txBody>
        </p:sp>
      </p:grpSp>
      <p:sp>
        <p:nvSpPr>
          <p:cNvPr name="Freeform 9" id="9"/>
          <p:cNvSpPr/>
          <p:nvPr/>
        </p:nvSpPr>
        <p:spPr>
          <a:xfrm flipH="false" flipV="true" rot="-10800000">
            <a:off x="1872175" y="543390"/>
            <a:ext cx="4647136" cy="778395"/>
          </a:xfrm>
          <a:custGeom>
            <a:avLst/>
            <a:gdLst/>
            <a:ahLst/>
            <a:cxnLst/>
            <a:rect r="r" b="b" t="t" l="l"/>
            <a:pathLst>
              <a:path h="778395" w="4647136">
                <a:moveTo>
                  <a:pt x="0" y="778396"/>
                </a:moveTo>
                <a:lnTo>
                  <a:pt x="4647136" y="778396"/>
                </a:lnTo>
                <a:lnTo>
                  <a:pt x="4647136" y="0"/>
                </a:lnTo>
                <a:lnTo>
                  <a:pt x="0" y="0"/>
                </a:lnTo>
                <a:lnTo>
                  <a:pt x="0" y="778396"/>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10" id="10"/>
          <p:cNvSpPr/>
          <p:nvPr/>
        </p:nvSpPr>
        <p:spPr>
          <a:xfrm flipH="true" flipV="true" rot="-10800000">
            <a:off x="12976892" y="543390"/>
            <a:ext cx="4647136" cy="778395"/>
          </a:xfrm>
          <a:custGeom>
            <a:avLst/>
            <a:gdLst/>
            <a:ahLst/>
            <a:cxnLst/>
            <a:rect r="r" b="b" t="t" l="l"/>
            <a:pathLst>
              <a:path h="778395" w="4647136">
                <a:moveTo>
                  <a:pt x="4647136" y="778396"/>
                </a:moveTo>
                <a:lnTo>
                  <a:pt x="0" y="778396"/>
                </a:lnTo>
                <a:lnTo>
                  <a:pt x="0" y="0"/>
                </a:lnTo>
                <a:lnTo>
                  <a:pt x="4647136" y="0"/>
                </a:lnTo>
                <a:lnTo>
                  <a:pt x="4647136" y="778396"/>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11" id="11"/>
          <p:cNvSpPr/>
          <p:nvPr/>
        </p:nvSpPr>
        <p:spPr>
          <a:xfrm flipH="false" flipV="false" rot="0">
            <a:off x="-1964199" y="8207319"/>
            <a:ext cx="2992899" cy="2992899"/>
          </a:xfrm>
          <a:custGeom>
            <a:avLst/>
            <a:gdLst/>
            <a:ahLst/>
            <a:cxnLst/>
            <a:rect r="r" b="b" t="t" l="l"/>
            <a:pathLst>
              <a:path h="2992899" w="2992899">
                <a:moveTo>
                  <a:pt x="0" y="0"/>
                </a:moveTo>
                <a:lnTo>
                  <a:pt x="2992899" y="0"/>
                </a:lnTo>
                <a:lnTo>
                  <a:pt x="2992899" y="2992899"/>
                </a:lnTo>
                <a:lnTo>
                  <a:pt x="0" y="2992899"/>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12" id="12"/>
          <p:cNvSpPr/>
          <p:nvPr/>
        </p:nvSpPr>
        <p:spPr>
          <a:xfrm flipH="false" flipV="false" rot="0">
            <a:off x="17259300" y="7176496"/>
            <a:ext cx="2992899" cy="2992899"/>
          </a:xfrm>
          <a:custGeom>
            <a:avLst/>
            <a:gdLst/>
            <a:ahLst/>
            <a:cxnLst/>
            <a:rect r="r" b="b" t="t" l="l"/>
            <a:pathLst>
              <a:path h="2992899" w="2992899">
                <a:moveTo>
                  <a:pt x="0" y="0"/>
                </a:moveTo>
                <a:lnTo>
                  <a:pt x="2992899" y="0"/>
                </a:lnTo>
                <a:lnTo>
                  <a:pt x="2992899" y="2992899"/>
                </a:lnTo>
                <a:lnTo>
                  <a:pt x="0" y="2992899"/>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13" id="13"/>
          <p:cNvSpPr/>
          <p:nvPr/>
        </p:nvSpPr>
        <p:spPr>
          <a:xfrm flipH="false" flipV="false" rot="0">
            <a:off x="185225" y="296308"/>
            <a:ext cx="1686949" cy="1283956"/>
          </a:xfrm>
          <a:custGeom>
            <a:avLst/>
            <a:gdLst/>
            <a:ahLst/>
            <a:cxnLst/>
            <a:rect r="r" b="b" t="t" l="l"/>
            <a:pathLst>
              <a:path h="1283956" w="1686949">
                <a:moveTo>
                  <a:pt x="0" y="0"/>
                </a:moveTo>
                <a:lnTo>
                  <a:pt x="1686950" y="0"/>
                </a:lnTo>
                <a:lnTo>
                  <a:pt x="1686950" y="1283956"/>
                </a:lnTo>
                <a:lnTo>
                  <a:pt x="0" y="1283956"/>
                </a:lnTo>
                <a:lnTo>
                  <a:pt x="0" y="0"/>
                </a:lnTo>
                <a:close/>
              </a:path>
            </a:pathLst>
          </a:custGeom>
          <a:blipFill>
            <a:blip r:embed="rId6"/>
            <a:stretch>
              <a:fillRect l="0" t="0" r="0" b="0"/>
            </a:stretch>
          </a:blipFill>
        </p:spPr>
      </p:sp>
      <p:grpSp>
        <p:nvGrpSpPr>
          <p:cNvPr name="Group 14" id="14"/>
          <p:cNvGrpSpPr/>
          <p:nvPr/>
        </p:nvGrpSpPr>
        <p:grpSpPr>
          <a:xfrm rot="0">
            <a:off x="1028700" y="1727577"/>
            <a:ext cx="3641330" cy="7299382"/>
            <a:chOff x="0" y="0"/>
            <a:chExt cx="4855107" cy="9732509"/>
          </a:xfrm>
        </p:grpSpPr>
        <p:sp>
          <p:nvSpPr>
            <p:cNvPr name="Freeform 15" id="15"/>
            <p:cNvSpPr/>
            <p:nvPr/>
          </p:nvSpPr>
          <p:spPr>
            <a:xfrm flipH="false" flipV="false" rot="0">
              <a:off x="0" y="0"/>
              <a:ext cx="4855107" cy="9732509"/>
            </a:xfrm>
            <a:custGeom>
              <a:avLst/>
              <a:gdLst/>
              <a:ahLst/>
              <a:cxnLst/>
              <a:rect r="r" b="b" t="t" l="l"/>
              <a:pathLst>
                <a:path h="9732509" w="4855107">
                  <a:moveTo>
                    <a:pt x="42522" y="0"/>
                  </a:moveTo>
                  <a:lnTo>
                    <a:pt x="4812585" y="0"/>
                  </a:lnTo>
                  <a:cubicBezTo>
                    <a:pt x="4836069" y="0"/>
                    <a:pt x="4855107" y="19038"/>
                    <a:pt x="4855107" y="42522"/>
                  </a:cubicBezTo>
                  <a:lnTo>
                    <a:pt x="4855107" y="9689987"/>
                  </a:lnTo>
                  <a:cubicBezTo>
                    <a:pt x="4855107" y="9713471"/>
                    <a:pt x="4836069" y="9732509"/>
                    <a:pt x="4812585" y="9732509"/>
                  </a:cubicBezTo>
                  <a:lnTo>
                    <a:pt x="42522" y="9732509"/>
                  </a:lnTo>
                  <a:cubicBezTo>
                    <a:pt x="19038" y="9732509"/>
                    <a:pt x="0" y="9713471"/>
                    <a:pt x="0" y="9689987"/>
                  </a:cubicBezTo>
                  <a:lnTo>
                    <a:pt x="0" y="42522"/>
                  </a:lnTo>
                  <a:cubicBezTo>
                    <a:pt x="0" y="19038"/>
                    <a:pt x="19038" y="0"/>
                    <a:pt x="42522" y="0"/>
                  </a:cubicBezTo>
                  <a:close/>
                </a:path>
              </a:pathLst>
            </a:custGeom>
            <a:solidFill>
              <a:srgbClr val="457C5B"/>
            </a:solidFill>
            <a:ln w="9525" cap="sq">
              <a:solidFill>
                <a:srgbClr val="CBD5E1"/>
              </a:solidFill>
              <a:prstDash val="solid"/>
              <a:miter/>
            </a:ln>
          </p:spPr>
        </p:sp>
        <p:sp>
          <p:nvSpPr>
            <p:cNvPr name="TextBox 16" id="16"/>
            <p:cNvSpPr txBox="true"/>
            <p:nvPr/>
          </p:nvSpPr>
          <p:spPr>
            <a:xfrm>
              <a:off x="0" y="-38100"/>
              <a:ext cx="4855107" cy="9770609"/>
            </a:xfrm>
            <a:prstGeom prst="rect">
              <a:avLst/>
            </a:prstGeom>
          </p:spPr>
          <p:txBody>
            <a:bodyPr anchor="ctr" rtlCol="false" tIns="50800" lIns="50800" bIns="50800" rIns="50800"/>
            <a:lstStyle/>
            <a:p>
              <a:pPr algn="l">
                <a:lnSpc>
                  <a:spcPts val="1679"/>
                </a:lnSpc>
              </a:pPr>
            </a:p>
          </p:txBody>
        </p:sp>
      </p:grpSp>
      <p:grpSp>
        <p:nvGrpSpPr>
          <p:cNvPr name="Group 17" id="17"/>
          <p:cNvGrpSpPr/>
          <p:nvPr/>
        </p:nvGrpSpPr>
        <p:grpSpPr>
          <a:xfrm rot="0">
            <a:off x="6201012" y="1727577"/>
            <a:ext cx="11058288" cy="7299382"/>
            <a:chOff x="0" y="0"/>
            <a:chExt cx="14744384" cy="9732509"/>
          </a:xfrm>
        </p:grpSpPr>
        <p:sp>
          <p:nvSpPr>
            <p:cNvPr name="Freeform 18" id="18"/>
            <p:cNvSpPr/>
            <p:nvPr/>
          </p:nvSpPr>
          <p:spPr>
            <a:xfrm flipH="false" flipV="false" rot="0">
              <a:off x="0" y="0"/>
              <a:ext cx="14744384" cy="9732509"/>
            </a:xfrm>
            <a:custGeom>
              <a:avLst/>
              <a:gdLst/>
              <a:ahLst/>
              <a:cxnLst/>
              <a:rect r="r" b="b" t="t" l="l"/>
              <a:pathLst>
                <a:path h="9732509" w="14744384">
                  <a:moveTo>
                    <a:pt x="14002" y="0"/>
                  </a:moveTo>
                  <a:lnTo>
                    <a:pt x="14730381" y="0"/>
                  </a:lnTo>
                  <a:cubicBezTo>
                    <a:pt x="14734096" y="0"/>
                    <a:pt x="14737657" y="1475"/>
                    <a:pt x="14740283" y="4101"/>
                  </a:cubicBezTo>
                  <a:cubicBezTo>
                    <a:pt x="14742908" y="6727"/>
                    <a:pt x="14744384" y="10288"/>
                    <a:pt x="14744384" y="14002"/>
                  </a:cubicBezTo>
                  <a:lnTo>
                    <a:pt x="14744384" y="9718507"/>
                  </a:lnTo>
                  <a:cubicBezTo>
                    <a:pt x="14744384" y="9722221"/>
                    <a:pt x="14742908" y="9725782"/>
                    <a:pt x="14740283" y="9728408"/>
                  </a:cubicBezTo>
                  <a:cubicBezTo>
                    <a:pt x="14737657" y="9731034"/>
                    <a:pt x="14734096" y="9732509"/>
                    <a:pt x="14730381" y="9732509"/>
                  </a:cubicBezTo>
                  <a:lnTo>
                    <a:pt x="14002" y="9732509"/>
                  </a:lnTo>
                  <a:cubicBezTo>
                    <a:pt x="10288" y="9732509"/>
                    <a:pt x="6727" y="9731034"/>
                    <a:pt x="4101" y="9728408"/>
                  </a:cubicBezTo>
                  <a:cubicBezTo>
                    <a:pt x="1475" y="9725782"/>
                    <a:pt x="0" y="9722221"/>
                    <a:pt x="0" y="9718507"/>
                  </a:cubicBezTo>
                  <a:lnTo>
                    <a:pt x="0" y="14002"/>
                  </a:lnTo>
                  <a:cubicBezTo>
                    <a:pt x="0" y="10288"/>
                    <a:pt x="1475" y="6727"/>
                    <a:pt x="4101" y="4101"/>
                  </a:cubicBezTo>
                  <a:cubicBezTo>
                    <a:pt x="6727" y="1475"/>
                    <a:pt x="10288" y="0"/>
                    <a:pt x="14002" y="0"/>
                  </a:cubicBezTo>
                  <a:close/>
                </a:path>
              </a:pathLst>
            </a:custGeom>
            <a:solidFill>
              <a:srgbClr val="457C5B"/>
            </a:solidFill>
            <a:ln w="9525" cap="sq">
              <a:solidFill>
                <a:srgbClr val="CBD5E1"/>
              </a:solidFill>
              <a:prstDash val="solid"/>
              <a:miter/>
            </a:ln>
          </p:spPr>
        </p:sp>
        <p:sp>
          <p:nvSpPr>
            <p:cNvPr name="TextBox 19" id="19"/>
            <p:cNvSpPr txBox="true"/>
            <p:nvPr/>
          </p:nvSpPr>
          <p:spPr>
            <a:xfrm>
              <a:off x="0" y="-38100"/>
              <a:ext cx="14744384" cy="9770609"/>
            </a:xfrm>
            <a:prstGeom prst="rect">
              <a:avLst/>
            </a:prstGeom>
          </p:spPr>
          <p:txBody>
            <a:bodyPr anchor="ctr" rtlCol="false" tIns="50800" lIns="50800" bIns="50800" rIns="50800"/>
            <a:lstStyle/>
            <a:p>
              <a:pPr algn="l">
                <a:lnSpc>
                  <a:spcPts val="1679"/>
                </a:lnSpc>
              </a:pPr>
            </a:p>
          </p:txBody>
        </p:sp>
      </p:grpSp>
      <p:grpSp>
        <p:nvGrpSpPr>
          <p:cNvPr name="Group 20" id="20"/>
          <p:cNvGrpSpPr/>
          <p:nvPr/>
        </p:nvGrpSpPr>
        <p:grpSpPr>
          <a:xfrm rot="0">
            <a:off x="1306315" y="2883058"/>
            <a:ext cx="3086100" cy="894423"/>
            <a:chOff x="0" y="0"/>
            <a:chExt cx="812800" cy="235568"/>
          </a:xfrm>
        </p:grpSpPr>
        <p:sp>
          <p:nvSpPr>
            <p:cNvPr name="Freeform 21" id="21"/>
            <p:cNvSpPr/>
            <p:nvPr/>
          </p:nvSpPr>
          <p:spPr>
            <a:xfrm flipH="false" flipV="false" rot="0">
              <a:off x="0" y="0"/>
              <a:ext cx="812800" cy="235568"/>
            </a:xfrm>
            <a:custGeom>
              <a:avLst/>
              <a:gdLst/>
              <a:ahLst/>
              <a:cxnLst/>
              <a:rect r="r" b="b" t="t" l="l"/>
              <a:pathLst>
                <a:path h="235568" w="812800">
                  <a:moveTo>
                    <a:pt x="35121" y="0"/>
                  </a:moveTo>
                  <a:lnTo>
                    <a:pt x="777679" y="0"/>
                  </a:lnTo>
                  <a:cubicBezTo>
                    <a:pt x="797076" y="0"/>
                    <a:pt x="812800" y="15724"/>
                    <a:pt x="812800" y="35121"/>
                  </a:cubicBezTo>
                  <a:lnTo>
                    <a:pt x="812800" y="200447"/>
                  </a:lnTo>
                  <a:cubicBezTo>
                    <a:pt x="812800" y="209762"/>
                    <a:pt x="809100" y="218695"/>
                    <a:pt x="802513" y="225282"/>
                  </a:cubicBezTo>
                  <a:cubicBezTo>
                    <a:pt x="795927" y="231868"/>
                    <a:pt x="786994" y="235568"/>
                    <a:pt x="777679" y="235568"/>
                  </a:cubicBezTo>
                  <a:lnTo>
                    <a:pt x="35121" y="235568"/>
                  </a:lnTo>
                  <a:cubicBezTo>
                    <a:pt x="15724" y="235568"/>
                    <a:pt x="0" y="219844"/>
                    <a:pt x="0" y="200447"/>
                  </a:cubicBezTo>
                  <a:lnTo>
                    <a:pt x="0" y="35121"/>
                  </a:lnTo>
                  <a:cubicBezTo>
                    <a:pt x="0" y="15724"/>
                    <a:pt x="15724" y="0"/>
                    <a:pt x="35121" y="0"/>
                  </a:cubicBezTo>
                  <a:close/>
                </a:path>
              </a:pathLst>
            </a:custGeom>
            <a:solidFill>
              <a:srgbClr val="8AB79C"/>
            </a:solidFill>
          </p:spPr>
        </p:sp>
        <p:sp>
          <p:nvSpPr>
            <p:cNvPr name="TextBox 22" id="22"/>
            <p:cNvSpPr txBox="true"/>
            <p:nvPr/>
          </p:nvSpPr>
          <p:spPr>
            <a:xfrm>
              <a:off x="0" y="-57150"/>
              <a:ext cx="812800" cy="292718"/>
            </a:xfrm>
            <a:prstGeom prst="rect">
              <a:avLst/>
            </a:prstGeom>
          </p:spPr>
          <p:txBody>
            <a:bodyPr anchor="ctr" rtlCol="false" tIns="50800" lIns="50800" bIns="50800" rIns="50800"/>
            <a:lstStyle/>
            <a:p>
              <a:pPr algn="ctr">
                <a:lnSpc>
                  <a:spcPts val="3216"/>
                </a:lnSpc>
              </a:pPr>
              <a:r>
                <a:rPr lang="en-US" b="true" sz="2297">
                  <a:solidFill>
                    <a:srgbClr val="F5FFF9"/>
                  </a:solidFill>
                  <a:latin typeface="Manifold Bold"/>
                  <a:ea typeface="Manifold Bold"/>
                  <a:cs typeface="Manifold Bold"/>
                  <a:sym typeface="Manifold Bold"/>
                </a:rPr>
                <a:t>Frontend</a:t>
              </a:r>
            </a:p>
          </p:txBody>
        </p:sp>
      </p:grpSp>
      <p:grpSp>
        <p:nvGrpSpPr>
          <p:cNvPr name="Group 23" id="23"/>
          <p:cNvGrpSpPr/>
          <p:nvPr/>
        </p:nvGrpSpPr>
        <p:grpSpPr>
          <a:xfrm rot="0">
            <a:off x="1306315" y="3886344"/>
            <a:ext cx="3086100" cy="894423"/>
            <a:chOff x="0" y="0"/>
            <a:chExt cx="812800" cy="235568"/>
          </a:xfrm>
        </p:grpSpPr>
        <p:sp>
          <p:nvSpPr>
            <p:cNvPr name="Freeform 24" id="24"/>
            <p:cNvSpPr/>
            <p:nvPr/>
          </p:nvSpPr>
          <p:spPr>
            <a:xfrm flipH="false" flipV="false" rot="0">
              <a:off x="0" y="0"/>
              <a:ext cx="812800" cy="235568"/>
            </a:xfrm>
            <a:custGeom>
              <a:avLst/>
              <a:gdLst/>
              <a:ahLst/>
              <a:cxnLst/>
              <a:rect r="r" b="b" t="t" l="l"/>
              <a:pathLst>
                <a:path h="235568" w="812800">
                  <a:moveTo>
                    <a:pt x="35121" y="0"/>
                  </a:moveTo>
                  <a:lnTo>
                    <a:pt x="777679" y="0"/>
                  </a:lnTo>
                  <a:cubicBezTo>
                    <a:pt x="797076" y="0"/>
                    <a:pt x="812800" y="15724"/>
                    <a:pt x="812800" y="35121"/>
                  </a:cubicBezTo>
                  <a:lnTo>
                    <a:pt x="812800" y="200447"/>
                  </a:lnTo>
                  <a:cubicBezTo>
                    <a:pt x="812800" y="209762"/>
                    <a:pt x="809100" y="218695"/>
                    <a:pt x="802513" y="225282"/>
                  </a:cubicBezTo>
                  <a:cubicBezTo>
                    <a:pt x="795927" y="231868"/>
                    <a:pt x="786994" y="235568"/>
                    <a:pt x="777679" y="235568"/>
                  </a:cubicBezTo>
                  <a:lnTo>
                    <a:pt x="35121" y="235568"/>
                  </a:lnTo>
                  <a:cubicBezTo>
                    <a:pt x="15724" y="235568"/>
                    <a:pt x="0" y="219844"/>
                    <a:pt x="0" y="200447"/>
                  </a:cubicBezTo>
                  <a:lnTo>
                    <a:pt x="0" y="35121"/>
                  </a:lnTo>
                  <a:cubicBezTo>
                    <a:pt x="0" y="15724"/>
                    <a:pt x="15724" y="0"/>
                    <a:pt x="35121" y="0"/>
                  </a:cubicBezTo>
                  <a:close/>
                </a:path>
              </a:pathLst>
            </a:custGeom>
            <a:solidFill>
              <a:srgbClr val="8AB79C"/>
            </a:solidFill>
          </p:spPr>
        </p:sp>
        <p:sp>
          <p:nvSpPr>
            <p:cNvPr name="TextBox 25" id="25"/>
            <p:cNvSpPr txBox="true"/>
            <p:nvPr/>
          </p:nvSpPr>
          <p:spPr>
            <a:xfrm>
              <a:off x="0" y="-57150"/>
              <a:ext cx="812800" cy="292718"/>
            </a:xfrm>
            <a:prstGeom prst="rect">
              <a:avLst/>
            </a:prstGeom>
          </p:spPr>
          <p:txBody>
            <a:bodyPr anchor="ctr" rtlCol="false" tIns="50800" lIns="50800" bIns="50800" rIns="50800"/>
            <a:lstStyle/>
            <a:p>
              <a:pPr algn="ctr">
                <a:lnSpc>
                  <a:spcPts val="3216"/>
                </a:lnSpc>
              </a:pPr>
              <a:r>
                <a:rPr lang="en-US" b="true" sz="2297">
                  <a:solidFill>
                    <a:srgbClr val="F5FFF9"/>
                  </a:solidFill>
                  <a:latin typeface="Manifold Bold"/>
                  <a:ea typeface="Manifold Bold"/>
                  <a:cs typeface="Manifold Bold"/>
                  <a:sym typeface="Manifold Bold"/>
                </a:rPr>
                <a:t>Backend &amp; Database</a:t>
              </a:r>
            </a:p>
          </p:txBody>
        </p:sp>
      </p:grpSp>
      <p:grpSp>
        <p:nvGrpSpPr>
          <p:cNvPr name="Group 26" id="26"/>
          <p:cNvGrpSpPr/>
          <p:nvPr/>
        </p:nvGrpSpPr>
        <p:grpSpPr>
          <a:xfrm rot="0">
            <a:off x="1306315" y="4892349"/>
            <a:ext cx="3086100" cy="894423"/>
            <a:chOff x="0" y="0"/>
            <a:chExt cx="812800" cy="235568"/>
          </a:xfrm>
        </p:grpSpPr>
        <p:sp>
          <p:nvSpPr>
            <p:cNvPr name="Freeform 27" id="27"/>
            <p:cNvSpPr/>
            <p:nvPr/>
          </p:nvSpPr>
          <p:spPr>
            <a:xfrm flipH="false" flipV="false" rot="0">
              <a:off x="0" y="0"/>
              <a:ext cx="812800" cy="235568"/>
            </a:xfrm>
            <a:custGeom>
              <a:avLst/>
              <a:gdLst/>
              <a:ahLst/>
              <a:cxnLst/>
              <a:rect r="r" b="b" t="t" l="l"/>
              <a:pathLst>
                <a:path h="235568" w="812800">
                  <a:moveTo>
                    <a:pt x="35121" y="0"/>
                  </a:moveTo>
                  <a:lnTo>
                    <a:pt x="777679" y="0"/>
                  </a:lnTo>
                  <a:cubicBezTo>
                    <a:pt x="797076" y="0"/>
                    <a:pt x="812800" y="15724"/>
                    <a:pt x="812800" y="35121"/>
                  </a:cubicBezTo>
                  <a:lnTo>
                    <a:pt x="812800" y="200447"/>
                  </a:lnTo>
                  <a:cubicBezTo>
                    <a:pt x="812800" y="209762"/>
                    <a:pt x="809100" y="218695"/>
                    <a:pt x="802513" y="225282"/>
                  </a:cubicBezTo>
                  <a:cubicBezTo>
                    <a:pt x="795927" y="231868"/>
                    <a:pt x="786994" y="235568"/>
                    <a:pt x="777679" y="235568"/>
                  </a:cubicBezTo>
                  <a:lnTo>
                    <a:pt x="35121" y="235568"/>
                  </a:lnTo>
                  <a:cubicBezTo>
                    <a:pt x="15724" y="235568"/>
                    <a:pt x="0" y="219844"/>
                    <a:pt x="0" y="200447"/>
                  </a:cubicBezTo>
                  <a:lnTo>
                    <a:pt x="0" y="35121"/>
                  </a:lnTo>
                  <a:cubicBezTo>
                    <a:pt x="0" y="15724"/>
                    <a:pt x="15724" y="0"/>
                    <a:pt x="35121" y="0"/>
                  </a:cubicBezTo>
                  <a:close/>
                </a:path>
              </a:pathLst>
            </a:custGeom>
            <a:solidFill>
              <a:srgbClr val="8AB79C"/>
            </a:solidFill>
          </p:spPr>
        </p:sp>
        <p:sp>
          <p:nvSpPr>
            <p:cNvPr name="TextBox 28" id="28"/>
            <p:cNvSpPr txBox="true"/>
            <p:nvPr/>
          </p:nvSpPr>
          <p:spPr>
            <a:xfrm>
              <a:off x="0" y="-57150"/>
              <a:ext cx="812800" cy="292718"/>
            </a:xfrm>
            <a:prstGeom prst="rect">
              <a:avLst/>
            </a:prstGeom>
          </p:spPr>
          <p:txBody>
            <a:bodyPr anchor="ctr" rtlCol="false" tIns="50800" lIns="50800" bIns="50800" rIns="50800"/>
            <a:lstStyle/>
            <a:p>
              <a:pPr algn="ctr">
                <a:lnSpc>
                  <a:spcPts val="3216"/>
                </a:lnSpc>
              </a:pPr>
              <a:r>
                <a:rPr lang="en-US" b="true" sz="2297">
                  <a:solidFill>
                    <a:srgbClr val="F5FFF9"/>
                  </a:solidFill>
                  <a:latin typeface="Manifold Bold"/>
                  <a:ea typeface="Manifold Bold"/>
                  <a:cs typeface="Manifold Bold"/>
                  <a:sym typeface="Manifold Bold"/>
                </a:rPr>
                <a:t>LLM &amp; Finetuning</a:t>
              </a:r>
            </a:p>
          </p:txBody>
        </p:sp>
      </p:grpSp>
      <p:grpSp>
        <p:nvGrpSpPr>
          <p:cNvPr name="Group 29" id="29"/>
          <p:cNvGrpSpPr/>
          <p:nvPr/>
        </p:nvGrpSpPr>
        <p:grpSpPr>
          <a:xfrm rot="0">
            <a:off x="1306315" y="5891547"/>
            <a:ext cx="3086100" cy="929107"/>
            <a:chOff x="0" y="0"/>
            <a:chExt cx="812800" cy="244703"/>
          </a:xfrm>
        </p:grpSpPr>
        <p:sp>
          <p:nvSpPr>
            <p:cNvPr name="Freeform 30" id="30"/>
            <p:cNvSpPr/>
            <p:nvPr/>
          </p:nvSpPr>
          <p:spPr>
            <a:xfrm flipH="false" flipV="false" rot="0">
              <a:off x="0" y="0"/>
              <a:ext cx="812800" cy="244703"/>
            </a:xfrm>
            <a:custGeom>
              <a:avLst/>
              <a:gdLst/>
              <a:ahLst/>
              <a:cxnLst/>
              <a:rect r="r" b="b" t="t" l="l"/>
              <a:pathLst>
                <a:path h="244703" w="812800">
                  <a:moveTo>
                    <a:pt x="35121" y="0"/>
                  </a:moveTo>
                  <a:lnTo>
                    <a:pt x="777679" y="0"/>
                  </a:lnTo>
                  <a:cubicBezTo>
                    <a:pt x="797076" y="0"/>
                    <a:pt x="812800" y="15724"/>
                    <a:pt x="812800" y="35121"/>
                  </a:cubicBezTo>
                  <a:lnTo>
                    <a:pt x="812800" y="209582"/>
                  </a:lnTo>
                  <a:cubicBezTo>
                    <a:pt x="812800" y="218897"/>
                    <a:pt x="809100" y="227830"/>
                    <a:pt x="802513" y="234416"/>
                  </a:cubicBezTo>
                  <a:cubicBezTo>
                    <a:pt x="795927" y="241003"/>
                    <a:pt x="786994" y="244703"/>
                    <a:pt x="777679" y="244703"/>
                  </a:cubicBezTo>
                  <a:lnTo>
                    <a:pt x="35121" y="244703"/>
                  </a:lnTo>
                  <a:cubicBezTo>
                    <a:pt x="15724" y="244703"/>
                    <a:pt x="0" y="228979"/>
                    <a:pt x="0" y="209582"/>
                  </a:cubicBezTo>
                  <a:lnTo>
                    <a:pt x="0" y="35121"/>
                  </a:lnTo>
                  <a:cubicBezTo>
                    <a:pt x="0" y="15724"/>
                    <a:pt x="15724" y="0"/>
                    <a:pt x="35121" y="0"/>
                  </a:cubicBezTo>
                  <a:close/>
                </a:path>
              </a:pathLst>
            </a:custGeom>
            <a:solidFill>
              <a:srgbClr val="8AB79C"/>
            </a:solidFill>
          </p:spPr>
        </p:sp>
        <p:sp>
          <p:nvSpPr>
            <p:cNvPr name="TextBox 31" id="31"/>
            <p:cNvSpPr txBox="true"/>
            <p:nvPr/>
          </p:nvSpPr>
          <p:spPr>
            <a:xfrm>
              <a:off x="0" y="-57150"/>
              <a:ext cx="812800" cy="301853"/>
            </a:xfrm>
            <a:prstGeom prst="rect">
              <a:avLst/>
            </a:prstGeom>
          </p:spPr>
          <p:txBody>
            <a:bodyPr anchor="ctr" rtlCol="false" tIns="50800" lIns="50800" bIns="50800" rIns="50800"/>
            <a:lstStyle/>
            <a:p>
              <a:pPr algn="ctr">
                <a:lnSpc>
                  <a:spcPts val="3216"/>
                </a:lnSpc>
              </a:pPr>
              <a:r>
                <a:rPr lang="en-US" b="true" sz="2297">
                  <a:solidFill>
                    <a:srgbClr val="F5FFF9"/>
                  </a:solidFill>
                  <a:latin typeface="Manifold Bold"/>
                  <a:ea typeface="Manifold Bold"/>
                  <a:cs typeface="Manifold Bold"/>
                  <a:sym typeface="Manifold Bold"/>
                </a:rPr>
                <a:t>NLP &amp; Feature Detection</a:t>
              </a:r>
            </a:p>
          </p:txBody>
        </p:sp>
      </p:grpSp>
      <p:grpSp>
        <p:nvGrpSpPr>
          <p:cNvPr name="Group 32" id="32"/>
          <p:cNvGrpSpPr/>
          <p:nvPr/>
        </p:nvGrpSpPr>
        <p:grpSpPr>
          <a:xfrm rot="0">
            <a:off x="1306315" y="6909795"/>
            <a:ext cx="3086100" cy="894423"/>
            <a:chOff x="0" y="0"/>
            <a:chExt cx="812800" cy="235568"/>
          </a:xfrm>
        </p:grpSpPr>
        <p:sp>
          <p:nvSpPr>
            <p:cNvPr name="Freeform 33" id="33"/>
            <p:cNvSpPr/>
            <p:nvPr/>
          </p:nvSpPr>
          <p:spPr>
            <a:xfrm flipH="false" flipV="false" rot="0">
              <a:off x="0" y="0"/>
              <a:ext cx="812800" cy="235568"/>
            </a:xfrm>
            <a:custGeom>
              <a:avLst/>
              <a:gdLst/>
              <a:ahLst/>
              <a:cxnLst/>
              <a:rect r="r" b="b" t="t" l="l"/>
              <a:pathLst>
                <a:path h="235568" w="812800">
                  <a:moveTo>
                    <a:pt x="35121" y="0"/>
                  </a:moveTo>
                  <a:lnTo>
                    <a:pt x="777679" y="0"/>
                  </a:lnTo>
                  <a:cubicBezTo>
                    <a:pt x="797076" y="0"/>
                    <a:pt x="812800" y="15724"/>
                    <a:pt x="812800" y="35121"/>
                  </a:cubicBezTo>
                  <a:lnTo>
                    <a:pt x="812800" y="200447"/>
                  </a:lnTo>
                  <a:cubicBezTo>
                    <a:pt x="812800" y="209762"/>
                    <a:pt x="809100" y="218695"/>
                    <a:pt x="802513" y="225282"/>
                  </a:cubicBezTo>
                  <a:cubicBezTo>
                    <a:pt x="795927" y="231868"/>
                    <a:pt x="786994" y="235568"/>
                    <a:pt x="777679" y="235568"/>
                  </a:cubicBezTo>
                  <a:lnTo>
                    <a:pt x="35121" y="235568"/>
                  </a:lnTo>
                  <a:cubicBezTo>
                    <a:pt x="15724" y="235568"/>
                    <a:pt x="0" y="219844"/>
                    <a:pt x="0" y="200447"/>
                  </a:cubicBezTo>
                  <a:lnTo>
                    <a:pt x="0" y="35121"/>
                  </a:lnTo>
                  <a:cubicBezTo>
                    <a:pt x="0" y="15724"/>
                    <a:pt x="15724" y="0"/>
                    <a:pt x="35121" y="0"/>
                  </a:cubicBezTo>
                  <a:close/>
                </a:path>
              </a:pathLst>
            </a:custGeom>
            <a:solidFill>
              <a:srgbClr val="8AB79C"/>
            </a:solidFill>
          </p:spPr>
        </p:sp>
        <p:sp>
          <p:nvSpPr>
            <p:cNvPr name="TextBox 34" id="34"/>
            <p:cNvSpPr txBox="true"/>
            <p:nvPr/>
          </p:nvSpPr>
          <p:spPr>
            <a:xfrm>
              <a:off x="0" y="-57150"/>
              <a:ext cx="812800" cy="292718"/>
            </a:xfrm>
            <a:prstGeom prst="rect">
              <a:avLst/>
            </a:prstGeom>
          </p:spPr>
          <p:txBody>
            <a:bodyPr anchor="ctr" rtlCol="false" tIns="50800" lIns="50800" bIns="50800" rIns="50800"/>
            <a:lstStyle/>
            <a:p>
              <a:pPr algn="ctr">
                <a:lnSpc>
                  <a:spcPts val="3216"/>
                </a:lnSpc>
              </a:pPr>
              <a:r>
                <a:rPr lang="en-US" b="true" sz="2297">
                  <a:solidFill>
                    <a:srgbClr val="F5FFF9"/>
                  </a:solidFill>
                  <a:latin typeface="Manifold Bold"/>
                  <a:ea typeface="Manifold Bold"/>
                  <a:cs typeface="Manifold Bold"/>
                  <a:sym typeface="Manifold Bold"/>
                </a:rPr>
                <a:t>Tokenization</a:t>
              </a:r>
            </a:p>
          </p:txBody>
        </p:sp>
      </p:grpSp>
      <p:grpSp>
        <p:nvGrpSpPr>
          <p:cNvPr name="Group 35" id="35"/>
          <p:cNvGrpSpPr/>
          <p:nvPr/>
        </p:nvGrpSpPr>
        <p:grpSpPr>
          <a:xfrm rot="0">
            <a:off x="1306315" y="7928043"/>
            <a:ext cx="3086100" cy="894423"/>
            <a:chOff x="0" y="0"/>
            <a:chExt cx="812800" cy="235568"/>
          </a:xfrm>
        </p:grpSpPr>
        <p:sp>
          <p:nvSpPr>
            <p:cNvPr name="Freeform 36" id="36"/>
            <p:cNvSpPr/>
            <p:nvPr/>
          </p:nvSpPr>
          <p:spPr>
            <a:xfrm flipH="false" flipV="false" rot="0">
              <a:off x="0" y="0"/>
              <a:ext cx="812800" cy="235568"/>
            </a:xfrm>
            <a:custGeom>
              <a:avLst/>
              <a:gdLst/>
              <a:ahLst/>
              <a:cxnLst/>
              <a:rect r="r" b="b" t="t" l="l"/>
              <a:pathLst>
                <a:path h="235568" w="812800">
                  <a:moveTo>
                    <a:pt x="35121" y="0"/>
                  </a:moveTo>
                  <a:lnTo>
                    <a:pt x="777679" y="0"/>
                  </a:lnTo>
                  <a:cubicBezTo>
                    <a:pt x="797076" y="0"/>
                    <a:pt x="812800" y="15724"/>
                    <a:pt x="812800" y="35121"/>
                  </a:cubicBezTo>
                  <a:lnTo>
                    <a:pt x="812800" y="200447"/>
                  </a:lnTo>
                  <a:cubicBezTo>
                    <a:pt x="812800" y="209762"/>
                    <a:pt x="809100" y="218695"/>
                    <a:pt x="802513" y="225282"/>
                  </a:cubicBezTo>
                  <a:cubicBezTo>
                    <a:pt x="795927" y="231868"/>
                    <a:pt x="786994" y="235568"/>
                    <a:pt x="777679" y="235568"/>
                  </a:cubicBezTo>
                  <a:lnTo>
                    <a:pt x="35121" y="235568"/>
                  </a:lnTo>
                  <a:cubicBezTo>
                    <a:pt x="15724" y="235568"/>
                    <a:pt x="0" y="219844"/>
                    <a:pt x="0" y="200447"/>
                  </a:cubicBezTo>
                  <a:lnTo>
                    <a:pt x="0" y="35121"/>
                  </a:lnTo>
                  <a:cubicBezTo>
                    <a:pt x="0" y="15724"/>
                    <a:pt x="15724" y="0"/>
                    <a:pt x="35121" y="0"/>
                  </a:cubicBezTo>
                  <a:close/>
                </a:path>
              </a:pathLst>
            </a:custGeom>
            <a:solidFill>
              <a:srgbClr val="8AB79C"/>
            </a:solidFill>
          </p:spPr>
        </p:sp>
        <p:sp>
          <p:nvSpPr>
            <p:cNvPr name="TextBox 37" id="37"/>
            <p:cNvSpPr txBox="true"/>
            <p:nvPr/>
          </p:nvSpPr>
          <p:spPr>
            <a:xfrm>
              <a:off x="0" y="-57150"/>
              <a:ext cx="812800" cy="292718"/>
            </a:xfrm>
            <a:prstGeom prst="rect">
              <a:avLst/>
            </a:prstGeom>
          </p:spPr>
          <p:txBody>
            <a:bodyPr anchor="ctr" rtlCol="false" tIns="50800" lIns="50800" bIns="50800" rIns="50800"/>
            <a:lstStyle/>
            <a:p>
              <a:pPr algn="ctr">
                <a:lnSpc>
                  <a:spcPts val="3216"/>
                </a:lnSpc>
              </a:pPr>
              <a:r>
                <a:rPr lang="en-US" b="true" sz="2297">
                  <a:solidFill>
                    <a:srgbClr val="F5FFF9"/>
                  </a:solidFill>
                  <a:latin typeface="Manifold Bold"/>
                  <a:ea typeface="Manifold Bold"/>
                  <a:cs typeface="Manifold Bold"/>
                  <a:sym typeface="Manifold Bold"/>
                </a:rPr>
                <a:t>Dataset</a:t>
              </a:r>
            </a:p>
          </p:txBody>
        </p:sp>
      </p:grpSp>
      <p:grpSp>
        <p:nvGrpSpPr>
          <p:cNvPr name="Group 38" id="38"/>
          <p:cNvGrpSpPr/>
          <p:nvPr/>
        </p:nvGrpSpPr>
        <p:grpSpPr>
          <a:xfrm rot="0">
            <a:off x="6774697" y="2883058"/>
            <a:ext cx="4738607" cy="894423"/>
            <a:chOff x="0" y="0"/>
            <a:chExt cx="1248028" cy="235568"/>
          </a:xfrm>
        </p:grpSpPr>
        <p:sp>
          <p:nvSpPr>
            <p:cNvPr name="Freeform 39" id="39"/>
            <p:cNvSpPr/>
            <p:nvPr/>
          </p:nvSpPr>
          <p:spPr>
            <a:xfrm flipH="false" flipV="false" rot="0">
              <a:off x="0" y="0"/>
              <a:ext cx="1248028" cy="235568"/>
            </a:xfrm>
            <a:custGeom>
              <a:avLst/>
              <a:gdLst/>
              <a:ahLst/>
              <a:cxnLst/>
              <a:rect r="r" b="b" t="t" l="l"/>
              <a:pathLst>
                <a:path h="235568" w="1248028">
                  <a:moveTo>
                    <a:pt x="22873" y="0"/>
                  </a:moveTo>
                  <a:lnTo>
                    <a:pt x="1225155" y="0"/>
                  </a:lnTo>
                  <a:cubicBezTo>
                    <a:pt x="1237787" y="0"/>
                    <a:pt x="1248028" y="10241"/>
                    <a:pt x="1248028" y="22873"/>
                  </a:cubicBezTo>
                  <a:lnTo>
                    <a:pt x="1248028" y="212695"/>
                  </a:lnTo>
                  <a:cubicBezTo>
                    <a:pt x="1248028" y="225328"/>
                    <a:pt x="1237787" y="235568"/>
                    <a:pt x="1225155" y="235568"/>
                  </a:cubicBezTo>
                  <a:lnTo>
                    <a:pt x="22873" y="235568"/>
                  </a:lnTo>
                  <a:cubicBezTo>
                    <a:pt x="10241" y="235568"/>
                    <a:pt x="0" y="225328"/>
                    <a:pt x="0" y="212695"/>
                  </a:cubicBezTo>
                  <a:lnTo>
                    <a:pt x="0" y="22873"/>
                  </a:lnTo>
                  <a:cubicBezTo>
                    <a:pt x="0" y="10241"/>
                    <a:pt x="10241" y="0"/>
                    <a:pt x="22873" y="0"/>
                  </a:cubicBezTo>
                  <a:close/>
                </a:path>
              </a:pathLst>
            </a:custGeom>
            <a:solidFill>
              <a:srgbClr val="8AB79C"/>
            </a:solidFill>
          </p:spPr>
        </p:sp>
        <p:sp>
          <p:nvSpPr>
            <p:cNvPr name="TextBox 40" id="40"/>
            <p:cNvSpPr txBox="true"/>
            <p:nvPr/>
          </p:nvSpPr>
          <p:spPr>
            <a:xfrm>
              <a:off x="0" y="-57150"/>
              <a:ext cx="1248028" cy="292718"/>
            </a:xfrm>
            <a:prstGeom prst="rect">
              <a:avLst/>
            </a:prstGeom>
          </p:spPr>
          <p:txBody>
            <a:bodyPr anchor="ctr" rtlCol="false" tIns="50800" lIns="50800" bIns="50800" rIns="50800"/>
            <a:lstStyle/>
            <a:p>
              <a:pPr algn="ctr">
                <a:lnSpc>
                  <a:spcPts val="3216"/>
                </a:lnSpc>
              </a:pPr>
              <a:r>
                <a:rPr lang="en-US" b="true" sz="2297">
                  <a:solidFill>
                    <a:srgbClr val="F5FFF9"/>
                  </a:solidFill>
                  <a:latin typeface="Manifold Bold"/>
                  <a:ea typeface="Manifold Bold"/>
                  <a:cs typeface="Manifold Bold"/>
                  <a:sym typeface="Manifold Bold"/>
                </a:rPr>
                <a:t>React</a:t>
              </a:r>
            </a:p>
          </p:txBody>
        </p:sp>
      </p:grpSp>
      <p:grpSp>
        <p:nvGrpSpPr>
          <p:cNvPr name="Group 41" id="41"/>
          <p:cNvGrpSpPr/>
          <p:nvPr/>
        </p:nvGrpSpPr>
        <p:grpSpPr>
          <a:xfrm rot="0">
            <a:off x="11946712" y="2883058"/>
            <a:ext cx="4738607" cy="894423"/>
            <a:chOff x="0" y="0"/>
            <a:chExt cx="1248028" cy="235568"/>
          </a:xfrm>
        </p:grpSpPr>
        <p:sp>
          <p:nvSpPr>
            <p:cNvPr name="Freeform 42" id="42"/>
            <p:cNvSpPr/>
            <p:nvPr/>
          </p:nvSpPr>
          <p:spPr>
            <a:xfrm flipH="false" flipV="false" rot="0">
              <a:off x="0" y="0"/>
              <a:ext cx="1248028" cy="235568"/>
            </a:xfrm>
            <a:custGeom>
              <a:avLst/>
              <a:gdLst/>
              <a:ahLst/>
              <a:cxnLst/>
              <a:rect r="r" b="b" t="t" l="l"/>
              <a:pathLst>
                <a:path h="235568" w="1248028">
                  <a:moveTo>
                    <a:pt x="22873" y="0"/>
                  </a:moveTo>
                  <a:lnTo>
                    <a:pt x="1225155" y="0"/>
                  </a:lnTo>
                  <a:cubicBezTo>
                    <a:pt x="1237787" y="0"/>
                    <a:pt x="1248028" y="10241"/>
                    <a:pt x="1248028" y="22873"/>
                  </a:cubicBezTo>
                  <a:lnTo>
                    <a:pt x="1248028" y="212695"/>
                  </a:lnTo>
                  <a:cubicBezTo>
                    <a:pt x="1248028" y="225328"/>
                    <a:pt x="1237787" y="235568"/>
                    <a:pt x="1225155" y="235568"/>
                  </a:cubicBezTo>
                  <a:lnTo>
                    <a:pt x="22873" y="235568"/>
                  </a:lnTo>
                  <a:cubicBezTo>
                    <a:pt x="10241" y="235568"/>
                    <a:pt x="0" y="225328"/>
                    <a:pt x="0" y="212695"/>
                  </a:cubicBezTo>
                  <a:lnTo>
                    <a:pt x="0" y="22873"/>
                  </a:lnTo>
                  <a:cubicBezTo>
                    <a:pt x="0" y="10241"/>
                    <a:pt x="10241" y="0"/>
                    <a:pt x="22873" y="0"/>
                  </a:cubicBezTo>
                  <a:close/>
                </a:path>
              </a:pathLst>
            </a:custGeom>
            <a:solidFill>
              <a:srgbClr val="8AB79C"/>
            </a:solidFill>
          </p:spPr>
        </p:sp>
        <p:sp>
          <p:nvSpPr>
            <p:cNvPr name="TextBox 43" id="43"/>
            <p:cNvSpPr txBox="true"/>
            <p:nvPr/>
          </p:nvSpPr>
          <p:spPr>
            <a:xfrm>
              <a:off x="0" y="-57150"/>
              <a:ext cx="1248028" cy="292718"/>
            </a:xfrm>
            <a:prstGeom prst="rect">
              <a:avLst/>
            </a:prstGeom>
          </p:spPr>
          <p:txBody>
            <a:bodyPr anchor="ctr" rtlCol="false" tIns="50800" lIns="50800" bIns="50800" rIns="50800"/>
            <a:lstStyle/>
            <a:p>
              <a:pPr algn="ctr">
                <a:lnSpc>
                  <a:spcPts val="3216"/>
                </a:lnSpc>
              </a:pPr>
              <a:r>
                <a:rPr lang="en-US" b="true" sz="2297">
                  <a:solidFill>
                    <a:srgbClr val="F5FFF9"/>
                  </a:solidFill>
                  <a:latin typeface="Manifold Bold"/>
                  <a:ea typeface="Manifold Bold"/>
                  <a:cs typeface="Manifold Bold"/>
                  <a:sym typeface="Manifold Bold"/>
                </a:rPr>
                <a:t>Tailwind CSS</a:t>
              </a:r>
            </a:p>
          </p:txBody>
        </p:sp>
      </p:grpSp>
      <p:grpSp>
        <p:nvGrpSpPr>
          <p:cNvPr name="Group 44" id="44"/>
          <p:cNvGrpSpPr/>
          <p:nvPr/>
        </p:nvGrpSpPr>
        <p:grpSpPr>
          <a:xfrm rot="0">
            <a:off x="6774697" y="3886344"/>
            <a:ext cx="4738607" cy="894423"/>
            <a:chOff x="0" y="0"/>
            <a:chExt cx="1248028" cy="235568"/>
          </a:xfrm>
        </p:grpSpPr>
        <p:sp>
          <p:nvSpPr>
            <p:cNvPr name="Freeform 45" id="45"/>
            <p:cNvSpPr/>
            <p:nvPr/>
          </p:nvSpPr>
          <p:spPr>
            <a:xfrm flipH="false" flipV="false" rot="0">
              <a:off x="0" y="0"/>
              <a:ext cx="1248028" cy="235568"/>
            </a:xfrm>
            <a:custGeom>
              <a:avLst/>
              <a:gdLst/>
              <a:ahLst/>
              <a:cxnLst/>
              <a:rect r="r" b="b" t="t" l="l"/>
              <a:pathLst>
                <a:path h="235568" w="1248028">
                  <a:moveTo>
                    <a:pt x="22873" y="0"/>
                  </a:moveTo>
                  <a:lnTo>
                    <a:pt x="1225155" y="0"/>
                  </a:lnTo>
                  <a:cubicBezTo>
                    <a:pt x="1237787" y="0"/>
                    <a:pt x="1248028" y="10241"/>
                    <a:pt x="1248028" y="22873"/>
                  </a:cubicBezTo>
                  <a:lnTo>
                    <a:pt x="1248028" y="212695"/>
                  </a:lnTo>
                  <a:cubicBezTo>
                    <a:pt x="1248028" y="225328"/>
                    <a:pt x="1237787" y="235568"/>
                    <a:pt x="1225155" y="235568"/>
                  </a:cubicBezTo>
                  <a:lnTo>
                    <a:pt x="22873" y="235568"/>
                  </a:lnTo>
                  <a:cubicBezTo>
                    <a:pt x="10241" y="235568"/>
                    <a:pt x="0" y="225328"/>
                    <a:pt x="0" y="212695"/>
                  </a:cubicBezTo>
                  <a:lnTo>
                    <a:pt x="0" y="22873"/>
                  </a:lnTo>
                  <a:cubicBezTo>
                    <a:pt x="0" y="10241"/>
                    <a:pt x="10241" y="0"/>
                    <a:pt x="22873" y="0"/>
                  </a:cubicBezTo>
                  <a:close/>
                </a:path>
              </a:pathLst>
            </a:custGeom>
            <a:solidFill>
              <a:srgbClr val="8AB79C"/>
            </a:solidFill>
          </p:spPr>
        </p:sp>
        <p:sp>
          <p:nvSpPr>
            <p:cNvPr name="TextBox 46" id="46"/>
            <p:cNvSpPr txBox="true"/>
            <p:nvPr/>
          </p:nvSpPr>
          <p:spPr>
            <a:xfrm>
              <a:off x="0" y="-57150"/>
              <a:ext cx="1248028" cy="292718"/>
            </a:xfrm>
            <a:prstGeom prst="rect">
              <a:avLst/>
            </a:prstGeom>
          </p:spPr>
          <p:txBody>
            <a:bodyPr anchor="ctr" rtlCol="false" tIns="50800" lIns="50800" bIns="50800" rIns="50800"/>
            <a:lstStyle/>
            <a:p>
              <a:pPr algn="ctr">
                <a:lnSpc>
                  <a:spcPts val="3216"/>
                </a:lnSpc>
              </a:pPr>
              <a:r>
                <a:rPr lang="en-US" b="true" sz="2297">
                  <a:solidFill>
                    <a:srgbClr val="F5FFF9"/>
                  </a:solidFill>
                  <a:latin typeface="Manifold Bold"/>
                  <a:ea typeface="Manifold Bold"/>
                  <a:cs typeface="Manifold Bold"/>
                  <a:sym typeface="Manifold Bold"/>
                </a:rPr>
                <a:t>Fast API</a:t>
              </a:r>
            </a:p>
          </p:txBody>
        </p:sp>
      </p:grpSp>
      <p:grpSp>
        <p:nvGrpSpPr>
          <p:cNvPr name="Group 47" id="47"/>
          <p:cNvGrpSpPr/>
          <p:nvPr/>
        </p:nvGrpSpPr>
        <p:grpSpPr>
          <a:xfrm rot="0">
            <a:off x="6774697" y="4889630"/>
            <a:ext cx="4738607" cy="894423"/>
            <a:chOff x="0" y="0"/>
            <a:chExt cx="1248028" cy="235568"/>
          </a:xfrm>
        </p:grpSpPr>
        <p:sp>
          <p:nvSpPr>
            <p:cNvPr name="Freeform 48" id="48"/>
            <p:cNvSpPr/>
            <p:nvPr/>
          </p:nvSpPr>
          <p:spPr>
            <a:xfrm flipH="false" flipV="false" rot="0">
              <a:off x="0" y="0"/>
              <a:ext cx="1248028" cy="235568"/>
            </a:xfrm>
            <a:custGeom>
              <a:avLst/>
              <a:gdLst/>
              <a:ahLst/>
              <a:cxnLst/>
              <a:rect r="r" b="b" t="t" l="l"/>
              <a:pathLst>
                <a:path h="235568" w="1248028">
                  <a:moveTo>
                    <a:pt x="22873" y="0"/>
                  </a:moveTo>
                  <a:lnTo>
                    <a:pt x="1225155" y="0"/>
                  </a:lnTo>
                  <a:cubicBezTo>
                    <a:pt x="1237787" y="0"/>
                    <a:pt x="1248028" y="10241"/>
                    <a:pt x="1248028" y="22873"/>
                  </a:cubicBezTo>
                  <a:lnTo>
                    <a:pt x="1248028" y="212695"/>
                  </a:lnTo>
                  <a:cubicBezTo>
                    <a:pt x="1248028" y="225328"/>
                    <a:pt x="1237787" y="235568"/>
                    <a:pt x="1225155" y="235568"/>
                  </a:cubicBezTo>
                  <a:lnTo>
                    <a:pt x="22873" y="235568"/>
                  </a:lnTo>
                  <a:cubicBezTo>
                    <a:pt x="10241" y="235568"/>
                    <a:pt x="0" y="225328"/>
                    <a:pt x="0" y="212695"/>
                  </a:cubicBezTo>
                  <a:lnTo>
                    <a:pt x="0" y="22873"/>
                  </a:lnTo>
                  <a:cubicBezTo>
                    <a:pt x="0" y="10241"/>
                    <a:pt x="10241" y="0"/>
                    <a:pt x="22873" y="0"/>
                  </a:cubicBezTo>
                  <a:close/>
                </a:path>
              </a:pathLst>
            </a:custGeom>
            <a:solidFill>
              <a:srgbClr val="8AB79C"/>
            </a:solidFill>
          </p:spPr>
        </p:sp>
        <p:sp>
          <p:nvSpPr>
            <p:cNvPr name="TextBox 49" id="49"/>
            <p:cNvSpPr txBox="true"/>
            <p:nvPr/>
          </p:nvSpPr>
          <p:spPr>
            <a:xfrm>
              <a:off x="0" y="-57150"/>
              <a:ext cx="1248028" cy="292718"/>
            </a:xfrm>
            <a:prstGeom prst="rect">
              <a:avLst/>
            </a:prstGeom>
          </p:spPr>
          <p:txBody>
            <a:bodyPr anchor="ctr" rtlCol="false" tIns="50800" lIns="50800" bIns="50800" rIns="50800"/>
            <a:lstStyle/>
            <a:p>
              <a:pPr algn="ctr">
                <a:lnSpc>
                  <a:spcPts val="3216"/>
                </a:lnSpc>
              </a:pPr>
              <a:r>
                <a:rPr lang="en-US" b="true" sz="2297">
                  <a:solidFill>
                    <a:srgbClr val="F5FFF9"/>
                  </a:solidFill>
                  <a:latin typeface="Manifold Bold"/>
                  <a:ea typeface="Manifold Bold"/>
                  <a:cs typeface="Manifold Bold"/>
                  <a:sym typeface="Manifold Bold"/>
                </a:rPr>
                <a:t>Hugging Face Transformer</a:t>
              </a:r>
            </a:p>
          </p:txBody>
        </p:sp>
      </p:grpSp>
      <p:grpSp>
        <p:nvGrpSpPr>
          <p:cNvPr name="Group 50" id="50"/>
          <p:cNvGrpSpPr/>
          <p:nvPr/>
        </p:nvGrpSpPr>
        <p:grpSpPr>
          <a:xfrm rot="0">
            <a:off x="6774697" y="5892915"/>
            <a:ext cx="4738607" cy="894423"/>
            <a:chOff x="0" y="0"/>
            <a:chExt cx="1248028" cy="235568"/>
          </a:xfrm>
        </p:grpSpPr>
        <p:sp>
          <p:nvSpPr>
            <p:cNvPr name="Freeform 51" id="51"/>
            <p:cNvSpPr/>
            <p:nvPr/>
          </p:nvSpPr>
          <p:spPr>
            <a:xfrm flipH="false" flipV="false" rot="0">
              <a:off x="0" y="0"/>
              <a:ext cx="1248028" cy="235568"/>
            </a:xfrm>
            <a:custGeom>
              <a:avLst/>
              <a:gdLst/>
              <a:ahLst/>
              <a:cxnLst/>
              <a:rect r="r" b="b" t="t" l="l"/>
              <a:pathLst>
                <a:path h="235568" w="1248028">
                  <a:moveTo>
                    <a:pt x="22873" y="0"/>
                  </a:moveTo>
                  <a:lnTo>
                    <a:pt x="1225155" y="0"/>
                  </a:lnTo>
                  <a:cubicBezTo>
                    <a:pt x="1237787" y="0"/>
                    <a:pt x="1248028" y="10241"/>
                    <a:pt x="1248028" y="22873"/>
                  </a:cubicBezTo>
                  <a:lnTo>
                    <a:pt x="1248028" y="212695"/>
                  </a:lnTo>
                  <a:cubicBezTo>
                    <a:pt x="1248028" y="225328"/>
                    <a:pt x="1237787" y="235568"/>
                    <a:pt x="1225155" y="235568"/>
                  </a:cubicBezTo>
                  <a:lnTo>
                    <a:pt x="22873" y="235568"/>
                  </a:lnTo>
                  <a:cubicBezTo>
                    <a:pt x="10241" y="235568"/>
                    <a:pt x="0" y="225328"/>
                    <a:pt x="0" y="212695"/>
                  </a:cubicBezTo>
                  <a:lnTo>
                    <a:pt x="0" y="22873"/>
                  </a:lnTo>
                  <a:cubicBezTo>
                    <a:pt x="0" y="10241"/>
                    <a:pt x="10241" y="0"/>
                    <a:pt x="22873" y="0"/>
                  </a:cubicBezTo>
                  <a:close/>
                </a:path>
              </a:pathLst>
            </a:custGeom>
            <a:solidFill>
              <a:srgbClr val="8AB79C"/>
            </a:solidFill>
          </p:spPr>
        </p:sp>
        <p:sp>
          <p:nvSpPr>
            <p:cNvPr name="TextBox 52" id="52"/>
            <p:cNvSpPr txBox="true"/>
            <p:nvPr/>
          </p:nvSpPr>
          <p:spPr>
            <a:xfrm>
              <a:off x="0" y="-57150"/>
              <a:ext cx="1248028" cy="292718"/>
            </a:xfrm>
            <a:prstGeom prst="rect">
              <a:avLst/>
            </a:prstGeom>
          </p:spPr>
          <p:txBody>
            <a:bodyPr anchor="ctr" rtlCol="false" tIns="50800" lIns="50800" bIns="50800" rIns="50800"/>
            <a:lstStyle/>
            <a:p>
              <a:pPr algn="ctr">
                <a:lnSpc>
                  <a:spcPts val="3216"/>
                </a:lnSpc>
              </a:pPr>
              <a:r>
                <a:rPr lang="en-US" b="true" sz="2297">
                  <a:solidFill>
                    <a:srgbClr val="F5FFF9"/>
                  </a:solidFill>
                  <a:latin typeface="Manifold Bold"/>
                  <a:ea typeface="Manifold Bold"/>
                  <a:cs typeface="Manifold Bold"/>
                  <a:sym typeface="Manifold Bold"/>
                </a:rPr>
                <a:t>spaCy</a:t>
              </a:r>
            </a:p>
          </p:txBody>
        </p:sp>
      </p:grpSp>
      <p:grpSp>
        <p:nvGrpSpPr>
          <p:cNvPr name="Group 53" id="53"/>
          <p:cNvGrpSpPr/>
          <p:nvPr/>
        </p:nvGrpSpPr>
        <p:grpSpPr>
          <a:xfrm rot="0">
            <a:off x="6774697" y="6896201"/>
            <a:ext cx="4738607" cy="894423"/>
            <a:chOff x="0" y="0"/>
            <a:chExt cx="1248028" cy="235568"/>
          </a:xfrm>
        </p:grpSpPr>
        <p:sp>
          <p:nvSpPr>
            <p:cNvPr name="Freeform 54" id="54"/>
            <p:cNvSpPr/>
            <p:nvPr/>
          </p:nvSpPr>
          <p:spPr>
            <a:xfrm flipH="false" flipV="false" rot="0">
              <a:off x="0" y="0"/>
              <a:ext cx="1248028" cy="235568"/>
            </a:xfrm>
            <a:custGeom>
              <a:avLst/>
              <a:gdLst/>
              <a:ahLst/>
              <a:cxnLst/>
              <a:rect r="r" b="b" t="t" l="l"/>
              <a:pathLst>
                <a:path h="235568" w="1248028">
                  <a:moveTo>
                    <a:pt x="22873" y="0"/>
                  </a:moveTo>
                  <a:lnTo>
                    <a:pt x="1225155" y="0"/>
                  </a:lnTo>
                  <a:cubicBezTo>
                    <a:pt x="1237787" y="0"/>
                    <a:pt x="1248028" y="10241"/>
                    <a:pt x="1248028" y="22873"/>
                  </a:cubicBezTo>
                  <a:lnTo>
                    <a:pt x="1248028" y="212695"/>
                  </a:lnTo>
                  <a:cubicBezTo>
                    <a:pt x="1248028" y="225328"/>
                    <a:pt x="1237787" y="235568"/>
                    <a:pt x="1225155" y="235568"/>
                  </a:cubicBezTo>
                  <a:lnTo>
                    <a:pt x="22873" y="235568"/>
                  </a:lnTo>
                  <a:cubicBezTo>
                    <a:pt x="10241" y="235568"/>
                    <a:pt x="0" y="225328"/>
                    <a:pt x="0" y="212695"/>
                  </a:cubicBezTo>
                  <a:lnTo>
                    <a:pt x="0" y="22873"/>
                  </a:lnTo>
                  <a:cubicBezTo>
                    <a:pt x="0" y="10241"/>
                    <a:pt x="10241" y="0"/>
                    <a:pt x="22873" y="0"/>
                  </a:cubicBezTo>
                  <a:close/>
                </a:path>
              </a:pathLst>
            </a:custGeom>
            <a:solidFill>
              <a:srgbClr val="8AB79C"/>
            </a:solidFill>
          </p:spPr>
        </p:sp>
        <p:sp>
          <p:nvSpPr>
            <p:cNvPr name="TextBox 55" id="55"/>
            <p:cNvSpPr txBox="true"/>
            <p:nvPr/>
          </p:nvSpPr>
          <p:spPr>
            <a:xfrm>
              <a:off x="0" y="-57150"/>
              <a:ext cx="1248028" cy="292718"/>
            </a:xfrm>
            <a:prstGeom prst="rect">
              <a:avLst/>
            </a:prstGeom>
          </p:spPr>
          <p:txBody>
            <a:bodyPr anchor="ctr" rtlCol="false" tIns="50800" lIns="50800" bIns="50800" rIns="50800"/>
            <a:lstStyle/>
            <a:p>
              <a:pPr algn="ctr">
                <a:lnSpc>
                  <a:spcPts val="3216"/>
                </a:lnSpc>
              </a:pPr>
              <a:r>
                <a:rPr lang="en-US" b="true" sz="2297">
                  <a:solidFill>
                    <a:srgbClr val="F5FFF9"/>
                  </a:solidFill>
                  <a:latin typeface="Manifold Bold"/>
                  <a:ea typeface="Manifold Bold"/>
                  <a:cs typeface="Manifold Bold"/>
                  <a:sym typeface="Manifold Bold"/>
                </a:rPr>
                <a:t>Hugging Face Tokenizer</a:t>
              </a:r>
            </a:p>
          </p:txBody>
        </p:sp>
      </p:grpSp>
      <p:grpSp>
        <p:nvGrpSpPr>
          <p:cNvPr name="Group 56" id="56"/>
          <p:cNvGrpSpPr/>
          <p:nvPr/>
        </p:nvGrpSpPr>
        <p:grpSpPr>
          <a:xfrm rot="0">
            <a:off x="6774697" y="7899487"/>
            <a:ext cx="3175313" cy="894423"/>
            <a:chOff x="0" y="0"/>
            <a:chExt cx="836296" cy="235568"/>
          </a:xfrm>
        </p:grpSpPr>
        <p:sp>
          <p:nvSpPr>
            <p:cNvPr name="Freeform 57" id="57"/>
            <p:cNvSpPr/>
            <p:nvPr/>
          </p:nvSpPr>
          <p:spPr>
            <a:xfrm flipH="false" flipV="false" rot="0">
              <a:off x="0" y="0"/>
              <a:ext cx="836296" cy="235568"/>
            </a:xfrm>
            <a:custGeom>
              <a:avLst/>
              <a:gdLst/>
              <a:ahLst/>
              <a:cxnLst/>
              <a:rect r="r" b="b" t="t" l="l"/>
              <a:pathLst>
                <a:path h="235568" w="836296">
                  <a:moveTo>
                    <a:pt x="34134" y="0"/>
                  </a:moveTo>
                  <a:lnTo>
                    <a:pt x="802162" y="0"/>
                  </a:lnTo>
                  <a:cubicBezTo>
                    <a:pt x="811215" y="0"/>
                    <a:pt x="819897" y="3596"/>
                    <a:pt x="826299" y="9998"/>
                  </a:cubicBezTo>
                  <a:cubicBezTo>
                    <a:pt x="832700" y="16399"/>
                    <a:pt x="836296" y="25081"/>
                    <a:pt x="836296" y="34134"/>
                  </a:cubicBezTo>
                  <a:lnTo>
                    <a:pt x="836296" y="201434"/>
                  </a:lnTo>
                  <a:cubicBezTo>
                    <a:pt x="836296" y="210487"/>
                    <a:pt x="832700" y="219169"/>
                    <a:pt x="826299" y="225571"/>
                  </a:cubicBezTo>
                  <a:cubicBezTo>
                    <a:pt x="819897" y="231972"/>
                    <a:pt x="811215" y="235568"/>
                    <a:pt x="802162" y="235568"/>
                  </a:cubicBezTo>
                  <a:lnTo>
                    <a:pt x="34134" y="235568"/>
                  </a:lnTo>
                  <a:cubicBezTo>
                    <a:pt x="25081" y="235568"/>
                    <a:pt x="16399" y="231972"/>
                    <a:pt x="9998" y="225571"/>
                  </a:cubicBezTo>
                  <a:cubicBezTo>
                    <a:pt x="3596" y="219169"/>
                    <a:pt x="0" y="210487"/>
                    <a:pt x="0" y="201434"/>
                  </a:cubicBezTo>
                  <a:lnTo>
                    <a:pt x="0" y="34134"/>
                  </a:lnTo>
                  <a:cubicBezTo>
                    <a:pt x="0" y="25081"/>
                    <a:pt x="3596" y="16399"/>
                    <a:pt x="9998" y="9998"/>
                  </a:cubicBezTo>
                  <a:cubicBezTo>
                    <a:pt x="16399" y="3596"/>
                    <a:pt x="25081" y="0"/>
                    <a:pt x="34134" y="0"/>
                  </a:cubicBezTo>
                  <a:close/>
                </a:path>
              </a:pathLst>
            </a:custGeom>
            <a:solidFill>
              <a:srgbClr val="8AB79C"/>
            </a:solidFill>
          </p:spPr>
        </p:sp>
        <p:sp>
          <p:nvSpPr>
            <p:cNvPr name="TextBox 58" id="58"/>
            <p:cNvSpPr txBox="true"/>
            <p:nvPr/>
          </p:nvSpPr>
          <p:spPr>
            <a:xfrm>
              <a:off x="0" y="-57150"/>
              <a:ext cx="836296" cy="292718"/>
            </a:xfrm>
            <a:prstGeom prst="rect">
              <a:avLst/>
            </a:prstGeom>
          </p:spPr>
          <p:txBody>
            <a:bodyPr anchor="ctr" rtlCol="false" tIns="50800" lIns="50800" bIns="50800" rIns="50800"/>
            <a:lstStyle/>
            <a:p>
              <a:pPr algn="ctr">
                <a:lnSpc>
                  <a:spcPts val="3216"/>
                </a:lnSpc>
              </a:pPr>
              <a:r>
                <a:rPr lang="en-US" b="true" sz="2297">
                  <a:solidFill>
                    <a:srgbClr val="F5FFF9"/>
                  </a:solidFill>
                  <a:latin typeface="Manifold Bold"/>
                  <a:ea typeface="Manifold Bold"/>
                  <a:cs typeface="Manifold Bold"/>
                  <a:sym typeface="Manifold Bold"/>
                </a:rPr>
                <a:t>Dolly</a:t>
              </a:r>
            </a:p>
          </p:txBody>
        </p:sp>
      </p:grpSp>
      <p:grpSp>
        <p:nvGrpSpPr>
          <p:cNvPr name="Group 59" id="59"/>
          <p:cNvGrpSpPr/>
          <p:nvPr/>
        </p:nvGrpSpPr>
        <p:grpSpPr>
          <a:xfrm rot="0">
            <a:off x="11946712" y="3886344"/>
            <a:ext cx="4738607" cy="894423"/>
            <a:chOff x="0" y="0"/>
            <a:chExt cx="1248028" cy="235568"/>
          </a:xfrm>
        </p:grpSpPr>
        <p:sp>
          <p:nvSpPr>
            <p:cNvPr name="Freeform 60" id="60"/>
            <p:cNvSpPr/>
            <p:nvPr/>
          </p:nvSpPr>
          <p:spPr>
            <a:xfrm flipH="false" flipV="false" rot="0">
              <a:off x="0" y="0"/>
              <a:ext cx="1248028" cy="235568"/>
            </a:xfrm>
            <a:custGeom>
              <a:avLst/>
              <a:gdLst/>
              <a:ahLst/>
              <a:cxnLst/>
              <a:rect r="r" b="b" t="t" l="l"/>
              <a:pathLst>
                <a:path h="235568" w="1248028">
                  <a:moveTo>
                    <a:pt x="22873" y="0"/>
                  </a:moveTo>
                  <a:lnTo>
                    <a:pt x="1225155" y="0"/>
                  </a:lnTo>
                  <a:cubicBezTo>
                    <a:pt x="1237787" y="0"/>
                    <a:pt x="1248028" y="10241"/>
                    <a:pt x="1248028" y="22873"/>
                  </a:cubicBezTo>
                  <a:lnTo>
                    <a:pt x="1248028" y="212695"/>
                  </a:lnTo>
                  <a:cubicBezTo>
                    <a:pt x="1248028" y="225328"/>
                    <a:pt x="1237787" y="235568"/>
                    <a:pt x="1225155" y="235568"/>
                  </a:cubicBezTo>
                  <a:lnTo>
                    <a:pt x="22873" y="235568"/>
                  </a:lnTo>
                  <a:cubicBezTo>
                    <a:pt x="10241" y="235568"/>
                    <a:pt x="0" y="225328"/>
                    <a:pt x="0" y="212695"/>
                  </a:cubicBezTo>
                  <a:lnTo>
                    <a:pt x="0" y="22873"/>
                  </a:lnTo>
                  <a:cubicBezTo>
                    <a:pt x="0" y="10241"/>
                    <a:pt x="10241" y="0"/>
                    <a:pt x="22873" y="0"/>
                  </a:cubicBezTo>
                  <a:close/>
                </a:path>
              </a:pathLst>
            </a:custGeom>
            <a:solidFill>
              <a:srgbClr val="8AB79C"/>
            </a:solidFill>
          </p:spPr>
        </p:sp>
        <p:sp>
          <p:nvSpPr>
            <p:cNvPr name="TextBox 61" id="61"/>
            <p:cNvSpPr txBox="true"/>
            <p:nvPr/>
          </p:nvSpPr>
          <p:spPr>
            <a:xfrm>
              <a:off x="0" y="-57150"/>
              <a:ext cx="1248028" cy="292718"/>
            </a:xfrm>
            <a:prstGeom prst="rect">
              <a:avLst/>
            </a:prstGeom>
          </p:spPr>
          <p:txBody>
            <a:bodyPr anchor="ctr" rtlCol="false" tIns="50800" lIns="50800" bIns="50800" rIns="50800"/>
            <a:lstStyle/>
            <a:p>
              <a:pPr algn="ctr">
                <a:lnSpc>
                  <a:spcPts val="3216"/>
                </a:lnSpc>
              </a:pPr>
              <a:r>
                <a:rPr lang="en-US" b="true" sz="2297">
                  <a:solidFill>
                    <a:srgbClr val="F5FFF9"/>
                  </a:solidFill>
                  <a:latin typeface="Manifold Bold"/>
                  <a:ea typeface="Manifold Bold"/>
                  <a:cs typeface="Manifold Bold"/>
                  <a:sym typeface="Manifold Bold"/>
                </a:rPr>
                <a:t>PostgreSQL</a:t>
              </a:r>
            </a:p>
          </p:txBody>
        </p:sp>
      </p:grpSp>
      <p:grpSp>
        <p:nvGrpSpPr>
          <p:cNvPr name="Group 62" id="62"/>
          <p:cNvGrpSpPr/>
          <p:nvPr/>
        </p:nvGrpSpPr>
        <p:grpSpPr>
          <a:xfrm rot="0">
            <a:off x="11946712" y="4892349"/>
            <a:ext cx="4738607" cy="894423"/>
            <a:chOff x="0" y="0"/>
            <a:chExt cx="1248028" cy="235568"/>
          </a:xfrm>
        </p:grpSpPr>
        <p:sp>
          <p:nvSpPr>
            <p:cNvPr name="Freeform 63" id="63"/>
            <p:cNvSpPr/>
            <p:nvPr/>
          </p:nvSpPr>
          <p:spPr>
            <a:xfrm flipH="false" flipV="false" rot="0">
              <a:off x="0" y="0"/>
              <a:ext cx="1248028" cy="235568"/>
            </a:xfrm>
            <a:custGeom>
              <a:avLst/>
              <a:gdLst/>
              <a:ahLst/>
              <a:cxnLst/>
              <a:rect r="r" b="b" t="t" l="l"/>
              <a:pathLst>
                <a:path h="235568" w="1248028">
                  <a:moveTo>
                    <a:pt x="22873" y="0"/>
                  </a:moveTo>
                  <a:lnTo>
                    <a:pt x="1225155" y="0"/>
                  </a:lnTo>
                  <a:cubicBezTo>
                    <a:pt x="1237787" y="0"/>
                    <a:pt x="1248028" y="10241"/>
                    <a:pt x="1248028" y="22873"/>
                  </a:cubicBezTo>
                  <a:lnTo>
                    <a:pt x="1248028" y="212695"/>
                  </a:lnTo>
                  <a:cubicBezTo>
                    <a:pt x="1248028" y="225328"/>
                    <a:pt x="1237787" y="235568"/>
                    <a:pt x="1225155" y="235568"/>
                  </a:cubicBezTo>
                  <a:lnTo>
                    <a:pt x="22873" y="235568"/>
                  </a:lnTo>
                  <a:cubicBezTo>
                    <a:pt x="10241" y="235568"/>
                    <a:pt x="0" y="225328"/>
                    <a:pt x="0" y="212695"/>
                  </a:cubicBezTo>
                  <a:lnTo>
                    <a:pt x="0" y="22873"/>
                  </a:lnTo>
                  <a:cubicBezTo>
                    <a:pt x="0" y="10241"/>
                    <a:pt x="10241" y="0"/>
                    <a:pt x="22873" y="0"/>
                  </a:cubicBezTo>
                  <a:close/>
                </a:path>
              </a:pathLst>
            </a:custGeom>
            <a:solidFill>
              <a:srgbClr val="8AB79C"/>
            </a:solidFill>
          </p:spPr>
        </p:sp>
        <p:sp>
          <p:nvSpPr>
            <p:cNvPr name="TextBox 64" id="64"/>
            <p:cNvSpPr txBox="true"/>
            <p:nvPr/>
          </p:nvSpPr>
          <p:spPr>
            <a:xfrm>
              <a:off x="0" y="-57150"/>
              <a:ext cx="1248028" cy="292718"/>
            </a:xfrm>
            <a:prstGeom prst="rect">
              <a:avLst/>
            </a:prstGeom>
          </p:spPr>
          <p:txBody>
            <a:bodyPr anchor="ctr" rtlCol="false" tIns="50800" lIns="50800" bIns="50800" rIns="50800"/>
            <a:lstStyle/>
            <a:p>
              <a:pPr algn="ctr">
                <a:lnSpc>
                  <a:spcPts val="3216"/>
                </a:lnSpc>
              </a:pPr>
              <a:r>
                <a:rPr lang="en-US" b="true" sz="2297">
                  <a:solidFill>
                    <a:srgbClr val="F5FFF9"/>
                  </a:solidFill>
                  <a:latin typeface="Manifold Bold"/>
                  <a:ea typeface="Manifold Bold"/>
                  <a:cs typeface="Manifold Bold"/>
                  <a:sym typeface="Manifold Bold"/>
                </a:rPr>
                <a:t>PEFT(LoRA)</a:t>
              </a:r>
            </a:p>
          </p:txBody>
        </p:sp>
      </p:grpSp>
      <p:grpSp>
        <p:nvGrpSpPr>
          <p:cNvPr name="Group 65" id="65"/>
          <p:cNvGrpSpPr/>
          <p:nvPr/>
        </p:nvGrpSpPr>
        <p:grpSpPr>
          <a:xfrm rot="0">
            <a:off x="11946712" y="5908888"/>
            <a:ext cx="4738607" cy="894423"/>
            <a:chOff x="0" y="0"/>
            <a:chExt cx="1248028" cy="235568"/>
          </a:xfrm>
        </p:grpSpPr>
        <p:sp>
          <p:nvSpPr>
            <p:cNvPr name="Freeform 66" id="66"/>
            <p:cNvSpPr/>
            <p:nvPr/>
          </p:nvSpPr>
          <p:spPr>
            <a:xfrm flipH="false" flipV="false" rot="0">
              <a:off x="0" y="0"/>
              <a:ext cx="1248028" cy="235568"/>
            </a:xfrm>
            <a:custGeom>
              <a:avLst/>
              <a:gdLst/>
              <a:ahLst/>
              <a:cxnLst/>
              <a:rect r="r" b="b" t="t" l="l"/>
              <a:pathLst>
                <a:path h="235568" w="1248028">
                  <a:moveTo>
                    <a:pt x="22873" y="0"/>
                  </a:moveTo>
                  <a:lnTo>
                    <a:pt x="1225155" y="0"/>
                  </a:lnTo>
                  <a:cubicBezTo>
                    <a:pt x="1237787" y="0"/>
                    <a:pt x="1248028" y="10241"/>
                    <a:pt x="1248028" y="22873"/>
                  </a:cubicBezTo>
                  <a:lnTo>
                    <a:pt x="1248028" y="212695"/>
                  </a:lnTo>
                  <a:cubicBezTo>
                    <a:pt x="1248028" y="225328"/>
                    <a:pt x="1237787" y="235568"/>
                    <a:pt x="1225155" y="235568"/>
                  </a:cubicBezTo>
                  <a:lnTo>
                    <a:pt x="22873" y="235568"/>
                  </a:lnTo>
                  <a:cubicBezTo>
                    <a:pt x="10241" y="235568"/>
                    <a:pt x="0" y="225328"/>
                    <a:pt x="0" y="212695"/>
                  </a:cubicBezTo>
                  <a:lnTo>
                    <a:pt x="0" y="22873"/>
                  </a:lnTo>
                  <a:cubicBezTo>
                    <a:pt x="0" y="10241"/>
                    <a:pt x="10241" y="0"/>
                    <a:pt x="22873" y="0"/>
                  </a:cubicBezTo>
                  <a:close/>
                </a:path>
              </a:pathLst>
            </a:custGeom>
            <a:solidFill>
              <a:srgbClr val="8AB79C"/>
            </a:solidFill>
          </p:spPr>
        </p:sp>
        <p:sp>
          <p:nvSpPr>
            <p:cNvPr name="TextBox 67" id="67"/>
            <p:cNvSpPr txBox="true"/>
            <p:nvPr/>
          </p:nvSpPr>
          <p:spPr>
            <a:xfrm>
              <a:off x="0" y="-57150"/>
              <a:ext cx="1248028" cy="292718"/>
            </a:xfrm>
            <a:prstGeom prst="rect">
              <a:avLst/>
            </a:prstGeom>
          </p:spPr>
          <p:txBody>
            <a:bodyPr anchor="ctr" rtlCol="false" tIns="50800" lIns="50800" bIns="50800" rIns="50800"/>
            <a:lstStyle/>
            <a:p>
              <a:pPr algn="ctr">
                <a:lnSpc>
                  <a:spcPts val="3216"/>
                </a:lnSpc>
              </a:pPr>
              <a:r>
                <a:rPr lang="en-US" b="true" sz="2297">
                  <a:solidFill>
                    <a:srgbClr val="F5FFF9"/>
                  </a:solidFill>
                  <a:latin typeface="Manifold Bold"/>
                  <a:ea typeface="Manifold Bold"/>
                  <a:cs typeface="Manifold Bold"/>
                  <a:sym typeface="Manifold Bold"/>
                </a:rPr>
                <a:t>Regex</a:t>
              </a:r>
            </a:p>
          </p:txBody>
        </p:sp>
      </p:grpSp>
      <p:grpSp>
        <p:nvGrpSpPr>
          <p:cNvPr name="Group 68" id="68"/>
          <p:cNvGrpSpPr/>
          <p:nvPr/>
        </p:nvGrpSpPr>
        <p:grpSpPr>
          <a:xfrm rot="0">
            <a:off x="11946712" y="6896201"/>
            <a:ext cx="4738607" cy="894423"/>
            <a:chOff x="0" y="0"/>
            <a:chExt cx="1248028" cy="235568"/>
          </a:xfrm>
        </p:grpSpPr>
        <p:sp>
          <p:nvSpPr>
            <p:cNvPr name="Freeform 69" id="69"/>
            <p:cNvSpPr/>
            <p:nvPr/>
          </p:nvSpPr>
          <p:spPr>
            <a:xfrm flipH="false" flipV="false" rot="0">
              <a:off x="0" y="0"/>
              <a:ext cx="1248028" cy="235568"/>
            </a:xfrm>
            <a:custGeom>
              <a:avLst/>
              <a:gdLst/>
              <a:ahLst/>
              <a:cxnLst/>
              <a:rect r="r" b="b" t="t" l="l"/>
              <a:pathLst>
                <a:path h="235568" w="1248028">
                  <a:moveTo>
                    <a:pt x="22873" y="0"/>
                  </a:moveTo>
                  <a:lnTo>
                    <a:pt x="1225155" y="0"/>
                  </a:lnTo>
                  <a:cubicBezTo>
                    <a:pt x="1237787" y="0"/>
                    <a:pt x="1248028" y="10241"/>
                    <a:pt x="1248028" y="22873"/>
                  </a:cubicBezTo>
                  <a:lnTo>
                    <a:pt x="1248028" y="212695"/>
                  </a:lnTo>
                  <a:cubicBezTo>
                    <a:pt x="1248028" y="225328"/>
                    <a:pt x="1237787" y="235568"/>
                    <a:pt x="1225155" y="235568"/>
                  </a:cubicBezTo>
                  <a:lnTo>
                    <a:pt x="22873" y="235568"/>
                  </a:lnTo>
                  <a:cubicBezTo>
                    <a:pt x="10241" y="235568"/>
                    <a:pt x="0" y="225328"/>
                    <a:pt x="0" y="212695"/>
                  </a:cubicBezTo>
                  <a:lnTo>
                    <a:pt x="0" y="22873"/>
                  </a:lnTo>
                  <a:cubicBezTo>
                    <a:pt x="0" y="10241"/>
                    <a:pt x="10241" y="0"/>
                    <a:pt x="22873" y="0"/>
                  </a:cubicBezTo>
                  <a:close/>
                </a:path>
              </a:pathLst>
            </a:custGeom>
            <a:solidFill>
              <a:srgbClr val="8AB79C"/>
            </a:solidFill>
          </p:spPr>
        </p:sp>
        <p:sp>
          <p:nvSpPr>
            <p:cNvPr name="TextBox 70" id="70"/>
            <p:cNvSpPr txBox="true"/>
            <p:nvPr/>
          </p:nvSpPr>
          <p:spPr>
            <a:xfrm>
              <a:off x="0" y="-57150"/>
              <a:ext cx="1248028" cy="292718"/>
            </a:xfrm>
            <a:prstGeom prst="rect">
              <a:avLst/>
            </a:prstGeom>
          </p:spPr>
          <p:txBody>
            <a:bodyPr anchor="ctr" rtlCol="false" tIns="50800" lIns="50800" bIns="50800" rIns="50800"/>
            <a:lstStyle/>
            <a:p>
              <a:pPr algn="ctr">
                <a:lnSpc>
                  <a:spcPts val="3216"/>
                </a:lnSpc>
              </a:pPr>
              <a:r>
                <a:rPr lang="en-US" b="true" sz="2297">
                  <a:solidFill>
                    <a:srgbClr val="F5FFF9"/>
                  </a:solidFill>
                  <a:latin typeface="Manifold Bold"/>
                  <a:ea typeface="Manifold Bold"/>
                  <a:cs typeface="Manifold Bold"/>
                  <a:sym typeface="Manifold Bold"/>
                </a:rPr>
                <a:t>Tiktonken</a:t>
              </a:r>
            </a:p>
          </p:txBody>
        </p:sp>
      </p:grpSp>
      <p:grpSp>
        <p:nvGrpSpPr>
          <p:cNvPr name="Group 71" id="71"/>
          <p:cNvGrpSpPr/>
          <p:nvPr/>
        </p:nvGrpSpPr>
        <p:grpSpPr>
          <a:xfrm rot="0">
            <a:off x="10128046" y="7928043"/>
            <a:ext cx="3204220" cy="894423"/>
            <a:chOff x="0" y="0"/>
            <a:chExt cx="843910" cy="235568"/>
          </a:xfrm>
        </p:grpSpPr>
        <p:sp>
          <p:nvSpPr>
            <p:cNvPr name="Freeform 72" id="72"/>
            <p:cNvSpPr/>
            <p:nvPr/>
          </p:nvSpPr>
          <p:spPr>
            <a:xfrm flipH="false" flipV="false" rot="0">
              <a:off x="0" y="0"/>
              <a:ext cx="843910" cy="235568"/>
            </a:xfrm>
            <a:custGeom>
              <a:avLst/>
              <a:gdLst/>
              <a:ahLst/>
              <a:cxnLst/>
              <a:rect r="r" b="b" t="t" l="l"/>
              <a:pathLst>
                <a:path h="235568" w="843910">
                  <a:moveTo>
                    <a:pt x="33826" y="0"/>
                  </a:moveTo>
                  <a:lnTo>
                    <a:pt x="810083" y="0"/>
                  </a:lnTo>
                  <a:cubicBezTo>
                    <a:pt x="819055" y="0"/>
                    <a:pt x="827659" y="3564"/>
                    <a:pt x="834002" y="9907"/>
                  </a:cubicBezTo>
                  <a:cubicBezTo>
                    <a:pt x="840346" y="16251"/>
                    <a:pt x="843910" y="24855"/>
                    <a:pt x="843910" y="33826"/>
                  </a:cubicBezTo>
                  <a:lnTo>
                    <a:pt x="843910" y="201742"/>
                  </a:lnTo>
                  <a:cubicBezTo>
                    <a:pt x="843910" y="210713"/>
                    <a:pt x="840346" y="219317"/>
                    <a:pt x="834002" y="225661"/>
                  </a:cubicBezTo>
                  <a:cubicBezTo>
                    <a:pt x="827659" y="232004"/>
                    <a:pt x="819055" y="235568"/>
                    <a:pt x="810083" y="235568"/>
                  </a:cubicBezTo>
                  <a:lnTo>
                    <a:pt x="33826" y="235568"/>
                  </a:lnTo>
                  <a:cubicBezTo>
                    <a:pt x="24855" y="235568"/>
                    <a:pt x="16251" y="232004"/>
                    <a:pt x="9907" y="225661"/>
                  </a:cubicBezTo>
                  <a:cubicBezTo>
                    <a:pt x="3564" y="219317"/>
                    <a:pt x="0" y="210713"/>
                    <a:pt x="0" y="201742"/>
                  </a:cubicBezTo>
                  <a:lnTo>
                    <a:pt x="0" y="33826"/>
                  </a:lnTo>
                  <a:cubicBezTo>
                    <a:pt x="0" y="24855"/>
                    <a:pt x="3564" y="16251"/>
                    <a:pt x="9907" y="9907"/>
                  </a:cubicBezTo>
                  <a:cubicBezTo>
                    <a:pt x="16251" y="3564"/>
                    <a:pt x="24855" y="0"/>
                    <a:pt x="33826" y="0"/>
                  </a:cubicBezTo>
                  <a:close/>
                </a:path>
              </a:pathLst>
            </a:custGeom>
            <a:solidFill>
              <a:srgbClr val="8AB79C"/>
            </a:solidFill>
          </p:spPr>
        </p:sp>
        <p:sp>
          <p:nvSpPr>
            <p:cNvPr name="TextBox 73" id="73"/>
            <p:cNvSpPr txBox="true"/>
            <p:nvPr/>
          </p:nvSpPr>
          <p:spPr>
            <a:xfrm>
              <a:off x="0" y="-57150"/>
              <a:ext cx="843910" cy="292718"/>
            </a:xfrm>
            <a:prstGeom prst="rect">
              <a:avLst/>
            </a:prstGeom>
          </p:spPr>
          <p:txBody>
            <a:bodyPr anchor="ctr" rtlCol="false" tIns="50800" lIns="50800" bIns="50800" rIns="50800"/>
            <a:lstStyle/>
            <a:p>
              <a:pPr algn="ctr">
                <a:lnSpc>
                  <a:spcPts val="3216"/>
                </a:lnSpc>
              </a:pPr>
              <a:r>
                <a:rPr lang="en-US" b="true" sz="2297">
                  <a:solidFill>
                    <a:srgbClr val="F5FFF9"/>
                  </a:solidFill>
                  <a:latin typeface="Manifold Bold"/>
                  <a:ea typeface="Manifold Bold"/>
                  <a:cs typeface="Manifold Bold"/>
                  <a:sym typeface="Manifold Bold"/>
                </a:rPr>
                <a:t>CodeAlpaca</a:t>
              </a:r>
            </a:p>
          </p:txBody>
        </p:sp>
      </p:grpSp>
      <p:sp>
        <p:nvSpPr>
          <p:cNvPr name="Freeform 74" id="74"/>
          <p:cNvSpPr/>
          <p:nvPr/>
        </p:nvSpPr>
        <p:spPr>
          <a:xfrm flipH="false" flipV="false" rot="0">
            <a:off x="7639266" y="3983506"/>
            <a:ext cx="700100" cy="700100"/>
          </a:xfrm>
          <a:custGeom>
            <a:avLst/>
            <a:gdLst/>
            <a:ahLst/>
            <a:cxnLst/>
            <a:rect r="r" b="b" t="t" l="l"/>
            <a:pathLst>
              <a:path h="700100" w="700100">
                <a:moveTo>
                  <a:pt x="0" y="0"/>
                </a:moveTo>
                <a:lnTo>
                  <a:pt x="700100" y="0"/>
                </a:lnTo>
                <a:lnTo>
                  <a:pt x="700100" y="700100"/>
                </a:lnTo>
                <a:lnTo>
                  <a:pt x="0" y="700100"/>
                </a:lnTo>
                <a:lnTo>
                  <a:pt x="0" y="0"/>
                </a:lnTo>
                <a:close/>
              </a:path>
            </a:pathLst>
          </a:custGeom>
          <a:blipFill>
            <a:blip r:embed="rId7"/>
            <a:stretch>
              <a:fillRect l="0" t="0" r="0" b="0"/>
            </a:stretch>
          </a:blipFill>
        </p:spPr>
      </p:sp>
      <p:sp>
        <p:nvSpPr>
          <p:cNvPr name="Freeform 75" id="75"/>
          <p:cNvSpPr/>
          <p:nvPr/>
        </p:nvSpPr>
        <p:spPr>
          <a:xfrm flipH="false" flipV="false" rot="0">
            <a:off x="12479671" y="3890974"/>
            <a:ext cx="906124" cy="906124"/>
          </a:xfrm>
          <a:custGeom>
            <a:avLst/>
            <a:gdLst/>
            <a:ahLst/>
            <a:cxnLst/>
            <a:rect r="r" b="b" t="t" l="l"/>
            <a:pathLst>
              <a:path h="906124" w="906124">
                <a:moveTo>
                  <a:pt x="0" y="0"/>
                </a:moveTo>
                <a:lnTo>
                  <a:pt x="906124" y="0"/>
                </a:lnTo>
                <a:lnTo>
                  <a:pt x="906124" y="906125"/>
                </a:lnTo>
                <a:lnTo>
                  <a:pt x="0" y="906125"/>
                </a:lnTo>
                <a:lnTo>
                  <a:pt x="0" y="0"/>
                </a:lnTo>
                <a:close/>
              </a:path>
            </a:pathLst>
          </a:custGeom>
          <a:blipFill>
            <a:blip r:embed="rId8"/>
            <a:stretch>
              <a:fillRect l="0" t="0" r="0" b="0"/>
            </a:stretch>
          </a:blipFill>
        </p:spPr>
      </p:sp>
      <p:sp>
        <p:nvSpPr>
          <p:cNvPr name="Freeform 76" id="76"/>
          <p:cNvSpPr/>
          <p:nvPr/>
        </p:nvSpPr>
        <p:spPr>
          <a:xfrm flipH="false" flipV="false" rot="0">
            <a:off x="12098679" y="2986950"/>
            <a:ext cx="1668108" cy="686640"/>
          </a:xfrm>
          <a:custGeom>
            <a:avLst/>
            <a:gdLst/>
            <a:ahLst/>
            <a:cxnLst/>
            <a:rect r="r" b="b" t="t" l="l"/>
            <a:pathLst>
              <a:path h="686640" w="1668108">
                <a:moveTo>
                  <a:pt x="0" y="0"/>
                </a:moveTo>
                <a:lnTo>
                  <a:pt x="1668108" y="0"/>
                </a:lnTo>
                <a:lnTo>
                  <a:pt x="1668108" y="686640"/>
                </a:lnTo>
                <a:lnTo>
                  <a:pt x="0" y="686640"/>
                </a:lnTo>
                <a:lnTo>
                  <a:pt x="0" y="0"/>
                </a:lnTo>
                <a:close/>
              </a:path>
            </a:pathLst>
          </a:custGeom>
          <a:blipFill>
            <a:blip r:embed="rId9"/>
            <a:stretch>
              <a:fillRect l="0" t="0" r="0" b="0"/>
            </a:stretch>
          </a:blipFill>
        </p:spPr>
      </p:sp>
      <p:sp>
        <p:nvSpPr>
          <p:cNvPr name="Freeform 77" id="77"/>
          <p:cNvSpPr/>
          <p:nvPr/>
        </p:nvSpPr>
        <p:spPr>
          <a:xfrm flipH="false" flipV="false" rot="0">
            <a:off x="7589142" y="2960109"/>
            <a:ext cx="800347" cy="740321"/>
          </a:xfrm>
          <a:custGeom>
            <a:avLst/>
            <a:gdLst/>
            <a:ahLst/>
            <a:cxnLst/>
            <a:rect r="r" b="b" t="t" l="l"/>
            <a:pathLst>
              <a:path h="740321" w="800347">
                <a:moveTo>
                  <a:pt x="0" y="0"/>
                </a:moveTo>
                <a:lnTo>
                  <a:pt x="800348" y="0"/>
                </a:lnTo>
                <a:lnTo>
                  <a:pt x="800348" y="740322"/>
                </a:lnTo>
                <a:lnTo>
                  <a:pt x="0" y="740322"/>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78" id="78"/>
          <p:cNvSpPr/>
          <p:nvPr/>
        </p:nvSpPr>
        <p:spPr>
          <a:xfrm flipH="false" flipV="false" rot="0">
            <a:off x="6846740" y="5027735"/>
            <a:ext cx="618214" cy="618214"/>
          </a:xfrm>
          <a:custGeom>
            <a:avLst/>
            <a:gdLst/>
            <a:ahLst/>
            <a:cxnLst/>
            <a:rect r="r" b="b" t="t" l="l"/>
            <a:pathLst>
              <a:path h="618214" w="618214">
                <a:moveTo>
                  <a:pt x="0" y="0"/>
                </a:moveTo>
                <a:lnTo>
                  <a:pt x="618214" y="0"/>
                </a:lnTo>
                <a:lnTo>
                  <a:pt x="618214" y="618213"/>
                </a:lnTo>
                <a:lnTo>
                  <a:pt x="0" y="618213"/>
                </a:lnTo>
                <a:lnTo>
                  <a:pt x="0" y="0"/>
                </a:lnTo>
                <a:close/>
              </a:path>
            </a:pathLst>
          </a:custGeom>
          <a:blipFill>
            <a:blip r:embed="rId12"/>
            <a:stretch>
              <a:fillRect l="0" t="0" r="0" b="0"/>
            </a:stretch>
          </a:blipFill>
        </p:spPr>
      </p:sp>
      <p:sp>
        <p:nvSpPr>
          <p:cNvPr name="Freeform 79" id="79"/>
          <p:cNvSpPr/>
          <p:nvPr/>
        </p:nvSpPr>
        <p:spPr>
          <a:xfrm flipH="false" flipV="false" rot="0">
            <a:off x="7155847" y="5974553"/>
            <a:ext cx="1395017" cy="733509"/>
          </a:xfrm>
          <a:custGeom>
            <a:avLst/>
            <a:gdLst/>
            <a:ahLst/>
            <a:cxnLst/>
            <a:rect r="r" b="b" t="t" l="l"/>
            <a:pathLst>
              <a:path h="733509" w="1395017">
                <a:moveTo>
                  <a:pt x="0" y="0"/>
                </a:moveTo>
                <a:lnTo>
                  <a:pt x="1395017" y="0"/>
                </a:lnTo>
                <a:lnTo>
                  <a:pt x="1395017" y="733509"/>
                </a:lnTo>
                <a:lnTo>
                  <a:pt x="0" y="733509"/>
                </a:lnTo>
                <a:lnTo>
                  <a:pt x="0" y="0"/>
                </a:lnTo>
                <a:close/>
              </a:path>
            </a:pathLst>
          </a:custGeom>
          <a:blipFill>
            <a:blip r:embed="rId13"/>
            <a:stretch>
              <a:fillRect l="0" t="0" r="0" b="0"/>
            </a:stretch>
          </a:blipFill>
        </p:spPr>
      </p:sp>
      <p:sp>
        <p:nvSpPr>
          <p:cNvPr name="Freeform 80" id="80"/>
          <p:cNvSpPr/>
          <p:nvPr/>
        </p:nvSpPr>
        <p:spPr>
          <a:xfrm flipH="false" flipV="false" rot="0">
            <a:off x="12639197" y="6018405"/>
            <a:ext cx="675391" cy="675391"/>
          </a:xfrm>
          <a:custGeom>
            <a:avLst/>
            <a:gdLst/>
            <a:ahLst/>
            <a:cxnLst/>
            <a:rect r="r" b="b" t="t" l="l"/>
            <a:pathLst>
              <a:path h="675391" w="675391">
                <a:moveTo>
                  <a:pt x="0" y="0"/>
                </a:moveTo>
                <a:lnTo>
                  <a:pt x="675391" y="0"/>
                </a:lnTo>
                <a:lnTo>
                  <a:pt x="675391" y="675391"/>
                </a:lnTo>
                <a:lnTo>
                  <a:pt x="0" y="675391"/>
                </a:lnTo>
                <a:lnTo>
                  <a:pt x="0" y="0"/>
                </a:lnTo>
                <a:close/>
              </a:path>
            </a:pathLst>
          </a:custGeom>
          <a:blipFill>
            <a:blip r:embed="rId14"/>
            <a:stretch>
              <a:fillRect l="0" t="0" r="0" b="0"/>
            </a:stretch>
          </a:blipFill>
        </p:spPr>
      </p:sp>
      <p:sp>
        <p:nvSpPr>
          <p:cNvPr name="Freeform 81" id="81"/>
          <p:cNvSpPr/>
          <p:nvPr/>
        </p:nvSpPr>
        <p:spPr>
          <a:xfrm flipH="false" flipV="false" rot="0">
            <a:off x="6846740" y="7034306"/>
            <a:ext cx="618214" cy="618214"/>
          </a:xfrm>
          <a:custGeom>
            <a:avLst/>
            <a:gdLst/>
            <a:ahLst/>
            <a:cxnLst/>
            <a:rect r="r" b="b" t="t" l="l"/>
            <a:pathLst>
              <a:path h="618214" w="618214">
                <a:moveTo>
                  <a:pt x="0" y="0"/>
                </a:moveTo>
                <a:lnTo>
                  <a:pt x="618214" y="0"/>
                </a:lnTo>
                <a:lnTo>
                  <a:pt x="618214" y="618214"/>
                </a:lnTo>
                <a:lnTo>
                  <a:pt x="0" y="618214"/>
                </a:lnTo>
                <a:lnTo>
                  <a:pt x="0" y="0"/>
                </a:lnTo>
                <a:close/>
              </a:path>
            </a:pathLst>
          </a:custGeom>
          <a:blipFill>
            <a:blip r:embed="rId12"/>
            <a:stretch>
              <a:fillRect l="0" t="0" r="0" b="0"/>
            </a:stretch>
          </a:blipFill>
        </p:spPr>
      </p:sp>
      <p:sp>
        <p:nvSpPr>
          <p:cNvPr name="Freeform 82" id="82"/>
          <p:cNvSpPr/>
          <p:nvPr/>
        </p:nvSpPr>
        <p:spPr>
          <a:xfrm flipH="false" flipV="false" rot="0">
            <a:off x="12591936" y="6958456"/>
            <a:ext cx="769913" cy="769913"/>
          </a:xfrm>
          <a:custGeom>
            <a:avLst/>
            <a:gdLst/>
            <a:ahLst/>
            <a:cxnLst/>
            <a:rect r="r" b="b" t="t" l="l"/>
            <a:pathLst>
              <a:path h="769913" w="769913">
                <a:moveTo>
                  <a:pt x="0" y="0"/>
                </a:moveTo>
                <a:lnTo>
                  <a:pt x="769913" y="0"/>
                </a:lnTo>
                <a:lnTo>
                  <a:pt x="769913" y="769913"/>
                </a:lnTo>
                <a:lnTo>
                  <a:pt x="0" y="769913"/>
                </a:lnTo>
                <a:lnTo>
                  <a:pt x="0" y="0"/>
                </a:lnTo>
                <a:close/>
              </a:path>
            </a:pathLst>
          </a:custGeom>
          <a:blipFill>
            <a:blip r:embed="rId15"/>
            <a:stretch>
              <a:fillRect l="0" t="0" r="0" b="0"/>
            </a:stretch>
          </a:blipFill>
        </p:spPr>
      </p:sp>
      <p:sp>
        <p:nvSpPr>
          <p:cNvPr name="TextBox 83" id="83"/>
          <p:cNvSpPr txBox="true"/>
          <p:nvPr/>
        </p:nvSpPr>
        <p:spPr>
          <a:xfrm rot="0">
            <a:off x="2129570" y="1921451"/>
            <a:ext cx="1439591" cy="547441"/>
          </a:xfrm>
          <a:prstGeom prst="rect">
            <a:avLst/>
          </a:prstGeom>
        </p:spPr>
        <p:txBody>
          <a:bodyPr anchor="t" rtlCol="false" tIns="0" lIns="0" bIns="0" rIns="0">
            <a:spAutoFit/>
          </a:bodyPr>
          <a:lstStyle/>
          <a:p>
            <a:pPr algn="ctr">
              <a:lnSpc>
                <a:spcPts val="4476"/>
              </a:lnSpc>
            </a:pPr>
            <a:r>
              <a:rPr lang="en-US" sz="3197" b="true">
                <a:solidFill>
                  <a:srgbClr val="FFFFFF"/>
                </a:solidFill>
                <a:latin typeface="Manifold Bold"/>
                <a:ea typeface="Manifold Bold"/>
                <a:cs typeface="Manifold Bold"/>
                <a:sym typeface="Manifold Bold"/>
              </a:rPr>
              <a:t>Layers</a:t>
            </a:r>
          </a:p>
        </p:txBody>
      </p:sp>
      <p:sp>
        <p:nvSpPr>
          <p:cNvPr name="TextBox 84" id="84"/>
          <p:cNvSpPr txBox="true"/>
          <p:nvPr/>
        </p:nvSpPr>
        <p:spPr>
          <a:xfrm rot="0">
            <a:off x="10527579" y="1921451"/>
            <a:ext cx="2405155" cy="547441"/>
          </a:xfrm>
          <a:prstGeom prst="rect">
            <a:avLst/>
          </a:prstGeom>
        </p:spPr>
        <p:txBody>
          <a:bodyPr anchor="t" rtlCol="false" tIns="0" lIns="0" bIns="0" rIns="0">
            <a:spAutoFit/>
          </a:bodyPr>
          <a:lstStyle/>
          <a:p>
            <a:pPr algn="ctr">
              <a:lnSpc>
                <a:spcPts val="4476"/>
              </a:lnSpc>
            </a:pPr>
            <a:r>
              <a:rPr lang="en-US" sz="3197" b="true">
                <a:solidFill>
                  <a:srgbClr val="FFFFFF"/>
                </a:solidFill>
                <a:latin typeface="Manifold Bold"/>
                <a:ea typeface="Manifold Bold"/>
                <a:cs typeface="Manifold Bold"/>
                <a:sym typeface="Manifold Bold"/>
              </a:rPr>
              <a:t>Technologies</a:t>
            </a:r>
          </a:p>
        </p:txBody>
      </p:sp>
      <p:grpSp>
        <p:nvGrpSpPr>
          <p:cNvPr name="Group 85" id="85"/>
          <p:cNvGrpSpPr/>
          <p:nvPr/>
        </p:nvGrpSpPr>
        <p:grpSpPr>
          <a:xfrm rot="0">
            <a:off x="13481099" y="7928043"/>
            <a:ext cx="3204220" cy="894423"/>
            <a:chOff x="0" y="0"/>
            <a:chExt cx="843910" cy="235568"/>
          </a:xfrm>
        </p:grpSpPr>
        <p:sp>
          <p:nvSpPr>
            <p:cNvPr name="Freeform 86" id="86"/>
            <p:cNvSpPr/>
            <p:nvPr/>
          </p:nvSpPr>
          <p:spPr>
            <a:xfrm flipH="false" flipV="false" rot="0">
              <a:off x="0" y="0"/>
              <a:ext cx="843910" cy="235568"/>
            </a:xfrm>
            <a:custGeom>
              <a:avLst/>
              <a:gdLst/>
              <a:ahLst/>
              <a:cxnLst/>
              <a:rect r="r" b="b" t="t" l="l"/>
              <a:pathLst>
                <a:path h="235568" w="843910">
                  <a:moveTo>
                    <a:pt x="33826" y="0"/>
                  </a:moveTo>
                  <a:lnTo>
                    <a:pt x="810083" y="0"/>
                  </a:lnTo>
                  <a:cubicBezTo>
                    <a:pt x="819055" y="0"/>
                    <a:pt x="827659" y="3564"/>
                    <a:pt x="834002" y="9907"/>
                  </a:cubicBezTo>
                  <a:cubicBezTo>
                    <a:pt x="840346" y="16251"/>
                    <a:pt x="843910" y="24855"/>
                    <a:pt x="843910" y="33826"/>
                  </a:cubicBezTo>
                  <a:lnTo>
                    <a:pt x="843910" y="201742"/>
                  </a:lnTo>
                  <a:cubicBezTo>
                    <a:pt x="843910" y="210713"/>
                    <a:pt x="840346" y="219317"/>
                    <a:pt x="834002" y="225661"/>
                  </a:cubicBezTo>
                  <a:cubicBezTo>
                    <a:pt x="827659" y="232004"/>
                    <a:pt x="819055" y="235568"/>
                    <a:pt x="810083" y="235568"/>
                  </a:cubicBezTo>
                  <a:lnTo>
                    <a:pt x="33826" y="235568"/>
                  </a:lnTo>
                  <a:cubicBezTo>
                    <a:pt x="24855" y="235568"/>
                    <a:pt x="16251" y="232004"/>
                    <a:pt x="9907" y="225661"/>
                  </a:cubicBezTo>
                  <a:cubicBezTo>
                    <a:pt x="3564" y="219317"/>
                    <a:pt x="0" y="210713"/>
                    <a:pt x="0" y="201742"/>
                  </a:cubicBezTo>
                  <a:lnTo>
                    <a:pt x="0" y="33826"/>
                  </a:lnTo>
                  <a:cubicBezTo>
                    <a:pt x="0" y="24855"/>
                    <a:pt x="3564" y="16251"/>
                    <a:pt x="9907" y="9907"/>
                  </a:cubicBezTo>
                  <a:cubicBezTo>
                    <a:pt x="16251" y="3564"/>
                    <a:pt x="24855" y="0"/>
                    <a:pt x="33826" y="0"/>
                  </a:cubicBezTo>
                  <a:close/>
                </a:path>
              </a:pathLst>
            </a:custGeom>
            <a:solidFill>
              <a:srgbClr val="8AB79C"/>
            </a:solidFill>
          </p:spPr>
        </p:sp>
        <p:sp>
          <p:nvSpPr>
            <p:cNvPr name="TextBox 87" id="87"/>
            <p:cNvSpPr txBox="true"/>
            <p:nvPr/>
          </p:nvSpPr>
          <p:spPr>
            <a:xfrm>
              <a:off x="0" y="-57150"/>
              <a:ext cx="843910" cy="292718"/>
            </a:xfrm>
            <a:prstGeom prst="rect">
              <a:avLst/>
            </a:prstGeom>
          </p:spPr>
          <p:txBody>
            <a:bodyPr anchor="ctr" rtlCol="false" tIns="50800" lIns="50800" bIns="50800" rIns="50800"/>
            <a:lstStyle/>
            <a:p>
              <a:pPr algn="ctr">
                <a:lnSpc>
                  <a:spcPts val="3216"/>
                </a:lnSpc>
              </a:pPr>
              <a:r>
                <a:rPr lang="en-US" b="true" sz="2297">
                  <a:solidFill>
                    <a:srgbClr val="F5FFF9"/>
                  </a:solidFill>
                  <a:latin typeface="Manifold Bold"/>
                  <a:ea typeface="Manifold Bold"/>
                  <a:cs typeface="Manifold Bold"/>
                  <a:sym typeface="Manifold Bold"/>
                </a:rPr>
                <a:t>Alpaca</a:t>
              </a:r>
            </a:p>
          </p:txBody>
        </p:sp>
      </p:grpSp>
      <p:sp>
        <p:nvSpPr>
          <p:cNvPr name="AutoShape 88" id="88"/>
          <p:cNvSpPr/>
          <p:nvPr/>
        </p:nvSpPr>
        <p:spPr>
          <a:xfrm>
            <a:off x="4392415" y="3330270"/>
            <a:ext cx="2388022" cy="0"/>
          </a:xfrm>
          <a:prstGeom prst="line">
            <a:avLst/>
          </a:prstGeom>
          <a:ln cap="flat" w="38100">
            <a:solidFill>
              <a:srgbClr val="1E4926"/>
            </a:solidFill>
            <a:prstDash val="solid"/>
            <a:headEnd type="none" len="sm" w="sm"/>
            <a:tailEnd type="triangle" len="med" w="lg"/>
          </a:ln>
        </p:spPr>
      </p:sp>
      <p:sp>
        <p:nvSpPr>
          <p:cNvPr name="AutoShape 89" id="89"/>
          <p:cNvSpPr/>
          <p:nvPr/>
        </p:nvSpPr>
        <p:spPr>
          <a:xfrm flipV="true">
            <a:off x="4392415" y="4203011"/>
            <a:ext cx="2356505" cy="130544"/>
          </a:xfrm>
          <a:prstGeom prst="line">
            <a:avLst/>
          </a:prstGeom>
          <a:ln cap="flat" w="38100">
            <a:solidFill>
              <a:srgbClr val="1E4926"/>
            </a:solidFill>
            <a:prstDash val="solid"/>
            <a:headEnd type="none" len="sm" w="sm"/>
            <a:tailEnd type="triangle" len="med" w="lg"/>
          </a:ln>
        </p:spPr>
      </p:sp>
      <p:sp>
        <p:nvSpPr>
          <p:cNvPr name="AutoShape 90" id="90"/>
          <p:cNvSpPr/>
          <p:nvPr/>
        </p:nvSpPr>
        <p:spPr>
          <a:xfrm>
            <a:off x="4392415" y="5336841"/>
            <a:ext cx="2325864" cy="0"/>
          </a:xfrm>
          <a:prstGeom prst="line">
            <a:avLst/>
          </a:prstGeom>
          <a:ln cap="flat" w="38100">
            <a:solidFill>
              <a:srgbClr val="1E4926"/>
            </a:solidFill>
            <a:prstDash val="solid"/>
            <a:headEnd type="none" len="sm" w="sm"/>
            <a:tailEnd type="triangle" len="med" w="lg"/>
          </a:ln>
        </p:spPr>
      </p:sp>
      <p:sp>
        <p:nvSpPr>
          <p:cNvPr name="AutoShape 91" id="91"/>
          <p:cNvSpPr/>
          <p:nvPr/>
        </p:nvSpPr>
        <p:spPr>
          <a:xfrm>
            <a:off x="4392415" y="6340127"/>
            <a:ext cx="2325864" cy="0"/>
          </a:xfrm>
          <a:prstGeom prst="line">
            <a:avLst/>
          </a:prstGeom>
          <a:ln cap="flat" w="38100">
            <a:solidFill>
              <a:srgbClr val="1E4926"/>
            </a:solidFill>
            <a:prstDash val="solid"/>
            <a:headEnd type="none" len="sm" w="sm"/>
            <a:tailEnd type="triangle" len="med" w="lg"/>
          </a:ln>
        </p:spPr>
      </p:sp>
      <p:sp>
        <p:nvSpPr>
          <p:cNvPr name="AutoShape 92" id="92"/>
          <p:cNvSpPr/>
          <p:nvPr/>
        </p:nvSpPr>
        <p:spPr>
          <a:xfrm>
            <a:off x="4392415" y="7343413"/>
            <a:ext cx="2325864" cy="0"/>
          </a:xfrm>
          <a:prstGeom prst="line">
            <a:avLst/>
          </a:prstGeom>
          <a:ln cap="flat" w="38100">
            <a:solidFill>
              <a:srgbClr val="1E4926"/>
            </a:solidFill>
            <a:prstDash val="solid"/>
            <a:headEnd type="none" len="sm" w="sm"/>
            <a:tailEnd type="triangle" len="med" w="lg"/>
          </a:ln>
        </p:spPr>
      </p:sp>
      <p:sp>
        <p:nvSpPr>
          <p:cNvPr name="AutoShape 93" id="93"/>
          <p:cNvSpPr/>
          <p:nvPr/>
        </p:nvSpPr>
        <p:spPr>
          <a:xfrm>
            <a:off x="4392415" y="8346698"/>
            <a:ext cx="2325864" cy="0"/>
          </a:xfrm>
          <a:prstGeom prst="line">
            <a:avLst/>
          </a:prstGeom>
          <a:ln cap="flat" w="38100">
            <a:solidFill>
              <a:srgbClr val="1E4926"/>
            </a:solidFill>
            <a:prstDash val="solid"/>
            <a:headEnd type="none" len="sm" w="sm"/>
            <a:tailEnd type="triangle" len="med" w="lg"/>
          </a:ln>
        </p:spPr>
      </p:sp>
    </p:spTree>
  </p:cSld>
  <p:clrMapOvr>
    <a:masterClrMapping/>
  </p:clrMapOvr>
</p:sld>
</file>

<file path=ppt/slides/slide19.xml><?xml version="1.0" encoding="utf-8"?>
<p:sld xmlns:p="http://schemas.openxmlformats.org/presentationml/2006/main" xmlns:a="http://schemas.openxmlformats.org/drawingml/2006/main" xmlns:r="http://schemas.openxmlformats.org/officeDocument/2006/relationships">
  <p:cSld>
    <p:bg>
      <p:bgPr>
        <a:solidFill>
          <a:srgbClr val="457C5B"/>
        </a:solidFill>
      </p:bgPr>
    </p:bg>
    <p:spTree>
      <p:nvGrpSpPr>
        <p:cNvPr id="1" name=""/>
        <p:cNvGrpSpPr/>
        <p:nvPr/>
      </p:nvGrpSpPr>
      <p:grpSpPr>
        <a:xfrm>
          <a:off x="0" y="0"/>
          <a:ext cx="0" cy="0"/>
          <a:chOff x="0" y="0"/>
          <a:chExt cx="0" cy="0"/>
        </a:xfrm>
      </p:grpSpPr>
      <p:grpSp>
        <p:nvGrpSpPr>
          <p:cNvPr name="Group 2" id="2"/>
          <p:cNvGrpSpPr/>
          <p:nvPr/>
        </p:nvGrpSpPr>
        <p:grpSpPr>
          <a:xfrm rot="9405415">
            <a:off x="-3401275" y="-1868725"/>
            <a:ext cx="5159957" cy="5159957"/>
            <a:chOff x="0" y="0"/>
            <a:chExt cx="812800" cy="812800"/>
          </a:xfrm>
        </p:grpSpPr>
        <p:sp>
          <p:nvSpPr>
            <p:cNvPr name="Freeform 3" id="3"/>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true">
              <a:gsLst>
                <a:gs pos="0">
                  <a:srgbClr val="9FC4AE">
                    <a:alpha val="66000"/>
                  </a:srgbClr>
                </a:gs>
                <a:gs pos="100000">
                  <a:srgbClr val="FFFFFF">
                    <a:alpha val="66000"/>
                  </a:srgbClr>
                </a:gs>
              </a:gsLst>
              <a:lin ang="0"/>
            </a:gradFill>
          </p:spPr>
        </p:sp>
        <p:sp>
          <p:nvSpPr>
            <p:cNvPr name="TextBox 4" id="4"/>
            <p:cNvSpPr txBox="true"/>
            <p:nvPr/>
          </p:nvSpPr>
          <p:spPr>
            <a:xfrm>
              <a:off x="76200" y="28575"/>
              <a:ext cx="660400" cy="708025"/>
            </a:xfrm>
            <a:prstGeom prst="rect">
              <a:avLst/>
            </a:prstGeom>
          </p:spPr>
          <p:txBody>
            <a:bodyPr anchor="ctr" rtlCol="false" tIns="50800" lIns="50800" bIns="50800" rIns="50800"/>
            <a:lstStyle/>
            <a:p>
              <a:pPr algn="ctr">
                <a:lnSpc>
                  <a:spcPts val="2936"/>
                </a:lnSpc>
              </a:pPr>
            </a:p>
          </p:txBody>
        </p:sp>
      </p:grpSp>
      <p:grpSp>
        <p:nvGrpSpPr>
          <p:cNvPr name="Group 5" id="5"/>
          <p:cNvGrpSpPr/>
          <p:nvPr/>
        </p:nvGrpSpPr>
        <p:grpSpPr>
          <a:xfrm rot="6936434">
            <a:off x="17514712" y="5360057"/>
            <a:ext cx="5817847" cy="5817847"/>
            <a:chOff x="0" y="0"/>
            <a:chExt cx="812800" cy="812800"/>
          </a:xfrm>
        </p:grpSpPr>
        <p:sp>
          <p:nvSpPr>
            <p:cNvPr name="Freeform 6" id="6"/>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true">
              <a:gsLst>
                <a:gs pos="0">
                  <a:srgbClr val="9FC4AE">
                    <a:alpha val="66000"/>
                  </a:srgbClr>
                </a:gs>
                <a:gs pos="100000">
                  <a:srgbClr val="FFFFFF">
                    <a:alpha val="66000"/>
                  </a:srgbClr>
                </a:gs>
              </a:gsLst>
              <a:lin ang="0"/>
            </a:gradFill>
          </p:spPr>
        </p:sp>
        <p:sp>
          <p:nvSpPr>
            <p:cNvPr name="TextBox 7" id="7"/>
            <p:cNvSpPr txBox="true"/>
            <p:nvPr/>
          </p:nvSpPr>
          <p:spPr>
            <a:xfrm>
              <a:off x="76200" y="28575"/>
              <a:ext cx="660400" cy="708025"/>
            </a:xfrm>
            <a:prstGeom prst="rect">
              <a:avLst/>
            </a:prstGeom>
          </p:spPr>
          <p:txBody>
            <a:bodyPr anchor="ctr" rtlCol="false" tIns="50800" lIns="50800" bIns="50800" rIns="50800"/>
            <a:lstStyle/>
            <a:p>
              <a:pPr algn="ctr">
                <a:lnSpc>
                  <a:spcPts val="2936"/>
                </a:lnSpc>
              </a:pPr>
            </a:p>
          </p:txBody>
        </p:sp>
      </p:grpSp>
      <p:sp>
        <p:nvSpPr>
          <p:cNvPr name="TextBox 8" id="8"/>
          <p:cNvSpPr txBox="true"/>
          <p:nvPr/>
        </p:nvSpPr>
        <p:spPr>
          <a:xfrm rot="0">
            <a:off x="4635878" y="914400"/>
            <a:ext cx="8798308" cy="946150"/>
          </a:xfrm>
          <a:prstGeom prst="rect">
            <a:avLst/>
          </a:prstGeom>
        </p:spPr>
        <p:txBody>
          <a:bodyPr anchor="t" rtlCol="false" tIns="0" lIns="0" bIns="0" rIns="0">
            <a:spAutoFit/>
          </a:bodyPr>
          <a:lstStyle/>
          <a:p>
            <a:pPr algn="ctr">
              <a:lnSpc>
                <a:spcPts val="7699"/>
              </a:lnSpc>
            </a:pPr>
            <a:r>
              <a:rPr lang="en-US" b="true" sz="5499">
                <a:solidFill>
                  <a:srgbClr val="F5FFF9"/>
                </a:solidFill>
                <a:latin typeface="Manifold Ultra-Bold"/>
                <a:ea typeface="Manifold Ultra-Bold"/>
                <a:cs typeface="Manifold Ultra-Bold"/>
                <a:sym typeface="Manifold Ultra-Bold"/>
              </a:rPr>
              <a:t>LITERATURE REVIEW</a:t>
            </a:r>
          </a:p>
        </p:txBody>
      </p:sp>
      <p:grpSp>
        <p:nvGrpSpPr>
          <p:cNvPr name="Group 9" id="9"/>
          <p:cNvGrpSpPr/>
          <p:nvPr/>
        </p:nvGrpSpPr>
        <p:grpSpPr>
          <a:xfrm rot="0">
            <a:off x="1205554" y="2688928"/>
            <a:ext cx="4782654" cy="5320551"/>
            <a:chOff x="0" y="0"/>
            <a:chExt cx="1340746" cy="1491537"/>
          </a:xfrm>
        </p:grpSpPr>
        <p:sp>
          <p:nvSpPr>
            <p:cNvPr name="Freeform 10" id="10"/>
            <p:cNvSpPr/>
            <p:nvPr/>
          </p:nvSpPr>
          <p:spPr>
            <a:xfrm flipH="false" flipV="false" rot="0">
              <a:off x="0" y="0"/>
              <a:ext cx="1340746" cy="1491537"/>
            </a:xfrm>
            <a:custGeom>
              <a:avLst/>
              <a:gdLst/>
              <a:ahLst/>
              <a:cxnLst/>
              <a:rect r="r" b="b" t="t" l="l"/>
              <a:pathLst>
                <a:path h="1491537" w="1340746">
                  <a:moveTo>
                    <a:pt x="29137" y="0"/>
                  </a:moveTo>
                  <a:lnTo>
                    <a:pt x="1311608" y="0"/>
                  </a:lnTo>
                  <a:cubicBezTo>
                    <a:pt x="1319336" y="0"/>
                    <a:pt x="1326747" y="3070"/>
                    <a:pt x="1332212" y="8534"/>
                  </a:cubicBezTo>
                  <a:cubicBezTo>
                    <a:pt x="1337676" y="13999"/>
                    <a:pt x="1340746" y="21410"/>
                    <a:pt x="1340746" y="29137"/>
                  </a:cubicBezTo>
                  <a:lnTo>
                    <a:pt x="1340746" y="1462399"/>
                  </a:lnTo>
                  <a:cubicBezTo>
                    <a:pt x="1340746" y="1470127"/>
                    <a:pt x="1337676" y="1477538"/>
                    <a:pt x="1332212" y="1483003"/>
                  </a:cubicBezTo>
                  <a:cubicBezTo>
                    <a:pt x="1326747" y="1488467"/>
                    <a:pt x="1319336" y="1491537"/>
                    <a:pt x="1311608" y="1491537"/>
                  </a:cubicBezTo>
                  <a:lnTo>
                    <a:pt x="29137" y="1491537"/>
                  </a:lnTo>
                  <a:cubicBezTo>
                    <a:pt x="21410" y="1491537"/>
                    <a:pt x="13999" y="1488467"/>
                    <a:pt x="8534" y="1483003"/>
                  </a:cubicBezTo>
                  <a:cubicBezTo>
                    <a:pt x="3070" y="1477538"/>
                    <a:pt x="0" y="1470127"/>
                    <a:pt x="0" y="1462399"/>
                  </a:cubicBezTo>
                  <a:lnTo>
                    <a:pt x="0" y="29137"/>
                  </a:lnTo>
                  <a:cubicBezTo>
                    <a:pt x="0" y="21410"/>
                    <a:pt x="3070" y="13999"/>
                    <a:pt x="8534" y="8534"/>
                  </a:cubicBezTo>
                  <a:cubicBezTo>
                    <a:pt x="13999" y="3070"/>
                    <a:pt x="21410" y="0"/>
                    <a:pt x="29137" y="0"/>
                  </a:cubicBezTo>
                  <a:close/>
                </a:path>
              </a:pathLst>
            </a:custGeom>
            <a:solidFill>
              <a:srgbClr val="F5FFF9"/>
            </a:solidFill>
          </p:spPr>
        </p:sp>
        <p:sp>
          <p:nvSpPr>
            <p:cNvPr name="TextBox 11" id="11"/>
            <p:cNvSpPr txBox="true"/>
            <p:nvPr/>
          </p:nvSpPr>
          <p:spPr>
            <a:xfrm>
              <a:off x="0" y="-47625"/>
              <a:ext cx="1340746" cy="1539162"/>
            </a:xfrm>
            <a:prstGeom prst="rect">
              <a:avLst/>
            </a:prstGeom>
          </p:spPr>
          <p:txBody>
            <a:bodyPr anchor="ctr" rtlCol="false" tIns="50800" lIns="50800" bIns="50800" rIns="50800"/>
            <a:lstStyle/>
            <a:p>
              <a:pPr algn="ctr">
                <a:lnSpc>
                  <a:spcPts val="2936"/>
                </a:lnSpc>
              </a:pPr>
            </a:p>
          </p:txBody>
        </p:sp>
      </p:grpSp>
      <p:grpSp>
        <p:nvGrpSpPr>
          <p:cNvPr name="Group 12" id="12"/>
          <p:cNvGrpSpPr/>
          <p:nvPr/>
        </p:nvGrpSpPr>
        <p:grpSpPr>
          <a:xfrm rot="0">
            <a:off x="6641978" y="2688928"/>
            <a:ext cx="4782654" cy="5320551"/>
            <a:chOff x="0" y="0"/>
            <a:chExt cx="1340746" cy="1491537"/>
          </a:xfrm>
        </p:grpSpPr>
        <p:sp>
          <p:nvSpPr>
            <p:cNvPr name="Freeform 13" id="13"/>
            <p:cNvSpPr/>
            <p:nvPr/>
          </p:nvSpPr>
          <p:spPr>
            <a:xfrm flipH="false" flipV="false" rot="0">
              <a:off x="0" y="0"/>
              <a:ext cx="1340746" cy="1491537"/>
            </a:xfrm>
            <a:custGeom>
              <a:avLst/>
              <a:gdLst/>
              <a:ahLst/>
              <a:cxnLst/>
              <a:rect r="r" b="b" t="t" l="l"/>
              <a:pathLst>
                <a:path h="1491537" w="1340746">
                  <a:moveTo>
                    <a:pt x="29137" y="0"/>
                  </a:moveTo>
                  <a:lnTo>
                    <a:pt x="1311608" y="0"/>
                  </a:lnTo>
                  <a:cubicBezTo>
                    <a:pt x="1319336" y="0"/>
                    <a:pt x="1326747" y="3070"/>
                    <a:pt x="1332212" y="8534"/>
                  </a:cubicBezTo>
                  <a:cubicBezTo>
                    <a:pt x="1337676" y="13999"/>
                    <a:pt x="1340746" y="21410"/>
                    <a:pt x="1340746" y="29137"/>
                  </a:cubicBezTo>
                  <a:lnTo>
                    <a:pt x="1340746" y="1462399"/>
                  </a:lnTo>
                  <a:cubicBezTo>
                    <a:pt x="1340746" y="1470127"/>
                    <a:pt x="1337676" y="1477538"/>
                    <a:pt x="1332212" y="1483003"/>
                  </a:cubicBezTo>
                  <a:cubicBezTo>
                    <a:pt x="1326747" y="1488467"/>
                    <a:pt x="1319336" y="1491537"/>
                    <a:pt x="1311608" y="1491537"/>
                  </a:cubicBezTo>
                  <a:lnTo>
                    <a:pt x="29137" y="1491537"/>
                  </a:lnTo>
                  <a:cubicBezTo>
                    <a:pt x="21410" y="1491537"/>
                    <a:pt x="13999" y="1488467"/>
                    <a:pt x="8534" y="1483003"/>
                  </a:cubicBezTo>
                  <a:cubicBezTo>
                    <a:pt x="3070" y="1477538"/>
                    <a:pt x="0" y="1470127"/>
                    <a:pt x="0" y="1462399"/>
                  </a:cubicBezTo>
                  <a:lnTo>
                    <a:pt x="0" y="29137"/>
                  </a:lnTo>
                  <a:cubicBezTo>
                    <a:pt x="0" y="21410"/>
                    <a:pt x="3070" y="13999"/>
                    <a:pt x="8534" y="8534"/>
                  </a:cubicBezTo>
                  <a:cubicBezTo>
                    <a:pt x="13999" y="3070"/>
                    <a:pt x="21410" y="0"/>
                    <a:pt x="29137" y="0"/>
                  </a:cubicBezTo>
                  <a:close/>
                </a:path>
              </a:pathLst>
            </a:custGeom>
            <a:solidFill>
              <a:srgbClr val="F5FFF9"/>
            </a:solidFill>
          </p:spPr>
        </p:sp>
        <p:sp>
          <p:nvSpPr>
            <p:cNvPr name="TextBox 14" id="14"/>
            <p:cNvSpPr txBox="true"/>
            <p:nvPr/>
          </p:nvSpPr>
          <p:spPr>
            <a:xfrm>
              <a:off x="0" y="-47625"/>
              <a:ext cx="1340746" cy="1539162"/>
            </a:xfrm>
            <a:prstGeom prst="rect">
              <a:avLst/>
            </a:prstGeom>
          </p:spPr>
          <p:txBody>
            <a:bodyPr anchor="ctr" rtlCol="false" tIns="50800" lIns="50800" bIns="50800" rIns="50800"/>
            <a:lstStyle/>
            <a:p>
              <a:pPr algn="ctr">
                <a:lnSpc>
                  <a:spcPts val="2936"/>
                </a:lnSpc>
              </a:pPr>
            </a:p>
          </p:txBody>
        </p:sp>
      </p:grpSp>
      <p:grpSp>
        <p:nvGrpSpPr>
          <p:cNvPr name="Group 15" id="15"/>
          <p:cNvGrpSpPr/>
          <p:nvPr/>
        </p:nvGrpSpPr>
        <p:grpSpPr>
          <a:xfrm rot="0">
            <a:off x="12081857" y="2688928"/>
            <a:ext cx="4782654" cy="5320551"/>
            <a:chOff x="0" y="0"/>
            <a:chExt cx="1340746" cy="1491537"/>
          </a:xfrm>
        </p:grpSpPr>
        <p:sp>
          <p:nvSpPr>
            <p:cNvPr name="Freeform 16" id="16"/>
            <p:cNvSpPr/>
            <p:nvPr/>
          </p:nvSpPr>
          <p:spPr>
            <a:xfrm flipH="false" flipV="false" rot="0">
              <a:off x="0" y="0"/>
              <a:ext cx="1340746" cy="1491537"/>
            </a:xfrm>
            <a:custGeom>
              <a:avLst/>
              <a:gdLst/>
              <a:ahLst/>
              <a:cxnLst/>
              <a:rect r="r" b="b" t="t" l="l"/>
              <a:pathLst>
                <a:path h="1491537" w="1340746">
                  <a:moveTo>
                    <a:pt x="29137" y="0"/>
                  </a:moveTo>
                  <a:lnTo>
                    <a:pt x="1311608" y="0"/>
                  </a:lnTo>
                  <a:cubicBezTo>
                    <a:pt x="1319336" y="0"/>
                    <a:pt x="1326747" y="3070"/>
                    <a:pt x="1332212" y="8534"/>
                  </a:cubicBezTo>
                  <a:cubicBezTo>
                    <a:pt x="1337676" y="13999"/>
                    <a:pt x="1340746" y="21410"/>
                    <a:pt x="1340746" y="29137"/>
                  </a:cubicBezTo>
                  <a:lnTo>
                    <a:pt x="1340746" y="1462399"/>
                  </a:lnTo>
                  <a:cubicBezTo>
                    <a:pt x="1340746" y="1470127"/>
                    <a:pt x="1337676" y="1477538"/>
                    <a:pt x="1332212" y="1483003"/>
                  </a:cubicBezTo>
                  <a:cubicBezTo>
                    <a:pt x="1326747" y="1488467"/>
                    <a:pt x="1319336" y="1491537"/>
                    <a:pt x="1311608" y="1491537"/>
                  </a:cubicBezTo>
                  <a:lnTo>
                    <a:pt x="29137" y="1491537"/>
                  </a:lnTo>
                  <a:cubicBezTo>
                    <a:pt x="21410" y="1491537"/>
                    <a:pt x="13999" y="1488467"/>
                    <a:pt x="8534" y="1483003"/>
                  </a:cubicBezTo>
                  <a:cubicBezTo>
                    <a:pt x="3070" y="1477538"/>
                    <a:pt x="0" y="1470127"/>
                    <a:pt x="0" y="1462399"/>
                  </a:cubicBezTo>
                  <a:lnTo>
                    <a:pt x="0" y="29137"/>
                  </a:lnTo>
                  <a:cubicBezTo>
                    <a:pt x="0" y="21410"/>
                    <a:pt x="3070" y="13999"/>
                    <a:pt x="8534" y="8534"/>
                  </a:cubicBezTo>
                  <a:cubicBezTo>
                    <a:pt x="13999" y="3070"/>
                    <a:pt x="21410" y="0"/>
                    <a:pt x="29137" y="0"/>
                  </a:cubicBezTo>
                  <a:close/>
                </a:path>
              </a:pathLst>
            </a:custGeom>
            <a:solidFill>
              <a:srgbClr val="F5FFF9"/>
            </a:solidFill>
          </p:spPr>
        </p:sp>
        <p:sp>
          <p:nvSpPr>
            <p:cNvPr name="TextBox 17" id="17"/>
            <p:cNvSpPr txBox="true"/>
            <p:nvPr/>
          </p:nvSpPr>
          <p:spPr>
            <a:xfrm>
              <a:off x="0" y="-47625"/>
              <a:ext cx="1340746" cy="1539162"/>
            </a:xfrm>
            <a:prstGeom prst="rect">
              <a:avLst/>
            </a:prstGeom>
          </p:spPr>
          <p:txBody>
            <a:bodyPr anchor="ctr" rtlCol="false" tIns="50800" lIns="50800" bIns="50800" rIns="50800"/>
            <a:lstStyle/>
            <a:p>
              <a:pPr algn="ctr">
                <a:lnSpc>
                  <a:spcPts val="2936"/>
                </a:lnSpc>
              </a:pPr>
            </a:p>
          </p:txBody>
        </p:sp>
      </p:grpSp>
      <p:sp>
        <p:nvSpPr>
          <p:cNvPr name="TextBox 18" id="18"/>
          <p:cNvSpPr txBox="true"/>
          <p:nvPr/>
        </p:nvSpPr>
        <p:spPr>
          <a:xfrm rot="0">
            <a:off x="1209009" y="2826370"/>
            <a:ext cx="4779199" cy="1562171"/>
          </a:xfrm>
          <a:prstGeom prst="rect">
            <a:avLst/>
          </a:prstGeom>
        </p:spPr>
        <p:txBody>
          <a:bodyPr anchor="t" rtlCol="false" tIns="0" lIns="0" bIns="0" rIns="0">
            <a:spAutoFit/>
          </a:bodyPr>
          <a:lstStyle/>
          <a:p>
            <a:pPr algn="ctr">
              <a:lnSpc>
                <a:spcPts val="4196"/>
              </a:lnSpc>
            </a:pPr>
            <a:r>
              <a:rPr lang="en-US" sz="2997" b="true">
                <a:solidFill>
                  <a:srgbClr val="457C5B"/>
                </a:solidFill>
                <a:latin typeface="Manifold Bold"/>
                <a:ea typeface="Manifold Bold"/>
                <a:cs typeface="Manifold Bold"/>
                <a:sym typeface="Manifold Bold"/>
              </a:rPr>
              <a:t>A Systematic Survey of Automatic Prompt OptimizationTechniques </a:t>
            </a:r>
          </a:p>
        </p:txBody>
      </p:sp>
      <p:sp>
        <p:nvSpPr>
          <p:cNvPr name="TextBox 19" id="19"/>
          <p:cNvSpPr txBox="true"/>
          <p:nvPr/>
        </p:nvSpPr>
        <p:spPr>
          <a:xfrm rot="0">
            <a:off x="6645433" y="2826370"/>
            <a:ext cx="4779199" cy="1562171"/>
          </a:xfrm>
          <a:prstGeom prst="rect">
            <a:avLst/>
          </a:prstGeom>
        </p:spPr>
        <p:txBody>
          <a:bodyPr anchor="t" rtlCol="false" tIns="0" lIns="0" bIns="0" rIns="0">
            <a:spAutoFit/>
          </a:bodyPr>
          <a:lstStyle/>
          <a:p>
            <a:pPr algn="ctr">
              <a:lnSpc>
                <a:spcPts val="4196"/>
              </a:lnSpc>
            </a:pPr>
            <a:r>
              <a:rPr lang="en-US" sz="2997" b="true">
                <a:solidFill>
                  <a:srgbClr val="457C5B"/>
                </a:solidFill>
                <a:latin typeface="Manifold Bold"/>
                <a:ea typeface="Manifold Bold"/>
                <a:cs typeface="Manifold Bold"/>
                <a:sym typeface="Manifold Bold"/>
              </a:rPr>
              <a:t> Towards LLMs Robustness to Changes in Prompt Format Styles</a:t>
            </a:r>
          </a:p>
        </p:txBody>
      </p:sp>
      <p:sp>
        <p:nvSpPr>
          <p:cNvPr name="TextBox 20" id="20"/>
          <p:cNvSpPr txBox="true"/>
          <p:nvPr/>
        </p:nvSpPr>
        <p:spPr>
          <a:xfrm rot="0">
            <a:off x="12085312" y="2826370"/>
            <a:ext cx="4779199" cy="1038296"/>
          </a:xfrm>
          <a:prstGeom prst="rect">
            <a:avLst/>
          </a:prstGeom>
        </p:spPr>
        <p:txBody>
          <a:bodyPr anchor="t" rtlCol="false" tIns="0" lIns="0" bIns="0" rIns="0">
            <a:spAutoFit/>
          </a:bodyPr>
          <a:lstStyle/>
          <a:p>
            <a:pPr algn="ctr">
              <a:lnSpc>
                <a:spcPts val="4196"/>
              </a:lnSpc>
            </a:pPr>
            <a:r>
              <a:rPr lang="en-US" sz="2997" b="true">
                <a:solidFill>
                  <a:srgbClr val="457C5B"/>
                </a:solidFill>
                <a:latin typeface="Manifold Bold"/>
                <a:ea typeface="Manifold Bold"/>
                <a:cs typeface="Manifold Bold"/>
                <a:sym typeface="Manifold Bold"/>
              </a:rPr>
              <a:t>CAPO: Cost-Aware Prompt Optimization</a:t>
            </a:r>
          </a:p>
        </p:txBody>
      </p:sp>
      <p:sp>
        <p:nvSpPr>
          <p:cNvPr name="Freeform 21" id="21"/>
          <p:cNvSpPr/>
          <p:nvPr/>
        </p:nvSpPr>
        <p:spPr>
          <a:xfrm flipH="false" flipV="false" rot="0">
            <a:off x="-2006420" y="8933198"/>
            <a:ext cx="2992899" cy="2992899"/>
          </a:xfrm>
          <a:custGeom>
            <a:avLst/>
            <a:gdLst/>
            <a:ahLst/>
            <a:cxnLst/>
            <a:rect r="r" b="b" t="t" l="l"/>
            <a:pathLst>
              <a:path h="2992899" w="2992899">
                <a:moveTo>
                  <a:pt x="0" y="0"/>
                </a:moveTo>
                <a:lnTo>
                  <a:pt x="2992899" y="0"/>
                </a:lnTo>
                <a:lnTo>
                  <a:pt x="2992899" y="2992899"/>
                </a:lnTo>
                <a:lnTo>
                  <a:pt x="0" y="2992899"/>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22" id="22"/>
          <p:cNvSpPr/>
          <p:nvPr/>
        </p:nvSpPr>
        <p:spPr>
          <a:xfrm flipH="false" flipV="false" rot="0">
            <a:off x="16543197" y="-785196"/>
            <a:ext cx="2992899" cy="2992899"/>
          </a:xfrm>
          <a:custGeom>
            <a:avLst/>
            <a:gdLst/>
            <a:ahLst/>
            <a:cxnLst/>
            <a:rect r="r" b="b" t="t" l="l"/>
            <a:pathLst>
              <a:path h="2992899" w="2992899">
                <a:moveTo>
                  <a:pt x="0" y="0"/>
                </a:moveTo>
                <a:lnTo>
                  <a:pt x="2992898" y="0"/>
                </a:lnTo>
                <a:lnTo>
                  <a:pt x="2992898" y="2992899"/>
                </a:lnTo>
                <a:lnTo>
                  <a:pt x="0" y="2992899"/>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23" id="23"/>
          <p:cNvSpPr/>
          <p:nvPr/>
        </p:nvSpPr>
        <p:spPr>
          <a:xfrm flipH="false" flipV="false" rot="0">
            <a:off x="185225" y="296308"/>
            <a:ext cx="1686949" cy="1283956"/>
          </a:xfrm>
          <a:custGeom>
            <a:avLst/>
            <a:gdLst/>
            <a:ahLst/>
            <a:cxnLst/>
            <a:rect r="r" b="b" t="t" l="l"/>
            <a:pathLst>
              <a:path h="1283956" w="1686949">
                <a:moveTo>
                  <a:pt x="0" y="0"/>
                </a:moveTo>
                <a:lnTo>
                  <a:pt x="1686950" y="0"/>
                </a:lnTo>
                <a:lnTo>
                  <a:pt x="1686950" y="1283956"/>
                </a:lnTo>
                <a:lnTo>
                  <a:pt x="0" y="1283956"/>
                </a:lnTo>
                <a:lnTo>
                  <a:pt x="0" y="0"/>
                </a:lnTo>
                <a:close/>
              </a:path>
            </a:pathLst>
          </a:custGeom>
          <a:blipFill>
            <a:blip r:embed="rId4"/>
            <a:stretch>
              <a:fillRect l="0" t="0" r="0" b="0"/>
            </a:stretch>
          </a:blipFill>
        </p:spPr>
      </p:sp>
      <p:sp>
        <p:nvSpPr>
          <p:cNvPr name="TextBox 24" id="24"/>
          <p:cNvSpPr txBox="true"/>
          <p:nvPr/>
        </p:nvSpPr>
        <p:spPr>
          <a:xfrm rot="0">
            <a:off x="1378895" y="4847516"/>
            <a:ext cx="4439428" cy="2223205"/>
          </a:xfrm>
          <a:prstGeom prst="rect">
            <a:avLst/>
          </a:prstGeom>
        </p:spPr>
        <p:txBody>
          <a:bodyPr anchor="t" rtlCol="false" tIns="0" lIns="0" bIns="0" rIns="0">
            <a:spAutoFit/>
          </a:bodyPr>
          <a:lstStyle/>
          <a:p>
            <a:pPr algn="l">
              <a:lnSpc>
                <a:spcPts val="2936"/>
              </a:lnSpc>
              <a:spcBef>
                <a:spcPct val="0"/>
              </a:spcBef>
            </a:pPr>
            <a:r>
              <a:rPr lang="en-US" b="true" sz="2097">
                <a:solidFill>
                  <a:srgbClr val="457C5B"/>
                </a:solidFill>
                <a:latin typeface="Manifold Bold"/>
                <a:ea typeface="Manifold Bold"/>
                <a:cs typeface="Manifold Bold"/>
                <a:sym typeface="Manifold Bold"/>
              </a:rPr>
              <a:t>Surveys a</a:t>
            </a:r>
            <a:r>
              <a:rPr lang="en-US" b="true" sz="2097">
                <a:solidFill>
                  <a:srgbClr val="457C5B"/>
                </a:solidFill>
                <a:latin typeface="Manifold Bold"/>
                <a:ea typeface="Manifold Bold"/>
                <a:cs typeface="Manifold Bold"/>
                <a:sym typeface="Manifold Bold"/>
              </a:rPr>
              <a:t>nd defines Automatic Prompt Optimization as a field, offering a taxonomy of existing approaches, but proposes no method of its own or lightweight, self-hosted solution.</a:t>
            </a:r>
          </a:p>
        </p:txBody>
      </p:sp>
      <p:sp>
        <p:nvSpPr>
          <p:cNvPr name="TextBox 25" id="25"/>
          <p:cNvSpPr txBox="true"/>
          <p:nvPr/>
        </p:nvSpPr>
        <p:spPr>
          <a:xfrm rot="0">
            <a:off x="6815318" y="4847516"/>
            <a:ext cx="4439428" cy="1851730"/>
          </a:xfrm>
          <a:prstGeom prst="rect">
            <a:avLst/>
          </a:prstGeom>
        </p:spPr>
        <p:txBody>
          <a:bodyPr anchor="t" rtlCol="false" tIns="0" lIns="0" bIns="0" rIns="0">
            <a:spAutoFit/>
          </a:bodyPr>
          <a:lstStyle/>
          <a:p>
            <a:pPr algn="l">
              <a:lnSpc>
                <a:spcPts val="2936"/>
              </a:lnSpc>
              <a:spcBef>
                <a:spcPct val="0"/>
              </a:spcBef>
            </a:pPr>
            <a:r>
              <a:rPr lang="en-US" b="true" sz="2097">
                <a:solidFill>
                  <a:srgbClr val="457C5B"/>
                </a:solidFill>
                <a:latin typeface="Manifold Bold"/>
                <a:ea typeface="Manifold Bold"/>
                <a:cs typeface="Manifold Bold"/>
                <a:sym typeface="Manifold Bold"/>
              </a:rPr>
              <a:t>Shows </a:t>
            </a:r>
            <a:r>
              <a:rPr lang="en-US" b="true" sz="2097">
                <a:solidFill>
                  <a:srgbClr val="457C5B"/>
                </a:solidFill>
                <a:latin typeface="Manifold Bold"/>
                <a:ea typeface="Manifold Bold"/>
                <a:cs typeface="Manifold Bold"/>
                <a:sym typeface="Manifold Bold"/>
              </a:rPr>
              <a:t>that prompt formatting alone significantly affects LLM output quality, but focuses on training models to be robust, not on optimizing the prompt itself.</a:t>
            </a:r>
          </a:p>
        </p:txBody>
      </p:sp>
      <p:sp>
        <p:nvSpPr>
          <p:cNvPr name="TextBox 26" id="26"/>
          <p:cNvSpPr txBox="true"/>
          <p:nvPr/>
        </p:nvSpPr>
        <p:spPr>
          <a:xfrm rot="0">
            <a:off x="12251742" y="4847516"/>
            <a:ext cx="4439428" cy="1851730"/>
          </a:xfrm>
          <a:prstGeom prst="rect">
            <a:avLst/>
          </a:prstGeom>
        </p:spPr>
        <p:txBody>
          <a:bodyPr anchor="t" rtlCol="false" tIns="0" lIns="0" bIns="0" rIns="0">
            <a:spAutoFit/>
          </a:bodyPr>
          <a:lstStyle/>
          <a:p>
            <a:pPr algn="l">
              <a:lnSpc>
                <a:spcPts val="2936"/>
              </a:lnSpc>
              <a:spcBef>
                <a:spcPct val="0"/>
              </a:spcBef>
            </a:pPr>
            <a:r>
              <a:rPr lang="en-US" b="true" sz="2097">
                <a:solidFill>
                  <a:srgbClr val="457C5B"/>
                </a:solidFill>
                <a:latin typeface="Manifold Bold"/>
                <a:ea typeface="Manifold Bold"/>
                <a:cs typeface="Manifold Bold"/>
                <a:sym typeface="Manifold Bold"/>
              </a:rPr>
              <a:t>Uses </a:t>
            </a:r>
            <a:r>
              <a:rPr lang="en-US" b="true" sz="2097">
                <a:solidFill>
                  <a:srgbClr val="457C5B"/>
                </a:solidFill>
                <a:latin typeface="Manifold Bold"/>
                <a:ea typeface="Manifold Bold"/>
                <a:cs typeface="Manifold Bold"/>
                <a:sym typeface="Manifold Bold"/>
              </a:rPr>
              <a:t>evolutionary search to balance prompt quality against length and cost, but the approach is computationally expensive, unsuitable for lightweight or self-hosted use.</a:t>
            </a:r>
          </a:p>
        </p:txBody>
      </p:sp>
      <p:sp>
        <p:nvSpPr>
          <p:cNvPr name="TextBox 27" id="27"/>
          <p:cNvSpPr txBox="true"/>
          <p:nvPr/>
        </p:nvSpPr>
        <p:spPr>
          <a:xfrm rot="0">
            <a:off x="3502334" y="7540201"/>
            <a:ext cx="2377976" cy="332810"/>
          </a:xfrm>
          <a:prstGeom prst="rect">
            <a:avLst/>
          </a:prstGeom>
        </p:spPr>
        <p:txBody>
          <a:bodyPr anchor="t" rtlCol="false" tIns="0" lIns="0" bIns="0" rIns="0">
            <a:spAutoFit/>
          </a:bodyPr>
          <a:lstStyle/>
          <a:p>
            <a:pPr algn="ctr">
              <a:lnSpc>
                <a:spcPts val="2656"/>
              </a:lnSpc>
              <a:spcBef>
                <a:spcPct val="0"/>
              </a:spcBef>
            </a:pPr>
            <a:r>
              <a:rPr lang="en-US" b="true" sz="1897" i="true">
                <a:solidFill>
                  <a:srgbClr val="457C5B"/>
                </a:solidFill>
                <a:latin typeface="Manifold Bold Italics"/>
                <a:ea typeface="Manifold Bold Italics"/>
                <a:cs typeface="Manifold Bold Italics"/>
                <a:sym typeface="Manifold Bold Italics"/>
              </a:rPr>
              <a:t>~R</a:t>
            </a:r>
            <a:r>
              <a:rPr lang="en-US" b="true" sz="1897" i="true">
                <a:solidFill>
                  <a:srgbClr val="457C5B"/>
                </a:solidFill>
                <a:latin typeface="Manifold Bold Italics"/>
                <a:ea typeface="Manifold Bold Italics"/>
                <a:cs typeface="Manifold Bold Italics"/>
                <a:sym typeface="Manifold Bold Italics"/>
              </a:rPr>
              <a:t>amnath et al. (2025)</a:t>
            </a:r>
          </a:p>
        </p:txBody>
      </p:sp>
      <p:sp>
        <p:nvSpPr>
          <p:cNvPr name="TextBox 28" id="28"/>
          <p:cNvSpPr txBox="true"/>
          <p:nvPr/>
        </p:nvSpPr>
        <p:spPr>
          <a:xfrm rot="0">
            <a:off x="8948134" y="7540201"/>
            <a:ext cx="2235250" cy="332810"/>
          </a:xfrm>
          <a:prstGeom prst="rect">
            <a:avLst/>
          </a:prstGeom>
        </p:spPr>
        <p:txBody>
          <a:bodyPr anchor="t" rtlCol="false" tIns="0" lIns="0" bIns="0" rIns="0">
            <a:spAutoFit/>
          </a:bodyPr>
          <a:lstStyle/>
          <a:p>
            <a:pPr algn="ctr">
              <a:lnSpc>
                <a:spcPts val="2656"/>
              </a:lnSpc>
              <a:spcBef>
                <a:spcPct val="0"/>
              </a:spcBef>
            </a:pPr>
            <a:r>
              <a:rPr lang="en-US" b="true" sz="1897" i="true">
                <a:solidFill>
                  <a:srgbClr val="457C5B"/>
                </a:solidFill>
                <a:latin typeface="Manifold Bold Italics"/>
                <a:ea typeface="Manifold Bold Italics"/>
                <a:cs typeface="Manifold Bold Italics"/>
                <a:sym typeface="Manifold Bold Italics"/>
              </a:rPr>
              <a:t>~Ngwe</a:t>
            </a:r>
            <a:r>
              <a:rPr lang="en-US" b="true" sz="1897" i="true">
                <a:solidFill>
                  <a:srgbClr val="457C5B"/>
                </a:solidFill>
                <a:latin typeface="Manifold Bold Italics"/>
                <a:ea typeface="Manifold Bold Italics"/>
                <a:cs typeface="Manifold Bold Italics"/>
                <a:sym typeface="Manifold Bold Italics"/>
              </a:rPr>
              <a:t>ta et al. (2025)</a:t>
            </a:r>
          </a:p>
        </p:txBody>
      </p:sp>
      <p:sp>
        <p:nvSpPr>
          <p:cNvPr name="TextBox 29" id="29"/>
          <p:cNvSpPr txBox="true"/>
          <p:nvPr/>
        </p:nvSpPr>
        <p:spPr>
          <a:xfrm rot="0">
            <a:off x="14697022" y="7540201"/>
            <a:ext cx="1994148" cy="332810"/>
          </a:xfrm>
          <a:prstGeom prst="rect">
            <a:avLst/>
          </a:prstGeom>
        </p:spPr>
        <p:txBody>
          <a:bodyPr anchor="t" rtlCol="false" tIns="0" lIns="0" bIns="0" rIns="0">
            <a:spAutoFit/>
          </a:bodyPr>
          <a:lstStyle/>
          <a:p>
            <a:pPr algn="ctr">
              <a:lnSpc>
                <a:spcPts val="2656"/>
              </a:lnSpc>
              <a:spcBef>
                <a:spcPct val="0"/>
              </a:spcBef>
            </a:pPr>
            <a:r>
              <a:rPr lang="en-US" b="true" sz="1897" i="true">
                <a:solidFill>
                  <a:srgbClr val="457C5B"/>
                </a:solidFill>
                <a:latin typeface="Manifold Bold Italics"/>
                <a:ea typeface="Manifold Bold Italics"/>
                <a:cs typeface="Manifold Bold Italics"/>
                <a:sym typeface="Manifold Bold Italics"/>
              </a:rPr>
              <a:t>~Ze</a:t>
            </a:r>
            <a:r>
              <a:rPr lang="en-US" b="true" sz="1897" i="true">
                <a:solidFill>
                  <a:srgbClr val="457C5B"/>
                </a:solidFill>
                <a:latin typeface="Manifold Bold Italics"/>
                <a:ea typeface="Manifold Bold Italics"/>
                <a:cs typeface="Manifold Bold Italics"/>
                <a:sym typeface="Manifold Bold Italics"/>
              </a:rPr>
              <a:t>hle et al. (2025)</a:t>
            </a:r>
          </a:p>
        </p:txBody>
      </p:sp>
    </p:spTree>
  </p:cSld>
  <p:clrMapOvr>
    <a:masterClrMapping/>
  </p:clrMapOvr>
</p:sld>
</file>

<file path=ppt/slides/slide20.xml><?xml version="1.0" encoding="utf-8"?>
<p:sld xmlns:p="http://schemas.openxmlformats.org/presentationml/2006/main" xmlns:a="http://schemas.openxmlformats.org/drawingml/2006/main" xmlns:r="http://schemas.openxmlformats.org/officeDocument/2006/relationships">
  <p:cSld>
    <p:bg>
      <p:bgPr>
        <a:solidFill>
          <a:srgbClr val="F5FFF9"/>
        </a:solidFill>
      </p:bgPr>
    </p:bg>
    <p:spTree>
      <p:nvGrpSpPr>
        <p:cNvPr id="1" name=""/>
        <p:cNvGrpSpPr/>
        <p:nvPr/>
      </p:nvGrpSpPr>
      <p:grpSpPr>
        <a:xfrm>
          <a:off x="0" y="0"/>
          <a:ext cx="0" cy="0"/>
          <a:chOff x="0" y="0"/>
          <a:chExt cx="0" cy="0"/>
        </a:xfrm>
      </p:grpSpPr>
      <p:grpSp>
        <p:nvGrpSpPr>
          <p:cNvPr name="Group 2" id="2"/>
          <p:cNvGrpSpPr/>
          <p:nvPr/>
        </p:nvGrpSpPr>
        <p:grpSpPr>
          <a:xfrm rot="1065972">
            <a:off x="-1561962" y="-520880"/>
            <a:ext cx="11464130" cy="11464130"/>
            <a:chOff x="0" y="0"/>
            <a:chExt cx="812800" cy="812800"/>
          </a:xfrm>
        </p:grpSpPr>
        <p:sp>
          <p:nvSpPr>
            <p:cNvPr name="Freeform 3" id="3"/>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true">
              <a:gsLst>
                <a:gs pos="0">
                  <a:srgbClr val="9FC4AE">
                    <a:alpha val="66000"/>
                  </a:srgbClr>
                </a:gs>
                <a:gs pos="100000">
                  <a:srgbClr val="FFFFFF">
                    <a:alpha val="66000"/>
                  </a:srgbClr>
                </a:gs>
              </a:gsLst>
              <a:lin ang="0"/>
            </a:gradFill>
          </p:spPr>
        </p:sp>
        <p:sp>
          <p:nvSpPr>
            <p:cNvPr name="TextBox 4" id="4"/>
            <p:cNvSpPr txBox="true"/>
            <p:nvPr/>
          </p:nvSpPr>
          <p:spPr>
            <a:xfrm>
              <a:off x="76200" y="28575"/>
              <a:ext cx="660400" cy="708025"/>
            </a:xfrm>
            <a:prstGeom prst="rect">
              <a:avLst/>
            </a:prstGeom>
          </p:spPr>
          <p:txBody>
            <a:bodyPr anchor="ctr" rtlCol="false" tIns="50800" lIns="50800" bIns="50800" rIns="50800"/>
            <a:lstStyle/>
            <a:p>
              <a:pPr algn="ctr">
                <a:lnSpc>
                  <a:spcPts val="2936"/>
                </a:lnSpc>
              </a:pPr>
            </a:p>
          </p:txBody>
        </p:sp>
      </p:grpSp>
      <p:sp>
        <p:nvSpPr>
          <p:cNvPr name="Freeform 5" id="5"/>
          <p:cNvSpPr/>
          <p:nvPr/>
        </p:nvSpPr>
        <p:spPr>
          <a:xfrm flipH="false" flipV="false" rot="0">
            <a:off x="185225" y="296308"/>
            <a:ext cx="1686949" cy="1283956"/>
          </a:xfrm>
          <a:custGeom>
            <a:avLst/>
            <a:gdLst/>
            <a:ahLst/>
            <a:cxnLst/>
            <a:rect r="r" b="b" t="t" l="l"/>
            <a:pathLst>
              <a:path h="1283956" w="1686949">
                <a:moveTo>
                  <a:pt x="0" y="0"/>
                </a:moveTo>
                <a:lnTo>
                  <a:pt x="1686950" y="0"/>
                </a:lnTo>
                <a:lnTo>
                  <a:pt x="1686950" y="1283956"/>
                </a:lnTo>
                <a:lnTo>
                  <a:pt x="0" y="1283956"/>
                </a:lnTo>
                <a:lnTo>
                  <a:pt x="0" y="0"/>
                </a:lnTo>
                <a:close/>
              </a:path>
            </a:pathLst>
          </a:custGeom>
          <a:blipFill>
            <a:blip r:embed="rId2"/>
            <a:stretch>
              <a:fillRect l="0" t="0" r="0" b="0"/>
            </a:stretch>
          </a:blipFill>
        </p:spPr>
      </p:sp>
      <p:grpSp>
        <p:nvGrpSpPr>
          <p:cNvPr name="Group 6" id="6"/>
          <p:cNvGrpSpPr/>
          <p:nvPr/>
        </p:nvGrpSpPr>
        <p:grpSpPr>
          <a:xfrm rot="9405415">
            <a:off x="15708021" y="7901905"/>
            <a:ext cx="5159957" cy="5159957"/>
            <a:chOff x="0" y="0"/>
            <a:chExt cx="812800" cy="812800"/>
          </a:xfrm>
        </p:grpSpPr>
        <p:sp>
          <p:nvSpPr>
            <p:cNvPr name="Freeform 7" id="7"/>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true">
              <a:gsLst>
                <a:gs pos="0">
                  <a:srgbClr val="9FC4AE">
                    <a:alpha val="66000"/>
                  </a:srgbClr>
                </a:gs>
                <a:gs pos="100000">
                  <a:srgbClr val="FFFFFF">
                    <a:alpha val="66000"/>
                  </a:srgbClr>
                </a:gs>
              </a:gsLst>
              <a:lin ang="0"/>
            </a:gradFill>
          </p:spPr>
        </p:sp>
        <p:sp>
          <p:nvSpPr>
            <p:cNvPr name="TextBox 8" id="8"/>
            <p:cNvSpPr txBox="true"/>
            <p:nvPr/>
          </p:nvSpPr>
          <p:spPr>
            <a:xfrm>
              <a:off x="76200" y="28575"/>
              <a:ext cx="660400" cy="708025"/>
            </a:xfrm>
            <a:prstGeom prst="rect">
              <a:avLst/>
            </a:prstGeom>
          </p:spPr>
          <p:txBody>
            <a:bodyPr anchor="ctr" rtlCol="false" tIns="50800" lIns="50800" bIns="50800" rIns="50800"/>
            <a:lstStyle/>
            <a:p>
              <a:pPr algn="ctr">
                <a:lnSpc>
                  <a:spcPts val="2936"/>
                </a:lnSpc>
              </a:pPr>
            </a:p>
          </p:txBody>
        </p:sp>
      </p:grpSp>
      <p:grpSp>
        <p:nvGrpSpPr>
          <p:cNvPr name="Group 9" id="9"/>
          <p:cNvGrpSpPr/>
          <p:nvPr/>
        </p:nvGrpSpPr>
        <p:grpSpPr>
          <a:xfrm rot="0">
            <a:off x="2481327" y="1294651"/>
            <a:ext cx="2368396" cy="497341"/>
            <a:chOff x="0" y="0"/>
            <a:chExt cx="623775" cy="130987"/>
          </a:xfrm>
        </p:grpSpPr>
        <p:sp>
          <p:nvSpPr>
            <p:cNvPr name="Freeform 10" id="10"/>
            <p:cNvSpPr/>
            <p:nvPr/>
          </p:nvSpPr>
          <p:spPr>
            <a:xfrm flipH="false" flipV="false" rot="0">
              <a:off x="0" y="0"/>
              <a:ext cx="623775" cy="130987"/>
            </a:xfrm>
            <a:custGeom>
              <a:avLst/>
              <a:gdLst/>
              <a:ahLst/>
              <a:cxnLst/>
              <a:rect r="r" b="b" t="t" l="l"/>
              <a:pathLst>
                <a:path h="130987" w="623775">
                  <a:moveTo>
                    <a:pt x="65493" y="0"/>
                  </a:moveTo>
                  <a:lnTo>
                    <a:pt x="558282" y="0"/>
                  </a:lnTo>
                  <a:cubicBezTo>
                    <a:pt x="594453" y="0"/>
                    <a:pt x="623775" y="29322"/>
                    <a:pt x="623775" y="65493"/>
                  </a:cubicBezTo>
                  <a:lnTo>
                    <a:pt x="623775" y="65493"/>
                  </a:lnTo>
                  <a:cubicBezTo>
                    <a:pt x="623775" y="82863"/>
                    <a:pt x="616875" y="99522"/>
                    <a:pt x="604592" y="111804"/>
                  </a:cubicBezTo>
                  <a:cubicBezTo>
                    <a:pt x="592310" y="124087"/>
                    <a:pt x="575651" y="130987"/>
                    <a:pt x="558282" y="130987"/>
                  </a:cubicBezTo>
                  <a:lnTo>
                    <a:pt x="65493" y="130987"/>
                  </a:lnTo>
                  <a:cubicBezTo>
                    <a:pt x="29322" y="130987"/>
                    <a:pt x="0" y="101665"/>
                    <a:pt x="0" y="65493"/>
                  </a:cubicBezTo>
                  <a:lnTo>
                    <a:pt x="0" y="65493"/>
                  </a:lnTo>
                  <a:cubicBezTo>
                    <a:pt x="0" y="29322"/>
                    <a:pt x="29322" y="0"/>
                    <a:pt x="65493" y="0"/>
                  </a:cubicBezTo>
                  <a:close/>
                </a:path>
              </a:pathLst>
            </a:custGeom>
            <a:ln cap="rnd">
              <a:noFill/>
              <a:prstDash val="solid"/>
              <a:round/>
            </a:ln>
          </p:spPr>
        </p:sp>
        <p:sp>
          <p:nvSpPr>
            <p:cNvPr name="TextBox 11" id="11"/>
            <p:cNvSpPr txBox="true"/>
            <p:nvPr/>
          </p:nvSpPr>
          <p:spPr>
            <a:xfrm>
              <a:off x="0" y="-47625"/>
              <a:ext cx="623775" cy="178612"/>
            </a:xfrm>
            <a:prstGeom prst="rect">
              <a:avLst/>
            </a:prstGeom>
          </p:spPr>
          <p:txBody>
            <a:bodyPr anchor="ctr" rtlCol="false" tIns="50800" lIns="50800" bIns="50800" rIns="50800"/>
            <a:lstStyle/>
            <a:p>
              <a:pPr algn="ctr">
                <a:lnSpc>
                  <a:spcPts val="2936"/>
                </a:lnSpc>
              </a:pPr>
            </a:p>
          </p:txBody>
        </p:sp>
      </p:grpSp>
      <p:grpSp>
        <p:nvGrpSpPr>
          <p:cNvPr name="Group 12" id="12"/>
          <p:cNvGrpSpPr/>
          <p:nvPr/>
        </p:nvGrpSpPr>
        <p:grpSpPr>
          <a:xfrm rot="0">
            <a:off x="1152934" y="1850474"/>
            <a:ext cx="15982133" cy="7466307"/>
            <a:chOff x="0" y="0"/>
            <a:chExt cx="4209286" cy="1966435"/>
          </a:xfrm>
        </p:grpSpPr>
        <p:sp>
          <p:nvSpPr>
            <p:cNvPr name="Freeform 13" id="13"/>
            <p:cNvSpPr/>
            <p:nvPr/>
          </p:nvSpPr>
          <p:spPr>
            <a:xfrm flipH="false" flipV="false" rot="0">
              <a:off x="0" y="0"/>
              <a:ext cx="4209286" cy="1966435"/>
            </a:xfrm>
            <a:custGeom>
              <a:avLst/>
              <a:gdLst/>
              <a:ahLst/>
              <a:cxnLst/>
              <a:rect r="r" b="b" t="t" l="l"/>
              <a:pathLst>
                <a:path h="1966435" w="4209286">
                  <a:moveTo>
                    <a:pt x="24705" y="0"/>
                  </a:moveTo>
                  <a:lnTo>
                    <a:pt x="4184581" y="0"/>
                  </a:lnTo>
                  <a:cubicBezTo>
                    <a:pt x="4198225" y="0"/>
                    <a:pt x="4209286" y="11061"/>
                    <a:pt x="4209286" y="24705"/>
                  </a:cubicBezTo>
                  <a:lnTo>
                    <a:pt x="4209286" y="1941730"/>
                  </a:lnTo>
                  <a:cubicBezTo>
                    <a:pt x="4209286" y="1948282"/>
                    <a:pt x="4206683" y="1954566"/>
                    <a:pt x="4202050" y="1959199"/>
                  </a:cubicBezTo>
                  <a:cubicBezTo>
                    <a:pt x="4197417" y="1963832"/>
                    <a:pt x="4191133" y="1966435"/>
                    <a:pt x="4184581" y="1966435"/>
                  </a:cubicBezTo>
                  <a:lnTo>
                    <a:pt x="24705" y="1966435"/>
                  </a:lnTo>
                  <a:cubicBezTo>
                    <a:pt x="18153" y="1966435"/>
                    <a:pt x="11869" y="1963832"/>
                    <a:pt x="7236" y="1959199"/>
                  </a:cubicBezTo>
                  <a:cubicBezTo>
                    <a:pt x="2603" y="1954566"/>
                    <a:pt x="0" y="1948282"/>
                    <a:pt x="0" y="1941730"/>
                  </a:cubicBezTo>
                  <a:lnTo>
                    <a:pt x="0" y="24705"/>
                  </a:lnTo>
                  <a:cubicBezTo>
                    <a:pt x="0" y="18153"/>
                    <a:pt x="2603" y="11869"/>
                    <a:pt x="7236" y="7236"/>
                  </a:cubicBezTo>
                  <a:cubicBezTo>
                    <a:pt x="11869" y="2603"/>
                    <a:pt x="18153" y="0"/>
                    <a:pt x="24705" y="0"/>
                  </a:cubicBezTo>
                  <a:close/>
                </a:path>
              </a:pathLst>
            </a:custGeom>
            <a:ln w="38100" cap="rnd">
              <a:solidFill>
                <a:srgbClr val="457C5B"/>
              </a:solidFill>
              <a:prstDash val="dash"/>
              <a:round/>
            </a:ln>
          </p:spPr>
        </p:sp>
        <p:sp>
          <p:nvSpPr>
            <p:cNvPr name="TextBox 14" id="14"/>
            <p:cNvSpPr txBox="true"/>
            <p:nvPr/>
          </p:nvSpPr>
          <p:spPr>
            <a:xfrm>
              <a:off x="0" y="-47625"/>
              <a:ext cx="4209286" cy="2014060"/>
            </a:xfrm>
            <a:prstGeom prst="rect">
              <a:avLst/>
            </a:prstGeom>
          </p:spPr>
          <p:txBody>
            <a:bodyPr anchor="ctr" rtlCol="false" tIns="50800" lIns="50800" bIns="50800" rIns="50800"/>
            <a:lstStyle/>
            <a:p>
              <a:pPr algn="ctr">
                <a:lnSpc>
                  <a:spcPts val="2936"/>
                </a:lnSpc>
              </a:pPr>
            </a:p>
          </p:txBody>
        </p:sp>
      </p:grpSp>
      <p:graphicFrame>
        <p:nvGraphicFramePr>
          <p:cNvPr name="Object 15" id="15"/>
          <p:cNvGraphicFramePr/>
          <p:nvPr/>
        </p:nvGraphicFramePr>
        <p:xfrm>
          <a:off x="1600200" y="2213756"/>
          <a:ext cx="15087600" cy="3143250"/>
        </p:xfrm>
        <a:graphic>
          <a:graphicData uri="http://schemas.openxmlformats.org/presentationml/2006/ole">
            <p:oleObj imgW="18097500" imgH="6159500" r:id="rId4" progId="Excel.Sheet.12" name="Worksheet">
              <p:embed/>
              <p:pic>
                <p:nvPicPr>
                  <p:cNvPr name="" id="0"/>
                  <p:cNvPicPr/>
                  <p:nvPr/>
                </p:nvPicPr>
                <p:blipFill>
                  <a:blip r:embed="rId3"/>
                  <a:stretch>
                    <a:fillRect/>
                  </a:stretch>
                </p:blipFill>
                <p:spPr>
                  <a:xfrm>
                    <a:off x="1270000" y="1270000"/>
                    <a:ext cx="1270000" cy="1270000"/>
                  </a:xfrm>
                  <a:prstGeom prst="rect"/>
                </p:spPr>
              </p:pic>
            </p:oleObj>
          </a:graphicData>
        </a:graphic>
      </p:graphicFrame>
      <p:sp>
        <p:nvSpPr>
          <p:cNvPr name="TextBox 16" id="16"/>
          <p:cNvSpPr txBox="true"/>
          <p:nvPr/>
        </p:nvSpPr>
        <p:spPr>
          <a:xfrm rot="0">
            <a:off x="5411628" y="764426"/>
            <a:ext cx="7464743" cy="946150"/>
          </a:xfrm>
          <a:prstGeom prst="rect">
            <a:avLst/>
          </a:prstGeom>
        </p:spPr>
        <p:txBody>
          <a:bodyPr anchor="t" rtlCol="false" tIns="0" lIns="0" bIns="0" rIns="0">
            <a:spAutoFit/>
          </a:bodyPr>
          <a:lstStyle/>
          <a:p>
            <a:pPr algn="ctr">
              <a:lnSpc>
                <a:spcPts val="7699"/>
              </a:lnSpc>
            </a:pPr>
            <a:r>
              <a:rPr lang="en-US" b="true" sz="5499">
                <a:solidFill>
                  <a:srgbClr val="457C5B"/>
                </a:solidFill>
                <a:latin typeface="Manifold Ultra-Bold"/>
                <a:ea typeface="Manifold Ultra-Bold"/>
                <a:cs typeface="Manifold Ultra-Bold"/>
                <a:sym typeface="Manifold Ultra-Bold"/>
              </a:rPr>
              <a:t>SDG ALIGNMENT</a:t>
            </a:r>
          </a:p>
        </p:txBody>
      </p:sp>
    </p:spTree>
  </p:cSld>
  <p:clrMapOvr>
    <a:masterClrMapping/>
  </p:clrMapOvr>
</p:sld>
</file>

<file path=ppt/slides/slide2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1065972">
            <a:off x="-1561962" y="-520880"/>
            <a:ext cx="11464130" cy="11464130"/>
            <a:chOff x="0" y="0"/>
            <a:chExt cx="812800" cy="812800"/>
          </a:xfrm>
        </p:grpSpPr>
        <p:sp>
          <p:nvSpPr>
            <p:cNvPr name="Freeform 3" id="3"/>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true">
              <a:gsLst>
                <a:gs pos="0">
                  <a:srgbClr val="9FC4AE">
                    <a:alpha val="66000"/>
                  </a:srgbClr>
                </a:gs>
                <a:gs pos="100000">
                  <a:srgbClr val="FFFFFF">
                    <a:alpha val="66000"/>
                  </a:srgbClr>
                </a:gs>
              </a:gsLst>
              <a:lin ang="0"/>
            </a:gradFill>
          </p:spPr>
        </p:sp>
        <p:sp>
          <p:nvSpPr>
            <p:cNvPr name="TextBox 4" id="4"/>
            <p:cNvSpPr txBox="true"/>
            <p:nvPr/>
          </p:nvSpPr>
          <p:spPr>
            <a:xfrm>
              <a:off x="76200" y="28575"/>
              <a:ext cx="660400" cy="708025"/>
            </a:xfrm>
            <a:prstGeom prst="rect">
              <a:avLst/>
            </a:prstGeom>
          </p:spPr>
          <p:txBody>
            <a:bodyPr anchor="ctr" rtlCol="false" tIns="50800" lIns="50800" bIns="50800" rIns="50800"/>
            <a:lstStyle/>
            <a:p>
              <a:pPr algn="ctr">
                <a:lnSpc>
                  <a:spcPts val="2936"/>
                </a:lnSpc>
              </a:pPr>
            </a:p>
          </p:txBody>
        </p:sp>
      </p:grpSp>
      <p:sp>
        <p:nvSpPr>
          <p:cNvPr name="Freeform 5" id="5"/>
          <p:cNvSpPr/>
          <p:nvPr/>
        </p:nvSpPr>
        <p:spPr>
          <a:xfrm flipH="false" flipV="false" rot="0">
            <a:off x="185225" y="296308"/>
            <a:ext cx="1686949" cy="1283956"/>
          </a:xfrm>
          <a:custGeom>
            <a:avLst/>
            <a:gdLst/>
            <a:ahLst/>
            <a:cxnLst/>
            <a:rect r="r" b="b" t="t" l="l"/>
            <a:pathLst>
              <a:path h="1283956" w="1686949">
                <a:moveTo>
                  <a:pt x="0" y="0"/>
                </a:moveTo>
                <a:lnTo>
                  <a:pt x="1686950" y="0"/>
                </a:lnTo>
                <a:lnTo>
                  <a:pt x="1686950" y="1283956"/>
                </a:lnTo>
                <a:lnTo>
                  <a:pt x="0" y="1283956"/>
                </a:lnTo>
                <a:lnTo>
                  <a:pt x="0" y="0"/>
                </a:lnTo>
                <a:close/>
              </a:path>
            </a:pathLst>
          </a:custGeom>
          <a:blipFill>
            <a:blip r:embed="rId2"/>
            <a:stretch>
              <a:fillRect l="0" t="0" r="0" b="0"/>
            </a:stretch>
          </a:blipFill>
        </p:spPr>
      </p:sp>
      <p:sp>
        <p:nvSpPr>
          <p:cNvPr name="AutoShape 6" id="6"/>
          <p:cNvSpPr/>
          <p:nvPr/>
        </p:nvSpPr>
        <p:spPr>
          <a:xfrm>
            <a:off x="1792984" y="1580233"/>
            <a:ext cx="14842693" cy="31"/>
          </a:xfrm>
          <a:prstGeom prst="line">
            <a:avLst/>
          </a:prstGeom>
          <a:ln cap="flat" w="38100">
            <a:solidFill>
              <a:srgbClr val="000000"/>
            </a:solidFill>
            <a:prstDash val="solid"/>
            <a:headEnd type="none" len="sm" w="sm"/>
            <a:tailEnd type="none" len="sm" w="sm"/>
          </a:ln>
        </p:spPr>
      </p:sp>
      <p:sp>
        <p:nvSpPr>
          <p:cNvPr name="AutoShape 7" id="7"/>
          <p:cNvSpPr/>
          <p:nvPr/>
        </p:nvSpPr>
        <p:spPr>
          <a:xfrm>
            <a:off x="9509243" y="2277716"/>
            <a:ext cx="0" cy="7340400"/>
          </a:xfrm>
          <a:prstGeom prst="line">
            <a:avLst/>
          </a:prstGeom>
          <a:ln cap="flat" w="38100">
            <a:solidFill>
              <a:srgbClr val="D9D9D9"/>
            </a:solidFill>
            <a:prstDash val="solid"/>
            <a:headEnd type="none" len="sm" w="sm"/>
            <a:tailEnd type="none" len="sm" w="sm"/>
          </a:ln>
        </p:spPr>
      </p:sp>
      <p:sp>
        <p:nvSpPr>
          <p:cNvPr name="AutoShape 8" id="8"/>
          <p:cNvSpPr/>
          <p:nvPr/>
        </p:nvSpPr>
        <p:spPr>
          <a:xfrm>
            <a:off x="12206800" y="2277716"/>
            <a:ext cx="0" cy="7467339"/>
          </a:xfrm>
          <a:prstGeom prst="line">
            <a:avLst/>
          </a:prstGeom>
          <a:ln cap="flat" w="38100">
            <a:solidFill>
              <a:srgbClr val="D9D9D9"/>
            </a:solidFill>
            <a:prstDash val="solid"/>
            <a:headEnd type="none" len="sm" w="sm"/>
            <a:tailEnd type="none" len="sm" w="sm"/>
          </a:ln>
        </p:spPr>
      </p:sp>
      <p:grpSp>
        <p:nvGrpSpPr>
          <p:cNvPr name="Group 9" id="9"/>
          <p:cNvGrpSpPr/>
          <p:nvPr/>
        </p:nvGrpSpPr>
        <p:grpSpPr>
          <a:xfrm rot="9405415">
            <a:off x="15708021" y="7901905"/>
            <a:ext cx="5159957" cy="5159957"/>
            <a:chOff x="0" y="0"/>
            <a:chExt cx="812800" cy="812800"/>
          </a:xfrm>
        </p:grpSpPr>
        <p:sp>
          <p:nvSpPr>
            <p:cNvPr name="Freeform 10" id="10"/>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true">
              <a:gsLst>
                <a:gs pos="0">
                  <a:srgbClr val="9FC4AE">
                    <a:alpha val="66000"/>
                  </a:srgbClr>
                </a:gs>
                <a:gs pos="100000">
                  <a:srgbClr val="FFFFFF">
                    <a:alpha val="66000"/>
                  </a:srgbClr>
                </a:gs>
              </a:gsLst>
              <a:lin ang="0"/>
            </a:gradFill>
          </p:spPr>
        </p:sp>
        <p:sp>
          <p:nvSpPr>
            <p:cNvPr name="TextBox 11" id="11"/>
            <p:cNvSpPr txBox="true"/>
            <p:nvPr/>
          </p:nvSpPr>
          <p:spPr>
            <a:xfrm>
              <a:off x="76200" y="28575"/>
              <a:ext cx="660400" cy="708025"/>
            </a:xfrm>
            <a:prstGeom prst="rect">
              <a:avLst/>
            </a:prstGeom>
          </p:spPr>
          <p:txBody>
            <a:bodyPr anchor="ctr" rtlCol="false" tIns="50800" lIns="50800" bIns="50800" rIns="50800"/>
            <a:lstStyle/>
            <a:p>
              <a:pPr algn="ctr">
                <a:lnSpc>
                  <a:spcPts val="2936"/>
                </a:lnSpc>
              </a:pPr>
            </a:p>
          </p:txBody>
        </p:sp>
      </p:grpSp>
      <p:sp>
        <p:nvSpPr>
          <p:cNvPr name="AutoShape 12" id="12"/>
          <p:cNvSpPr/>
          <p:nvPr/>
        </p:nvSpPr>
        <p:spPr>
          <a:xfrm>
            <a:off x="15130975" y="2297138"/>
            <a:ext cx="0" cy="7406030"/>
          </a:xfrm>
          <a:prstGeom prst="line">
            <a:avLst/>
          </a:prstGeom>
          <a:ln cap="flat" w="38100">
            <a:solidFill>
              <a:srgbClr val="D9D9D9"/>
            </a:solidFill>
            <a:prstDash val="solid"/>
            <a:headEnd type="none" len="sm" w="sm"/>
            <a:tailEnd type="none" len="sm" w="sm"/>
          </a:ln>
        </p:spPr>
      </p:sp>
      <p:sp>
        <p:nvSpPr>
          <p:cNvPr name="AutoShape 13" id="13"/>
          <p:cNvSpPr/>
          <p:nvPr/>
        </p:nvSpPr>
        <p:spPr>
          <a:xfrm flipV="true">
            <a:off x="1793013" y="3786523"/>
            <a:ext cx="14842664" cy="18562"/>
          </a:xfrm>
          <a:prstGeom prst="line">
            <a:avLst/>
          </a:prstGeom>
          <a:ln cap="flat" w="38100">
            <a:solidFill>
              <a:srgbClr val="D9D9D9"/>
            </a:solidFill>
            <a:prstDash val="solid"/>
            <a:headEnd type="none" len="sm" w="sm"/>
            <a:tailEnd type="none" len="sm" w="sm"/>
          </a:ln>
        </p:spPr>
      </p:sp>
      <p:sp>
        <p:nvSpPr>
          <p:cNvPr name="AutoShape 14" id="14"/>
          <p:cNvSpPr/>
          <p:nvPr/>
        </p:nvSpPr>
        <p:spPr>
          <a:xfrm flipH="true">
            <a:off x="6715637" y="2297138"/>
            <a:ext cx="21431" cy="7348880"/>
          </a:xfrm>
          <a:prstGeom prst="line">
            <a:avLst/>
          </a:prstGeom>
          <a:ln cap="flat" w="38100">
            <a:solidFill>
              <a:srgbClr val="D9D9D9"/>
            </a:solidFill>
            <a:prstDash val="solid"/>
            <a:headEnd type="none" len="sm" w="sm"/>
            <a:tailEnd type="none" len="sm" w="sm"/>
          </a:ln>
        </p:spPr>
      </p:sp>
      <p:sp>
        <p:nvSpPr>
          <p:cNvPr name="Freeform 15" id="15"/>
          <p:cNvSpPr/>
          <p:nvPr/>
        </p:nvSpPr>
        <p:spPr>
          <a:xfrm flipH="false" flipV="false" rot="0">
            <a:off x="10709241" y="7237867"/>
            <a:ext cx="3657600" cy="381000"/>
          </a:xfrm>
          <a:custGeom>
            <a:avLst/>
            <a:gdLst/>
            <a:ahLst/>
            <a:cxnLst/>
            <a:rect r="r" b="b" t="t" l="l"/>
            <a:pathLst>
              <a:path h="381000" w="3657600">
                <a:moveTo>
                  <a:pt x="0" y="0"/>
                </a:moveTo>
                <a:lnTo>
                  <a:pt x="3657600" y="0"/>
                </a:lnTo>
                <a:lnTo>
                  <a:pt x="3657600" y="381000"/>
                </a:lnTo>
                <a:lnTo>
                  <a:pt x="0" y="381000"/>
                </a:lnTo>
                <a:lnTo>
                  <a:pt x="0" y="0"/>
                </a:lnTo>
                <a:close/>
              </a:path>
            </a:pathLst>
          </a:custGeom>
          <a:blipFill>
            <a:blip r:embed="rId3"/>
            <a:stretch>
              <a:fillRect l="0" t="0" r="0" b="0"/>
            </a:stretch>
          </a:blipFill>
        </p:spPr>
      </p:sp>
      <p:sp>
        <p:nvSpPr>
          <p:cNvPr name="AutoShape 16" id="16"/>
          <p:cNvSpPr/>
          <p:nvPr/>
        </p:nvSpPr>
        <p:spPr>
          <a:xfrm>
            <a:off x="1793053" y="2297138"/>
            <a:ext cx="14842624" cy="0"/>
          </a:xfrm>
          <a:prstGeom prst="line">
            <a:avLst/>
          </a:prstGeom>
          <a:ln cap="flat" w="38100">
            <a:solidFill>
              <a:srgbClr val="000000"/>
            </a:solidFill>
            <a:prstDash val="solid"/>
            <a:headEnd type="none" len="sm" w="sm"/>
            <a:tailEnd type="none" len="sm" w="sm"/>
          </a:ln>
        </p:spPr>
      </p:sp>
      <p:sp>
        <p:nvSpPr>
          <p:cNvPr name="AutoShape 17" id="17"/>
          <p:cNvSpPr/>
          <p:nvPr/>
        </p:nvSpPr>
        <p:spPr>
          <a:xfrm flipV="true">
            <a:off x="1811866" y="3022943"/>
            <a:ext cx="14823810" cy="85400"/>
          </a:xfrm>
          <a:prstGeom prst="line">
            <a:avLst/>
          </a:prstGeom>
          <a:ln cap="flat" w="38100">
            <a:solidFill>
              <a:srgbClr val="D9D9D9"/>
            </a:solidFill>
            <a:prstDash val="solid"/>
            <a:headEnd type="none" len="sm" w="sm"/>
            <a:tailEnd type="none" len="sm" w="sm"/>
          </a:ln>
        </p:spPr>
      </p:sp>
      <p:sp>
        <p:nvSpPr>
          <p:cNvPr name="AutoShape 18" id="18"/>
          <p:cNvSpPr/>
          <p:nvPr/>
        </p:nvSpPr>
        <p:spPr>
          <a:xfrm>
            <a:off x="1774015" y="9868880"/>
            <a:ext cx="14861662" cy="0"/>
          </a:xfrm>
          <a:prstGeom prst="line">
            <a:avLst/>
          </a:prstGeom>
          <a:ln cap="flat" w="38100">
            <a:solidFill>
              <a:srgbClr val="000000"/>
            </a:solidFill>
            <a:prstDash val="solid"/>
            <a:headEnd type="none" len="sm" w="sm"/>
            <a:tailEnd type="none" len="sm" w="sm"/>
          </a:ln>
        </p:spPr>
      </p:sp>
      <p:sp>
        <p:nvSpPr>
          <p:cNvPr name="TextBox 19" id="19"/>
          <p:cNvSpPr txBox="true"/>
          <p:nvPr/>
        </p:nvSpPr>
        <p:spPr>
          <a:xfrm rot="0">
            <a:off x="1974587" y="6248007"/>
            <a:ext cx="146304" cy="316230"/>
          </a:xfrm>
          <a:prstGeom prst="rect">
            <a:avLst/>
          </a:prstGeom>
        </p:spPr>
        <p:txBody>
          <a:bodyPr anchor="t" rtlCol="false" tIns="0" lIns="0" bIns="0" rIns="0">
            <a:spAutoFit/>
          </a:bodyPr>
          <a:lstStyle/>
          <a:p>
            <a:pPr algn="l" marL="0" indent="0" lvl="0">
              <a:lnSpc>
                <a:spcPts val="2520"/>
              </a:lnSpc>
              <a:spcBef>
                <a:spcPct val="0"/>
              </a:spcBef>
            </a:pPr>
            <a:r>
              <a:rPr lang="en-US" sz="1800" strike="noStrike" u="none">
                <a:solidFill>
                  <a:srgbClr val="000000"/>
                </a:solidFill>
                <a:latin typeface="Lato"/>
                <a:ea typeface="Lato"/>
                <a:cs typeface="Lato"/>
                <a:sym typeface="Lato"/>
              </a:rPr>
              <a:t>6</a:t>
            </a:r>
          </a:p>
        </p:txBody>
      </p:sp>
      <p:sp>
        <p:nvSpPr>
          <p:cNvPr name="Freeform 20" id="20"/>
          <p:cNvSpPr/>
          <p:nvPr/>
        </p:nvSpPr>
        <p:spPr>
          <a:xfrm flipH="false" flipV="false" rot="5400000">
            <a:off x="6540534" y="2030177"/>
            <a:ext cx="181707" cy="1345977"/>
          </a:xfrm>
          <a:custGeom>
            <a:avLst/>
            <a:gdLst/>
            <a:ahLst/>
            <a:cxnLst/>
            <a:rect r="r" b="b" t="t" l="l"/>
            <a:pathLst>
              <a:path h="1345977" w="181707">
                <a:moveTo>
                  <a:pt x="0" y="0"/>
                </a:moveTo>
                <a:lnTo>
                  <a:pt x="181707" y="0"/>
                </a:lnTo>
                <a:lnTo>
                  <a:pt x="181707" y="1345976"/>
                </a:lnTo>
                <a:lnTo>
                  <a:pt x="0" y="1345976"/>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AutoShape 21" id="21"/>
          <p:cNvSpPr/>
          <p:nvPr/>
        </p:nvSpPr>
        <p:spPr>
          <a:xfrm flipH="true">
            <a:off x="10842743" y="1554516"/>
            <a:ext cx="11506" cy="8314365"/>
          </a:xfrm>
          <a:prstGeom prst="line">
            <a:avLst/>
          </a:prstGeom>
          <a:ln cap="flat" w="38100">
            <a:solidFill>
              <a:srgbClr val="737373"/>
            </a:solidFill>
            <a:prstDash val="sysDash"/>
            <a:headEnd type="none" len="sm" w="sm"/>
            <a:tailEnd type="none" len="sm" w="sm"/>
          </a:ln>
        </p:spPr>
      </p:sp>
      <p:sp>
        <p:nvSpPr>
          <p:cNvPr name="AutoShape 22" id="22"/>
          <p:cNvSpPr/>
          <p:nvPr/>
        </p:nvSpPr>
        <p:spPr>
          <a:xfrm>
            <a:off x="1773888" y="6124132"/>
            <a:ext cx="14861662" cy="0"/>
          </a:xfrm>
          <a:prstGeom prst="line">
            <a:avLst/>
          </a:prstGeom>
          <a:ln cap="flat" w="38100">
            <a:solidFill>
              <a:srgbClr val="D9D9D9"/>
            </a:solidFill>
            <a:prstDash val="solid"/>
            <a:headEnd type="none" len="sm" w="sm"/>
            <a:tailEnd type="none" len="sm" w="sm"/>
          </a:ln>
        </p:spPr>
      </p:sp>
      <p:sp>
        <p:nvSpPr>
          <p:cNvPr name="AutoShape 23" id="23"/>
          <p:cNvSpPr/>
          <p:nvPr/>
        </p:nvSpPr>
        <p:spPr>
          <a:xfrm>
            <a:off x="1811895" y="5358433"/>
            <a:ext cx="14823781" cy="50551"/>
          </a:xfrm>
          <a:prstGeom prst="line">
            <a:avLst/>
          </a:prstGeom>
          <a:ln cap="flat" w="38100">
            <a:solidFill>
              <a:srgbClr val="D9D9D9"/>
            </a:solidFill>
            <a:prstDash val="solid"/>
            <a:headEnd type="none" len="sm" w="sm"/>
            <a:tailEnd type="none" len="sm" w="sm"/>
          </a:ln>
        </p:spPr>
      </p:sp>
      <p:sp>
        <p:nvSpPr>
          <p:cNvPr name="AutoShape 24" id="24"/>
          <p:cNvSpPr/>
          <p:nvPr/>
        </p:nvSpPr>
        <p:spPr>
          <a:xfrm>
            <a:off x="1812022" y="6909093"/>
            <a:ext cx="14842779" cy="98711"/>
          </a:xfrm>
          <a:prstGeom prst="line">
            <a:avLst/>
          </a:prstGeom>
          <a:ln cap="flat" w="38100">
            <a:solidFill>
              <a:srgbClr val="D9D9D9"/>
            </a:solidFill>
            <a:prstDash val="solid"/>
            <a:headEnd type="none" len="sm" w="sm"/>
            <a:tailEnd type="none" len="sm" w="sm"/>
          </a:ln>
        </p:spPr>
      </p:sp>
      <p:sp>
        <p:nvSpPr>
          <p:cNvPr name="AutoShape 25" id="25"/>
          <p:cNvSpPr/>
          <p:nvPr/>
        </p:nvSpPr>
        <p:spPr>
          <a:xfrm>
            <a:off x="1792984" y="7710040"/>
            <a:ext cx="14842693" cy="41448"/>
          </a:xfrm>
          <a:prstGeom prst="line">
            <a:avLst/>
          </a:prstGeom>
          <a:ln cap="flat" w="38100">
            <a:solidFill>
              <a:srgbClr val="D9D9D9"/>
            </a:solidFill>
            <a:prstDash val="solid"/>
            <a:headEnd type="none" len="sm" w="sm"/>
            <a:tailEnd type="none" len="sm" w="sm"/>
          </a:ln>
        </p:spPr>
      </p:sp>
      <p:sp>
        <p:nvSpPr>
          <p:cNvPr name="AutoShape 26" id="26"/>
          <p:cNvSpPr/>
          <p:nvPr/>
        </p:nvSpPr>
        <p:spPr>
          <a:xfrm>
            <a:off x="1792926" y="8346062"/>
            <a:ext cx="14842750" cy="0"/>
          </a:xfrm>
          <a:prstGeom prst="line">
            <a:avLst/>
          </a:prstGeom>
          <a:ln cap="flat" w="38100">
            <a:solidFill>
              <a:srgbClr val="D9D9D9"/>
            </a:solidFill>
            <a:prstDash val="solid"/>
            <a:headEnd type="none" len="sm" w="sm"/>
            <a:tailEnd type="none" len="sm" w="sm"/>
          </a:ln>
        </p:spPr>
      </p:sp>
      <p:sp>
        <p:nvSpPr>
          <p:cNvPr name="AutoShape 27" id="27"/>
          <p:cNvSpPr/>
          <p:nvPr/>
        </p:nvSpPr>
        <p:spPr>
          <a:xfrm>
            <a:off x="1792984" y="1580264"/>
            <a:ext cx="0" cy="8288616"/>
          </a:xfrm>
          <a:prstGeom prst="line">
            <a:avLst/>
          </a:prstGeom>
          <a:ln cap="flat" w="38100">
            <a:solidFill>
              <a:srgbClr val="000000"/>
            </a:solidFill>
            <a:prstDash val="solid"/>
            <a:headEnd type="none" len="sm" w="sm"/>
            <a:tailEnd type="none" len="sm" w="sm"/>
          </a:ln>
        </p:spPr>
      </p:sp>
      <p:sp>
        <p:nvSpPr>
          <p:cNvPr name="AutoShape 28" id="28"/>
          <p:cNvSpPr/>
          <p:nvPr/>
        </p:nvSpPr>
        <p:spPr>
          <a:xfrm flipV="true">
            <a:off x="1830769" y="9065268"/>
            <a:ext cx="14804870" cy="29119"/>
          </a:xfrm>
          <a:prstGeom prst="line">
            <a:avLst/>
          </a:prstGeom>
          <a:ln cap="flat" w="38100">
            <a:solidFill>
              <a:srgbClr val="D9D9D9"/>
            </a:solidFill>
            <a:prstDash val="solid"/>
            <a:headEnd type="none" len="sm" w="sm"/>
            <a:tailEnd type="none" len="sm" w="sm"/>
          </a:ln>
        </p:spPr>
      </p:sp>
      <p:sp>
        <p:nvSpPr>
          <p:cNvPr name="AutoShape 29" id="29"/>
          <p:cNvSpPr/>
          <p:nvPr/>
        </p:nvSpPr>
        <p:spPr>
          <a:xfrm>
            <a:off x="1872377" y="4582463"/>
            <a:ext cx="14823810" cy="0"/>
          </a:xfrm>
          <a:prstGeom prst="line">
            <a:avLst/>
          </a:prstGeom>
          <a:ln cap="flat" w="38100">
            <a:solidFill>
              <a:srgbClr val="D9D9D9"/>
            </a:solidFill>
            <a:prstDash val="solid"/>
            <a:headEnd type="none" len="sm" w="sm"/>
            <a:tailEnd type="none" len="sm" w="sm"/>
          </a:ln>
        </p:spPr>
      </p:sp>
      <p:sp>
        <p:nvSpPr>
          <p:cNvPr name="AutoShape 30" id="30"/>
          <p:cNvSpPr/>
          <p:nvPr/>
        </p:nvSpPr>
        <p:spPr>
          <a:xfrm>
            <a:off x="5386900" y="1573447"/>
            <a:ext cx="0" cy="8295434"/>
          </a:xfrm>
          <a:prstGeom prst="line">
            <a:avLst/>
          </a:prstGeom>
          <a:ln cap="flat" w="38100">
            <a:solidFill>
              <a:srgbClr val="000000"/>
            </a:solidFill>
            <a:prstDash val="solid"/>
            <a:headEnd type="none" len="sm" w="sm"/>
            <a:tailEnd type="none" len="sm" w="sm"/>
          </a:ln>
        </p:spPr>
      </p:sp>
      <p:sp>
        <p:nvSpPr>
          <p:cNvPr name="AutoShape 31" id="31"/>
          <p:cNvSpPr/>
          <p:nvPr/>
        </p:nvSpPr>
        <p:spPr>
          <a:xfrm>
            <a:off x="16635677" y="1580264"/>
            <a:ext cx="0" cy="8288616"/>
          </a:xfrm>
          <a:prstGeom prst="line">
            <a:avLst/>
          </a:prstGeom>
          <a:ln cap="flat" w="38100">
            <a:solidFill>
              <a:srgbClr val="000000"/>
            </a:solidFill>
            <a:prstDash val="solid"/>
            <a:headEnd type="none" len="sm" w="sm"/>
            <a:tailEnd type="none" len="sm" w="sm"/>
          </a:ln>
        </p:spPr>
      </p:sp>
      <p:sp>
        <p:nvSpPr>
          <p:cNvPr name="TextBox 32" id="32"/>
          <p:cNvSpPr txBox="true"/>
          <p:nvPr/>
        </p:nvSpPr>
        <p:spPr>
          <a:xfrm rot="0">
            <a:off x="11111425" y="1138035"/>
            <a:ext cx="1170432" cy="273784"/>
          </a:xfrm>
          <a:prstGeom prst="rect">
            <a:avLst/>
          </a:prstGeom>
        </p:spPr>
        <p:txBody>
          <a:bodyPr anchor="t" rtlCol="false" tIns="0" lIns="0" bIns="0" rIns="0">
            <a:spAutoFit/>
          </a:bodyPr>
          <a:lstStyle/>
          <a:p>
            <a:pPr algn="ctr">
              <a:lnSpc>
                <a:spcPts val="2234"/>
              </a:lnSpc>
            </a:pPr>
            <a:r>
              <a:rPr lang="en-US" sz="1596" b="true">
                <a:solidFill>
                  <a:srgbClr val="004AAD"/>
                </a:solidFill>
                <a:latin typeface="Lato Bold"/>
                <a:ea typeface="Lato Bold"/>
                <a:cs typeface="Lato Bold"/>
                <a:sym typeface="Lato Bold"/>
              </a:rPr>
              <a:t>Future Work</a:t>
            </a:r>
          </a:p>
        </p:txBody>
      </p:sp>
      <p:sp>
        <p:nvSpPr>
          <p:cNvPr name="Freeform 33" id="33"/>
          <p:cNvSpPr/>
          <p:nvPr/>
        </p:nvSpPr>
        <p:spPr>
          <a:xfrm flipH="false" flipV="false" rot="0">
            <a:off x="8958262" y="1103477"/>
            <a:ext cx="371475" cy="381000"/>
          </a:xfrm>
          <a:custGeom>
            <a:avLst/>
            <a:gdLst/>
            <a:ahLst/>
            <a:cxnLst/>
            <a:rect r="r" b="b" t="t" l="l"/>
            <a:pathLst>
              <a:path h="381000" w="371475">
                <a:moveTo>
                  <a:pt x="0" y="0"/>
                </a:moveTo>
                <a:lnTo>
                  <a:pt x="371476" y="0"/>
                </a:lnTo>
                <a:lnTo>
                  <a:pt x="371476" y="381000"/>
                </a:lnTo>
                <a:lnTo>
                  <a:pt x="0" y="381000"/>
                </a:lnTo>
                <a:lnTo>
                  <a:pt x="0" y="0"/>
                </a:lnTo>
                <a:close/>
              </a:path>
            </a:pathLst>
          </a:custGeom>
          <a:blipFill>
            <a:blip r:embed="rId6"/>
            <a:stretch>
              <a:fillRect l="0" t="0" r="0" b="0"/>
            </a:stretch>
          </a:blipFill>
        </p:spPr>
      </p:sp>
      <p:sp>
        <p:nvSpPr>
          <p:cNvPr name="Freeform 34" id="34"/>
          <p:cNvSpPr/>
          <p:nvPr/>
        </p:nvSpPr>
        <p:spPr>
          <a:xfrm flipH="false" flipV="false" rot="0">
            <a:off x="12261816" y="1103983"/>
            <a:ext cx="552450" cy="381000"/>
          </a:xfrm>
          <a:custGeom>
            <a:avLst/>
            <a:gdLst/>
            <a:ahLst/>
            <a:cxnLst/>
            <a:rect r="r" b="b" t="t" l="l"/>
            <a:pathLst>
              <a:path h="381000" w="552450">
                <a:moveTo>
                  <a:pt x="0" y="0"/>
                </a:moveTo>
                <a:lnTo>
                  <a:pt x="552450" y="0"/>
                </a:lnTo>
                <a:lnTo>
                  <a:pt x="552450" y="381000"/>
                </a:lnTo>
                <a:lnTo>
                  <a:pt x="0" y="381000"/>
                </a:lnTo>
                <a:lnTo>
                  <a:pt x="0" y="0"/>
                </a:lnTo>
                <a:close/>
              </a:path>
            </a:pathLst>
          </a:custGeom>
          <a:blipFill>
            <a:blip r:embed="rId7"/>
            <a:stretch>
              <a:fillRect l="0" t="0" r="0" b="0"/>
            </a:stretch>
          </a:blipFill>
        </p:spPr>
      </p:sp>
      <p:grpSp>
        <p:nvGrpSpPr>
          <p:cNvPr name="Group 35" id="35"/>
          <p:cNvGrpSpPr/>
          <p:nvPr/>
        </p:nvGrpSpPr>
        <p:grpSpPr>
          <a:xfrm rot="0">
            <a:off x="6163187" y="3394747"/>
            <a:ext cx="2561129" cy="200788"/>
            <a:chOff x="0" y="0"/>
            <a:chExt cx="674536" cy="52883"/>
          </a:xfrm>
        </p:grpSpPr>
        <p:sp>
          <p:nvSpPr>
            <p:cNvPr name="Freeform 36" id="36"/>
            <p:cNvSpPr/>
            <p:nvPr/>
          </p:nvSpPr>
          <p:spPr>
            <a:xfrm flipH="false" flipV="false" rot="0">
              <a:off x="0" y="0"/>
              <a:ext cx="674536" cy="52883"/>
            </a:xfrm>
            <a:custGeom>
              <a:avLst/>
              <a:gdLst/>
              <a:ahLst/>
              <a:cxnLst/>
              <a:rect r="r" b="b" t="t" l="l"/>
              <a:pathLst>
                <a:path h="52883" w="674536">
                  <a:moveTo>
                    <a:pt x="0" y="0"/>
                  </a:moveTo>
                  <a:lnTo>
                    <a:pt x="674536" y="0"/>
                  </a:lnTo>
                  <a:lnTo>
                    <a:pt x="674536" y="52883"/>
                  </a:lnTo>
                  <a:lnTo>
                    <a:pt x="0" y="52883"/>
                  </a:lnTo>
                  <a:close/>
                </a:path>
              </a:pathLst>
            </a:custGeom>
            <a:solidFill>
              <a:srgbClr val="FC4C00"/>
            </a:solidFill>
          </p:spPr>
        </p:sp>
        <p:sp>
          <p:nvSpPr>
            <p:cNvPr name="TextBox 37" id="37"/>
            <p:cNvSpPr txBox="true"/>
            <p:nvPr/>
          </p:nvSpPr>
          <p:spPr>
            <a:xfrm>
              <a:off x="0" y="-38100"/>
              <a:ext cx="674536" cy="90983"/>
            </a:xfrm>
            <a:prstGeom prst="rect">
              <a:avLst/>
            </a:prstGeom>
          </p:spPr>
          <p:txBody>
            <a:bodyPr anchor="ctr" rtlCol="false" tIns="50800" lIns="50800" bIns="50800" rIns="50800"/>
            <a:lstStyle/>
            <a:p>
              <a:pPr algn="ctr">
                <a:lnSpc>
                  <a:spcPts val="2380"/>
                </a:lnSpc>
              </a:pPr>
            </a:p>
          </p:txBody>
        </p:sp>
      </p:grpSp>
      <p:sp>
        <p:nvSpPr>
          <p:cNvPr name="TextBox 38" id="38"/>
          <p:cNvSpPr txBox="true"/>
          <p:nvPr/>
        </p:nvSpPr>
        <p:spPr>
          <a:xfrm rot="0">
            <a:off x="2687509" y="57702"/>
            <a:ext cx="14559431" cy="887095"/>
          </a:xfrm>
          <a:prstGeom prst="rect">
            <a:avLst/>
          </a:prstGeom>
        </p:spPr>
        <p:txBody>
          <a:bodyPr anchor="t" rtlCol="false" tIns="0" lIns="0" bIns="0" rIns="0">
            <a:spAutoFit/>
          </a:bodyPr>
          <a:lstStyle/>
          <a:p>
            <a:pPr algn="l" marL="0" indent="0" lvl="0">
              <a:lnSpc>
                <a:spcPts val="7280"/>
              </a:lnSpc>
              <a:spcBef>
                <a:spcPct val="0"/>
              </a:spcBef>
            </a:pPr>
            <a:r>
              <a:rPr lang="en-US" b="true" sz="5200" strike="noStrike" u="none">
                <a:solidFill>
                  <a:srgbClr val="457C5B"/>
                </a:solidFill>
                <a:latin typeface="Manifold Ultra-Bold"/>
                <a:ea typeface="Manifold Ultra-Bold"/>
                <a:cs typeface="Manifold Ultra-Bold"/>
                <a:sym typeface="Manifold Ultra-Bold"/>
              </a:rPr>
              <a:t>PROMPTOPT – MINI PROJECT-I GANTT CHART</a:t>
            </a:r>
          </a:p>
        </p:txBody>
      </p:sp>
      <p:sp>
        <p:nvSpPr>
          <p:cNvPr name="TextBox 39" id="39"/>
          <p:cNvSpPr txBox="true"/>
          <p:nvPr/>
        </p:nvSpPr>
        <p:spPr>
          <a:xfrm rot="0">
            <a:off x="2011568" y="9256312"/>
            <a:ext cx="350725" cy="316230"/>
          </a:xfrm>
          <a:prstGeom prst="rect">
            <a:avLst/>
          </a:prstGeom>
        </p:spPr>
        <p:txBody>
          <a:bodyPr anchor="t" rtlCol="false" tIns="0" lIns="0" bIns="0" rIns="0">
            <a:spAutoFit/>
          </a:bodyPr>
          <a:lstStyle/>
          <a:p>
            <a:pPr algn="l" marL="0" indent="0" lvl="0">
              <a:lnSpc>
                <a:spcPts val="2520"/>
              </a:lnSpc>
              <a:spcBef>
                <a:spcPct val="0"/>
              </a:spcBef>
            </a:pPr>
            <a:r>
              <a:rPr lang="en-US" sz="1800">
                <a:solidFill>
                  <a:srgbClr val="000000"/>
                </a:solidFill>
                <a:latin typeface="Lato"/>
                <a:ea typeface="Lato"/>
                <a:cs typeface="Lato"/>
                <a:sym typeface="Lato"/>
              </a:rPr>
              <a:t>10</a:t>
            </a:r>
          </a:p>
        </p:txBody>
      </p:sp>
      <p:sp>
        <p:nvSpPr>
          <p:cNvPr name="TextBox 40" id="40"/>
          <p:cNvSpPr txBox="true"/>
          <p:nvPr/>
        </p:nvSpPr>
        <p:spPr>
          <a:xfrm rot="0">
            <a:off x="3152335" y="1703304"/>
            <a:ext cx="788822" cy="398780"/>
          </a:xfrm>
          <a:prstGeom prst="rect">
            <a:avLst/>
          </a:prstGeom>
        </p:spPr>
        <p:txBody>
          <a:bodyPr anchor="t" rtlCol="false" tIns="0" lIns="0" bIns="0" rIns="0">
            <a:spAutoFit/>
          </a:bodyPr>
          <a:lstStyle/>
          <a:p>
            <a:pPr algn="ctr">
              <a:lnSpc>
                <a:spcPts val="3219"/>
              </a:lnSpc>
            </a:pPr>
            <a:r>
              <a:rPr lang="en-US" sz="2299" b="true">
                <a:solidFill>
                  <a:srgbClr val="000000"/>
                </a:solidFill>
                <a:latin typeface="Lato Bold"/>
                <a:ea typeface="Lato Bold"/>
                <a:cs typeface="Lato Bold"/>
                <a:sym typeface="Lato Bold"/>
              </a:rPr>
              <a:t>Task</a:t>
            </a:r>
          </a:p>
        </p:txBody>
      </p:sp>
      <p:sp>
        <p:nvSpPr>
          <p:cNvPr name="TextBox 41" id="41"/>
          <p:cNvSpPr txBox="true"/>
          <p:nvPr/>
        </p:nvSpPr>
        <p:spPr>
          <a:xfrm rot="0">
            <a:off x="6163187" y="1707858"/>
            <a:ext cx="1288847" cy="398780"/>
          </a:xfrm>
          <a:prstGeom prst="rect">
            <a:avLst/>
          </a:prstGeom>
        </p:spPr>
        <p:txBody>
          <a:bodyPr anchor="t" rtlCol="false" tIns="0" lIns="0" bIns="0" rIns="0">
            <a:spAutoFit/>
          </a:bodyPr>
          <a:lstStyle/>
          <a:p>
            <a:pPr algn="ctr">
              <a:lnSpc>
                <a:spcPts val="3220"/>
              </a:lnSpc>
            </a:pPr>
            <a:r>
              <a:rPr lang="en-US" sz="2300">
                <a:solidFill>
                  <a:srgbClr val="000000"/>
                </a:solidFill>
                <a:latin typeface="Lato"/>
                <a:ea typeface="Lato"/>
                <a:cs typeface="Lato"/>
                <a:sym typeface="Lato"/>
              </a:rPr>
              <a:t>Jul 2026</a:t>
            </a:r>
          </a:p>
        </p:txBody>
      </p:sp>
      <p:sp>
        <p:nvSpPr>
          <p:cNvPr name="TextBox 42" id="42"/>
          <p:cNvSpPr txBox="true"/>
          <p:nvPr/>
        </p:nvSpPr>
        <p:spPr>
          <a:xfrm rot="0">
            <a:off x="14477195" y="1703195"/>
            <a:ext cx="1314587" cy="398780"/>
          </a:xfrm>
          <a:prstGeom prst="rect">
            <a:avLst/>
          </a:prstGeom>
        </p:spPr>
        <p:txBody>
          <a:bodyPr anchor="t" rtlCol="false" tIns="0" lIns="0" bIns="0" rIns="0">
            <a:spAutoFit/>
          </a:bodyPr>
          <a:lstStyle/>
          <a:p>
            <a:pPr algn="ctr" marL="0" indent="0" lvl="0">
              <a:lnSpc>
                <a:spcPts val="3220"/>
              </a:lnSpc>
              <a:spcBef>
                <a:spcPct val="0"/>
              </a:spcBef>
            </a:pPr>
            <a:r>
              <a:rPr lang="en-US" sz="2300" strike="noStrike" u="none">
                <a:solidFill>
                  <a:srgbClr val="000000"/>
                </a:solidFill>
                <a:latin typeface="Lato"/>
                <a:ea typeface="Lato"/>
                <a:cs typeface="Lato"/>
                <a:sym typeface="Lato"/>
              </a:rPr>
              <a:t>Oct 2026</a:t>
            </a:r>
          </a:p>
        </p:txBody>
      </p:sp>
      <p:sp>
        <p:nvSpPr>
          <p:cNvPr name="TextBox 43" id="43"/>
          <p:cNvSpPr txBox="true"/>
          <p:nvPr/>
        </p:nvSpPr>
        <p:spPr>
          <a:xfrm rot="0">
            <a:off x="2362293" y="2392388"/>
            <a:ext cx="2798204" cy="630555"/>
          </a:xfrm>
          <a:prstGeom prst="rect">
            <a:avLst/>
          </a:prstGeom>
        </p:spPr>
        <p:txBody>
          <a:bodyPr anchor="t" rtlCol="false" tIns="0" lIns="0" bIns="0" rIns="0">
            <a:spAutoFit/>
          </a:bodyPr>
          <a:lstStyle/>
          <a:p>
            <a:pPr algn="l">
              <a:lnSpc>
                <a:spcPts val="2520"/>
              </a:lnSpc>
            </a:pPr>
            <a:r>
              <a:rPr lang="en-US" sz="1800">
                <a:solidFill>
                  <a:srgbClr val="000000"/>
                </a:solidFill>
                <a:latin typeface="Lato"/>
                <a:ea typeface="Lato"/>
                <a:cs typeface="Lato"/>
                <a:sym typeface="Lato"/>
              </a:rPr>
              <a:t>Problem Identification &amp; Customer Connect</a:t>
            </a:r>
          </a:p>
        </p:txBody>
      </p:sp>
      <p:sp>
        <p:nvSpPr>
          <p:cNvPr name="TextBox 44" id="44"/>
          <p:cNvSpPr txBox="true"/>
          <p:nvPr/>
        </p:nvSpPr>
        <p:spPr>
          <a:xfrm rot="0">
            <a:off x="2362293" y="3155968"/>
            <a:ext cx="2653132" cy="630555"/>
          </a:xfrm>
          <a:prstGeom prst="rect">
            <a:avLst/>
          </a:prstGeom>
        </p:spPr>
        <p:txBody>
          <a:bodyPr anchor="t" rtlCol="false" tIns="0" lIns="0" bIns="0" rIns="0">
            <a:spAutoFit/>
          </a:bodyPr>
          <a:lstStyle/>
          <a:p>
            <a:pPr algn="l">
              <a:lnSpc>
                <a:spcPts val="2520"/>
              </a:lnSpc>
            </a:pPr>
            <a:r>
              <a:rPr lang="en-US" sz="1800">
                <a:solidFill>
                  <a:srgbClr val="000000"/>
                </a:solidFill>
                <a:latin typeface="Lato"/>
                <a:ea typeface="Lato"/>
                <a:cs typeface="Lato"/>
                <a:sym typeface="Lato"/>
              </a:rPr>
              <a:t>Literature Review &amp; Gap Analysis</a:t>
            </a:r>
          </a:p>
        </p:txBody>
      </p:sp>
      <p:sp>
        <p:nvSpPr>
          <p:cNvPr name="TextBox 45" id="45"/>
          <p:cNvSpPr txBox="true"/>
          <p:nvPr/>
        </p:nvSpPr>
        <p:spPr>
          <a:xfrm rot="0">
            <a:off x="2340347" y="3948982"/>
            <a:ext cx="2574950" cy="316230"/>
          </a:xfrm>
          <a:prstGeom prst="rect">
            <a:avLst/>
          </a:prstGeom>
        </p:spPr>
        <p:txBody>
          <a:bodyPr anchor="t" rtlCol="false" tIns="0" lIns="0" bIns="0" rIns="0">
            <a:spAutoFit/>
          </a:bodyPr>
          <a:lstStyle/>
          <a:p>
            <a:pPr algn="l" marL="0" indent="0" lvl="0">
              <a:lnSpc>
                <a:spcPts val="2520"/>
              </a:lnSpc>
              <a:spcBef>
                <a:spcPct val="0"/>
              </a:spcBef>
            </a:pPr>
            <a:r>
              <a:rPr lang="en-US" sz="1800" strike="noStrike" u="none">
                <a:solidFill>
                  <a:srgbClr val="000000"/>
                </a:solidFill>
                <a:latin typeface="Lato"/>
                <a:ea typeface="Lato"/>
                <a:cs typeface="Lato"/>
                <a:sym typeface="Lato"/>
              </a:rPr>
              <a:t>Survey &amp; Interviews</a:t>
            </a:r>
          </a:p>
        </p:txBody>
      </p:sp>
      <p:sp>
        <p:nvSpPr>
          <p:cNvPr name="TextBox 46" id="46"/>
          <p:cNvSpPr txBox="true"/>
          <p:nvPr/>
        </p:nvSpPr>
        <p:spPr>
          <a:xfrm rot="0">
            <a:off x="2311087" y="4649138"/>
            <a:ext cx="2561451" cy="630555"/>
          </a:xfrm>
          <a:prstGeom prst="rect">
            <a:avLst/>
          </a:prstGeom>
        </p:spPr>
        <p:txBody>
          <a:bodyPr anchor="t" rtlCol="false" tIns="0" lIns="0" bIns="0" rIns="0">
            <a:spAutoFit/>
          </a:bodyPr>
          <a:lstStyle/>
          <a:p>
            <a:pPr algn="l" marL="0" indent="0" lvl="0">
              <a:lnSpc>
                <a:spcPts val="2520"/>
              </a:lnSpc>
              <a:spcBef>
                <a:spcPct val="0"/>
              </a:spcBef>
            </a:pPr>
            <a:r>
              <a:rPr lang="en-US" sz="1800" strike="noStrike" u="none">
                <a:solidFill>
                  <a:srgbClr val="000000"/>
                </a:solidFill>
                <a:latin typeface="Lato"/>
                <a:ea typeface="Lato"/>
                <a:cs typeface="Lato"/>
                <a:sym typeface="Lato"/>
              </a:rPr>
              <a:t>Dataset Collection &amp; EDA</a:t>
            </a:r>
          </a:p>
        </p:txBody>
      </p:sp>
      <p:sp>
        <p:nvSpPr>
          <p:cNvPr name="TextBox 47" id="47"/>
          <p:cNvSpPr txBox="true"/>
          <p:nvPr/>
        </p:nvSpPr>
        <p:spPr>
          <a:xfrm rot="0">
            <a:off x="2340347" y="7713389"/>
            <a:ext cx="2370125" cy="585470"/>
          </a:xfrm>
          <a:prstGeom prst="rect">
            <a:avLst/>
          </a:prstGeom>
        </p:spPr>
        <p:txBody>
          <a:bodyPr anchor="t" rtlCol="false" tIns="0" lIns="0" bIns="0" rIns="0">
            <a:spAutoFit/>
          </a:bodyPr>
          <a:lstStyle/>
          <a:p>
            <a:pPr algn="l" marL="0" indent="0" lvl="0">
              <a:lnSpc>
                <a:spcPts val="2380"/>
              </a:lnSpc>
              <a:spcBef>
                <a:spcPct val="0"/>
              </a:spcBef>
            </a:pPr>
            <a:r>
              <a:rPr lang="en-US" sz="1700" strike="noStrike" u="none">
                <a:solidFill>
                  <a:srgbClr val="000000"/>
                </a:solidFill>
                <a:latin typeface="Lato"/>
                <a:ea typeface="Lato"/>
                <a:cs typeface="Lato"/>
                <a:sym typeface="Lato"/>
              </a:rPr>
              <a:t>Model Development (Rules + LoRA)</a:t>
            </a:r>
          </a:p>
        </p:txBody>
      </p:sp>
      <p:sp>
        <p:nvSpPr>
          <p:cNvPr name="TextBox 48" id="48"/>
          <p:cNvSpPr txBox="true"/>
          <p:nvPr/>
        </p:nvSpPr>
        <p:spPr>
          <a:xfrm rot="0">
            <a:off x="2311087" y="6988754"/>
            <a:ext cx="2704338" cy="630555"/>
          </a:xfrm>
          <a:prstGeom prst="rect">
            <a:avLst/>
          </a:prstGeom>
        </p:spPr>
        <p:txBody>
          <a:bodyPr anchor="t" rtlCol="false" tIns="0" lIns="0" bIns="0" rIns="0">
            <a:spAutoFit/>
          </a:bodyPr>
          <a:lstStyle/>
          <a:p>
            <a:pPr algn="l" marL="0" indent="0" lvl="0">
              <a:lnSpc>
                <a:spcPts val="2520"/>
              </a:lnSpc>
              <a:spcBef>
                <a:spcPct val="0"/>
              </a:spcBef>
            </a:pPr>
            <a:r>
              <a:rPr lang="en-US" sz="1800" strike="noStrike" u="none">
                <a:solidFill>
                  <a:srgbClr val="000000"/>
                </a:solidFill>
                <a:latin typeface="Lato"/>
                <a:ea typeface="Lato"/>
                <a:cs typeface="Lato"/>
                <a:sym typeface="Lato"/>
              </a:rPr>
              <a:t>Prototype Development (Frontend + Backend)</a:t>
            </a:r>
          </a:p>
        </p:txBody>
      </p:sp>
      <p:sp>
        <p:nvSpPr>
          <p:cNvPr name="TextBox 49" id="49"/>
          <p:cNvSpPr txBox="true"/>
          <p:nvPr/>
        </p:nvSpPr>
        <p:spPr>
          <a:xfrm rot="0">
            <a:off x="2311087" y="8406138"/>
            <a:ext cx="2041304" cy="630555"/>
          </a:xfrm>
          <a:prstGeom prst="rect">
            <a:avLst/>
          </a:prstGeom>
        </p:spPr>
        <p:txBody>
          <a:bodyPr anchor="t" rtlCol="false" tIns="0" lIns="0" bIns="0" rIns="0">
            <a:spAutoFit/>
          </a:bodyPr>
          <a:lstStyle/>
          <a:p>
            <a:pPr algn="l" marL="0" indent="0" lvl="0">
              <a:lnSpc>
                <a:spcPts val="2520"/>
              </a:lnSpc>
              <a:spcBef>
                <a:spcPct val="0"/>
              </a:spcBef>
            </a:pPr>
            <a:r>
              <a:rPr lang="en-US" sz="1800" strike="noStrike" u="none">
                <a:solidFill>
                  <a:srgbClr val="000000"/>
                </a:solidFill>
                <a:latin typeface="Lato"/>
                <a:ea typeface="Lato"/>
                <a:cs typeface="Lato"/>
                <a:sym typeface="Lato"/>
              </a:rPr>
              <a:t>Evaluation &amp; Testing</a:t>
            </a:r>
          </a:p>
        </p:txBody>
      </p:sp>
      <p:sp>
        <p:nvSpPr>
          <p:cNvPr name="TextBox 50" id="50"/>
          <p:cNvSpPr txBox="true"/>
          <p:nvPr/>
        </p:nvSpPr>
        <p:spPr>
          <a:xfrm rot="0">
            <a:off x="2362293" y="9144938"/>
            <a:ext cx="2574950" cy="630555"/>
          </a:xfrm>
          <a:prstGeom prst="rect">
            <a:avLst/>
          </a:prstGeom>
        </p:spPr>
        <p:txBody>
          <a:bodyPr anchor="t" rtlCol="false" tIns="0" lIns="0" bIns="0" rIns="0">
            <a:spAutoFit/>
          </a:bodyPr>
          <a:lstStyle/>
          <a:p>
            <a:pPr algn="l" marL="0" indent="0" lvl="0">
              <a:lnSpc>
                <a:spcPts val="2520"/>
              </a:lnSpc>
              <a:spcBef>
                <a:spcPct val="0"/>
              </a:spcBef>
            </a:pPr>
            <a:r>
              <a:rPr lang="en-US" sz="1800" strike="noStrike" u="none">
                <a:solidFill>
                  <a:srgbClr val="000000"/>
                </a:solidFill>
                <a:latin typeface="Lato"/>
                <a:ea typeface="Lato"/>
                <a:cs typeface="Lato"/>
                <a:sym typeface="Lato"/>
              </a:rPr>
              <a:t>Final Demo &amp; Documentation</a:t>
            </a:r>
          </a:p>
        </p:txBody>
      </p:sp>
      <p:sp>
        <p:nvSpPr>
          <p:cNvPr name="TextBox 51" id="51"/>
          <p:cNvSpPr txBox="true"/>
          <p:nvPr/>
        </p:nvSpPr>
        <p:spPr>
          <a:xfrm rot="0">
            <a:off x="8854533" y="1703195"/>
            <a:ext cx="1309421" cy="398780"/>
          </a:xfrm>
          <a:prstGeom prst="rect">
            <a:avLst/>
          </a:prstGeom>
        </p:spPr>
        <p:txBody>
          <a:bodyPr anchor="t" rtlCol="false" tIns="0" lIns="0" bIns="0" rIns="0">
            <a:spAutoFit/>
          </a:bodyPr>
          <a:lstStyle/>
          <a:p>
            <a:pPr algn="ctr" marL="0" indent="0" lvl="0">
              <a:lnSpc>
                <a:spcPts val="3220"/>
              </a:lnSpc>
              <a:spcBef>
                <a:spcPct val="0"/>
              </a:spcBef>
            </a:pPr>
            <a:r>
              <a:rPr lang="en-US" sz="2300" strike="noStrike" u="none">
                <a:solidFill>
                  <a:srgbClr val="000000"/>
                </a:solidFill>
                <a:latin typeface="Lato"/>
                <a:ea typeface="Lato"/>
                <a:cs typeface="Lato"/>
                <a:sym typeface="Lato"/>
              </a:rPr>
              <a:t>Aug 2026</a:t>
            </a:r>
          </a:p>
        </p:txBody>
      </p:sp>
      <p:sp>
        <p:nvSpPr>
          <p:cNvPr name="TextBox 52" id="52"/>
          <p:cNvSpPr txBox="true"/>
          <p:nvPr/>
        </p:nvSpPr>
        <p:spPr>
          <a:xfrm rot="0">
            <a:off x="11473914" y="1703195"/>
            <a:ext cx="1340352" cy="398780"/>
          </a:xfrm>
          <a:prstGeom prst="rect">
            <a:avLst/>
          </a:prstGeom>
        </p:spPr>
        <p:txBody>
          <a:bodyPr anchor="t" rtlCol="false" tIns="0" lIns="0" bIns="0" rIns="0">
            <a:spAutoFit/>
          </a:bodyPr>
          <a:lstStyle/>
          <a:p>
            <a:pPr algn="ctr" marL="0" indent="0" lvl="0">
              <a:lnSpc>
                <a:spcPts val="3220"/>
              </a:lnSpc>
              <a:spcBef>
                <a:spcPct val="0"/>
              </a:spcBef>
            </a:pPr>
            <a:r>
              <a:rPr lang="en-US" sz="2300" strike="noStrike" u="none">
                <a:solidFill>
                  <a:srgbClr val="000000"/>
                </a:solidFill>
                <a:latin typeface="Lato"/>
                <a:ea typeface="Lato"/>
                <a:cs typeface="Lato"/>
                <a:sym typeface="Lato"/>
              </a:rPr>
              <a:t>Sep 2026</a:t>
            </a:r>
          </a:p>
        </p:txBody>
      </p:sp>
      <p:sp>
        <p:nvSpPr>
          <p:cNvPr name="TextBox 53" id="53"/>
          <p:cNvSpPr txBox="true"/>
          <p:nvPr/>
        </p:nvSpPr>
        <p:spPr>
          <a:xfrm rot="0">
            <a:off x="2014011" y="2477788"/>
            <a:ext cx="146304" cy="316230"/>
          </a:xfrm>
          <a:prstGeom prst="rect">
            <a:avLst/>
          </a:prstGeom>
        </p:spPr>
        <p:txBody>
          <a:bodyPr anchor="t" rtlCol="false" tIns="0" lIns="0" bIns="0" rIns="0">
            <a:spAutoFit/>
          </a:bodyPr>
          <a:lstStyle/>
          <a:p>
            <a:pPr algn="l">
              <a:lnSpc>
                <a:spcPts val="2520"/>
              </a:lnSpc>
            </a:pPr>
            <a:r>
              <a:rPr lang="en-US" sz="1800">
                <a:solidFill>
                  <a:srgbClr val="000000"/>
                </a:solidFill>
                <a:latin typeface="Lato"/>
                <a:ea typeface="Lato"/>
                <a:cs typeface="Lato"/>
                <a:sym typeface="Lato"/>
              </a:rPr>
              <a:t>1</a:t>
            </a:r>
          </a:p>
        </p:txBody>
      </p:sp>
      <p:sp>
        <p:nvSpPr>
          <p:cNvPr name="TextBox 54" id="54"/>
          <p:cNvSpPr txBox="true"/>
          <p:nvPr/>
        </p:nvSpPr>
        <p:spPr>
          <a:xfrm rot="0">
            <a:off x="1987389" y="3178828"/>
            <a:ext cx="146304" cy="316230"/>
          </a:xfrm>
          <a:prstGeom prst="rect">
            <a:avLst/>
          </a:prstGeom>
        </p:spPr>
        <p:txBody>
          <a:bodyPr anchor="t" rtlCol="false" tIns="0" lIns="0" bIns="0" rIns="0">
            <a:spAutoFit/>
          </a:bodyPr>
          <a:lstStyle/>
          <a:p>
            <a:pPr algn="l">
              <a:lnSpc>
                <a:spcPts val="2520"/>
              </a:lnSpc>
            </a:pPr>
            <a:r>
              <a:rPr lang="en-US" sz="1800">
                <a:solidFill>
                  <a:srgbClr val="000000"/>
                </a:solidFill>
                <a:latin typeface="Lato"/>
                <a:ea typeface="Lato"/>
                <a:cs typeface="Lato"/>
                <a:sym typeface="Lato"/>
              </a:rPr>
              <a:t>2</a:t>
            </a:r>
          </a:p>
        </p:txBody>
      </p:sp>
      <p:sp>
        <p:nvSpPr>
          <p:cNvPr name="TextBox 55" id="55"/>
          <p:cNvSpPr txBox="true"/>
          <p:nvPr/>
        </p:nvSpPr>
        <p:spPr>
          <a:xfrm rot="0">
            <a:off x="1974587" y="3948982"/>
            <a:ext cx="146304" cy="316230"/>
          </a:xfrm>
          <a:prstGeom prst="rect">
            <a:avLst/>
          </a:prstGeom>
        </p:spPr>
        <p:txBody>
          <a:bodyPr anchor="t" rtlCol="false" tIns="0" lIns="0" bIns="0" rIns="0">
            <a:spAutoFit/>
          </a:bodyPr>
          <a:lstStyle/>
          <a:p>
            <a:pPr algn="l">
              <a:lnSpc>
                <a:spcPts val="2520"/>
              </a:lnSpc>
            </a:pPr>
            <a:r>
              <a:rPr lang="en-US" sz="1800">
                <a:solidFill>
                  <a:srgbClr val="000000"/>
                </a:solidFill>
                <a:latin typeface="Lato"/>
                <a:ea typeface="Lato"/>
                <a:cs typeface="Lato"/>
                <a:sym typeface="Lato"/>
              </a:rPr>
              <a:t>3</a:t>
            </a:r>
          </a:p>
        </p:txBody>
      </p:sp>
      <p:sp>
        <p:nvSpPr>
          <p:cNvPr name="TextBox 56" id="56"/>
          <p:cNvSpPr txBox="true"/>
          <p:nvPr/>
        </p:nvSpPr>
        <p:spPr>
          <a:xfrm rot="0">
            <a:off x="1974587" y="4750499"/>
            <a:ext cx="146304" cy="316230"/>
          </a:xfrm>
          <a:prstGeom prst="rect">
            <a:avLst/>
          </a:prstGeom>
        </p:spPr>
        <p:txBody>
          <a:bodyPr anchor="t" rtlCol="false" tIns="0" lIns="0" bIns="0" rIns="0">
            <a:spAutoFit/>
          </a:bodyPr>
          <a:lstStyle/>
          <a:p>
            <a:pPr algn="l" marL="0" indent="0" lvl="0">
              <a:lnSpc>
                <a:spcPts val="2520"/>
              </a:lnSpc>
              <a:spcBef>
                <a:spcPct val="0"/>
              </a:spcBef>
            </a:pPr>
            <a:r>
              <a:rPr lang="en-US" sz="1800" strike="noStrike" u="none">
                <a:solidFill>
                  <a:srgbClr val="000000"/>
                </a:solidFill>
                <a:latin typeface="Lato"/>
                <a:ea typeface="Lato"/>
                <a:cs typeface="Lato"/>
                <a:sym typeface="Lato"/>
              </a:rPr>
              <a:t>4</a:t>
            </a:r>
          </a:p>
        </p:txBody>
      </p:sp>
      <p:sp>
        <p:nvSpPr>
          <p:cNvPr name="TextBox 57" id="57"/>
          <p:cNvSpPr txBox="true"/>
          <p:nvPr/>
        </p:nvSpPr>
        <p:spPr>
          <a:xfrm rot="0">
            <a:off x="2372656" y="5532810"/>
            <a:ext cx="2348179" cy="316230"/>
          </a:xfrm>
          <a:prstGeom prst="rect">
            <a:avLst/>
          </a:prstGeom>
        </p:spPr>
        <p:txBody>
          <a:bodyPr anchor="t" rtlCol="false" tIns="0" lIns="0" bIns="0" rIns="0">
            <a:spAutoFit/>
          </a:bodyPr>
          <a:lstStyle/>
          <a:p>
            <a:pPr algn="l" marL="0" indent="0" lvl="0">
              <a:lnSpc>
                <a:spcPts val="2520"/>
              </a:lnSpc>
              <a:spcBef>
                <a:spcPct val="0"/>
              </a:spcBef>
            </a:pPr>
            <a:r>
              <a:rPr lang="en-US" sz="1800" strike="noStrike" u="none">
                <a:solidFill>
                  <a:srgbClr val="000000"/>
                </a:solidFill>
                <a:latin typeface="Lato"/>
                <a:ea typeface="Lato"/>
                <a:cs typeface="Lato"/>
                <a:sym typeface="Lato"/>
              </a:rPr>
              <a:t>SRS Development</a:t>
            </a:r>
          </a:p>
        </p:txBody>
      </p:sp>
      <p:sp>
        <p:nvSpPr>
          <p:cNvPr name="TextBox 58" id="58"/>
          <p:cNvSpPr txBox="true"/>
          <p:nvPr/>
        </p:nvSpPr>
        <p:spPr>
          <a:xfrm rot="0">
            <a:off x="1974587" y="5574115"/>
            <a:ext cx="146304" cy="316230"/>
          </a:xfrm>
          <a:prstGeom prst="rect">
            <a:avLst/>
          </a:prstGeom>
        </p:spPr>
        <p:txBody>
          <a:bodyPr anchor="t" rtlCol="false" tIns="0" lIns="0" bIns="0" rIns="0">
            <a:spAutoFit/>
          </a:bodyPr>
          <a:lstStyle/>
          <a:p>
            <a:pPr algn="l" marL="0" indent="0" lvl="0">
              <a:lnSpc>
                <a:spcPts val="2520"/>
              </a:lnSpc>
              <a:spcBef>
                <a:spcPct val="0"/>
              </a:spcBef>
            </a:pPr>
            <a:r>
              <a:rPr lang="en-US" sz="1800" strike="noStrike" u="none">
                <a:solidFill>
                  <a:srgbClr val="000000"/>
                </a:solidFill>
                <a:latin typeface="Lato"/>
                <a:ea typeface="Lato"/>
                <a:cs typeface="Lato"/>
                <a:sym typeface="Lato"/>
              </a:rPr>
              <a:t>5</a:t>
            </a:r>
          </a:p>
        </p:txBody>
      </p:sp>
      <p:sp>
        <p:nvSpPr>
          <p:cNvPr name="TextBox 59" id="59"/>
          <p:cNvSpPr txBox="true"/>
          <p:nvPr/>
        </p:nvSpPr>
        <p:spPr>
          <a:xfrm rot="0">
            <a:off x="2311087" y="6190807"/>
            <a:ext cx="2704338" cy="630555"/>
          </a:xfrm>
          <a:prstGeom prst="rect">
            <a:avLst/>
          </a:prstGeom>
        </p:spPr>
        <p:txBody>
          <a:bodyPr anchor="t" rtlCol="false" tIns="0" lIns="0" bIns="0" rIns="0">
            <a:spAutoFit/>
          </a:bodyPr>
          <a:lstStyle/>
          <a:p>
            <a:pPr algn="l" marL="0" indent="0" lvl="0">
              <a:lnSpc>
                <a:spcPts val="2520"/>
              </a:lnSpc>
              <a:spcBef>
                <a:spcPct val="0"/>
              </a:spcBef>
            </a:pPr>
            <a:r>
              <a:rPr lang="en-US" sz="1800" strike="noStrike" u="none">
                <a:solidFill>
                  <a:srgbClr val="000000"/>
                </a:solidFill>
                <a:latin typeface="Lato"/>
                <a:ea typeface="Lato"/>
                <a:cs typeface="Lato"/>
                <a:sym typeface="Lato"/>
              </a:rPr>
              <a:t>System Design &amp; Architecture</a:t>
            </a:r>
          </a:p>
        </p:txBody>
      </p:sp>
      <p:sp>
        <p:nvSpPr>
          <p:cNvPr name="TextBox 60" id="60"/>
          <p:cNvSpPr txBox="true"/>
          <p:nvPr/>
        </p:nvSpPr>
        <p:spPr>
          <a:xfrm rot="0">
            <a:off x="2060541" y="7112137"/>
            <a:ext cx="146304" cy="316230"/>
          </a:xfrm>
          <a:prstGeom prst="rect">
            <a:avLst/>
          </a:prstGeom>
        </p:spPr>
        <p:txBody>
          <a:bodyPr anchor="t" rtlCol="false" tIns="0" lIns="0" bIns="0" rIns="0">
            <a:spAutoFit/>
          </a:bodyPr>
          <a:lstStyle/>
          <a:p>
            <a:pPr algn="l" marL="0" indent="0" lvl="0">
              <a:lnSpc>
                <a:spcPts val="2520"/>
              </a:lnSpc>
              <a:spcBef>
                <a:spcPct val="0"/>
              </a:spcBef>
            </a:pPr>
            <a:r>
              <a:rPr lang="en-US" sz="1800">
                <a:solidFill>
                  <a:srgbClr val="000000"/>
                </a:solidFill>
                <a:latin typeface="Lato"/>
                <a:ea typeface="Lato"/>
                <a:cs typeface="Lato"/>
                <a:sym typeface="Lato"/>
              </a:rPr>
              <a:t>7</a:t>
            </a:r>
          </a:p>
        </p:txBody>
      </p:sp>
      <p:sp>
        <p:nvSpPr>
          <p:cNvPr name="TextBox 61" id="61"/>
          <p:cNvSpPr txBox="true"/>
          <p:nvPr/>
        </p:nvSpPr>
        <p:spPr>
          <a:xfrm rot="0">
            <a:off x="2047739" y="7731064"/>
            <a:ext cx="146304" cy="316230"/>
          </a:xfrm>
          <a:prstGeom prst="rect">
            <a:avLst/>
          </a:prstGeom>
        </p:spPr>
        <p:txBody>
          <a:bodyPr anchor="t" rtlCol="false" tIns="0" lIns="0" bIns="0" rIns="0">
            <a:spAutoFit/>
          </a:bodyPr>
          <a:lstStyle/>
          <a:p>
            <a:pPr algn="l" marL="0" indent="0" lvl="0">
              <a:lnSpc>
                <a:spcPts val="2520"/>
              </a:lnSpc>
              <a:spcBef>
                <a:spcPct val="0"/>
              </a:spcBef>
            </a:pPr>
            <a:r>
              <a:rPr lang="en-US" sz="1800" strike="noStrike" u="none">
                <a:solidFill>
                  <a:srgbClr val="000000"/>
                </a:solidFill>
                <a:latin typeface="Lato"/>
                <a:ea typeface="Lato"/>
                <a:cs typeface="Lato"/>
                <a:sym typeface="Lato"/>
              </a:rPr>
              <a:t>8</a:t>
            </a:r>
          </a:p>
        </p:txBody>
      </p:sp>
      <p:sp>
        <p:nvSpPr>
          <p:cNvPr name="TextBox 62" id="62"/>
          <p:cNvSpPr txBox="true"/>
          <p:nvPr/>
        </p:nvSpPr>
        <p:spPr>
          <a:xfrm rot="0">
            <a:off x="2060541" y="8536710"/>
            <a:ext cx="146304" cy="316230"/>
          </a:xfrm>
          <a:prstGeom prst="rect">
            <a:avLst/>
          </a:prstGeom>
        </p:spPr>
        <p:txBody>
          <a:bodyPr anchor="t" rtlCol="false" tIns="0" lIns="0" bIns="0" rIns="0">
            <a:spAutoFit/>
          </a:bodyPr>
          <a:lstStyle/>
          <a:p>
            <a:pPr algn="l" marL="0" indent="0" lvl="0">
              <a:lnSpc>
                <a:spcPts val="2520"/>
              </a:lnSpc>
              <a:spcBef>
                <a:spcPct val="0"/>
              </a:spcBef>
            </a:pPr>
            <a:r>
              <a:rPr lang="en-US" sz="1800" strike="noStrike" u="none">
                <a:solidFill>
                  <a:srgbClr val="000000"/>
                </a:solidFill>
                <a:latin typeface="Lato"/>
                <a:ea typeface="Lato"/>
                <a:cs typeface="Lato"/>
                <a:sym typeface="Lato"/>
              </a:rPr>
              <a:t>9</a:t>
            </a:r>
          </a:p>
        </p:txBody>
      </p:sp>
      <p:sp>
        <p:nvSpPr>
          <p:cNvPr name="TextBox 63" id="63"/>
          <p:cNvSpPr txBox="true"/>
          <p:nvPr/>
        </p:nvSpPr>
        <p:spPr>
          <a:xfrm rot="0">
            <a:off x="9417803" y="1128510"/>
            <a:ext cx="1141171" cy="308848"/>
          </a:xfrm>
          <a:prstGeom prst="rect">
            <a:avLst/>
          </a:prstGeom>
        </p:spPr>
        <p:txBody>
          <a:bodyPr anchor="t" rtlCol="false" tIns="0" lIns="0" bIns="0" rIns="0">
            <a:spAutoFit/>
          </a:bodyPr>
          <a:lstStyle/>
          <a:p>
            <a:pPr algn="ctr">
              <a:lnSpc>
                <a:spcPts val="2401"/>
              </a:lnSpc>
            </a:pPr>
            <a:r>
              <a:rPr lang="en-US" sz="1715" b="true">
                <a:solidFill>
                  <a:srgbClr val="169D34"/>
                </a:solidFill>
                <a:latin typeface="Lato Bold"/>
                <a:ea typeface="Lato Bold"/>
                <a:cs typeface="Lato Bold"/>
                <a:sym typeface="Lato Bold"/>
              </a:rPr>
              <a:t>Work Done</a:t>
            </a:r>
          </a:p>
        </p:txBody>
      </p:sp>
      <p:grpSp>
        <p:nvGrpSpPr>
          <p:cNvPr name="Group 64" id="64"/>
          <p:cNvGrpSpPr/>
          <p:nvPr/>
        </p:nvGrpSpPr>
        <p:grpSpPr>
          <a:xfrm rot="0">
            <a:off x="6374595" y="4055448"/>
            <a:ext cx="2955142" cy="257389"/>
            <a:chOff x="0" y="0"/>
            <a:chExt cx="778309" cy="67790"/>
          </a:xfrm>
        </p:grpSpPr>
        <p:sp>
          <p:nvSpPr>
            <p:cNvPr name="Freeform 65" id="65"/>
            <p:cNvSpPr/>
            <p:nvPr/>
          </p:nvSpPr>
          <p:spPr>
            <a:xfrm flipH="false" flipV="false" rot="0">
              <a:off x="0" y="0"/>
              <a:ext cx="778309" cy="67790"/>
            </a:xfrm>
            <a:custGeom>
              <a:avLst/>
              <a:gdLst/>
              <a:ahLst/>
              <a:cxnLst/>
              <a:rect r="r" b="b" t="t" l="l"/>
              <a:pathLst>
                <a:path h="67790" w="778309">
                  <a:moveTo>
                    <a:pt x="0" y="0"/>
                  </a:moveTo>
                  <a:lnTo>
                    <a:pt x="778309" y="0"/>
                  </a:lnTo>
                  <a:lnTo>
                    <a:pt x="778309" y="67790"/>
                  </a:lnTo>
                  <a:lnTo>
                    <a:pt x="0" y="67790"/>
                  </a:lnTo>
                  <a:close/>
                </a:path>
              </a:pathLst>
            </a:custGeom>
            <a:solidFill>
              <a:srgbClr val="169D34"/>
            </a:solidFill>
          </p:spPr>
        </p:sp>
        <p:sp>
          <p:nvSpPr>
            <p:cNvPr name="TextBox 66" id="66"/>
            <p:cNvSpPr txBox="true"/>
            <p:nvPr/>
          </p:nvSpPr>
          <p:spPr>
            <a:xfrm>
              <a:off x="0" y="-38100"/>
              <a:ext cx="778309" cy="105890"/>
            </a:xfrm>
            <a:prstGeom prst="rect">
              <a:avLst/>
            </a:prstGeom>
          </p:spPr>
          <p:txBody>
            <a:bodyPr anchor="ctr" rtlCol="false" tIns="50800" lIns="50800" bIns="50800" rIns="50800"/>
            <a:lstStyle/>
            <a:p>
              <a:pPr algn="ctr">
                <a:lnSpc>
                  <a:spcPts val="2380"/>
                </a:lnSpc>
              </a:pPr>
            </a:p>
          </p:txBody>
        </p:sp>
      </p:grpSp>
      <p:grpSp>
        <p:nvGrpSpPr>
          <p:cNvPr name="Group 67" id="67"/>
          <p:cNvGrpSpPr/>
          <p:nvPr/>
        </p:nvGrpSpPr>
        <p:grpSpPr>
          <a:xfrm rot="0">
            <a:off x="6486154" y="4839638"/>
            <a:ext cx="3783962" cy="227091"/>
            <a:chOff x="0" y="0"/>
            <a:chExt cx="996599" cy="59810"/>
          </a:xfrm>
        </p:grpSpPr>
        <p:sp>
          <p:nvSpPr>
            <p:cNvPr name="Freeform 68" id="68"/>
            <p:cNvSpPr/>
            <p:nvPr/>
          </p:nvSpPr>
          <p:spPr>
            <a:xfrm flipH="false" flipV="false" rot="0">
              <a:off x="0" y="0"/>
              <a:ext cx="996599" cy="59810"/>
            </a:xfrm>
            <a:custGeom>
              <a:avLst/>
              <a:gdLst/>
              <a:ahLst/>
              <a:cxnLst/>
              <a:rect r="r" b="b" t="t" l="l"/>
              <a:pathLst>
                <a:path h="59810" w="996599">
                  <a:moveTo>
                    <a:pt x="0" y="0"/>
                  </a:moveTo>
                  <a:lnTo>
                    <a:pt x="996599" y="0"/>
                  </a:lnTo>
                  <a:lnTo>
                    <a:pt x="996599" y="59810"/>
                  </a:lnTo>
                  <a:lnTo>
                    <a:pt x="0" y="59810"/>
                  </a:lnTo>
                  <a:close/>
                </a:path>
              </a:pathLst>
            </a:custGeom>
            <a:solidFill>
              <a:srgbClr val="CA3232"/>
            </a:solidFill>
          </p:spPr>
        </p:sp>
        <p:sp>
          <p:nvSpPr>
            <p:cNvPr name="TextBox 69" id="69"/>
            <p:cNvSpPr txBox="true"/>
            <p:nvPr/>
          </p:nvSpPr>
          <p:spPr>
            <a:xfrm>
              <a:off x="0" y="-38100"/>
              <a:ext cx="996599" cy="97910"/>
            </a:xfrm>
            <a:prstGeom prst="rect">
              <a:avLst/>
            </a:prstGeom>
          </p:spPr>
          <p:txBody>
            <a:bodyPr anchor="ctr" rtlCol="false" tIns="50800" lIns="50800" bIns="50800" rIns="50800"/>
            <a:lstStyle/>
            <a:p>
              <a:pPr algn="ctr">
                <a:lnSpc>
                  <a:spcPts val="2380"/>
                </a:lnSpc>
              </a:pPr>
            </a:p>
          </p:txBody>
        </p:sp>
      </p:grpSp>
      <p:grpSp>
        <p:nvGrpSpPr>
          <p:cNvPr name="Group 70" id="70"/>
          <p:cNvGrpSpPr/>
          <p:nvPr/>
        </p:nvGrpSpPr>
        <p:grpSpPr>
          <a:xfrm rot="0">
            <a:off x="6631388" y="5666160"/>
            <a:ext cx="4185857" cy="224186"/>
            <a:chOff x="0" y="0"/>
            <a:chExt cx="1102448" cy="59045"/>
          </a:xfrm>
        </p:grpSpPr>
        <p:sp>
          <p:nvSpPr>
            <p:cNvPr name="Freeform 71" id="71"/>
            <p:cNvSpPr/>
            <p:nvPr/>
          </p:nvSpPr>
          <p:spPr>
            <a:xfrm flipH="false" flipV="false" rot="0">
              <a:off x="0" y="0"/>
              <a:ext cx="1102448" cy="59045"/>
            </a:xfrm>
            <a:custGeom>
              <a:avLst/>
              <a:gdLst/>
              <a:ahLst/>
              <a:cxnLst/>
              <a:rect r="r" b="b" t="t" l="l"/>
              <a:pathLst>
                <a:path h="59045" w="1102448">
                  <a:moveTo>
                    <a:pt x="0" y="0"/>
                  </a:moveTo>
                  <a:lnTo>
                    <a:pt x="1102448" y="0"/>
                  </a:lnTo>
                  <a:lnTo>
                    <a:pt x="1102448" y="59045"/>
                  </a:lnTo>
                  <a:lnTo>
                    <a:pt x="0" y="59045"/>
                  </a:lnTo>
                  <a:close/>
                </a:path>
              </a:pathLst>
            </a:custGeom>
            <a:solidFill>
              <a:srgbClr val="6B1FAD"/>
            </a:solidFill>
          </p:spPr>
        </p:sp>
        <p:sp>
          <p:nvSpPr>
            <p:cNvPr name="TextBox 72" id="72"/>
            <p:cNvSpPr txBox="true"/>
            <p:nvPr/>
          </p:nvSpPr>
          <p:spPr>
            <a:xfrm>
              <a:off x="0" y="-38100"/>
              <a:ext cx="1102448" cy="97145"/>
            </a:xfrm>
            <a:prstGeom prst="rect">
              <a:avLst/>
            </a:prstGeom>
          </p:spPr>
          <p:txBody>
            <a:bodyPr anchor="ctr" rtlCol="false" tIns="50800" lIns="50800" bIns="50800" rIns="50800"/>
            <a:lstStyle/>
            <a:p>
              <a:pPr algn="ctr">
                <a:lnSpc>
                  <a:spcPts val="2380"/>
                </a:lnSpc>
              </a:pPr>
            </a:p>
          </p:txBody>
        </p:sp>
      </p:grpSp>
      <p:grpSp>
        <p:nvGrpSpPr>
          <p:cNvPr name="Group 73" id="73"/>
          <p:cNvGrpSpPr/>
          <p:nvPr/>
        </p:nvGrpSpPr>
        <p:grpSpPr>
          <a:xfrm rot="0">
            <a:off x="7304376" y="6362257"/>
            <a:ext cx="3457184" cy="257413"/>
            <a:chOff x="0" y="0"/>
            <a:chExt cx="910534" cy="67796"/>
          </a:xfrm>
        </p:grpSpPr>
        <p:sp>
          <p:nvSpPr>
            <p:cNvPr name="Freeform 74" id="74"/>
            <p:cNvSpPr/>
            <p:nvPr/>
          </p:nvSpPr>
          <p:spPr>
            <a:xfrm flipH="false" flipV="false" rot="0">
              <a:off x="0" y="0"/>
              <a:ext cx="910534" cy="67796"/>
            </a:xfrm>
            <a:custGeom>
              <a:avLst/>
              <a:gdLst/>
              <a:ahLst/>
              <a:cxnLst/>
              <a:rect r="r" b="b" t="t" l="l"/>
              <a:pathLst>
                <a:path h="67796" w="910534">
                  <a:moveTo>
                    <a:pt x="0" y="0"/>
                  </a:moveTo>
                  <a:lnTo>
                    <a:pt x="910534" y="0"/>
                  </a:lnTo>
                  <a:lnTo>
                    <a:pt x="910534" y="67796"/>
                  </a:lnTo>
                  <a:lnTo>
                    <a:pt x="0" y="67796"/>
                  </a:lnTo>
                  <a:close/>
                </a:path>
              </a:pathLst>
            </a:custGeom>
            <a:solidFill>
              <a:srgbClr val="702A0C"/>
            </a:solidFill>
          </p:spPr>
        </p:sp>
        <p:sp>
          <p:nvSpPr>
            <p:cNvPr name="TextBox 75" id="75"/>
            <p:cNvSpPr txBox="true"/>
            <p:nvPr/>
          </p:nvSpPr>
          <p:spPr>
            <a:xfrm>
              <a:off x="0" y="-38100"/>
              <a:ext cx="910534" cy="105896"/>
            </a:xfrm>
            <a:prstGeom prst="rect">
              <a:avLst/>
            </a:prstGeom>
          </p:spPr>
          <p:txBody>
            <a:bodyPr anchor="ctr" rtlCol="false" tIns="50800" lIns="50800" bIns="50800" rIns="50800"/>
            <a:lstStyle/>
            <a:p>
              <a:pPr algn="ctr">
                <a:lnSpc>
                  <a:spcPts val="2380"/>
                </a:lnSpc>
              </a:pPr>
            </a:p>
          </p:txBody>
        </p:sp>
      </p:grpSp>
      <p:sp>
        <p:nvSpPr>
          <p:cNvPr name="AutoShape 76" id="76"/>
          <p:cNvSpPr/>
          <p:nvPr/>
        </p:nvSpPr>
        <p:spPr>
          <a:xfrm>
            <a:off x="8087237" y="1580264"/>
            <a:ext cx="0" cy="8288616"/>
          </a:xfrm>
          <a:prstGeom prst="line">
            <a:avLst/>
          </a:prstGeom>
          <a:ln cap="flat" w="38100">
            <a:solidFill>
              <a:srgbClr val="000000"/>
            </a:solidFill>
            <a:prstDash val="solid"/>
            <a:headEnd type="none" len="sm" w="sm"/>
            <a:tailEnd type="none" len="sm" w="sm"/>
          </a:ln>
        </p:spPr>
      </p:sp>
      <p:grpSp>
        <p:nvGrpSpPr>
          <p:cNvPr name="Group 77" id="77"/>
          <p:cNvGrpSpPr/>
          <p:nvPr/>
        </p:nvGrpSpPr>
        <p:grpSpPr>
          <a:xfrm rot="0">
            <a:off x="10842743" y="7207294"/>
            <a:ext cx="3457184" cy="257413"/>
            <a:chOff x="0" y="0"/>
            <a:chExt cx="910534" cy="67796"/>
          </a:xfrm>
        </p:grpSpPr>
        <p:sp>
          <p:nvSpPr>
            <p:cNvPr name="Freeform 78" id="78"/>
            <p:cNvSpPr/>
            <p:nvPr/>
          </p:nvSpPr>
          <p:spPr>
            <a:xfrm flipH="false" flipV="false" rot="0">
              <a:off x="0" y="0"/>
              <a:ext cx="910534" cy="67796"/>
            </a:xfrm>
            <a:custGeom>
              <a:avLst/>
              <a:gdLst/>
              <a:ahLst/>
              <a:cxnLst/>
              <a:rect r="r" b="b" t="t" l="l"/>
              <a:pathLst>
                <a:path h="67796" w="910534">
                  <a:moveTo>
                    <a:pt x="0" y="0"/>
                  </a:moveTo>
                  <a:lnTo>
                    <a:pt x="910534" y="0"/>
                  </a:lnTo>
                  <a:lnTo>
                    <a:pt x="910534" y="67796"/>
                  </a:lnTo>
                  <a:lnTo>
                    <a:pt x="0" y="67796"/>
                  </a:lnTo>
                  <a:close/>
                </a:path>
              </a:pathLst>
            </a:custGeom>
            <a:solidFill>
              <a:srgbClr val="FF1FA9"/>
            </a:solidFill>
          </p:spPr>
        </p:sp>
        <p:sp>
          <p:nvSpPr>
            <p:cNvPr name="TextBox 79" id="79"/>
            <p:cNvSpPr txBox="true"/>
            <p:nvPr/>
          </p:nvSpPr>
          <p:spPr>
            <a:xfrm>
              <a:off x="0" y="-38100"/>
              <a:ext cx="910534" cy="105896"/>
            </a:xfrm>
            <a:prstGeom prst="rect">
              <a:avLst/>
            </a:prstGeom>
          </p:spPr>
          <p:txBody>
            <a:bodyPr anchor="ctr" rtlCol="false" tIns="50800" lIns="50800" bIns="50800" rIns="50800"/>
            <a:lstStyle/>
            <a:p>
              <a:pPr algn="ctr">
                <a:lnSpc>
                  <a:spcPts val="2380"/>
                </a:lnSpc>
              </a:pPr>
            </a:p>
          </p:txBody>
        </p:sp>
      </p:grpSp>
      <p:grpSp>
        <p:nvGrpSpPr>
          <p:cNvPr name="Group 80" id="80"/>
          <p:cNvGrpSpPr/>
          <p:nvPr/>
        </p:nvGrpSpPr>
        <p:grpSpPr>
          <a:xfrm rot="0">
            <a:off x="11377849" y="7912992"/>
            <a:ext cx="4522066" cy="213533"/>
            <a:chOff x="0" y="0"/>
            <a:chExt cx="1190997" cy="56239"/>
          </a:xfrm>
        </p:grpSpPr>
        <p:sp>
          <p:nvSpPr>
            <p:cNvPr name="Freeform 81" id="81"/>
            <p:cNvSpPr/>
            <p:nvPr/>
          </p:nvSpPr>
          <p:spPr>
            <a:xfrm flipH="false" flipV="false" rot="0">
              <a:off x="0" y="0"/>
              <a:ext cx="1190997" cy="56239"/>
            </a:xfrm>
            <a:custGeom>
              <a:avLst/>
              <a:gdLst/>
              <a:ahLst/>
              <a:cxnLst/>
              <a:rect r="r" b="b" t="t" l="l"/>
              <a:pathLst>
                <a:path h="56239" w="1190997">
                  <a:moveTo>
                    <a:pt x="0" y="0"/>
                  </a:moveTo>
                  <a:lnTo>
                    <a:pt x="1190997" y="0"/>
                  </a:lnTo>
                  <a:lnTo>
                    <a:pt x="1190997" y="56239"/>
                  </a:lnTo>
                  <a:lnTo>
                    <a:pt x="0" y="56239"/>
                  </a:lnTo>
                  <a:close/>
                </a:path>
              </a:pathLst>
            </a:custGeom>
            <a:solidFill>
              <a:srgbClr val="1C98ED"/>
            </a:solidFill>
          </p:spPr>
        </p:sp>
        <p:sp>
          <p:nvSpPr>
            <p:cNvPr name="TextBox 82" id="82"/>
            <p:cNvSpPr txBox="true"/>
            <p:nvPr/>
          </p:nvSpPr>
          <p:spPr>
            <a:xfrm>
              <a:off x="0" y="-38100"/>
              <a:ext cx="1190997" cy="94339"/>
            </a:xfrm>
            <a:prstGeom prst="rect">
              <a:avLst/>
            </a:prstGeom>
          </p:spPr>
          <p:txBody>
            <a:bodyPr anchor="ctr" rtlCol="false" tIns="50800" lIns="50800" bIns="50800" rIns="50800"/>
            <a:lstStyle/>
            <a:p>
              <a:pPr algn="ctr">
                <a:lnSpc>
                  <a:spcPts val="2380"/>
                </a:lnSpc>
              </a:pPr>
            </a:p>
          </p:txBody>
        </p:sp>
      </p:grpSp>
      <p:sp>
        <p:nvSpPr>
          <p:cNvPr name="AutoShape 83" id="83"/>
          <p:cNvSpPr/>
          <p:nvPr/>
        </p:nvSpPr>
        <p:spPr>
          <a:xfrm flipH="true">
            <a:off x="13638882" y="1538264"/>
            <a:ext cx="4015" cy="8330617"/>
          </a:xfrm>
          <a:prstGeom prst="line">
            <a:avLst/>
          </a:prstGeom>
          <a:ln cap="flat" w="38100">
            <a:solidFill>
              <a:srgbClr val="000000"/>
            </a:solidFill>
            <a:prstDash val="solid"/>
            <a:headEnd type="none" len="sm" w="sm"/>
            <a:tailEnd type="none" len="sm" w="sm"/>
          </a:ln>
        </p:spPr>
      </p:sp>
      <p:grpSp>
        <p:nvGrpSpPr>
          <p:cNvPr name="Group 84" id="84"/>
          <p:cNvGrpSpPr/>
          <p:nvPr/>
        </p:nvGrpSpPr>
        <p:grpSpPr>
          <a:xfrm rot="0">
            <a:off x="14119147" y="8602750"/>
            <a:ext cx="2030684" cy="231776"/>
            <a:chOff x="0" y="0"/>
            <a:chExt cx="534830" cy="61044"/>
          </a:xfrm>
        </p:grpSpPr>
        <p:sp>
          <p:nvSpPr>
            <p:cNvPr name="Freeform 85" id="85"/>
            <p:cNvSpPr/>
            <p:nvPr/>
          </p:nvSpPr>
          <p:spPr>
            <a:xfrm flipH="false" flipV="false" rot="0">
              <a:off x="0" y="0"/>
              <a:ext cx="534830" cy="61044"/>
            </a:xfrm>
            <a:custGeom>
              <a:avLst/>
              <a:gdLst/>
              <a:ahLst/>
              <a:cxnLst/>
              <a:rect r="r" b="b" t="t" l="l"/>
              <a:pathLst>
                <a:path h="61044" w="534830">
                  <a:moveTo>
                    <a:pt x="0" y="0"/>
                  </a:moveTo>
                  <a:lnTo>
                    <a:pt x="534830" y="0"/>
                  </a:lnTo>
                  <a:lnTo>
                    <a:pt x="534830" y="61044"/>
                  </a:lnTo>
                  <a:lnTo>
                    <a:pt x="0" y="61044"/>
                  </a:lnTo>
                  <a:close/>
                </a:path>
              </a:pathLst>
            </a:custGeom>
            <a:solidFill>
              <a:srgbClr val="32CA42"/>
            </a:solidFill>
          </p:spPr>
        </p:sp>
        <p:sp>
          <p:nvSpPr>
            <p:cNvPr name="TextBox 86" id="86"/>
            <p:cNvSpPr txBox="true"/>
            <p:nvPr/>
          </p:nvSpPr>
          <p:spPr>
            <a:xfrm>
              <a:off x="0" y="-38100"/>
              <a:ext cx="534830" cy="99144"/>
            </a:xfrm>
            <a:prstGeom prst="rect">
              <a:avLst/>
            </a:prstGeom>
          </p:spPr>
          <p:txBody>
            <a:bodyPr anchor="ctr" rtlCol="false" tIns="50800" lIns="50800" bIns="50800" rIns="50800"/>
            <a:lstStyle/>
            <a:p>
              <a:pPr algn="ctr">
                <a:lnSpc>
                  <a:spcPts val="2380"/>
                </a:lnSpc>
              </a:pPr>
            </a:p>
          </p:txBody>
        </p:sp>
      </p:grpSp>
      <p:grpSp>
        <p:nvGrpSpPr>
          <p:cNvPr name="Group 87" id="87"/>
          <p:cNvGrpSpPr/>
          <p:nvPr/>
        </p:nvGrpSpPr>
        <p:grpSpPr>
          <a:xfrm rot="0">
            <a:off x="14633703" y="9313462"/>
            <a:ext cx="1815372" cy="255699"/>
            <a:chOff x="0" y="0"/>
            <a:chExt cx="478123" cy="67345"/>
          </a:xfrm>
        </p:grpSpPr>
        <p:sp>
          <p:nvSpPr>
            <p:cNvPr name="Freeform 88" id="88"/>
            <p:cNvSpPr/>
            <p:nvPr/>
          </p:nvSpPr>
          <p:spPr>
            <a:xfrm flipH="false" flipV="false" rot="0">
              <a:off x="0" y="0"/>
              <a:ext cx="478123" cy="67345"/>
            </a:xfrm>
            <a:custGeom>
              <a:avLst/>
              <a:gdLst/>
              <a:ahLst/>
              <a:cxnLst/>
              <a:rect r="r" b="b" t="t" l="l"/>
              <a:pathLst>
                <a:path h="67345" w="478123">
                  <a:moveTo>
                    <a:pt x="0" y="0"/>
                  </a:moveTo>
                  <a:lnTo>
                    <a:pt x="478123" y="0"/>
                  </a:lnTo>
                  <a:lnTo>
                    <a:pt x="478123" y="67345"/>
                  </a:lnTo>
                  <a:lnTo>
                    <a:pt x="0" y="67345"/>
                  </a:lnTo>
                  <a:close/>
                </a:path>
              </a:pathLst>
            </a:custGeom>
            <a:solidFill>
              <a:srgbClr val="FF3131"/>
            </a:solidFill>
          </p:spPr>
        </p:sp>
        <p:sp>
          <p:nvSpPr>
            <p:cNvPr name="TextBox 89" id="89"/>
            <p:cNvSpPr txBox="true"/>
            <p:nvPr/>
          </p:nvSpPr>
          <p:spPr>
            <a:xfrm>
              <a:off x="0" y="-38100"/>
              <a:ext cx="478123" cy="105445"/>
            </a:xfrm>
            <a:prstGeom prst="rect">
              <a:avLst/>
            </a:prstGeom>
          </p:spPr>
          <p:txBody>
            <a:bodyPr anchor="ctr" rtlCol="false" tIns="50800" lIns="50800" bIns="50800" rIns="50800"/>
            <a:lstStyle/>
            <a:p>
              <a:pPr algn="ctr">
                <a:lnSpc>
                  <a:spcPts val="2380"/>
                </a:lnSpc>
              </a:pPr>
            </a:p>
          </p:txBody>
        </p:sp>
      </p:grpSp>
    </p:spTree>
  </p:cSld>
  <p:clrMapOvr>
    <a:masterClrMapping/>
  </p:clrMapOvr>
</p:sld>
</file>

<file path=ppt/slides/slide22.xml><?xml version="1.0" encoding="utf-8"?>
<p:sld xmlns:p="http://schemas.openxmlformats.org/presentationml/2006/main" xmlns:a="http://schemas.openxmlformats.org/drawingml/2006/main" xmlns:r="http://schemas.openxmlformats.org/officeDocument/2006/relationships">
  <p:cSld>
    <p:bg>
      <p:bgPr>
        <a:solidFill>
          <a:srgbClr val="F5FFF9"/>
        </a:solidFill>
      </p:bgPr>
    </p:bg>
    <p:spTree>
      <p:nvGrpSpPr>
        <p:cNvPr id="1" name=""/>
        <p:cNvGrpSpPr/>
        <p:nvPr/>
      </p:nvGrpSpPr>
      <p:grpSpPr>
        <a:xfrm>
          <a:off x="0" y="0"/>
          <a:ext cx="0" cy="0"/>
          <a:chOff x="0" y="0"/>
          <a:chExt cx="0" cy="0"/>
        </a:xfrm>
      </p:grpSpPr>
      <p:grpSp>
        <p:nvGrpSpPr>
          <p:cNvPr name="Group 5" id="5"/>
          <p:cNvGrpSpPr/>
          <p:nvPr/>
        </p:nvGrpSpPr>
        <p:grpSpPr>
          <a:xfrm rot="9405415">
            <a:off x="-472062" y="-2812968"/>
            <a:ext cx="5159957" cy="5159957"/>
            <a:chOff x="0" y="0"/>
            <a:chExt cx="812800" cy="812800"/>
          </a:xfrm>
        </p:grpSpPr>
        <p:sp>
          <p:nvSpPr>
            <p:cNvPr name="Freeform 6" id="6"/>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true">
              <a:gsLst>
                <a:gs pos="0">
                  <a:srgbClr val="9FC4AE">
                    <a:alpha val="66000"/>
                  </a:srgbClr>
                </a:gs>
                <a:gs pos="100000">
                  <a:srgbClr val="FFFFFF">
                    <a:alpha val="66000"/>
                  </a:srgbClr>
                </a:gs>
              </a:gsLst>
              <a:lin ang="0"/>
            </a:gradFill>
          </p:spPr>
        </p:sp>
        <p:sp>
          <p:nvSpPr>
            <p:cNvPr name="TextBox 7" id="7"/>
            <p:cNvSpPr txBox="true"/>
            <p:nvPr/>
          </p:nvSpPr>
          <p:spPr>
            <a:xfrm>
              <a:off x="76200" y="28575"/>
              <a:ext cx="660400" cy="708025"/>
            </a:xfrm>
            <a:prstGeom prst="rect">
              <a:avLst/>
            </a:prstGeom>
          </p:spPr>
          <p:txBody>
            <a:bodyPr anchor="ctr" rtlCol="false" tIns="50800" lIns="50800" bIns="50800" rIns="50800"/>
            <a:lstStyle/>
            <a:p>
              <a:pPr algn="ctr">
                <a:lnSpc>
                  <a:spcPts val="2936"/>
                </a:lnSpc>
              </a:pPr>
            </a:p>
          </p:txBody>
        </p:sp>
      </p:grpSp>
      <p:grpSp>
        <p:nvGrpSpPr>
          <p:cNvPr name="Group 8" id="8"/>
          <p:cNvGrpSpPr/>
          <p:nvPr/>
        </p:nvGrpSpPr>
        <p:grpSpPr>
          <a:xfrm rot="6936434">
            <a:off x="7303621" y="9528913"/>
            <a:ext cx="5817847" cy="5817847"/>
            <a:chOff x="0" y="0"/>
            <a:chExt cx="812800" cy="812800"/>
          </a:xfrm>
        </p:grpSpPr>
        <p:sp>
          <p:nvSpPr>
            <p:cNvPr name="Freeform 9" id="9"/>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true">
              <a:gsLst>
                <a:gs pos="0">
                  <a:srgbClr val="9FC4AE">
                    <a:alpha val="66000"/>
                  </a:srgbClr>
                </a:gs>
                <a:gs pos="100000">
                  <a:srgbClr val="FFFFFF">
                    <a:alpha val="66000"/>
                  </a:srgbClr>
                </a:gs>
              </a:gsLst>
              <a:lin ang="0"/>
            </a:gradFill>
          </p:spPr>
        </p:sp>
        <p:sp>
          <p:nvSpPr>
            <p:cNvPr name="TextBox 10" id="10"/>
            <p:cNvSpPr txBox="true"/>
            <p:nvPr/>
          </p:nvSpPr>
          <p:spPr>
            <a:xfrm>
              <a:off x="76200" y="28575"/>
              <a:ext cx="660400" cy="708025"/>
            </a:xfrm>
            <a:prstGeom prst="rect">
              <a:avLst/>
            </a:prstGeom>
          </p:spPr>
          <p:txBody>
            <a:bodyPr anchor="ctr" rtlCol="false" tIns="50800" lIns="50800" bIns="50800" rIns="50800"/>
            <a:lstStyle/>
            <a:p>
              <a:pPr algn="ctr">
                <a:lnSpc>
                  <a:spcPts val="2936"/>
                </a:lnSpc>
              </a:pPr>
            </a:p>
          </p:txBody>
        </p:sp>
      </p:grpSp>
      <p:sp>
        <p:nvSpPr>
          <p:cNvPr name="Freeform 11" id="11"/>
          <p:cNvSpPr/>
          <p:nvPr/>
        </p:nvSpPr>
        <p:spPr>
          <a:xfrm flipH="false" flipV="false" rot="0">
            <a:off x="185225" y="296308"/>
            <a:ext cx="1686949" cy="1283956"/>
          </a:xfrm>
          <a:custGeom>
            <a:avLst/>
            <a:gdLst/>
            <a:ahLst/>
            <a:cxnLst/>
            <a:rect r="r" b="b" t="t" l="l"/>
            <a:pathLst>
              <a:path h="1283956" w="1686949">
                <a:moveTo>
                  <a:pt x="0" y="0"/>
                </a:moveTo>
                <a:lnTo>
                  <a:pt x="1686950" y="0"/>
                </a:lnTo>
                <a:lnTo>
                  <a:pt x="1686950" y="1283956"/>
                </a:lnTo>
                <a:lnTo>
                  <a:pt x="0" y="1283956"/>
                </a:lnTo>
                <a:lnTo>
                  <a:pt x="0" y="0"/>
                </a:lnTo>
                <a:close/>
              </a:path>
            </a:pathLst>
          </a:custGeom>
          <a:blipFill>
            <a:blip r:embed="rId2"/>
            <a:stretch>
              <a:fillRect l="0" t="0" r="0" b="0"/>
            </a:stretch>
          </a:blipFill>
        </p:spPr>
      </p:sp>
      <p:sp>
        <p:nvSpPr>
          <p:cNvPr name="TextBox 50" id="50"/>
          <p:cNvSpPr txBox="true"/>
          <p:nvPr/>
        </p:nvSpPr>
        <p:spPr>
          <a:xfrm rot="0">
            <a:off x="2103120" y="566928"/>
            <a:ext cx="14081760" cy="946150"/>
          </a:xfrm>
          <a:prstGeom prst="rect">
            <a:avLst/>
          </a:prstGeom>
        </p:spPr>
        <p:txBody>
          <a:bodyPr anchor="t" rtlCol="false" tIns="0" lIns="0" bIns="0" rIns="0" wrap="square">
            <a:spAutoFit/>
          </a:bodyPr>
          <a:lstStyle/>
          <a:p>
            <a:pPr algn="ctr">
              <a:lnSpc>
                <a:spcPts val="7699"/>
              </a:lnSpc>
            </a:pPr>
            <a:r>
              <a:rPr lang="en-US" b="true" sz="5499">
                <a:solidFill>
                  <a:srgbClr val="457C5B"/>
                </a:solidFill>
                <a:latin typeface="Manifold Ultra-Bold"/>
                <a:ea typeface="Manifold Ultra-Bold"/>
                <a:cs typeface="Manifold Ultra-Bold"/>
                <a:sym typeface="Manifold Ultra-Bold"/>
              </a:rPr>
              <a:t>APPENDIX: PIPELINE FLOW OF ONE REQUEST</a:t>
            </a:r>
          </a:p>
        </p:txBody>
      </p:sp>
      <p:sp>
        <p:nvSpPr>
          <p:cNvPr id="51" name="Rounded Rectangle 50"/>
          <p:cNvSpPr/>
          <p:nvPr/>
        </p:nvSpPr>
        <p:spPr>
          <a:xfrm>
            <a:off x="914400" y="1965960"/>
            <a:ext cx="16459200" cy="7498079"/>
          </a:xfrm>
          <a:prstGeom prst="roundRect">
            <a:avLst>
              <a:gd name="adj" fmla="val 7000"/>
            </a:avLst>
          </a:prstGeom>
          <a:solidFill>
            <a:srgbClr val="FFFFFF"/>
          </a:solidFill>
          <a:ln w="19050">
            <a:solidFill>
              <a:srgbClr val="8AB79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2" name="Picture 51" descr="deck_pipeline.png"/>
          <p:cNvPicPr>
            <a:picLocks noChangeAspect="1"/>
          </p:cNvPicPr>
          <p:nvPr/>
        </p:nvPicPr>
        <p:blipFill>
          <a:blip r:embed="rId10"/>
          <a:stretch>
            <a:fillRect/>
          </a:stretch>
        </p:blipFill>
        <p:spPr>
          <a:xfrm>
            <a:off x="1645920" y="2057400"/>
            <a:ext cx="14234983" cy="7315200"/>
          </a:xfrm>
          <a:prstGeom prst="rect">
            <a:avLst/>
          </a:prstGeom>
        </p:spPr>
      </p:pic>
    </p:spTree>
  </p:cSld>
  <p:clrMapOvr>
    <a:masterClrMapping/>
  </p:clrMapOvr>
</p:sld>
</file>

<file path=ppt/slides/slide23.xml><?xml version="1.0" encoding="utf-8"?>
<p:sld xmlns:p="http://schemas.openxmlformats.org/presentationml/2006/main" xmlns:a="http://schemas.openxmlformats.org/drawingml/2006/main" xmlns:r="http://schemas.openxmlformats.org/officeDocument/2006/relationships">
  <p:cSld>
    <p:bg>
      <p:bgPr>
        <a:solidFill>
          <a:srgbClr val="457C5B"/>
        </a:solidFill>
      </p:bgPr>
    </p:bg>
    <p:spTree>
      <p:nvGrpSpPr>
        <p:cNvPr id="1" name=""/>
        <p:cNvGrpSpPr/>
        <p:nvPr/>
      </p:nvGrpSpPr>
      <p:grpSpPr>
        <a:xfrm>
          <a:off x="0" y="0"/>
          <a:ext cx="0" cy="0"/>
          <a:chOff x="0" y="0"/>
          <a:chExt cx="0" cy="0"/>
        </a:xfrm>
      </p:grpSpPr>
      <p:sp>
        <p:nvSpPr>
          <p:cNvPr name="TextBox 2" id="2"/>
          <p:cNvSpPr txBox="true"/>
          <p:nvPr/>
        </p:nvSpPr>
        <p:spPr>
          <a:xfrm rot="0">
            <a:off x="3052174" y="272422"/>
            <a:ext cx="12166804" cy="946150"/>
          </a:xfrm>
          <a:prstGeom prst="rect">
            <a:avLst/>
          </a:prstGeom>
        </p:spPr>
        <p:txBody>
          <a:bodyPr anchor="t" rtlCol="false" tIns="0" lIns="0" bIns="0" rIns="0">
            <a:spAutoFit/>
          </a:bodyPr>
          <a:lstStyle/>
          <a:p>
            <a:pPr algn="ctr">
              <a:lnSpc>
                <a:spcPts val="7699"/>
              </a:lnSpc>
            </a:pPr>
            <a:r>
              <a:rPr lang="en-US" b="true" sz="5499">
                <a:solidFill>
                  <a:srgbClr val="F5FFF9"/>
                </a:solidFill>
                <a:latin typeface="Manifold Ultra-Bold"/>
                <a:ea typeface="Manifold Ultra-Bold"/>
                <a:cs typeface="Manifold Ultra-Bold"/>
                <a:sym typeface="Manifold Ultra-Bold"/>
              </a:rPr>
              <a:t>REFERENCES</a:t>
            </a:r>
          </a:p>
        </p:txBody>
      </p:sp>
      <p:sp>
        <p:nvSpPr>
          <p:cNvPr name="Freeform 3" id="3"/>
          <p:cNvSpPr/>
          <p:nvPr/>
        </p:nvSpPr>
        <p:spPr>
          <a:xfrm flipH="true" flipV="false" rot="0">
            <a:off x="16398977" y="-467749"/>
            <a:ext cx="2992899" cy="2992899"/>
          </a:xfrm>
          <a:custGeom>
            <a:avLst/>
            <a:gdLst/>
            <a:ahLst/>
            <a:cxnLst/>
            <a:rect r="r" b="b" t="t" l="l"/>
            <a:pathLst>
              <a:path h="2992899" w="2992899">
                <a:moveTo>
                  <a:pt x="2992899" y="0"/>
                </a:moveTo>
                <a:lnTo>
                  <a:pt x="0" y="0"/>
                </a:lnTo>
                <a:lnTo>
                  <a:pt x="0" y="2992898"/>
                </a:lnTo>
                <a:lnTo>
                  <a:pt x="2992899" y="2992898"/>
                </a:lnTo>
                <a:lnTo>
                  <a:pt x="2992899"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true" rot="0">
            <a:off x="13640864" y="9516085"/>
            <a:ext cx="4647136" cy="778395"/>
          </a:xfrm>
          <a:custGeom>
            <a:avLst/>
            <a:gdLst/>
            <a:ahLst/>
            <a:cxnLst/>
            <a:rect r="r" b="b" t="t" l="l"/>
            <a:pathLst>
              <a:path h="778395" w="4647136">
                <a:moveTo>
                  <a:pt x="0" y="778395"/>
                </a:moveTo>
                <a:lnTo>
                  <a:pt x="4647136" y="778395"/>
                </a:lnTo>
                <a:lnTo>
                  <a:pt x="4647136" y="0"/>
                </a:lnTo>
                <a:lnTo>
                  <a:pt x="0" y="0"/>
                </a:lnTo>
                <a:lnTo>
                  <a:pt x="0" y="778395"/>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5" id="5"/>
          <p:cNvSpPr/>
          <p:nvPr/>
        </p:nvSpPr>
        <p:spPr>
          <a:xfrm flipH="true" flipV="true" rot="0">
            <a:off x="0" y="9516085"/>
            <a:ext cx="4647136" cy="778395"/>
          </a:xfrm>
          <a:custGeom>
            <a:avLst/>
            <a:gdLst/>
            <a:ahLst/>
            <a:cxnLst/>
            <a:rect r="r" b="b" t="t" l="l"/>
            <a:pathLst>
              <a:path h="778395" w="4647136">
                <a:moveTo>
                  <a:pt x="4647136" y="778395"/>
                </a:moveTo>
                <a:lnTo>
                  <a:pt x="0" y="778395"/>
                </a:lnTo>
                <a:lnTo>
                  <a:pt x="0" y="0"/>
                </a:lnTo>
                <a:lnTo>
                  <a:pt x="4647136" y="0"/>
                </a:lnTo>
                <a:lnTo>
                  <a:pt x="4647136" y="778395"/>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6" id="6"/>
          <p:cNvSpPr/>
          <p:nvPr/>
        </p:nvSpPr>
        <p:spPr>
          <a:xfrm flipH="false" flipV="false" rot="0">
            <a:off x="185225" y="160669"/>
            <a:ext cx="1686949" cy="1283956"/>
          </a:xfrm>
          <a:custGeom>
            <a:avLst/>
            <a:gdLst/>
            <a:ahLst/>
            <a:cxnLst/>
            <a:rect r="r" b="b" t="t" l="l"/>
            <a:pathLst>
              <a:path h="1283956" w="1686949">
                <a:moveTo>
                  <a:pt x="0" y="0"/>
                </a:moveTo>
                <a:lnTo>
                  <a:pt x="1686950" y="0"/>
                </a:lnTo>
                <a:lnTo>
                  <a:pt x="1686950" y="1283956"/>
                </a:lnTo>
                <a:lnTo>
                  <a:pt x="0" y="1283956"/>
                </a:lnTo>
                <a:lnTo>
                  <a:pt x="0" y="0"/>
                </a:lnTo>
                <a:close/>
              </a:path>
            </a:pathLst>
          </a:custGeom>
          <a:blipFill>
            <a:blip r:embed="rId6"/>
            <a:stretch>
              <a:fillRect l="0" t="0" r="0" b="0"/>
            </a:stretch>
          </a:blipFill>
        </p:spPr>
      </p:sp>
      <p:sp>
        <p:nvSpPr>
          <p:cNvPr name="TextBox 7" id="7"/>
          <p:cNvSpPr txBox="true"/>
          <p:nvPr/>
        </p:nvSpPr>
        <p:spPr>
          <a:xfrm rot="0">
            <a:off x="383465" y="1387475"/>
            <a:ext cx="18102775" cy="8677910"/>
          </a:xfrm>
          <a:prstGeom prst="rect">
            <a:avLst/>
          </a:prstGeom>
        </p:spPr>
        <p:txBody>
          <a:bodyPr anchor="t" rtlCol="false" tIns="0" lIns="0" bIns="0" rIns="0">
            <a:spAutoFit/>
          </a:bodyPr>
          <a:lstStyle/>
          <a:p>
            <a:pPr algn="l">
              <a:lnSpc>
                <a:spcPts val="3640"/>
              </a:lnSpc>
            </a:pPr>
            <a:r>
              <a:rPr lang="en-US" sz="2600">
                <a:solidFill>
                  <a:srgbClr val="F5FFF9"/>
                </a:solidFill>
                <a:latin typeface="Lato"/>
                <a:ea typeface="Lato"/>
                <a:cs typeface="Lato"/>
                <a:sym typeface="Lato"/>
              </a:rPr>
              <a:t>Ramnath, K., Zhou, K., Guan, S., et al. (2025). A Systematic Survey of Automatic Prompt Optimization Techniques.</a:t>
            </a:r>
          </a:p>
          <a:p>
            <a:pPr algn="l">
              <a:lnSpc>
                <a:spcPts val="3640"/>
              </a:lnSpc>
            </a:pPr>
            <a:r>
              <a:rPr lang="en-US" sz="2600">
                <a:solidFill>
                  <a:srgbClr val="F5FFF9"/>
                </a:solidFill>
                <a:latin typeface="Lato"/>
                <a:ea typeface="Lato"/>
                <a:cs typeface="Lato"/>
                <a:sym typeface="Lato"/>
              </a:rPr>
              <a:t> Proceedings of the 2025 Conference on Empirical Methods in Natural Language Processing (EMNLP), Association for Computational Linguistics. https://aclanthology.org/2025.emnlp-main.1681/</a:t>
            </a:r>
          </a:p>
          <a:p>
            <a:pPr algn="l">
              <a:lnSpc>
                <a:spcPts val="3640"/>
              </a:lnSpc>
            </a:pPr>
          </a:p>
          <a:p>
            <a:pPr algn="l">
              <a:lnSpc>
                <a:spcPts val="3640"/>
              </a:lnSpc>
              <a:spcBef>
                <a:spcPct val="0"/>
              </a:spcBef>
            </a:pPr>
            <a:r>
              <a:rPr lang="en-US" sz="2600">
                <a:solidFill>
                  <a:srgbClr val="F5FFF9"/>
                </a:solidFill>
                <a:latin typeface="Lato"/>
                <a:ea typeface="Lato"/>
                <a:cs typeface="Lato"/>
                <a:sym typeface="Lato"/>
              </a:rPr>
              <a:t>Ngweta, L., Kate, K., Tsay, J., &amp; Rizk, </a:t>
            </a:r>
            <a:r>
              <a:rPr lang="en-US" sz="2600">
                <a:solidFill>
                  <a:srgbClr val="F5FFF9"/>
                </a:solidFill>
                <a:latin typeface="Lato"/>
                <a:ea typeface="Lato"/>
                <a:cs typeface="Lato"/>
                <a:sym typeface="Lato"/>
              </a:rPr>
              <a:t>Y. (2025). Towards LLMs Robustness to Changes in Prompt Format Styles. Proceedings</a:t>
            </a:r>
          </a:p>
          <a:p>
            <a:pPr algn="l">
              <a:lnSpc>
                <a:spcPts val="3640"/>
              </a:lnSpc>
              <a:spcBef>
                <a:spcPct val="0"/>
              </a:spcBef>
            </a:pPr>
            <a:r>
              <a:rPr lang="en-US" sz="2600">
                <a:solidFill>
                  <a:srgbClr val="F5FFF9"/>
                </a:solidFill>
                <a:latin typeface="Lato"/>
                <a:ea typeface="Lato"/>
                <a:cs typeface="Lato"/>
                <a:sym typeface="Lato"/>
              </a:rPr>
              <a:t>of the 2025 Conference of the North American Chapter of the Association for Computational Linguistics: Student Research Workshop (NAACL-SRW). https://aclanthology.org/2025.naacl-srw.51/</a:t>
            </a:r>
          </a:p>
          <a:p>
            <a:pPr algn="l">
              <a:lnSpc>
                <a:spcPts val="3640"/>
              </a:lnSpc>
              <a:spcBef>
                <a:spcPct val="0"/>
              </a:spcBef>
            </a:pPr>
          </a:p>
          <a:p>
            <a:pPr algn="l">
              <a:lnSpc>
                <a:spcPts val="3640"/>
              </a:lnSpc>
              <a:spcBef>
                <a:spcPct val="0"/>
              </a:spcBef>
            </a:pPr>
            <a:r>
              <a:rPr lang="en-US" sz="2600">
                <a:solidFill>
                  <a:srgbClr val="F5FFF9"/>
                </a:solidFill>
                <a:latin typeface="Lato"/>
                <a:ea typeface="Lato"/>
                <a:cs typeface="Lato"/>
                <a:sym typeface="Lato"/>
              </a:rPr>
              <a:t>Zehle, T., Schlager, M., Heiß, T., &amp; Feurer, M. (2025). CAPO: Cost-Aware Prompt Optimization. Proceedings of the Fourth International Conference on Automated Machine Learning (AutoML), PMLR 293. https://proceedings.mlr.press/v293/zehle25a.html</a:t>
            </a:r>
          </a:p>
          <a:p>
            <a:pPr algn="l">
              <a:lnSpc>
                <a:spcPts val="3640"/>
              </a:lnSpc>
              <a:spcBef>
                <a:spcPct val="0"/>
              </a:spcBef>
            </a:pPr>
          </a:p>
          <a:p>
            <a:pPr algn="l">
              <a:lnSpc>
                <a:spcPts val="3640"/>
              </a:lnSpc>
              <a:spcBef>
                <a:spcPct val="0"/>
              </a:spcBef>
            </a:pPr>
            <a:r>
              <a:rPr lang="en-US" sz="2600">
                <a:solidFill>
                  <a:srgbClr val="F5FFF9"/>
                </a:solidFill>
                <a:latin typeface="Lato"/>
                <a:ea typeface="Lato"/>
                <a:cs typeface="Lato"/>
                <a:sym typeface="Lato"/>
              </a:rPr>
              <a:t>Taori, R., et al. (2023). Alpaca: A Strong, Replicable Instruction-Following Model. Stanford CRFM. https://github.com/tatsu-lab/stanford_alpaca</a:t>
            </a:r>
          </a:p>
          <a:p>
            <a:pPr algn="l">
              <a:lnSpc>
                <a:spcPts val="3640"/>
              </a:lnSpc>
              <a:spcBef>
                <a:spcPct val="0"/>
              </a:spcBef>
            </a:pPr>
          </a:p>
          <a:p>
            <a:pPr algn="l">
              <a:lnSpc>
                <a:spcPts val="3640"/>
              </a:lnSpc>
              <a:spcBef>
                <a:spcPct val="0"/>
              </a:spcBef>
            </a:pPr>
            <a:r>
              <a:rPr lang="en-US" sz="2600">
                <a:solidFill>
                  <a:srgbClr val="F5FFF9"/>
                </a:solidFill>
                <a:latin typeface="Lato"/>
                <a:ea typeface="Lato"/>
                <a:cs typeface="Lato"/>
                <a:sym typeface="Lato"/>
              </a:rPr>
              <a:t>Databricks (2023). Databricks Dolly 15k Dataset. https://huggingface.co/datasets/databricks/databricks-dolly-15k</a:t>
            </a:r>
          </a:p>
          <a:p>
            <a:pPr algn="l">
              <a:lnSpc>
                <a:spcPts val="3640"/>
              </a:lnSpc>
              <a:spcBef>
                <a:spcPct val="0"/>
              </a:spcBef>
            </a:pPr>
          </a:p>
          <a:p>
            <a:pPr algn="l">
              <a:lnSpc>
                <a:spcPts val="3640"/>
              </a:lnSpc>
              <a:spcBef>
                <a:spcPct val="0"/>
              </a:spcBef>
            </a:pPr>
            <a:r>
              <a:rPr lang="en-US" sz="2600">
                <a:solidFill>
                  <a:srgbClr val="F5FFF9"/>
                </a:solidFill>
                <a:latin typeface="Lato"/>
                <a:ea typeface="Lato"/>
                <a:cs typeface="Lato"/>
                <a:sym typeface="Lato"/>
              </a:rPr>
              <a:t>HuggingFace PEFT Documentation — Parameter-Efficient Fine-Tuning (LoRA). https://huggingface.co/docs/peft</a:t>
            </a:r>
          </a:p>
          <a:p>
            <a:pPr algn="l">
              <a:lnSpc>
                <a:spcPts val="3640"/>
              </a:lnSpc>
              <a:spcBef>
                <a:spcPct val="0"/>
              </a:spcBef>
            </a:p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DAHS6CkWnXE</dc:identifier>
  <dcterms:modified xsi:type="dcterms:W3CDTF">2011-08-01T06:04:30Z</dcterms:modified>
  <cp:revision>1</cp:revision>
  <dc:title>PromptOpt_PPT</dc:title>
</cp:coreProperties>
</file>