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11.svg" ContentType="image/svg+xml"/>
  <Override PartName="/ppt/media/image16.svg" ContentType="image/svg+xml"/>
  <Override PartName="/ppt/media/image2.svg" ContentType="image/svg+xml"/>
  <Override PartName="/ppt/media/image47.svg" ContentType="image/svg+xml"/>
  <Override PartName="/ppt/media/image5.svg" ContentType="image/svg+xml"/>
  <Override PartName="/ppt/media/image50.svg" ContentType="image/svg+xml"/>
  <Override PartName="/ppt/media/image52.svg" ContentType="image/svg+xml"/>
  <Override PartName="/ppt/media/image54.svg" ContentType="image/svg+xml"/>
  <Override PartName="/ppt/media/image56.svg" ContentType="image/svg+xml"/>
  <Override PartName="/ppt/media/image58.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64" r:id="rId14"/>
    <p:sldId id="267" r:id="rId17"/>
    <p:sldId id="276" r:id="rId41"/>
    <p:sldId id="258" r:id="rId8"/>
    <p:sldId id="277" r:id="rId42"/>
    <p:sldId id="278" r:id="rId43"/>
    <p:sldId id="271" r:id="rId21"/>
    <p:sldId id="279" r:id="rId44"/>
    <p:sldId id="280" r:id="rId45"/>
    <p:sldId id="272" r:id="rId22"/>
    <p:sldId id="281" r:id="rId46"/>
    <p:sldId id="282" r:id="rId47"/>
    <p:sldId id="260" r:id="rId10"/>
    <p:sldId id="283" r:id="rId48"/>
    <p:sldId id="284" r:id="rId49"/>
    <p:sldId id="275" r:id="rId25"/>
  </p:sldIdLst>
  <p:sldSz cx="18288000" cy="10287000"/>
  <p:notesSz cx="6858000" cy="9144000"/>
  <p:embeddedFontLst>
    <p:embeddedFont>
      <p:font typeface="Manifold Heavy" charset="1" panose="00000A00000000000000"/>
      <p:regular r:id="rId26"/>
    </p:embeddedFont>
    <p:embeddedFont>
      <p:font typeface="Manifold Bold" charset="1" panose="00000800000000000000"/>
      <p:regular r:id="rId27"/>
    </p:embeddedFont>
    <p:embeddedFont>
      <p:font typeface="Manifold" charset="1" panose="00000500000000000000"/>
      <p:regular r:id="rId28"/>
    </p:embeddedFont>
    <p:embeddedFont>
      <p:font typeface="Neue Montreal Bold" charset="1" panose="00000400000000000000"/>
      <p:regular r:id="rId29"/>
    </p:embeddedFont>
    <p:embeddedFont>
      <p:font typeface="Manifold Ultra-Bold" charset="1" panose="00000900000000000000"/>
      <p:regular r:id="rId30"/>
    </p:embeddedFont>
    <p:embeddedFont>
      <p:font typeface="Blanka" charset="1" panose="00000000000000000000"/>
      <p:regular r:id="rId31"/>
    </p:embeddedFont>
    <p:embeddedFont>
      <p:font typeface="IBM Plex Sans Bold" charset="1" panose="020B0803050203000203"/>
      <p:regular r:id="rId32"/>
    </p:embeddedFont>
    <p:embeddedFont>
      <p:font typeface="HK Grotesk Medium" charset="1" panose="00000600000000000000"/>
      <p:regular r:id="rId33"/>
    </p:embeddedFont>
    <p:embeddedFont>
      <p:font typeface="HK Grotesk Bold" charset="1" panose="00000800000000000000"/>
      <p:regular r:id="rId34"/>
    </p:embeddedFont>
    <p:embeddedFont>
      <p:font typeface="HK Grotesk" charset="1" panose="00000500000000000000"/>
      <p:regular r:id="rId35"/>
    </p:embeddedFont>
    <p:embeddedFont>
      <p:font typeface="Chunk Five" charset="1" panose="00000500000000000000"/>
      <p:regular r:id="rId36"/>
    </p:embeddedFont>
    <p:embeddedFont>
      <p:font typeface="Manifold Bold Italics" charset="1" panose="00000800000000000000"/>
      <p:regular r:id="rId37"/>
    </p:embeddedFont>
    <p:embeddedFont>
      <p:font typeface="Canva Sans" charset="1" panose="020B0503030501040103"/>
      <p:regular r:id="rId38"/>
    </p:embeddedFont>
    <p:embeddedFont>
      <p:font typeface="Lato Bold" charset="1" panose="020F0502020204030203"/>
      <p:regular r:id="rId39"/>
    </p:embeddedFont>
    <p:embeddedFont>
      <p:font typeface="Lato" charset="1" panose="020F0502020204030203"/>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6.xml"/><Relationship Id="rId10" Type="http://schemas.openxmlformats.org/officeDocument/2006/relationships/slide" Target="slides/slide15.xml"/><Relationship Id="rId14" Type="http://schemas.openxmlformats.org/officeDocument/2006/relationships/slide" Target="slides/slide3.xml"/><Relationship Id="rId17" Type="http://schemas.openxmlformats.org/officeDocument/2006/relationships/slide" Target="slides/slide4.xml"/><Relationship Id="rId21" Type="http://schemas.openxmlformats.org/officeDocument/2006/relationships/slide" Target="slides/slide9.xml"/><Relationship Id="rId22" Type="http://schemas.openxmlformats.org/officeDocument/2006/relationships/slide" Target="slides/slide12.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font" Target="fonts/font26.fntdata"/><Relationship Id="rId27" Type="http://schemas.openxmlformats.org/officeDocument/2006/relationships/font" Target="fonts/font27.fntdata"/><Relationship Id="rId28" Type="http://schemas.openxmlformats.org/officeDocument/2006/relationships/font" Target="fonts/font28.fntdata"/><Relationship Id="rId29" Type="http://schemas.openxmlformats.org/officeDocument/2006/relationships/font" Target="fonts/font29.fntdata"/><Relationship Id="rId30" Type="http://schemas.openxmlformats.org/officeDocument/2006/relationships/font" Target="fonts/font30.fntdata"/><Relationship Id="rId31" Type="http://schemas.openxmlformats.org/officeDocument/2006/relationships/font" Target="fonts/font31.fntdata"/><Relationship Id="rId32" Type="http://schemas.openxmlformats.org/officeDocument/2006/relationships/font" Target="fonts/font32.fntdata"/><Relationship Id="rId33" Type="http://schemas.openxmlformats.org/officeDocument/2006/relationships/font" Target="fonts/font33.fntdata"/><Relationship Id="rId34" Type="http://schemas.openxmlformats.org/officeDocument/2006/relationships/font" Target="fonts/font34.fntdata"/><Relationship Id="rId35" Type="http://schemas.openxmlformats.org/officeDocument/2006/relationships/font" Target="fonts/font35.fntdata"/><Relationship Id="rId36" Type="http://schemas.openxmlformats.org/officeDocument/2006/relationships/font" Target="fonts/font36.fntdata"/><Relationship Id="rId37" Type="http://schemas.openxmlformats.org/officeDocument/2006/relationships/font" Target="fonts/font37.fntdata"/><Relationship Id="rId38" Type="http://schemas.openxmlformats.org/officeDocument/2006/relationships/font" Target="fonts/font38.fntdata"/><Relationship Id="rId39" Type="http://schemas.openxmlformats.org/officeDocument/2006/relationships/font" Target="fonts/font39.fntdata"/><Relationship Id="rId40" Type="http://schemas.openxmlformats.org/officeDocument/2006/relationships/font" Target="fonts/font40.fntdata"/><Relationship Id="rId41" Type="http://schemas.openxmlformats.org/officeDocument/2006/relationships/slide" Target="slides/slide5.xml"/><Relationship Id="rId42" Type="http://schemas.openxmlformats.org/officeDocument/2006/relationships/slide" Target="slides/slide7.xml"/><Relationship Id="rId43" Type="http://schemas.openxmlformats.org/officeDocument/2006/relationships/slide" Target="slides/slide8.xml"/><Relationship Id="rId44" Type="http://schemas.openxmlformats.org/officeDocument/2006/relationships/slide" Target="slides/slide10.xml"/><Relationship Id="rId45" Type="http://schemas.openxmlformats.org/officeDocument/2006/relationships/slide" Target="slides/slide11.xml"/><Relationship Id="rId46" Type="http://schemas.openxmlformats.org/officeDocument/2006/relationships/slide" Target="slides/slide13.xml"/><Relationship Id="rId47" Type="http://schemas.openxmlformats.org/officeDocument/2006/relationships/slide" Target="slides/slide14.xml"/><Relationship Id="rId48" Type="http://schemas.openxmlformats.org/officeDocument/2006/relationships/slide" Target="slides/slide16.xml"/><Relationship Id="rId49"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800">
                <a:solidFill>
                  <a:srgbClr val="457C5B"/>
                </a:solidFill>
              </a:rPr>
              <a:t>pytest tests per module (798)</a:t>
            </a:r>
          </a:p>
        </c:rich>
      </c:tx>
      <c:layout/>
      <c:overlay val="0"/>
    </c:title>
    <c:autoTitleDeleted val="0"/>
    <c:plotArea>
      <c:barChart>
        <c:barDir val="bar"/>
        <c:grouping val="clustered"/>
        <c:ser>
          <c:idx val="0"/>
          <c:order val="0"/>
          <c:tx>
            <c:strRef>
              <c:f>Sheet1!$B$1</c:f>
              <c:strCache>
                <c:ptCount val="1"/>
                <c:pt idx="0">
                  <c:v>tests</c:v>
                </c:pt>
              </c:strCache>
            </c:strRef>
          </c:tx>
          <c:spPr>
            <a:solidFill>
              <a:srgbClr val="457C5B"/>
            </a:solidFill>
          </c:spPr>
          <c:cat>
            <c:strRef>
              <c:f>Sheet1!$A$2:$A$14</c:f>
              <c:strCache>
                <c:ptCount val="13"/>
                <c:pt idx="0">
                  <c:v>Spelling + demo</c:v>
                </c:pt>
                <c:pt idx="1">
                  <c:v>Compare + clients</c:v>
                </c:pt>
                <c:pt idx="2">
                  <c:v>Correctness suite</c:v>
                </c:pt>
                <c:pt idx="3">
                  <c:v>Coding sandbox</c:v>
                </c:pt>
                <c:pt idx="4">
                  <c:v>Database</c:v>
                </c:pt>
                <c:pt idx="5">
                  <c:v>Stage C</c:v>
                </c:pt>
                <c:pt idx="6">
                  <c:v>API + UI API</c:v>
                </c:pt>
                <c:pt idx="7">
                  <c:v>Stage A</c:v>
                </c:pt>
                <c:pt idx="8">
                  <c:v>Evaluation harness</c:v>
                </c:pt>
                <c:pt idx="9">
                  <c:v>Rendering + pipeline</c:v>
                </c:pt>
                <c:pt idx="10">
                  <c:v>Dataset tooling</c:v>
                </c:pt>
                <c:pt idx="11">
                  <c:v>Stage B rules</c:v>
                </c:pt>
                <c:pt idx="12">
                  <c:v>Image mode</c:v>
                </c:pt>
              </c:strCache>
            </c:strRef>
          </c:cat>
          <c:val>
            <c:numRef>
              <c:f>Sheet1!$B$2:$B$14</c:f>
              <c:numCache>
                <c:formatCode>General</c:formatCode>
                <c:ptCount val="13"/>
                <c:pt idx="0">
                  <c:v>12</c:v>
                </c:pt>
                <c:pt idx="1">
                  <c:v>16</c:v>
                </c:pt>
                <c:pt idx="2">
                  <c:v>17</c:v>
                </c:pt>
                <c:pt idx="3">
                  <c:v>21</c:v>
                </c:pt>
                <c:pt idx="4">
                  <c:v>22</c:v>
                </c:pt>
                <c:pt idx="5">
                  <c:v>30</c:v>
                </c:pt>
                <c:pt idx="6">
                  <c:v>37</c:v>
                </c:pt>
                <c:pt idx="7">
                  <c:v>47</c:v>
                </c:pt>
                <c:pt idx="8">
                  <c:v>74</c:v>
                </c:pt>
                <c:pt idx="9">
                  <c:v>77</c:v>
                </c:pt>
                <c:pt idx="10">
                  <c:v>107</c:v>
                </c:pt>
                <c:pt idx="11">
                  <c:v>123</c:v>
                </c:pt>
                <c:pt idx="12">
                  <c:v>215</c:v>
                </c:pt>
              </c:numCache>
            </c:numRef>
          </c:val>
        </c:ser>
        <c:dLbls>
          <c:txPr>
            <a:bodyPr/>
            <a:lstStyle/>
            <a:p>
              <a:pPr>
                <a:defRPr sz="1300">
                  <a:solidFill>
                    <a:srgbClr val="1E4926"/>
                  </a:solidFill>
                  <a:latin typeface="Lato"/>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8AB79C"/>
            </a:solidFill>
          </a:ln>
        </c:spPr>
        <c:txPr>
          <a:bodyPr/>
          <a:lstStyle/>
          <a:p>
            <a:pPr>
              <a:defRPr sz="15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500">
          <a:solidFill>
            <a:srgbClr val="1E4926"/>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a:solidFill>
                  <a:srgbClr val="457C5B"/>
                </a:solidFill>
              </a:rPr>
              <a:t>Correct of 10, per category</a:t>
            </a:r>
          </a:p>
        </c:rich>
      </c:tx>
      <c:layout/>
      <c:overlay val="0"/>
    </c:title>
    <c:autoTitleDeleted val="0"/>
    <c:plotArea>
      <c:barChart>
        <c:barDir val="col"/>
        <c:grouping val="clustered"/>
        <c:ser>
          <c:idx val="0"/>
          <c:order val="0"/>
          <c:tx>
            <c:strRef>
              <c:f>Sheet1!$B$1</c:f>
              <c:strCache>
                <c:ptCount val="1"/>
                <c:pt idx="0">
                  <c:v>Vague</c:v>
                </c:pt>
              </c:strCache>
            </c:strRef>
          </c:tx>
          <c:spPr>
            <a:solidFill>
              <a:srgbClr val="8E1711"/>
            </a:solidFill>
          </c:spPr>
          <c:cat>
            <c:strRef>
              <c:f>Sheet1!$A$2:$A$6</c:f>
              <c:strCache>
                <c:ptCount val="5"/>
                <c:pt idx="0">
                  <c:v>QA</c:v>
                </c:pt>
                <c:pt idx="1">
                  <c:v>Extract</c:v>
                </c:pt>
                <c:pt idx="2">
                  <c:v>Classify</c:v>
                </c:pt>
                <c:pt idx="3">
                  <c:v>Summary</c:v>
                </c:pt>
                <c:pt idx="4">
                  <c:v>Coding</c:v>
                </c:pt>
              </c:strCache>
            </c:strRef>
          </c:cat>
          <c:val>
            <c:numRef>
              <c:f>Sheet1!$B$2:$B$6</c:f>
              <c:numCache>
                <c:formatCode>General</c:formatCode>
                <c:ptCount val="5"/>
                <c:pt idx="0">
                  <c:v>8</c:v>
                </c:pt>
                <c:pt idx="1">
                  <c:v>7</c:v>
                </c:pt>
                <c:pt idx="2">
                  <c:v>7</c:v>
                </c:pt>
                <c:pt idx="3">
                  <c:v>7</c:v>
                </c:pt>
                <c:pt idx="4">
                  <c:v>8</c:v>
                </c:pt>
              </c:numCache>
            </c:numRef>
          </c:val>
        </c:ser>
        <c:ser>
          <c:idx val="1"/>
          <c:order val="1"/>
          <c:tx>
            <c:strRef>
              <c:f>Sheet1!$C$1</c:f>
              <c:strCache>
                <c:ptCount val="1"/>
                <c:pt idx="0">
                  <c:v>Optimized</c:v>
                </c:pt>
              </c:strCache>
            </c:strRef>
          </c:tx>
          <c:spPr>
            <a:solidFill>
              <a:srgbClr val="457C5B"/>
            </a:solidFill>
          </c:spPr>
          <c:cat>
            <c:strRef>
              <c:f>Sheet1!$A$2:$A$6</c:f>
              <c:strCache>
                <c:ptCount val="5"/>
                <c:pt idx="0">
                  <c:v>QA</c:v>
                </c:pt>
                <c:pt idx="1">
                  <c:v>Extract</c:v>
                </c:pt>
                <c:pt idx="2">
                  <c:v>Classify</c:v>
                </c:pt>
                <c:pt idx="3">
                  <c:v>Summary</c:v>
                </c:pt>
                <c:pt idx="4">
                  <c:v>Coding</c:v>
                </c:pt>
              </c:strCache>
            </c:strRef>
          </c:cat>
          <c:val>
            <c:numRef>
              <c:f>Sheet1!$C$2:$C$6</c:f>
              <c:numCache>
                <c:formatCode>General</c:formatCode>
                <c:ptCount val="5"/>
                <c:pt idx="0">
                  <c:v>10</c:v>
                </c:pt>
                <c:pt idx="1">
                  <c:v>10</c:v>
                </c:pt>
                <c:pt idx="2">
                  <c:v>8</c:v>
                </c:pt>
                <c:pt idx="3">
                  <c:v>5</c:v>
                </c:pt>
                <c:pt idx="4">
                  <c:v>9</c:v>
                </c:pt>
              </c:numCache>
            </c:numRef>
          </c:val>
        </c:ser>
        <c:dLbls>
          <c:txPr>
            <a:bodyPr/>
            <a:lstStyle/>
            <a:p>
              <a:pPr>
                <a:defRPr sz="1100">
                  <a:solidFill>
                    <a:srgbClr val="1E4926"/>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8AB79C"/>
            </a:solidFill>
          </a:ln>
        </c:spPr>
        <c:txPr>
          <a:bodyPr/>
          <a:lstStyle/>
          <a:p>
            <a:pPr>
              <a:defRPr sz="1300"/>
            </a:pPr>
          </a:p>
        </c:txPr>
        <c:crossAx val="-2113994440"/>
        <c:crosses val="autoZero"/>
        <c:auto val="1"/>
        <c:lblAlgn val="ctr"/>
        <c:lblOffset val="100"/>
        <c:noMultiLvlLbl val="0"/>
      </c:catAx>
      <c:valAx>
        <c:axId val="-2113994440"/>
        <c:scaling>
          <c:max val="11.5"/>
        </c:scaling>
        <c:delete/>
        <c:axPos val="l"/>
        <c:majorTickMark val="out"/>
        <c:minorTickMark val="none"/>
        <c:tickLblPos val="nextTo"/>
        <c:crossAx val="-2068027336"/>
        <c:crosses val="autoZero"/>
      </c:valAx>
    </c:plotArea>
    <c:legend>
      <c:legendPos val="b"/>
      <c:overlay val="0"/>
      <c:txPr>
        <a:bodyPr/>
        <a:lstStyle/>
        <a:p>
          <a:pPr>
            <a:defRPr sz="1300"/>
          </a:pPr>
        </a:p>
      </c:txPr>
    </c:legend>
    <c:dispBlanksAs val="gap"/>
  </c:chart>
  <c:txPr>
    <a:bodyPr/>
    <a:lstStyle/>
    <a:p>
      <a:pPr>
        <a:defRPr sz="1300">
          <a:solidFill>
            <a:srgbClr val="1E4926"/>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700">
                <a:solidFill>
                  <a:srgbClr val="457C5B"/>
                </a:solidFill>
              </a:rPr>
              <a:t>Mean total tokens per prompt (input + output), 482 test prompts</a:t>
            </a:r>
          </a:p>
        </c:rich>
      </c:tx>
      <c:layout/>
      <c:overlay val="0"/>
    </c:title>
    <c:autoTitleDeleted val="0"/>
    <c:plotArea>
      <c:barChart>
        <c:barDir val="col"/>
        <c:grouping val="clustered"/>
        <c:ser>
          <c:idx val="0"/>
          <c:order val="0"/>
          <c:tx>
            <c:strRef>
              <c:f>Sheet1!$B$1</c:f>
              <c:strCache>
                <c:ptCount val="1"/>
                <c:pt idx="0">
                  <c:v>Vague prompt</c:v>
                </c:pt>
              </c:strCache>
            </c:strRef>
          </c:tx>
          <c:spPr>
            <a:solidFill>
              <a:srgbClr val="8E1711"/>
            </a:solidFill>
          </c:spPr>
          <c:cat>
            <c:strRef>
              <c:f>Sheet1!$A$2:$A$7</c:f>
              <c:strCache>
                <c:ptCount val="6"/>
                <c:pt idx="0">
                  <c:v>closed_qa</c:v>
                </c:pt>
                <c:pt idx="1">
                  <c:v>extraction</c:v>
                </c:pt>
                <c:pt idx="2">
                  <c:v>classification</c:v>
                </c:pt>
                <c:pt idx="3">
                  <c:v>summarization</c:v>
                </c:pt>
                <c:pt idx="4">
                  <c:v>coding</c:v>
                </c:pt>
                <c:pt idx="5">
                  <c:v>all</c:v>
                </c:pt>
              </c:strCache>
            </c:strRef>
          </c:cat>
          <c:val>
            <c:numRef>
              <c:f>Sheet1!$B$2:$B$7</c:f>
              <c:numCache>
                <c:formatCode>General</c:formatCode>
                <c:ptCount val="6"/>
                <c:pt idx="0">
                  <c:v>1115</c:v>
                </c:pt>
                <c:pt idx="1">
                  <c:v>875</c:v>
                </c:pt>
                <c:pt idx="2">
                  <c:v>488</c:v>
                </c:pt>
                <c:pt idx="3">
                  <c:v>1169</c:v>
                </c:pt>
                <c:pt idx="4">
                  <c:v>903</c:v>
                </c:pt>
                <c:pt idx="5">
                  <c:v>909</c:v>
                </c:pt>
              </c:numCache>
            </c:numRef>
          </c:val>
        </c:ser>
        <c:ser>
          <c:idx val="1"/>
          <c:order val="1"/>
          <c:tx>
            <c:strRef>
              <c:f>Sheet1!$C$1</c:f>
              <c:strCache>
                <c:ptCount val="1"/>
                <c:pt idx="0">
                  <c:v>Optimized</c:v>
                </c:pt>
              </c:strCache>
            </c:strRef>
          </c:tx>
          <c:spPr>
            <a:solidFill>
              <a:srgbClr val="457C5B"/>
            </a:solidFill>
          </c:spPr>
          <c:cat>
            <c:strRef>
              <c:f>Sheet1!$A$2:$A$7</c:f>
              <c:strCache>
                <c:ptCount val="6"/>
                <c:pt idx="0">
                  <c:v>closed_qa</c:v>
                </c:pt>
                <c:pt idx="1">
                  <c:v>extraction</c:v>
                </c:pt>
                <c:pt idx="2">
                  <c:v>classification</c:v>
                </c:pt>
                <c:pt idx="3">
                  <c:v>summarization</c:v>
                </c:pt>
                <c:pt idx="4">
                  <c:v>coding</c:v>
                </c:pt>
                <c:pt idx="5">
                  <c:v>all</c:v>
                </c:pt>
              </c:strCache>
            </c:strRef>
          </c:cat>
          <c:val>
            <c:numRef>
              <c:f>Sheet1!$C$2:$C$7</c:f>
              <c:numCache>
                <c:formatCode>General</c:formatCode>
                <c:ptCount val="6"/>
                <c:pt idx="0">
                  <c:v>417</c:v>
                </c:pt>
                <c:pt idx="1">
                  <c:v>466</c:v>
                </c:pt>
                <c:pt idx="2">
                  <c:v>278</c:v>
                </c:pt>
                <c:pt idx="3">
                  <c:v>552</c:v>
                </c:pt>
                <c:pt idx="4">
                  <c:v>324</c:v>
                </c:pt>
                <c:pt idx="5">
                  <c:v>406</c:v>
                </c:pt>
              </c:numCache>
            </c:numRef>
          </c:val>
        </c:ser>
        <c:dLbls>
          <c:txPr>
            <a:bodyPr/>
            <a:lstStyle/>
            <a:p>
              <a:pPr>
                <a:defRPr sz="1300">
                  <a:solidFill>
                    <a:srgbClr val="1E4926"/>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8AB79C"/>
            </a:solidFill>
          </a:ln>
        </c:spPr>
        <c:txPr>
          <a:bodyPr/>
          <a:lstStyle/>
          <a:p>
            <a:pPr>
              <a:defRPr sz="1500"/>
            </a:pPr>
          </a:p>
        </c:txPr>
        <c:crossAx val="-2113994440"/>
        <c:crosses val="autoZero"/>
        <c:auto val="1"/>
        <c:lblAlgn val="ctr"/>
        <c:lblOffset val="100"/>
        <c:noMultiLvlLbl val="0"/>
      </c:catAx>
      <c:valAx>
        <c:axId val="-2113994440"/>
        <c:scaling>
          <c:max val="1300.0"/>
        </c:scaling>
        <c:delete/>
        <c:axPos val="l"/>
        <c:majorTickMark val="out"/>
        <c:minorTickMark val="none"/>
        <c:tickLblPos val="nextTo"/>
        <c:crossAx val="-2068027336"/>
        <c:crosses val="autoZero"/>
      </c:valAx>
    </c:plotArea>
    <c:legend>
      <c:legendPos val="b"/>
      <c:overlay val="0"/>
      <c:txPr>
        <a:bodyPr/>
        <a:lstStyle/>
        <a:p>
          <a:pPr>
            <a:defRPr sz="1500"/>
          </a:pPr>
        </a:p>
      </c:txPr>
    </c:legend>
    <c:dispBlanksAs val="gap"/>
  </c:chart>
  <c:txPr>
    <a:bodyPr/>
    <a:lstStyle/>
    <a:p>
      <a:pPr>
        <a:defRPr sz="1500">
          <a:solidFill>
            <a:srgbClr val="1E4926"/>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Greet the panel, introduce the team and our guide Prof. A. S. Pawar. One line: PromptOpt rewrites a vague prompt into a clear, model-specific one, shows every change, and we measured that it saves tokens. This is Release 2 for LA-2: what we built since LA-1, how we tested it, and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The agenda follows the LA-2 checklist: core modules, transaction flow and database, unit testing, integration and system testing, test cases, results and the working prototype, Git and GitHub, challenges and plans, then a live demo.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Left to right: the React UI sends prompt, target LLM, category and attachment type. Stage A detects what is missing, Stage B fixes it with rules and builds the IR. Only when the category or a reference is still unresolved (6.4% of test prompts) does Stage C, the LoRA model, run. Renderers write the same IR for Claude, GPT or Gemini; Compare runs both prompts on a real model; everything is stored through one repository module. Image mode is a separate path.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Stage A on the test split: 74.7% category accuracy; coding and classification are near perfect, the closed QA / extraction / summarization group is hard on degraded prompts. Stage B: each rule is a separate unit-tested function. Example: 'write code to get all permutations of a string' gets B07 tidy, B05 'Use Python', B03 'Return only the code, in a single code block'. Result: an output format is stated in 95% of prompts instead of 3.1%. Below 0.6 confidence, B08 handles the text group without guessing the category.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Stage C is Qwen2.5-0.5B-Instruct with a LoRA adapter, trained on our 4 GB laptop GPU in 51 minutes. It runs only when Stage B leaves the category or an ambiguous reference unresolved, must answer with JSON containing exactly the requested keys, and is checked with Stage A's detectors; otherwise Stage B's result is kept. Zero-shot only 5% of answers pass, with LoRA 98.2%. On routed prompts the format is stated in 90.3% instead of 22.6%. Forcing every prompt through Stage C hurts task intent, so it stays routed-only. Median 0.74 s on GPU.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One intermediate representation, three layouts: Claude gets XML tags, GPT gets ### sections, Gemini gets plain labels with the instruction first. Tests parse every rendering back to prove no field is lost. GPT tokens are exact with tiktoken, Claude and Gemini approximate and labelled. Attachments are modifiers: B09-B15, one rule per file type, 30 of 30 hand-made prompts correct. Image mode v2 keeps the user's words and offers missing attributes as suggestions; v1, which inserted defaults, made images worse.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Follow the numbers. The endpoint first purges expired prompts. create_prompt scrubs e-mails and phone numbers and sets expires_at. Stage A results go to prompt_features, Stage B and C to optimization_results plus one transformations row per change, then renderings and token_usage per target. All through repository.py: its functions flush but never commit; the endpoint commits once, so a failure half-way stores nothing. Then Compare, History and retention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SQLAlchemy 2.0, SQLite in development, PostgreSQL in deployment. The six tables in the table are written in one optimize transaction. Children cascade on delete, so the retention purge removes everything derived from an expired prompt. evaluation_runs is deliberately not linked to prompts so benchmark results are never purged. Constraints live in the schema: confidence between 0 and 1, a Stage B step must name a rule, one rendering per target.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We ran the full suite on 14 October: 798 passed in 25 seconds, offline, because providers are faked or replayed from recordings. Biggest groups: image mode 215, Stage B 123, dataset tooling 107, rendering and pipeline 77. Every Stage B rule has its own tests. Example: test_pii_is_scrubbed_before_storage stores 'mail rahul.k@example.com or call 98765 43210' and checks one [EMAIL] and two [PHONE] tags. Command: python -m pytest -q in backend.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Beyond unit tests: the freeze check recomputes Stage A and B on all 482 test prompts and compares a sha256 with the frozen-for-test tag; on 14 October it was byte-identical. Thirteen Playwright tests drive the real app in Chrome, 13 of 13 pass. API tests go end to end through FastAPI. The full pipeline ran once on the 482-prompt test split and the 44-prompt benchmark. Coding answers run in a bubblewrap sandbox with no network. And the 50-case correctness suite checks real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The report has 38 test cases; here are six. The correctness suite: 50 new hand-written cases. Vague prompts 37 correct, optimized 42, with 29.6% fewer tokens. Optimization fixed 9 answers and broke 4; McNemar p = 0.267, so not significant at n = 50, and on Cerebras it was 43 vs 41. Be honest about the failures: cls-09, Stage A read an attendance table as code so the model wrote a script; two summaries went 2-3 words over the limit; one Stage C coding case failed 4 of 8 asserts.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The headline: across the 482-prompt test split, total tokens drop 39.2% per prompt, 95% CI 35.9 to 42.5%, Wilcoxon p below 0.001. The optimized prompt is a bit longer, 226 to 241 input tokens, but answers shrink from 682 to 165 because the format and length are stated. Every category saves on average; 87 of 482 short-answer prompts cost more, which is why lean mode is our first next step. On the benchmark with a blind judge, quality went 8.2 to 9.0 and task success 67 to 85%.</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FastAPI back end, React + TypeScript front end: Optimize, Compare, Test suite, Results, How it works, History, Image mode, Status. Left: Optimize on the permutations example, every stage visible with before and after text. Right: a live Compare on gpt-oss-120b: 768 tokens for the vague prompt, 248 for the optimized one, minus 67.7%, both passing 6 of 6 sandbox tests. Every result says which model actually answered; GPT and Claude need paid keys, so gpt-oss is labelled as a stand-in. The app runs on the laptop as a service and is reachable on the LAN.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All numbers are from git. 92 commits between 13 August and 10 October, on three branches: main, ui-v2 and correctness-suite. Tags were our evaluation checkpoints: frozen-for-test marks the code for the final numbers, final-for-test the one-time test run, v1.0 the release with the Stage C adapter attached. We did not use GitHub Issues or Projects; we tracked work with the roadmap and phase tables in the repository and with tags.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Nirzara. Seven problems, seven fixes. LLM-written targets dropped data, so we built a deterministic repair with a log. Raters agreed on 90% of rows but kappa was near zero, the kappa paradox, so we also report Gwet's AC1. Free API quotas: a rolling usage ledger and a 70% budget rule. Stage C invented fields zero-shot, so we fine-tuned and validate every answer. Image v1 made pictures worse; v2 suggests instead of inserting. Regex edge cases got their own tests. And the model trained on a 4 GB GPU with gradient accumulation.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In priority order. Lean mode, because 87 short-answer prompts cost more. Route label-set and typo prompts to Stage C, and let users confirm spelling fixes. Blind tests with prompts written by people outside the team. Compare on real GPT, Claude and Gemini once we have paid keys. A larger correctness suite so the gain can reach significance. Then deployment with PostgreSQL, HTTPS and login.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Piush drives the laptop; Nirzara narrates Optimize and Compare, Siddhi narrates the Test suite and Results. Follow DEMO_LA2.md. If the network fails, show the Past comparisons table on the Compare page; if the GPU fails, the app falls back to Stage A + B and says Stage C is unavailable.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Siddhi. Thank the panel and our guide, and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sv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0.png"/><Relationship Id="rId9" Type="http://schemas.openxmlformats.org/officeDocument/2006/relationships/image" Target="../media/image11.svg"/><Relationship Id="rId10" Type="http://schemas.openxmlformats.org/officeDocument/2006/relationships/image" Target="../media/image3.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sv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3.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svg"/><Relationship Id="rId10" Type="http://schemas.openxmlformats.org/officeDocument/2006/relationships/image" Target="../media/image17.png"/><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51.png"/><Relationship Id="rId5" Type="http://schemas.openxmlformats.org/officeDocument/2006/relationships/image" Target="../media/image52.svg"/><Relationship Id="rId6" Type="http://schemas.openxmlformats.org/officeDocument/2006/relationships/image" Target="../media/image53.png"/><Relationship Id="rId7" Type="http://schemas.openxmlformats.org/officeDocument/2006/relationships/image" Target="../media/image54.svg"/><Relationship Id="rId8" Type="http://schemas.openxmlformats.org/officeDocument/2006/relationships/image" Target="../media/image55.png"/><Relationship Id="rId9" Type="http://schemas.openxmlformats.org/officeDocument/2006/relationships/image" Target="../media/image56.svg"/><Relationship Id="rId10" Type="http://schemas.openxmlformats.org/officeDocument/2006/relationships/image" Target="../media/image57.png"/><Relationship Id="rId11" Type="http://schemas.openxmlformats.org/officeDocument/2006/relationships/image" Target="../media/image58.svg"/><Relationship Id="rId12" Type="http://schemas.openxmlformats.org/officeDocument/2006/relationships/image" Target="../media/image15.png"/><Relationship Id="rId13" Type="http://schemas.openxmlformats.org/officeDocument/2006/relationships/image" Target="../media/image16.svg"/><Relationship Id="rId14" Type="http://schemas.openxmlformats.org/officeDocument/2006/relationships/image" Target="../media/image3.png"/><Relationship Id="rId15" Type="http://schemas.openxmlformats.org/officeDocument/2006/relationships/chart" Target="../charts/char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3.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chart" Target="../charts/char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3.png"/><Relationship Id="rId5" Type="http://schemas.openxmlformats.org/officeDocument/2006/relationships/image" Target="../media/image59.png"/><Relationship Id="rId6" Type="http://schemas.openxmlformats.org/officeDocument/2006/relationships/chart" Target="../charts/char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sv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3.png"/><Relationship Id="rId5" Type="http://schemas.openxmlformats.org/officeDocument/2006/relationships/hyperlink" Target="https://arxiv.org/pdf/2502.16923" TargetMode="External"/><Relationship Id="rId6" Type="http://schemas.openxmlformats.org/officeDocument/2006/relationships/hyperlink" Target="https://arxiv.org/pdf/2502.16923" TargetMode="External"/><Relationship Id="rId7" Type="http://schemas.openxmlformats.org/officeDocument/2006/relationships/hyperlink" Target="https://share.google/GMPaslvyTUJ8o05fg" TargetMode="External"/><Relationship Id="rId8" Type="http://schemas.openxmlformats.org/officeDocument/2006/relationships/hyperlink" Target="https://share.google/GMPaslvyTUJ8o05fg" TargetMode="External"/><Relationship Id="rId9" Type="http://schemas.openxmlformats.org/officeDocument/2006/relationships/hyperlink" Target="https://share.google/CrhZZ2qNL5HpLnRNN" TargetMode="External"/><Relationship Id="rId10" Type="http://schemas.openxmlformats.org/officeDocument/2006/relationships/hyperlink" Target="https://share.google/CrhZZ2qNL5HpLnRNN" TargetMode="Externa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0.png"/><Relationship Id="rId5" Type="http://schemas.openxmlformats.org/officeDocument/2006/relationships/image" Target="../media/image11.svg"/><Relationship Id="rId6" Type="http://schemas.openxmlformats.org/officeDocument/2006/relationships/image" Target="../media/image3.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image" Target="../media/image51.png"/><Relationship Id="rId5" Type="http://schemas.openxmlformats.org/officeDocument/2006/relationships/image" Target="../media/image52.svg"/><Relationship Id="rId6" Type="http://schemas.openxmlformats.org/officeDocument/2006/relationships/image" Target="../media/image53.png"/><Relationship Id="rId7" Type="http://schemas.openxmlformats.org/officeDocument/2006/relationships/image" Target="../media/image54.svg"/><Relationship Id="rId8" Type="http://schemas.openxmlformats.org/officeDocument/2006/relationships/image" Target="../media/image55.png"/><Relationship Id="rId9" Type="http://schemas.openxmlformats.org/officeDocument/2006/relationships/image" Target="../media/image56.svg"/><Relationship Id="rId10" Type="http://schemas.openxmlformats.org/officeDocument/2006/relationships/image" Target="../media/image57.png"/><Relationship Id="rId11" Type="http://schemas.openxmlformats.org/officeDocument/2006/relationships/image" Target="../media/image58.svg"/><Relationship Id="rId12" Type="http://schemas.openxmlformats.org/officeDocument/2006/relationships/image" Target="../media/image15.png"/><Relationship Id="rId13" Type="http://schemas.openxmlformats.org/officeDocument/2006/relationships/image" Target="../media/image16.svg"/><Relationship Id="rId14" Type="http://schemas.openxmlformats.org/officeDocument/2006/relationships/image" Target="../media/image3.png"/><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3.png"/><Relationship Id="rId7" Type="http://schemas.openxmlformats.org/officeDocument/2006/relationships/notesSlide" Target="../notesSlides/notesSlide18.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7443504">
            <a:off x="8113698" y="2215238"/>
            <a:ext cx="11403913" cy="11403913"/>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5" id="5"/>
          <p:cNvSpPr/>
          <p:nvPr/>
        </p:nvSpPr>
        <p:spPr>
          <a:xfrm flipH="false" flipV="false" rot="0">
            <a:off x="15164465" y="7183120"/>
            <a:ext cx="3098620" cy="3098620"/>
          </a:xfrm>
          <a:custGeom>
            <a:avLst/>
            <a:gdLst/>
            <a:ahLst/>
            <a:cxnLst/>
            <a:rect r="r" b="b" t="t" l="l"/>
            <a:pathLst>
              <a:path h="3098620" w="3098620">
                <a:moveTo>
                  <a:pt x="0" y="0"/>
                </a:moveTo>
                <a:lnTo>
                  <a:pt x="3098620" y="0"/>
                </a:lnTo>
                <a:lnTo>
                  <a:pt x="3098620" y="3098621"/>
                </a:lnTo>
                <a:lnTo>
                  <a:pt x="0" y="309862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grpSp>
        <p:nvGrpSpPr>
          <p:cNvPr name="Group 6" id="6"/>
          <p:cNvGrpSpPr/>
          <p:nvPr/>
        </p:nvGrpSpPr>
        <p:grpSpPr>
          <a:xfrm rot="-7443504">
            <a:off x="-2519434" y="-2973243"/>
            <a:ext cx="7096268" cy="7096268"/>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8" id="8"/>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9" id="9"/>
          <p:cNvSpPr/>
          <p:nvPr/>
        </p:nvSpPr>
        <p:spPr>
          <a:xfrm flipH="false" flipV="false" rot="0">
            <a:off x="0" y="0"/>
            <a:ext cx="3098620" cy="3098620"/>
          </a:xfrm>
          <a:custGeom>
            <a:avLst/>
            <a:gdLst/>
            <a:ahLst/>
            <a:cxnLst/>
            <a:rect r="r" b="b" t="t" l="l"/>
            <a:pathLst>
              <a:path h="3098620" w="3098620">
                <a:moveTo>
                  <a:pt x="0" y="0"/>
                </a:moveTo>
                <a:lnTo>
                  <a:pt x="3098620" y="0"/>
                </a:lnTo>
                <a:lnTo>
                  <a:pt x="3098620" y="3098620"/>
                </a:lnTo>
                <a:lnTo>
                  <a:pt x="0" y="30986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txBody>
          <a:bodyPr/>
          <a:p/>
        </p:txBody>
      </p:sp>
      <p:sp>
        <p:nvSpPr>
          <p:cNvPr name="Freeform 10" id="10"/>
          <p:cNvSpPr/>
          <p:nvPr/>
        </p:nvSpPr>
        <p:spPr>
          <a:xfrm flipH="false" flipV="false" rot="0">
            <a:off x="7831954" y="219604"/>
            <a:ext cx="2624091" cy="1997225"/>
          </a:xfrm>
          <a:custGeom>
            <a:avLst/>
            <a:gdLst/>
            <a:ahLst/>
            <a:cxnLst/>
            <a:rect r="r" b="b" t="t" l="l"/>
            <a:pathLst>
              <a:path h="1997225" w="2624091">
                <a:moveTo>
                  <a:pt x="0" y="0"/>
                </a:moveTo>
                <a:lnTo>
                  <a:pt x="2624092" y="0"/>
                </a:lnTo>
                <a:lnTo>
                  <a:pt x="2624092" y="1997225"/>
                </a:lnTo>
                <a:lnTo>
                  <a:pt x="0" y="1997225"/>
                </a:lnTo>
                <a:lnTo>
                  <a:pt x="0" y="0"/>
                </a:lnTo>
                <a:close/>
              </a:path>
            </a:pathLst>
          </a:custGeom>
          <a:blipFill>
            <a:blip r:embed="rId4"/>
            <a:stretch>
              <a:fillRect l="0" t="0" r="0" b="0"/>
            </a:stretch>
          </a:blipFill>
        </p:spPr>
        <p:txBody>
          <a:bodyPr/>
          <a:p/>
        </p:txBody>
      </p:sp>
      <p:sp>
        <p:nvSpPr>
          <p:cNvPr name="TextBox 11" id="11"/>
          <p:cNvSpPr txBox="true"/>
          <p:nvPr/>
        </p:nvSpPr>
        <p:spPr>
          <a:xfrm rot="0">
            <a:off x="5978301" y="4214087"/>
            <a:ext cx="6331398" cy="2118258"/>
          </a:xfrm>
          <a:prstGeom prst="rect">
            <a:avLst/>
          </a:prstGeom>
        </p:spPr>
        <p:txBody>
          <a:bodyPr anchor="t" rtlCol="false" tIns="0" lIns="0" bIns="0" rIns="0">
            <a:spAutoFit/>
          </a:bodyPr>
          <a:lstStyle/>
          <a:p>
            <a:pPr algn="ctr">
              <a:lnSpc>
                <a:spcPts val="5638"/>
              </a:lnSpc>
            </a:pPr>
            <a:r>
              <a:rPr lang="en-US" b="true" sz="4027">
                <a:solidFill>
                  <a:srgbClr val="457C5B"/>
                </a:solidFill>
                <a:latin typeface="Manifold Heavy"/>
                <a:ea typeface="Manifold Heavy"/>
                <a:cs typeface="Manifold Heavy"/>
                <a:sym typeface="Manifold Heavy"/>
              </a:rPr>
              <a:t>PROMPTOPT - </a:t>
            </a:r>
          </a:p>
          <a:p>
            <a:pPr algn="ctr">
              <a:lnSpc>
                <a:spcPts val="5638"/>
              </a:lnSpc>
            </a:pPr>
            <a:r>
              <a:rPr lang="en-US" b="true" sz="4027">
                <a:solidFill>
                  <a:srgbClr val="457C5B"/>
                </a:solidFill>
                <a:latin typeface="Manifold Heavy"/>
                <a:ea typeface="Manifold Heavy"/>
                <a:cs typeface="Manifold Heavy"/>
                <a:sym typeface="Manifold Heavy"/>
              </a:rPr>
              <a:t>TOKEN-EFFICIENT PROMPT</a:t>
            </a:r>
          </a:p>
          <a:p>
            <a:pPr algn="ctr">
              <a:lnSpc>
                <a:spcPts val="5638"/>
              </a:lnSpc>
            </a:pPr>
            <a:r>
              <a:rPr lang="en-US" b="true" sz="4027">
                <a:solidFill>
                  <a:srgbClr val="457C5B"/>
                </a:solidFill>
                <a:latin typeface="Manifold Heavy"/>
                <a:ea typeface="Manifold Heavy"/>
                <a:cs typeface="Manifold Heavy"/>
                <a:sym typeface="Manifold Heavy"/>
              </a:rPr>
              <a:t>OPTIMIZATION FOR LLMS</a:t>
            </a:r>
          </a:p>
        </p:txBody>
      </p:sp>
      <p:sp>
        <p:nvSpPr>
          <p:cNvPr name="TextBox 12" id="12"/>
          <p:cNvSpPr txBox="true"/>
          <p:nvPr/>
        </p:nvSpPr>
        <p:spPr>
          <a:xfrm rot="0">
            <a:off x="7219442" y="8728282"/>
            <a:ext cx="3827743" cy="986155"/>
          </a:xfrm>
          <a:prstGeom prst="rect">
            <a:avLst/>
          </a:prstGeom>
        </p:spPr>
        <p:txBody>
          <a:bodyPr anchor="t" rtlCol="false" tIns="0" lIns="0" bIns="0" rIns="0">
            <a:spAutoFit/>
          </a:bodyPr>
          <a:lstStyle/>
          <a:p>
            <a:pPr algn="ctr">
              <a:lnSpc>
                <a:spcPts val="3919"/>
              </a:lnSpc>
            </a:pPr>
            <a:r>
              <a:rPr lang="en-US" sz="2799" b="true">
                <a:solidFill>
                  <a:srgbClr val="457C5B"/>
                </a:solidFill>
                <a:latin typeface="Manifold Bold"/>
                <a:ea typeface="Manifold Bold"/>
                <a:cs typeface="Manifold Bold"/>
                <a:sym typeface="Manifold Bold"/>
              </a:rPr>
              <a:t>Under the Guidance of - </a:t>
            </a:r>
          </a:p>
          <a:p>
            <a:pPr algn="ctr" marL="0" indent="0" lvl="0">
              <a:lnSpc>
                <a:spcPts val="3919"/>
              </a:lnSpc>
              <a:spcBef>
                <a:spcPct val="0"/>
              </a:spcBef>
            </a:pPr>
            <a:r>
              <a:rPr lang="en-US" b="true" sz="2799">
                <a:solidFill>
                  <a:srgbClr val="457C5B"/>
                </a:solidFill>
                <a:latin typeface="Manifold Bold"/>
                <a:ea typeface="Manifold Bold"/>
                <a:cs typeface="Manifold Bold"/>
                <a:sym typeface="Manifold Bold"/>
              </a:rPr>
              <a:t>Prof. A.S. Pawar</a:t>
            </a:r>
          </a:p>
        </p:txBody>
      </p:sp>
      <p:grpSp>
        <p:nvGrpSpPr>
          <p:cNvPr name="Group 13" id="13"/>
          <p:cNvGrpSpPr/>
          <p:nvPr/>
        </p:nvGrpSpPr>
        <p:grpSpPr>
          <a:xfrm rot="0">
            <a:off x="6122412" y="6484745"/>
            <a:ext cx="6043175" cy="2079333"/>
            <a:chOff x="0" y="0"/>
            <a:chExt cx="8057567" cy="2772444"/>
          </a:xfrm>
        </p:grpSpPr>
        <p:sp>
          <p:nvSpPr>
            <p:cNvPr name="Freeform 14" id="14"/>
            <p:cNvSpPr/>
            <p:nvPr/>
          </p:nvSpPr>
          <p:spPr>
            <a:xfrm flipH="false" flipV="false" rot="0">
              <a:off x="0" y="0"/>
              <a:ext cx="8057567" cy="1034884"/>
            </a:xfrm>
            <a:custGeom>
              <a:avLst/>
              <a:gdLst/>
              <a:ahLst/>
              <a:cxnLst/>
              <a:rect r="r" b="b" t="t" l="l"/>
              <a:pathLst>
                <a:path h="1034884" w="8057567">
                  <a:moveTo>
                    <a:pt x="0" y="0"/>
                  </a:moveTo>
                  <a:lnTo>
                    <a:pt x="8057567" y="0"/>
                  </a:lnTo>
                  <a:lnTo>
                    <a:pt x="8057567" y="1034884"/>
                  </a:lnTo>
                  <a:lnTo>
                    <a:pt x="0" y="1034884"/>
                  </a:lnTo>
                  <a:lnTo>
                    <a:pt x="0" y="0"/>
                  </a:lnTo>
                  <a:close/>
                </a:path>
              </a:pathLst>
            </a:custGeom>
            <a:blipFill>
              <a:blip r:embed="rId5">
                <a:extLst>
                  <a:ext uri="{96DAC541-7B7A-43D3-8B79-37D633B846F1}">
                    <asvg:svgBlip xmlns:asvg="http://schemas.microsoft.com/office/drawing/2016/SVG/main" r:embed="rId6"/>
                  </a:ext>
                </a:extLst>
              </a:blip>
              <a:stretch>
                <a:fillRect l="0" t="0" r="0" b="-40147"/>
              </a:stretch>
            </a:blipFill>
          </p:spPr>
        </p:sp>
        <p:sp>
          <p:nvSpPr>
            <p:cNvPr name="TextBox 15" id="15"/>
            <p:cNvSpPr txBox="true"/>
            <p:nvPr/>
          </p:nvSpPr>
          <p:spPr>
            <a:xfrm rot="0">
              <a:off x="1832593" y="-47625"/>
              <a:ext cx="4392380" cy="471898"/>
            </a:xfrm>
            <a:prstGeom prst="rect">
              <a:avLst/>
            </a:prstGeom>
          </p:spPr>
          <p:txBody>
            <a:bodyPr anchor="t" rtlCol="false" tIns="0" lIns="0" bIns="0" rIns="0">
              <a:spAutoFit/>
            </a:bodyPr>
            <a:lstStyle/>
            <a:p>
              <a:pPr algn="ctr">
                <a:lnSpc>
                  <a:spcPts val="2936"/>
                </a:lnSpc>
              </a:pPr>
              <a:r>
                <a:rPr lang="en-US" sz="2097">
                  <a:solidFill>
                    <a:srgbClr val="457C5B"/>
                  </a:solidFill>
                  <a:latin typeface="Manifold"/>
                  <a:ea typeface="Manifold"/>
                  <a:cs typeface="Manifold"/>
                  <a:sym typeface="Manifold"/>
                </a:rPr>
                <a:t>Team Members</a:t>
              </a:r>
            </a:p>
          </p:txBody>
        </p:sp>
        <p:sp>
          <p:nvSpPr>
            <p:cNvPr name="TextBox 16" id="16"/>
            <p:cNvSpPr txBox="true"/>
            <p:nvPr/>
          </p:nvSpPr>
          <p:spPr>
            <a:xfrm rot="0">
              <a:off x="28498" y="499826"/>
              <a:ext cx="8000571" cy="2060669"/>
            </a:xfrm>
            <a:prstGeom prst="rect">
              <a:avLst/>
            </a:prstGeom>
          </p:spPr>
          <p:txBody>
            <a:bodyPr anchor="t" rtlCol="false" tIns="0" lIns="0" bIns="0" rIns="0">
              <a:spAutoFit/>
            </a:bodyPr>
            <a:lstStyle/>
            <a:p>
              <a:pPr algn="ctr">
                <a:lnSpc>
                  <a:spcPts val="4196"/>
                </a:lnSpc>
              </a:pPr>
              <a:r>
                <a:rPr lang="en-US" sz="2997" b="true">
                  <a:solidFill>
                    <a:srgbClr val="457C5B"/>
                  </a:solidFill>
                  <a:latin typeface="Manifold Bold"/>
                  <a:ea typeface="Manifold Bold"/>
                  <a:cs typeface="Manifold Bold"/>
                  <a:sym typeface="Manifold Bold"/>
                </a:rPr>
                <a:t>Piush U. Gogi - 255200005</a:t>
              </a:r>
            </a:p>
            <a:p>
              <a:pPr algn="ctr">
                <a:lnSpc>
                  <a:spcPts val="4196"/>
                </a:lnSpc>
              </a:pPr>
              <a:r>
                <a:rPr lang="en-US" sz="2997" b="true">
                  <a:solidFill>
                    <a:srgbClr val="457C5B"/>
                  </a:solidFill>
                  <a:latin typeface="Manifold Bold"/>
                  <a:ea typeface="Manifold Bold"/>
                  <a:cs typeface="Manifold Bold"/>
                  <a:sym typeface="Manifold Bold"/>
                </a:rPr>
                <a:t>Nirzara A. Manade - 255200006</a:t>
              </a:r>
            </a:p>
            <a:p>
              <a:pPr algn="ctr">
                <a:lnSpc>
                  <a:spcPts val="4196"/>
                </a:lnSpc>
              </a:pPr>
              <a:r>
                <a:rPr lang="en-US" sz="2997" b="true">
                  <a:solidFill>
                    <a:srgbClr val="457C5B"/>
                  </a:solidFill>
                  <a:latin typeface="Manifold Bold"/>
                  <a:ea typeface="Manifold Bold"/>
                  <a:cs typeface="Manifold Bold"/>
                  <a:sym typeface="Manifold Bold"/>
                </a:rPr>
                <a:t>Siddhi S. Bolaikar - 255200008</a:t>
              </a:r>
            </a:p>
          </p:txBody>
        </p:sp>
        <p:sp>
          <p:nvSpPr>
            <p:cNvPr name="Freeform 17" id="17"/>
            <p:cNvSpPr/>
            <p:nvPr/>
          </p:nvSpPr>
          <p:spPr>
            <a:xfrm flipH="false" flipV="false" rot="0">
              <a:off x="0" y="2014660"/>
              <a:ext cx="8029069" cy="757784"/>
            </a:xfrm>
            <a:custGeom>
              <a:avLst/>
              <a:gdLst/>
              <a:ahLst/>
              <a:cxnLst/>
              <a:rect r="r" b="b" t="t" l="l"/>
              <a:pathLst>
                <a:path h="757784" w="8029069">
                  <a:moveTo>
                    <a:pt x="0" y="0"/>
                  </a:moveTo>
                  <a:lnTo>
                    <a:pt x="8029069" y="0"/>
                  </a:lnTo>
                  <a:lnTo>
                    <a:pt x="8029069" y="757784"/>
                  </a:lnTo>
                  <a:lnTo>
                    <a:pt x="0" y="757784"/>
                  </a:lnTo>
                  <a:lnTo>
                    <a:pt x="0" y="0"/>
                  </a:lnTo>
                  <a:close/>
                </a:path>
              </a:pathLst>
            </a:custGeom>
            <a:blipFill>
              <a:blip r:embed="rId5">
                <a:extLst>
                  <a:ext uri="{96DAC541-7B7A-43D3-8B79-37D633B846F1}">
                    <asvg:svgBlip xmlns:asvg="http://schemas.microsoft.com/office/drawing/2016/SVG/main" r:embed="rId6"/>
                  </a:ext>
                </a:extLst>
              </a:blip>
              <a:stretch>
                <a:fillRect l="-57" t="-90828" r="0" b="0"/>
              </a:stretch>
            </a:blipFill>
          </p:spPr>
        </p:sp>
      </p:grpSp>
      <p:sp>
        <p:nvSpPr>
          <p:cNvPr name="TextBox 18" id="18"/>
          <p:cNvSpPr txBox="true"/>
          <p:nvPr/>
        </p:nvSpPr>
        <p:spPr>
          <a:xfrm rot="0">
            <a:off x="4417442" y="2271291"/>
            <a:ext cx="9453116" cy="704971"/>
          </a:xfrm>
          <a:prstGeom prst="rect">
            <a:avLst/>
          </a:prstGeom>
        </p:spPr>
        <p:txBody>
          <a:bodyPr anchor="t" rtlCol="false" tIns="0" lIns="0" bIns="0" rIns="0">
            <a:spAutoFit/>
          </a:bodyPr>
          <a:lstStyle/>
          <a:p>
            <a:pPr algn="ctr">
              <a:lnSpc>
                <a:spcPts val="5768"/>
              </a:lnSpc>
              <a:spcBef>
                <a:spcPct val="0"/>
              </a:spcBef>
            </a:pPr>
            <a:r>
              <a:rPr lang="en-US" b="true" sz="4120">
                <a:solidFill>
                  <a:srgbClr val="8E1711"/>
                </a:solidFill>
                <a:latin typeface="Neue Montreal Bold"/>
                <a:ea typeface="Neue Montreal Bold"/>
                <a:cs typeface="Neue Montreal Bold"/>
                <a:sym typeface="Neue Montreal Bold"/>
              </a:rPr>
              <a:t>Walchand College of Engineering, Sangli</a:t>
            </a:r>
          </a:p>
        </p:txBody>
      </p:sp>
      <p:sp>
        <p:nvSpPr>
          <p:cNvPr name="TextBox 19" id="19"/>
          <p:cNvSpPr txBox="true"/>
          <p:nvPr/>
        </p:nvSpPr>
        <p:spPr>
          <a:xfrm rot="0">
            <a:off x="4104113" y="3031507"/>
            <a:ext cx="10058400" cy="455365"/>
          </a:xfrm>
          <a:prstGeom prst="rect">
            <a:avLst/>
          </a:prstGeom>
        </p:spPr>
        <p:txBody>
          <a:bodyPr anchor="t" rtlCol="false" tIns="0" lIns="0" bIns="0" rIns="0">
            <a:spAutoFit/>
          </a:bodyPr>
          <a:lstStyle/>
          <a:p>
            <a:pPr algn="ctr">
              <a:lnSpc>
                <a:spcPts val="3776"/>
              </a:lnSpc>
              <a:spcBef>
                <a:spcPct val="0"/>
              </a:spcBef>
            </a:pPr>
            <a:r>
              <a:rPr lang="en-US" b="true" sz="2697">
                <a:solidFill>
                  <a:srgbClr val="8E1711"/>
                </a:solidFill>
                <a:latin typeface="Neue Montreal Bold"/>
                <a:ea typeface="Neue Montreal Bold"/>
                <a:cs typeface="Neue Montreal Bold"/>
                <a:sym typeface="Neue Montreal Bold"/>
              </a:rPr>
              <a:t>Dept. of Computer Science and Engineering, TY (A)</a:t>
            </a:r>
          </a:p>
        </p:txBody>
      </p:sp>
      <p:sp>
        <p:nvSpPr>
          <p:cNvPr name="TextBox 20" id="20"/>
          <p:cNvSpPr txBox="true"/>
          <p:nvPr/>
        </p:nvSpPr>
        <p:spPr>
          <a:xfrm rot="0">
            <a:off x="4114800" y="3553547"/>
            <a:ext cx="10058400" cy="339795"/>
          </a:xfrm>
          <a:prstGeom prst="rect">
            <a:avLst/>
          </a:prstGeom>
        </p:spPr>
        <p:txBody>
          <a:bodyPr anchor="t" rtlCol="false" tIns="0" lIns="0" bIns="0" rIns="0">
            <a:spAutoFit/>
          </a:bodyPr>
          <a:lstStyle/>
          <a:p>
            <a:pPr algn="ctr">
              <a:lnSpc>
                <a:spcPts val="2796"/>
              </a:lnSpc>
              <a:spcBef>
                <a:spcPct val="0"/>
              </a:spcBef>
            </a:pPr>
            <a:r>
              <a:rPr lang="en-US" b="true" sz="1997">
                <a:solidFill>
                  <a:srgbClr val="8E1711"/>
                </a:solidFill>
                <a:latin typeface="Neue Montreal Bold"/>
                <a:ea typeface="Neue Montreal Bold"/>
                <a:cs typeface="Neue Montreal Bold"/>
                <a:sym typeface="Neue Montreal Bold"/>
              </a:rPr>
              <a:t>MINI PROJECT-I (7CS345)</a:t>
            </a:r>
            <a:r>
              <a:rPr lang="en-US" b="true" sz="1997">
                <a:solidFill>
                  <a:srgbClr val="8E1711"/>
                </a:solidFill>
                <a:latin typeface="Neue Montreal Bold"/>
                <a:ea typeface="Neue Montreal Bold"/>
                <a:cs typeface="Neue Montreal Bold"/>
                <a:sym typeface="Neue Montreal Bold"/>
              </a:rPr>
              <a:t> — LA-2</a:t>
            </a:r>
            <a:r>
              <a:rPr lang="en-US" b="true" sz="1997">
                <a:solidFill>
                  <a:srgbClr val="8E1711"/>
                </a:solidFill>
                <a:latin typeface="Neue Montreal Bold"/>
                <a:ea typeface="Neue Montreal Bold"/>
                <a:cs typeface="Neue Montreal Bold"/>
                <a:sym typeface="Neue Montreal Bold"/>
              </a:rPr>
              <a:t> EVALUATION,</a:t>
            </a:r>
          </a:p>
        </p:txBody>
      </p:sp>
      <p:sp>
        <p:nvSpPr>
          <p:cNvPr name="TextBox 21" id="21"/>
          <p:cNvSpPr txBox="true"/>
          <p:nvPr/>
        </p:nvSpPr>
        <p:spPr>
          <a:xfrm rot="0">
            <a:off x="8652272" y="3855242"/>
            <a:ext cx="983456" cy="339795"/>
          </a:xfrm>
          <a:prstGeom prst="rect">
            <a:avLst/>
          </a:prstGeom>
        </p:spPr>
        <p:txBody>
          <a:bodyPr anchor="t" rtlCol="false" tIns="0" lIns="0" bIns="0" rIns="0">
            <a:spAutoFit/>
          </a:bodyPr>
          <a:lstStyle/>
          <a:p>
            <a:pPr algn="ctr">
              <a:lnSpc>
                <a:spcPts val="2796"/>
              </a:lnSpc>
              <a:spcBef>
                <a:spcPct val="0"/>
              </a:spcBef>
            </a:pPr>
            <a:r>
              <a:rPr lang="en-US" b="true" sz="1997">
                <a:solidFill>
                  <a:srgbClr val="8E1711"/>
                </a:solidFill>
                <a:latin typeface="Neue Montreal Bold"/>
                <a:ea typeface="Neue Montreal Bold"/>
                <a:cs typeface="Neue Montreal Bold"/>
                <a:sym typeface="Neue Montreal Bold"/>
              </a:rPr>
              <a:t>2026-27</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sp>
        <p:nvSpPr>
          <p:cNvPr name="Freeform 2" id="2"/>
          <p:cNvSpPr/>
          <p:nvPr/>
        </p:nvSpPr>
        <p:spPr>
          <a:xfrm flipH="false" flipV="false" rot="0">
            <a:off x="15829896" y="-606283"/>
            <a:ext cx="3098620" cy="3098620"/>
          </a:xfrm>
          <a:custGeom>
            <a:avLst/>
            <a:gdLst/>
            <a:ahLst/>
            <a:cxnLst/>
            <a:rect r="r" b="b" t="t" l="l"/>
            <a:pathLst>
              <a:path h="3098620" w="3098620">
                <a:moveTo>
                  <a:pt x="0" y="0"/>
                </a:moveTo>
                <a:lnTo>
                  <a:pt x="3098620" y="0"/>
                </a:lnTo>
                <a:lnTo>
                  <a:pt x="3098620" y="3098620"/>
                </a:lnTo>
                <a:lnTo>
                  <a:pt x="0" y="309862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482696" y="4180589"/>
            <a:ext cx="6833411" cy="715348"/>
            <a:chOff x="0" y="0"/>
            <a:chExt cx="1915645" cy="200537"/>
          </a:xfrm>
        </p:grpSpPr>
        <p:sp>
          <p:nvSpPr>
            <p:cNvPr name="Freeform 4" id="4"/>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p:spPr>
        </p:sp>
        <p:sp>
          <p:nvSpPr>
            <p:cNvPr name="TextBox 5" id="5"/>
            <p:cNvSpPr txBox="true"/>
            <p:nvPr/>
          </p:nvSpPr>
          <p:spPr>
            <a:xfrm>
              <a:off x="0" y="-47625"/>
              <a:ext cx="1915645" cy="248162"/>
            </a:xfrm>
            <a:prstGeom prst="rect">
              <a:avLst/>
            </a:prstGeom>
          </p:spPr>
          <p:txBody>
            <a:bodyPr anchor="ctr" rtlCol="false" tIns="50800" lIns="50800" bIns="50800" rIns="50800"/>
            <a:lstStyle/>
            <a:p>
              <a:pPr algn="ctr">
                <a:lnSpc>
                  <a:spcPts val="2936"/>
                </a:lnSpc>
              </a:pPr>
            </a:p>
          </p:txBody>
        </p:sp>
      </p:grpSp>
      <p:grpSp>
        <p:nvGrpSpPr>
          <p:cNvPr name="Group 6" id="6"/>
          <p:cNvGrpSpPr/>
          <p:nvPr/>
        </p:nvGrpSpPr>
        <p:grpSpPr>
          <a:xfrm rot="0">
            <a:off x="1482696" y="5240076"/>
            <a:ext cx="6877205" cy="715348"/>
            <a:chOff x="0" y="0"/>
            <a:chExt cx="1927922" cy="200537"/>
          </a:xfrm>
        </p:grpSpPr>
        <p:sp>
          <p:nvSpPr>
            <p:cNvPr name="Freeform 7" id="7"/>
            <p:cNvSpPr/>
            <p:nvPr/>
          </p:nvSpPr>
          <p:spPr>
            <a:xfrm flipH="false" flipV="false" rot="0">
              <a:off x="0" y="0"/>
              <a:ext cx="1927922" cy="200537"/>
            </a:xfrm>
            <a:custGeom>
              <a:avLst/>
              <a:gdLst/>
              <a:ahLst/>
              <a:cxnLst/>
              <a:rect r="r" b="b" t="t" l="l"/>
              <a:pathLst>
                <a:path h="200537" w="1927922">
                  <a:moveTo>
                    <a:pt x="20263" y="0"/>
                  </a:moveTo>
                  <a:lnTo>
                    <a:pt x="1907658" y="0"/>
                  </a:lnTo>
                  <a:cubicBezTo>
                    <a:pt x="1913033" y="0"/>
                    <a:pt x="1918187" y="2135"/>
                    <a:pt x="1921987" y="5935"/>
                  </a:cubicBezTo>
                  <a:cubicBezTo>
                    <a:pt x="1925787" y="9735"/>
                    <a:pt x="1927922" y="14889"/>
                    <a:pt x="1927922" y="20263"/>
                  </a:cubicBezTo>
                  <a:lnTo>
                    <a:pt x="1927922" y="180274"/>
                  </a:lnTo>
                  <a:cubicBezTo>
                    <a:pt x="1927922" y="191465"/>
                    <a:pt x="1918850" y="200537"/>
                    <a:pt x="1907658" y="200537"/>
                  </a:cubicBezTo>
                  <a:lnTo>
                    <a:pt x="20263" y="200537"/>
                  </a:lnTo>
                  <a:cubicBezTo>
                    <a:pt x="9072" y="200537"/>
                    <a:pt x="0" y="191465"/>
                    <a:pt x="0" y="180274"/>
                  </a:cubicBezTo>
                  <a:lnTo>
                    <a:pt x="0" y="20263"/>
                  </a:lnTo>
                  <a:cubicBezTo>
                    <a:pt x="0" y="9072"/>
                    <a:pt x="9072" y="0"/>
                    <a:pt x="20263" y="0"/>
                  </a:cubicBezTo>
                  <a:close/>
                </a:path>
              </a:pathLst>
            </a:custGeom>
            <a:solidFill>
              <a:srgbClr val="457C5B"/>
            </a:solidFill>
            <a:ln cap="sq">
              <a:noFill/>
              <a:prstDash val="solid"/>
              <a:miter/>
            </a:ln>
          </p:spPr>
        </p:sp>
        <p:sp>
          <p:nvSpPr>
            <p:cNvPr name="TextBox 8" id="8"/>
            <p:cNvSpPr txBox="true"/>
            <p:nvPr/>
          </p:nvSpPr>
          <p:spPr>
            <a:xfrm>
              <a:off x="0" y="-47625"/>
              <a:ext cx="1927922"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9" id="9"/>
          <p:cNvGrpSpPr/>
          <p:nvPr/>
        </p:nvGrpSpPr>
        <p:grpSpPr>
          <a:xfrm rot="0">
            <a:off x="1482696" y="6298325"/>
            <a:ext cx="6833411" cy="715348"/>
            <a:chOff x="0" y="0"/>
            <a:chExt cx="1915645" cy="200537"/>
          </a:xfrm>
        </p:grpSpPr>
        <p:sp>
          <p:nvSpPr>
            <p:cNvPr name="Freeform 10" id="10"/>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11" id="11"/>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12" id="12"/>
          <p:cNvGrpSpPr/>
          <p:nvPr/>
        </p:nvGrpSpPr>
        <p:grpSpPr>
          <a:xfrm rot="0">
            <a:off x="1482696" y="7356573"/>
            <a:ext cx="6833411" cy="715348"/>
            <a:chOff x="0" y="0"/>
            <a:chExt cx="1915645" cy="200537"/>
          </a:xfrm>
        </p:grpSpPr>
        <p:sp>
          <p:nvSpPr>
            <p:cNvPr name="Freeform 13" id="13"/>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14" id="14"/>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15" id="15"/>
          <p:cNvGrpSpPr/>
          <p:nvPr/>
        </p:nvGrpSpPr>
        <p:grpSpPr>
          <a:xfrm rot="0">
            <a:off x="10432015" y="4180589"/>
            <a:ext cx="6833411" cy="715348"/>
            <a:chOff x="0" y="0"/>
            <a:chExt cx="1915645" cy="200537"/>
          </a:xfrm>
        </p:grpSpPr>
        <p:sp>
          <p:nvSpPr>
            <p:cNvPr name="Freeform 16" id="16"/>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17" id="17"/>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18" id="18"/>
          <p:cNvGrpSpPr/>
          <p:nvPr/>
        </p:nvGrpSpPr>
        <p:grpSpPr>
          <a:xfrm rot="0">
            <a:off x="10432015" y="5240076"/>
            <a:ext cx="6833411" cy="715348"/>
            <a:chOff x="0" y="0"/>
            <a:chExt cx="1915645" cy="200537"/>
          </a:xfrm>
        </p:grpSpPr>
        <p:sp>
          <p:nvSpPr>
            <p:cNvPr name="Freeform 19" id="19"/>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20" id="20"/>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21" id="21"/>
          <p:cNvGrpSpPr/>
          <p:nvPr/>
        </p:nvGrpSpPr>
        <p:grpSpPr>
          <a:xfrm rot="0">
            <a:off x="10432015" y="6298325"/>
            <a:ext cx="6833411" cy="715348"/>
            <a:chOff x="0" y="0"/>
            <a:chExt cx="1915645" cy="200537"/>
          </a:xfrm>
        </p:grpSpPr>
        <p:sp>
          <p:nvSpPr>
            <p:cNvPr name="Freeform 22" id="22"/>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23" id="23"/>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grpSp>
        <p:nvGrpSpPr>
          <p:cNvPr name="Group 24" id="24"/>
          <p:cNvGrpSpPr/>
          <p:nvPr/>
        </p:nvGrpSpPr>
        <p:grpSpPr>
          <a:xfrm rot="0">
            <a:off x="10432015" y="7356573"/>
            <a:ext cx="6833411" cy="715348"/>
            <a:chOff x="0" y="0"/>
            <a:chExt cx="1915645" cy="200537"/>
          </a:xfrm>
        </p:grpSpPr>
        <p:sp>
          <p:nvSpPr>
            <p:cNvPr name="Freeform 25" id="25"/>
            <p:cNvSpPr/>
            <p:nvPr/>
          </p:nvSpPr>
          <p:spPr>
            <a:xfrm flipH="false" flipV="false" rot="0">
              <a:off x="0" y="0"/>
              <a:ext cx="1915645" cy="200537"/>
            </a:xfrm>
            <a:custGeom>
              <a:avLst/>
              <a:gdLst/>
              <a:ahLst/>
              <a:cxnLst/>
              <a:rect r="r" b="b" t="t" l="l"/>
              <a:pathLst>
                <a:path h="200537" w="1915645">
                  <a:moveTo>
                    <a:pt x="20393" y="0"/>
                  </a:moveTo>
                  <a:lnTo>
                    <a:pt x="1895252" y="0"/>
                  </a:lnTo>
                  <a:cubicBezTo>
                    <a:pt x="1906515" y="0"/>
                    <a:pt x="1915645" y="9130"/>
                    <a:pt x="1915645" y="20393"/>
                  </a:cubicBezTo>
                  <a:lnTo>
                    <a:pt x="1915645" y="180144"/>
                  </a:lnTo>
                  <a:cubicBezTo>
                    <a:pt x="1915645" y="191407"/>
                    <a:pt x="1906515" y="200537"/>
                    <a:pt x="1895252" y="200537"/>
                  </a:cubicBezTo>
                  <a:lnTo>
                    <a:pt x="20393" y="200537"/>
                  </a:lnTo>
                  <a:cubicBezTo>
                    <a:pt x="14985" y="200537"/>
                    <a:pt x="9797" y="198389"/>
                    <a:pt x="5973" y="194564"/>
                  </a:cubicBezTo>
                  <a:cubicBezTo>
                    <a:pt x="2149" y="190740"/>
                    <a:pt x="0" y="185553"/>
                    <a:pt x="0" y="180144"/>
                  </a:cubicBezTo>
                  <a:lnTo>
                    <a:pt x="0" y="20393"/>
                  </a:lnTo>
                  <a:cubicBezTo>
                    <a:pt x="0" y="14985"/>
                    <a:pt x="2149" y="9797"/>
                    <a:pt x="5973" y="5973"/>
                  </a:cubicBezTo>
                  <a:cubicBezTo>
                    <a:pt x="9797" y="2149"/>
                    <a:pt x="14985" y="0"/>
                    <a:pt x="20393" y="0"/>
                  </a:cubicBezTo>
                  <a:close/>
                </a:path>
              </a:pathLst>
            </a:custGeom>
            <a:solidFill>
              <a:srgbClr val="457C5B"/>
            </a:solidFill>
            <a:ln cap="sq">
              <a:noFill/>
              <a:prstDash val="solid"/>
              <a:miter/>
            </a:ln>
          </p:spPr>
        </p:sp>
        <p:sp>
          <p:nvSpPr>
            <p:cNvPr name="TextBox 26" id="26"/>
            <p:cNvSpPr txBox="true"/>
            <p:nvPr/>
          </p:nvSpPr>
          <p:spPr>
            <a:xfrm>
              <a:off x="0" y="-47625"/>
              <a:ext cx="1915645" cy="248162"/>
            </a:xfrm>
            <a:prstGeom prst="rect">
              <a:avLst/>
            </a:prstGeom>
          </p:spPr>
          <p:txBody>
            <a:bodyPr anchor="ctr" rtlCol="false" tIns="50800" lIns="50800" bIns="50800" rIns="50800"/>
            <a:lstStyle/>
            <a:p>
              <a:pPr algn="ctr" marL="0" indent="0" lvl="0">
                <a:lnSpc>
                  <a:spcPts val="2936"/>
                </a:lnSpc>
                <a:spcBef>
                  <a:spcPct val="0"/>
                </a:spcBef>
              </a:pPr>
            </a:p>
          </p:txBody>
        </p:sp>
      </p:grpSp>
      <p:sp>
        <p:nvSpPr>
          <p:cNvPr name="Freeform 27" id="27"/>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28" id="28"/>
          <p:cNvSpPr/>
          <p:nvPr/>
        </p:nvSpPr>
        <p:spPr>
          <a:xfrm flipH="true" flipV="false" rot="0">
            <a:off x="-640516" y="-606283"/>
            <a:ext cx="3098620" cy="3098620"/>
          </a:xfrm>
          <a:custGeom>
            <a:avLst/>
            <a:gdLst/>
            <a:ahLst/>
            <a:cxnLst/>
            <a:rect r="r" b="b" t="t" l="l"/>
            <a:pathLst>
              <a:path h="3098620" w="3098620">
                <a:moveTo>
                  <a:pt x="3098620" y="0"/>
                </a:moveTo>
                <a:lnTo>
                  <a:pt x="0" y="0"/>
                </a:lnTo>
                <a:lnTo>
                  <a:pt x="0" y="3098620"/>
                </a:lnTo>
                <a:lnTo>
                  <a:pt x="3098620" y="3098620"/>
                </a:lnTo>
                <a:lnTo>
                  <a:pt x="309862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9" id="2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30" id="30"/>
          <p:cNvSpPr/>
          <p:nvPr/>
        </p:nvSpPr>
        <p:spPr>
          <a:xfrm flipH="false" flipV="false" rot="-10800000">
            <a:off x="6274984" y="2184368"/>
            <a:ext cx="5738033" cy="1193033"/>
          </a:xfrm>
          <a:custGeom>
            <a:avLst/>
            <a:gdLst/>
            <a:ahLst/>
            <a:cxnLst/>
            <a:rect r="r" b="b" t="t" l="l"/>
            <a:pathLst>
              <a:path h="1193033" w="5738033">
                <a:moveTo>
                  <a:pt x="0" y="0"/>
                </a:moveTo>
                <a:lnTo>
                  <a:pt x="5738032" y="0"/>
                </a:lnTo>
                <a:lnTo>
                  <a:pt x="5738032" y="1193033"/>
                </a:lnTo>
                <a:lnTo>
                  <a:pt x="0" y="119303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31" id="31"/>
          <p:cNvSpPr txBox="true"/>
          <p:nvPr/>
        </p:nvSpPr>
        <p:spPr>
          <a:xfrm rot="0">
            <a:off x="2316948" y="4260010"/>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Core Modules</a:t>
            </a:r>
          </a:p>
        </p:txBody>
      </p:sp>
      <p:sp>
        <p:nvSpPr>
          <p:cNvPr name="TextBox 32" id="32"/>
          <p:cNvSpPr txBox="true"/>
          <p:nvPr/>
        </p:nvSpPr>
        <p:spPr>
          <a:xfrm rot="0">
            <a:off x="2973476" y="1155529"/>
            <a:ext cx="12082161" cy="1028773"/>
          </a:xfrm>
          <a:prstGeom prst="rect">
            <a:avLst/>
          </a:prstGeom>
        </p:spPr>
        <p:txBody>
          <a:bodyPr anchor="t" rtlCol="false" tIns="0" lIns="0" bIns="0" rIns="0">
            <a:spAutoFit/>
          </a:bodyPr>
          <a:lstStyle/>
          <a:p>
            <a:pPr algn="ctr">
              <a:lnSpc>
                <a:spcPts val="8395"/>
              </a:lnSpc>
            </a:pPr>
            <a:r>
              <a:rPr lang="en-US" b="true" sz="5997">
                <a:solidFill>
                  <a:srgbClr val="457C5B"/>
                </a:solidFill>
                <a:latin typeface="Manifold Heavy"/>
                <a:ea typeface="Manifold Heavy"/>
                <a:cs typeface="Manifold Heavy"/>
                <a:sym typeface="Manifold Heavy"/>
              </a:rPr>
              <a:t>AGENDA</a:t>
            </a:r>
          </a:p>
        </p:txBody>
      </p:sp>
      <p:sp>
        <p:nvSpPr>
          <p:cNvPr name="TextBox 33" id="33"/>
          <p:cNvSpPr txBox="true"/>
          <p:nvPr/>
        </p:nvSpPr>
        <p:spPr>
          <a:xfrm rot="0">
            <a:off x="1539439" y="5318878"/>
            <a:ext cx="6719924"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Unit Testing</a:t>
            </a:r>
          </a:p>
        </p:txBody>
      </p:sp>
      <p:sp>
        <p:nvSpPr>
          <p:cNvPr name="TextBox 34" id="34"/>
          <p:cNvSpPr txBox="true"/>
          <p:nvPr/>
        </p:nvSpPr>
        <p:spPr>
          <a:xfrm rot="0">
            <a:off x="2316948" y="6374525"/>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Test Cases &amp; Correctness</a:t>
            </a:r>
          </a:p>
        </p:txBody>
      </p:sp>
      <p:sp>
        <p:nvSpPr>
          <p:cNvPr name="TextBox 35" id="35"/>
          <p:cNvSpPr txBox="true"/>
          <p:nvPr/>
        </p:nvSpPr>
        <p:spPr>
          <a:xfrm rot="0">
            <a:off x="2458104" y="7432773"/>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Git &amp; GitHub</a:t>
            </a:r>
          </a:p>
        </p:txBody>
      </p:sp>
      <p:sp>
        <p:nvSpPr>
          <p:cNvPr name="TextBox 36" id="36"/>
          <p:cNvSpPr txBox="true"/>
          <p:nvPr/>
        </p:nvSpPr>
        <p:spPr>
          <a:xfrm rot="0">
            <a:off x="11008581" y="4260010"/>
            <a:ext cx="5680279"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Transaction Flow &amp; Database</a:t>
            </a:r>
          </a:p>
        </p:txBody>
      </p:sp>
      <p:sp>
        <p:nvSpPr>
          <p:cNvPr name="TextBox 37" id="37"/>
          <p:cNvSpPr txBox="true"/>
          <p:nvPr/>
        </p:nvSpPr>
        <p:spPr>
          <a:xfrm rot="0">
            <a:off x="11266267" y="5322718"/>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Integration &amp; System Testing</a:t>
            </a:r>
          </a:p>
        </p:txBody>
      </p:sp>
      <p:sp>
        <p:nvSpPr>
          <p:cNvPr name="TextBox 38" id="38"/>
          <p:cNvSpPr txBox="true"/>
          <p:nvPr/>
        </p:nvSpPr>
        <p:spPr>
          <a:xfrm rot="0">
            <a:off x="11266267" y="6377746"/>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Results &amp; Working Prototype</a:t>
            </a:r>
          </a:p>
        </p:txBody>
      </p:sp>
      <p:sp>
        <p:nvSpPr>
          <p:cNvPr name="TextBox 39" id="39"/>
          <p:cNvSpPr txBox="true"/>
          <p:nvPr/>
        </p:nvSpPr>
        <p:spPr>
          <a:xfrm rot="0">
            <a:off x="11266267" y="7442298"/>
            <a:ext cx="5164907" cy="499356"/>
          </a:xfrm>
          <a:prstGeom prst="rect">
            <a:avLst/>
          </a:prstGeom>
        </p:spPr>
        <p:txBody>
          <a:bodyPr anchor="t" rtlCol="false" tIns="0" lIns="0" bIns="0" rIns="0">
            <a:spAutoFit/>
          </a:bodyPr>
          <a:lstStyle/>
          <a:p>
            <a:pPr algn="ctr">
              <a:lnSpc>
                <a:spcPts val="4080"/>
              </a:lnSpc>
            </a:pPr>
            <a:r>
              <a:rPr lang="en-US" sz="2914" b="true">
                <a:solidFill>
                  <a:srgbClr val="F5FFF9"/>
                </a:solidFill>
                <a:latin typeface="Manifold Ultra-Bold"/>
                <a:ea typeface="Manifold Ultra-Bold"/>
                <a:cs typeface="Manifold Ultra-Bold"/>
                <a:sym typeface="Manifold Ultra-Bold"/>
              </a:rPr>
              <a:t>Challenges &amp; Future Plans</a:t>
            </a:r>
          </a:p>
        </p:txBody>
      </p:sp>
      <p:grpSp>
        <p:nvGrpSpPr>
          <p:cNvPr name="Group 40" id="40"/>
          <p:cNvGrpSpPr/>
          <p:nvPr/>
        </p:nvGrpSpPr>
        <p:grpSpPr>
          <a:xfrm rot="0">
            <a:off x="717801" y="4227364"/>
            <a:ext cx="621798" cy="621798"/>
            <a:chOff x="0" y="0"/>
            <a:chExt cx="829063" cy="829063"/>
          </a:xfrm>
        </p:grpSpPr>
        <p:sp>
          <p:nvSpPr>
            <p:cNvPr name="Freeform 41" id="41"/>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42" id="42"/>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1</a:t>
              </a:r>
            </a:p>
          </p:txBody>
        </p:sp>
      </p:grpSp>
      <p:grpSp>
        <p:nvGrpSpPr>
          <p:cNvPr name="Group 43" id="43"/>
          <p:cNvGrpSpPr/>
          <p:nvPr/>
        </p:nvGrpSpPr>
        <p:grpSpPr>
          <a:xfrm rot="0">
            <a:off x="9669776" y="5290073"/>
            <a:ext cx="621798" cy="621798"/>
            <a:chOff x="0" y="0"/>
            <a:chExt cx="829063" cy="829063"/>
          </a:xfrm>
        </p:grpSpPr>
        <p:sp>
          <p:nvSpPr>
            <p:cNvPr name="Freeform 44" id="44"/>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45" id="45"/>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4</a:t>
              </a:r>
            </a:p>
          </p:txBody>
        </p:sp>
      </p:grpSp>
      <p:grpSp>
        <p:nvGrpSpPr>
          <p:cNvPr name="Group 46" id="46"/>
          <p:cNvGrpSpPr/>
          <p:nvPr/>
        </p:nvGrpSpPr>
        <p:grpSpPr>
          <a:xfrm rot="0">
            <a:off x="717801" y="5286232"/>
            <a:ext cx="621798" cy="621798"/>
            <a:chOff x="0" y="0"/>
            <a:chExt cx="829063" cy="829063"/>
          </a:xfrm>
        </p:grpSpPr>
        <p:sp>
          <p:nvSpPr>
            <p:cNvPr name="Freeform 47" id="47"/>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48" id="48"/>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3</a:t>
              </a:r>
            </a:p>
          </p:txBody>
        </p:sp>
      </p:grpSp>
      <p:grpSp>
        <p:nvGrpSpPr>
          <p:cNvPr name="Group 49" id="49"/>
          <p:cNvGrpSpPr/>
          <p:nvPr/>
        </p:nvGrpSpPr>
        <p:grpSpPr>
          <a:xfrm rot="0">
            <a:off x="718023" y="6391875"/>
            <a:ext cx="621798" cy="621798"/>
            <a:chOff x="0" y="0"/>
            <a:chExt cx="829063" cy="829063"/>
          </a:xfrm>
        </p:grpSpPr>
        <p:sp>
          <p:nvSpPr>
            <p:cNvPr name="Freeform 50" id="50"/>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51" id="51"/>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5</a:t>
              </a:r>
            </a:p>
          </p:txBody>
        </p:sp>
      </p:grpSp>
      <p:grpSp>
        <p:nvGrpSpPr>
          <p:cNvPr name="Group 52" id="52"/>
          <p:cNvGrpSpPr/>
          <p:nvPr/>
        </p:nvGrpSpPr>
        <p:grpSpPr>
          <a:xfrm rot="0">
            <a:off x="717801" y="7450123"/>
            <a:ext cx="621798" cy="621798"/>
            <a:chOff x="0" y="0"/>
            <a:chExt cx="829063" cy="829063"/>
          </a:xfrm>
        </p:grpSpPr>
        <p:sp>
          <p:nvSpPr>
            <p:cNvPr name="Freeform 53" id="53"/>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54" id="54"/>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7</a:t>
              </a:r>
            </a:p>
          </p:txBody>
        </p:sp>
      </p:grpSp>
      <p:grpSp>
        <p:nvGrpSpPr>
          <p:cNvPr name="Group 55" id="55"/>
          <p:cNvGrpSpPr/>
          <p:nvPr/>
        </p:nvGrpSpPr>
        <p:grpSpPr>
          <a:xfrm rot="0">
            <a:off x="9669776" y="7409652"/>
            <a:ext cx="621798" cy="621798"/>
            <a:chOff x="0" y="0"/>
            <a:chExt cx="829063" cy="829063"/>
          </a:xfrm>
        </p:grpSpPr>
        <p:sp>
          <p:nvSpPr>
            <p:cNvPr name="Freeform 56" id="56"/>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57" id="57"/>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8</a:t>
              </a:r>
            </a:p>
          </p:txBody>
        </p:sp>
      </p:grpSp>
      <p:grpSp>
        <p:nvGrpSpPr>
          <p:cNvPr name="Group 58" id="58"/>
          <p:cNvGrpSpPr/>
          <p:nvPr/>
        </p:nvGrpSpPr>
        <p:grpSpPr>
          <a:xfrm rot="0">
            <a:off x="9669776" y="6345100"/>
            <a:ext cx="621798" cy="621798"/>
            <a:chOff x="0" y="0"/>
            <a:chExt cx="829063" cy="829063"/>
          </a:xfrm>
        </p:grpSpPr>
        <p:sp>
          <p:nvSpPr>
            <p:cNvPr name="Freeform 59" id="59"/>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60" id="60"/>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6</a:t>
              </a:r>
            </a:p>
          </p:txBody>
        </p:sp>
      </p:grpSp>
      <p:grpSp>
        <p:nvGrpSpPr>
          <p:cNvPr name="Group 61" id="61"/>
          <p:cNvGrpSpPr/>
          <p:nvPr/>
        </p:nvGrpSpPr>
        <p:grpSpPr>
          <a:xfrm rot="0">
            <a:off x="9669776" y="4215167"/>
            <a:ext cx="621798" cy="621798"/>
            <a:chOff x="0" y="0"/>
            <a:chExt cx="829063" cy="829063"/>
          </a:xfrm>
        </p:grpSpPr>
        <p:sp>
          <p:nvSpPr>
            <p:cNvPr name="Freeform 62" id="62"/>
            <p:cNvSpPr/>
            <p:nvPr/>
          </p:nvSpPr>
          <p:spPr>
            <a:xfrm flipH="false" flipV="false" rot="0">
              <a:off x="0" y="0"/>
              <a:ext cx="829063" cy="829063"/>
            </a:xfrm>
            <a:custGeom>
              <a:avLst/>
              <a:gdLst/>
              <a:ahLst/>
              <a:cxnLst/>
              <a:rect r="r" b="b" t="t" l="l"/>
              <a:pathLst>
                <a:path h="829063" w="829063">
                  <a:moveTo>
                    <a:pt x="0" y="0"/>
                  </a:moveTo>
                  <a:lnTo>
                    <a:pt x="829063" y="0"/>
                  </a:lnTo>
                  <a:lnTo>
                    <a:pt x="829063" y="829063"/>
                  </a:lnTo>
                  <a:lnTo>
                    <a:pt x="0" y="82906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63" id="63"/>
            <p:cNvSpPr txBox="true"/>
            <p:nvPr/>
          </p:nvSpPr>
          <p:spPr>
            <a:xfrm rot="0">
              <a:off x="161885" y="117926"/>
              <a:ext cx="441462" cy="503032"/>
            </a:xfrm>
            <a:prstGeom prst="rect">
              <a:avLst/>
            </a:prstGeom>
          </p:spPr>
          <p:txBody>
            <a:bodyPr anchor="t" rtlCol="false" tIns="0" lIns="0" bIns="0" rIns="0">
              <a:spAutoFit/>
            </a:bodyPr>
            <a:lstStyle/>
            <a:p>
              <a:pPr algn="ctr">
                <a:lnSpc>
                  <a:spcPts val="3163"/>
                </a:lnSpc>
                <a:spcBef>
                  <a:spcPct val="0"/>
                </a:spcBef>
              </a:pPr>
              <a:r>
                <a:rPr lang="en-US" sz="2259">
                  <a:solidFill>
                    <a:srgbClr val="FFFFFF"/>
                  </a:solidFill>
                  <a:latin typeface="Blanka"/>
                  <a:ea typeface="Blanka"/>
                  <a:cs typeface="Blanka"/>
                  <a:sym typeface="Blanka"/>
                </a:rPr>
                <a:t>2</a:t>
              </a:r>
            </a:p>
          </p:txBody>
        </p:sp>
      </p:grpSp>
      <p:sp>
        <p:nvSpPr>
          <p:cNvPr name="Freeform 64" id="6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10"/>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5" id="5"/>
          <p:cNvGrpSpPr/>
          <p:nvPr/>
        </p:nvGrpSpPr>
        <p:grpSpPr>
          <a:xfrm rot="9405415">
            <a:off x="-472062" y="-2812968"/>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8" id="8"/>
          <p:cNvGrpSpPr/>
          <p:nvPr/>
        </p:nvGrpSpPr>
        <p:grpSpPr>
          <a:xfrm rot="6936434">
            <a:off x="7303621" y="9528913"/>
            <a:ext cx="5817847" cy="581784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50" id="5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SYSTEM ARCHITECTURE</a:t>
            </a:r>
          </a:p>
        </p:txBody>
      </p:sp>
      <p:sp>
        <p:nvSpPr>
          <p:cNvPr id="51" name="Rounded Rectangle 50"/>
          <p:cNvSpPr/>
          <p:nvPr/>
        </p:nvSpPr>
        <p:spPr>
          <a:xfrm>
            <a:off x="914400" y="2103120"/>
            <a:ext cx="16459200" cy="393192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01_system_architecture.png"/>
          <p:cNvPicPr>
            <a:picLocks noChangeAspect="1"/>
          </p:cNvPicPr>
          <p:nvPr/>
        </p:nvPicPr>
        <p:blipFill>
          <a:blip r:embed="rId10"/>
          <a:stretch>
            <a:fillRect/>
          </a:stretch>
        </p:blipFill>
        <p:spPr>
          <a:xfrm>
            <a:off x="1143000" y="2286000"/>
            <a:ext cx="16002000" cy="3449410"/>
          </a:xfrm>
          <a:prstGeom prst="rect">
            <a:avLst/>
          </a:prstGeom>
        </p:spPr>
      </p:pic>
      <p:sp>
        <p:nvSpPr>
          <p:cNvPr id="53" name="Rounded Rectangle 52"/>
          <p:cNvSpPr/>
          <p:nvPr/>
        </p:nvSpPr>
        <p:spPr>
          <a:xfrm>
            <a:off x="914400"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88720"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Stage A</a:t>
            </a:r>
          </a:p>
        </p:txBody>
      </p:sp>
      <p:sp>
        <p:nvSpPr>
          <p:cNvPr id="55" name="TextBox 54"/>
          <p:cNvSpPr txBox="1"/>
          <p:nvPr/>
        </p:nvSpPr>
        <p:spPr>
          <a:xfrm>
            <a:off x="1188720"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spaCy + regex + sentence-embedding classifier: category, missing format and constraints, filler, ambiguous references</a:t>
            </a:r>
          </a:p>
        </p:txBody>
      </p:sp>
      <p:sp>
        <p:nvSpPr>
          <p:cNvPr id="56" name="Rounded Rectangle 55"/>
          <p:cNvSpPr/>
          <p:nvPr/>
        </p:nvSpPr>
        <p:spPr>
          <a:xfrm>
            <a:off x="5102352"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76672"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Stage B</a:t>
            </a:r>
          </a:p>
        </p:txBody>
      </p:sp>
      <p:sp>
        <p:nvSpPr>
          <p:cNvPr id="58" name="TextBox 57"/>
          <p:cNvSpPr txBox="1"/>
          <p:nvPr/>
        </p:nvSpPr>
        <p:spPr>
          <a:xfrm>
            <a:off x="5376672"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15 deterministic rules B01-B15, every change logged; category rules only at confidence ≥ 0.6</a:t>
            </a:r>
          </a:p>
        </p:txBody>
      </p:sp>
      <p:sp>
        <p:nvSpPr>
          <p:cNvPr id="59" name="Rounded Rectangle 58"/>
          <p:cNvSpPr/>
          <p:nvPr/>
        </p:nvSpPr>
        <p:spPr>
          <a:xfrm>
            <a:off x="9290304"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564624"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Stage C</a:t>
            </a:r>
          </a:p>
        </p:txBody>
      </p:sp>
      <p:sp>
        <p:nvSpPr>
          <p:cNvPr id="61" name="TextBox 60"/>
          <p:cNvSpPr txBox="1"/>
          <p:nvPr/>
        </p:nvSpPr>
        <p:spPr>
          <a:xfrm>
            <a:off x="9564624"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Qwen2.5-0.5B + LoRA, called only for unresolved fields; validated, else Stage B is kept</a:t>
            </a:r>
          </a:p>
        </p:txBody>
      </p:sp>
      <p:sp>
        <p:nvSpPr>
          <p:cNvPr id="62" name="Rounded Rectangle 61"/>
          <p:cNvSpPr/>
          <p:nvPr/>
        </p:nvSpPr>
        <p:spPr>
          <a:xfrm>
            <a:off x="13478256" y="6355080"/>
            <a:ext cx="3886200" cy="28803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3752576" y="6537960"/>
            <a:ext cx="3383280" cy="502920"/>
          </a:xfrm>
          <a:prstGeom prst="rect">
            <a:avLst/>
          </a:prstGeom>
          <a:noFill/>
        </p:spPr>
        <p:txBody>
          <a:bodyPr wrap="square" anchor="t" lIns="0" rIns="0" tIns="0" bIns="0">
            <a:spAutoFit/>
          </a:bodyPr>
          <a:lstStyle/>
          <a:p>
            <a:pPr algn="l">
              <a:lnSpc>
                <a:spcPct val="110000"/>
              </a:lnSpc>
              <a:spcAft>
                <a:spcPts val="600"/>
              </a:spcAft>
            </a:pPr>
            <a:r>
              <a:rPr sz="2600" b="1">
                <a:solidFill>
                  <a:srgbClr val="F5FFF9"/>
                </a:solidFill>
                <a:latin typeface="Manifold Bold"/>
              </a:rPr>
              <a:t>Output</a:t>
            </a:r>
          </a:p>
        </p:txBody>
      </p:sp>
      <p:sp>
        <p:nvSpPr>
          <p:cNvPr id="64" name="TextBox 63"/>
          <p:cNvSpPr txBox="1"/>
          <p:nvPr/>
        </p:nvSpPr>
        <p:spPr>
          <a:xfrm>
            <a:off x="13752576" y="7132320"/>
            <a:ext cx="338328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IR rendered per target LLM with token counts; Compare, History, 30-day retention</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STAGE A DETECTS, STAGE B FIXES</a:t>
            </a:r>
          </a:p>
        </p:txBody>
      </p:sp>
      <p:sp>
        <p:nvSpPr>
          <p:cNvPr id="10" name="Rounded Rectangle 9"/>
          <p:cNvSpPr/>
          <p:nvPr/>
        </p:nvSpPr>
        <p:spPr>
          <a:xfrm>
            <a:off x="914400" y="2103120"/>
            <a:ext cx="6949440" cy="71780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331720"/>
            <a:ext cx="64008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5FFF9"/>
                </a:solidFill>
                <a:latin typeface="Manifold Bold"/>
              </a:rPr>
              <a:t>STAGE A · FEATURE DETECTION</a:t>
            </a:r>
          </a:p>
        </p:txBody>
      </p:sp>
      <p:sp>
        <p:nvSpPr>
          <p:cNvPr id="12" name="TextBox 11"/>
          <p:cNvSpPr txBox="1"/>
          <p:nvPr/>
        </p:nvSpPr>
        <p:spPr>
          <a:xfrm>
            <a:off x="1234440" y="3063240"/>
            <a:ext cx="6400800" cy="3291840"/>
          </a:xfrm>
          <a:prstGeom prst="rect">
            <a:avLst/>
          </a:prstGeom>
          <a:noFill/>
        </p:spPr>
        <p:txBody>
          <a:bodyPr wrap="square" anchor="t" lIns="0" rIns="0" tIns="0" bIns="0">
            <a:spAutoFit/>
          </a:bodyPr>
          <a:lstStyle/>
          <a:p>
            <a:pPr algn="l">
              <a:lnSpc>
                <a:spcPct val="110000"/>
              </a:lnSpc>
              <a:spcAft>
                <a:spcPts val="800"/>
              </a:spcAft>
            </a:pPr>
            <a:r>
              <a:rPr sz="1300" b="0">
                <a:solidFill>
                  <a:srgbClr val="9FC4AE"/>
                </a:solidFill>
                <a:latin typeface="Lato"/>
              </a:rPr>
              <a:t>●  </a:t>
            </a:r>
            <a:r>
              <a:rPr sz="1900" b="0">
                <a:solidFill>
                  <a:srgbClr val="F5FFF9"/>
                </a:solidFill>
                <a:latin typeface="Lato"/>
              </a:rPr>
              <a:t>Task category + confidence (embedding classifier, keyword fallback)</a:t>
            </a:r>
          </a:p>
          <a:p>
            <a:pPr algn="l">
              <a:lnSpc>
                <a:spcPct val="110000"/>
              </a:lnSpc>
              <a:spcAft>
                <a:spcPts val="800"/>
              </a:spcAft>
            </a:pPr>
            <a:r>
              <a:rPr sz="1300" b="0">
                <a:solidFill>
                  <a:srgbClr val="9FC4AE"/>
                </a:solidFill>
                <a:latin typeface="Lato"/>
              </a:rPr>
              <a:t>●  </a:t>
            </a:r>
            <a:r>
              <a:rPr sz="1900" b="0">
                <a:solidFill>
                  <a:srgbClr val="F5FFF9"/>
                </a:solidFill>
                <a:latin typeface="Lato"/>
              </a:rPr>
              <a:t>A02 missing output format</a:t>
            </a:r>
          </a:p>
          <a:p>
            <a:pPr algn="l">
              <a:lnSpc>
                <a:spcPct val="110000"/>
              </a:lnSpc>
              <a:spcAft>
                <a:spcPts val="800"/>
              </a:spcAft>
            </a:pPr>
            <a:r>
              <a:rPr sz="1300" b="0">
                <a:solidFill>
                  <a:srgbClr val="9FC4AE"/>
                </a:solidFill>
                <a:latin typeface="Lato"/>
              </a:rPr>
              <a:t>●  </a:t>
            </a:r>
            <a:r>
              <a:rPr sz="1900" b="0">
                <a:solidFill>
                  <a:srgbClr val="F5FFF9"/>
                </a:solidFill>
                <a:latin typeface="Lato"/>
              </a:rPr>
              <a:t>A03 missing length / tone / audience / language</a:t>
            </a:r>
          </a:p>
          <a:p>
            <a:pPr algn="l">
              <a:lnSpc>
                <a:spcPct val="110000"/>
              </a:lnSpc>
              <a:spcAft>
                <a:spcPts val="800"/>
              </a:spcAft>
            </a:pPr>
            <a:r>
              <a:rPr sz="1300" b="0">
                <a:solidFill>
                  <a:srgbClr val="9FC4AE"/>
                </a:solidFill>
                <a:latin typeface="Lato"/>
              </a:rPr>
              <a:t>●  </a:t>
            </a:r>
            <a:r>
              <a:rPr sz="1900" b="0">
                <a:solidFill>
                  <a:srgbClr val="F5FFF9"/>
                </a:solidFill>
                <a:latin typeface="Lato"/>
              </a:rPr>
              <a:t>A04 filler and repetition</a:t>
            </a:r>
          </a:p>
          <a:p>
            <a:pPr algn="l">
              <a:lnSpc>
                <a:spcPct val="110000"/>
              </a:lnSpc>
              <a:spcAft>
                <a:spcPts val="800"/>
              </a:spcAft>
            </a:pPr>
            <a:r>
              <a:rPr sz="1300" b="0">
                <a:solidFill>
                  <a:srgbClr val="9FC4AE"/>
                </a:solidFill>
                <a:latin typeface="Lato"/>
              </a:rPr>
              <a:t>●  </a:t>
            </a:r>
            <a:r>
              <a:rPr sz="1900" b="0">
                <a:solidFill>
                  <a:srgbClr val="F5FFF9"/>
                </a:solidFill>
                <a:latin typeface="Lato"/>
              </a:rPr>
              <a:t>A05 ambiguous reference ("summarize this")</a:t>
            </a:r>
          </a:p>
        </p:txBody>
      </p:sp>
      <p:sp>
        <p:nvSpPr>
          <p:cNvPr id="13" name="Rounded Rectangle 12"/>
          <p:cNvSpPr/>
          <p:nvPr/>
        </p:nvSpPr>
        <p:spPr>
          <a:xfrm>
            <a:off x="1234440" y="6720840"/>
            <a:ext cx="6309360" cy="228600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17320" y="6858000"/>
            <a:ext cx="2743200" cy="1097280"/>
          </a:xfrm>
          <a:prstGeom prst="rect">
            <a:avLst/>
          </a:prstGeom>
          <a:noFill/>
        </p:spPr>
        <p:txBody>
          <a:bodyPr wrap="square" anchor="ctr" lIns="0" rIns="0" tIns="0" bIns="0">
            <a:spAutoFit/>
          </a:bodyPr>
          <a:lstStyle/>
          <a:p>
            <a:pPr algn="l">
              <a:lnSpc>
                <a:spcPct val="110000"/>
              </a:lnSpc>
              <a:spcAft>
                <a:spcPts val="600"/>
              </a:spcAft>
            </a:pPr>
            <a:r>
              <a:rPr sz="4800" b="0">
                <a:solidFill>
                  <a:srgbClr val="F5FFF9"/>
                </a:solidFill>
                <a:latin typeface="Manifold Ultra-Bold"/>
              </a:rPr>
              <a:t>74.7%</a:t>
            </a:r>
          </a:p>
        </p:txBody>
      </p:sp>
      <p:sp>
        <p:nvSpPr>
          <p:cNvPr id="15" name="TextBox 14"/>
          <p:cNvSpPr txBox="1"/>
          <p:nvPr/>
        </p:nvSpPr>
        <p:spPr>
          <a:xfrm>
            <a:off x="4160520" y="6903720"/>
            <a:ext cx="3200400" cy="20116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category accuracy on 482 test prompts (coding F1 0.98, classification 0.94)</a:t>
            </a:r>
          </a:p>
        </p:txBody>
      </p:sp>
      <p:sp>
        <p:nvSpPr>
          <p:cNvPr id="16" name="TextBox 15"/>
          <p:cNvSpPr txBox="1"/>
          <p:nvPr/>
        </p:nvSpPr>
        <p:spPr>
          <a:xfrm>
            <a:off x="8412480" y="2148840"/>
            <a:ext cx="8961120" cy="54864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STAGE B · 15 RULES, EACH A UNIT-TESTED FUNCTION</a:t>
            </a:r>
          </a:p>
        </p:txBody>
      </p:sp>
      <p:sp>
        <p:nvSpPr>
          <p:cNvPr id="17" name="Rounded Rectangle 16"/>
          <p:cNvSpPr/>
          <p:nvPr/>
        </p:nvSpPr>
        <p:spPr>
          <a:xfrm>
            <a:off x="8412480" y="288036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59" y="297180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B01
</a:t>
            </a:r>
            <a:r>
              <a:rPr sz="1700" b="0">
                <a:solidFill>
                  <a:srgbClr val="F5FFF9"/>
                </a:solidFill>
                <a:latin typeface="Lato"/>
              </a:rPr>
              <a:t>Remove filler</a:t>
            </a:r>
          </a:p>
        </p:txBody>
      </p:sp>
      <p:sp>
        <p:nvSpPr>
          <p:cNvPr id="19" name="Rounded Rectangle 18"/>
          <p:cNvSpPr/>
          <p:nvPr/>
        </p:nvSpPr>
        <p:spPr>
          <a:xfrm>
            <a:off x="11475719" y="288036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658599" y="297180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B02
</a:t>
            </a:r>
            <a:r>
              <a:rPr sz="1700" b="0">
                <a:solidFill>
                  <a:srgbClr val="F5FFF9"/>
                </a:solidFill>
                <a:latin typeface="Lato"/>
              </a:rPr>
              <a:t>Remove duplicates</a:t>
            </a:r>
          </a:p>
        </p:txBody>
      </p:sp>
      <p:sp>
        <p:nvSpPr>
          <p:cNvPr id="21" name="Rounded Rectangle 20"/>
          <p:cNvSpPr/>
          <p:nvPr/>
        </p:nvSpPr>
        <p:spPr>
          <a:xfrm>
            <a:off x="14538959" y="288036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721839" y="297180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B03
</a:t>
            </a:r>
            <a:r>
              <a:rPr sz="1700" b="0">
                <a:solidFill>
                  <a:srgbClr val="F5FFF9"/>
                </a:solidFill>
                <a:latin typeface="Lato"/>
              </a:rPr>
              <a:t>Output format</a:t>
            </a:r>
          </a:p>
        </p:txBody>
      </p:sp>
      <p:sp>
        <p:nvSpPr>
          <p:cNvPr id="23" name="Rounded Rectangle 22"/>
          <p:cNvSpPr/>
          <p:nvPr/>
        </p:nvSpPr>
        <p:spPr>
          <a:xfrm>
            <a:off x="8412480" y="406908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59" y="416052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B04
</a:t>
            </a:r>
            <a:r>
              <a:rPr sz="1700" b="0">
                <a:solidFill>
                  <a:srgbClr val="F5FFF9"/>
                </a:solidFill>
                <a:latin typeface="Lato"/>
              </a:rPr>
              <a:t>Length limit</a:t>
            </a:r>
          </a:p>
        </p:txBody>
      </p:sp>
      <p:sp>
        <p:nvSpPr>
          <p:cNvPr id="25" name="Rounded Rectangle 24"/>
          <p:cNvSpPr/>
          <p:nvPr/>
        </p:nvSpPr>
        <p:spPr>
          <a:xfrm>
            <a:off x="11475719" y="406908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658599" y="416052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B05
</a:t>
            </a:r>
            <a:r>
              <a:rPr sz="1700" b="0">
                <a:solidFill>
                  <a:srgbClr val="F5FFF9"/>
                </a:solidFill>
                <a:latin typeface="Lato"/>
              </a:rPr>
              <a:t>Programming language</a:t>
            </a:r>
          </a:p>
        </p:txBody>
      </p:sp>
      <p:sp>
        <p:nvSpPr>
          <p:cNvPr id="27" name="Rounded Rectangle 26"/>
          <p:cNvSpPr/>
          <p:nvPr/>
        </p:nvSpPr>
        <p:spPr>
          <a:xfrm>
            <a:off x="14538959" y="406908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721839" y="416052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B06
</a:t>
            </a:r>
            <a:r>
              <a:rPr sz="1700" b="0">
                <a:solidFill>
                  <a:srgbClr val="F5FFF9"/>
                </a:solidFill>
                <a:latin typeface="Lato"/>
              </a:rPr>
              <a:t>Label set</a:t>
            </a:r>
          </a:p>
        </p:txBody>
      </p:sp>
      <p:sp>
        <p:nvSpPr>
          <p:cNvPr id="29" name="Rounded Rectangle 28"/>
          <p:cNvSpPr/>
          <p:nvPr/>
        </p:nvSpPr>
        <p:spPr>
          <a:xfrm>
            <a:off x="8412480" y="525780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534924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B07
</a:t>
            </a:r>
            <a:r>
              <a:rPr sz="1700" b="0">
                <a:solidFill>
                  <a:srgbClr val="F5FFF9"/>
                </a:solidFill>
                <a:latin typeface="Lato"/>
              </a:rPr>
              <a:t>Structure / data block</a:t>
            </a:r>
          </a:p>
        </p:txBody>
      </p:sp>
      <p:sp>
        <p:nvSpPr>
          <p:cNvPr id="31" name="Rounded Rectangle 30"/>
          <p:cNvSpPr/>
          <p:nvPr/>
        </p:nvSpPr>
        <p:spPr>
          <a:xfrm>
            <a:off x="11475719" y="525780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1658599" y="534924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B08
</a:t>
            </a:r>
            <a:r>
              <a:rPr sz="1700" b="0">
                <a:solidFill>
                  <a:srgbClr val="F5FFF9"/>
                </a:solidFill>
                <a:latin typeface="Lato"/>
              </a:rPr>
              <a:t>Group fallback</a:t>
            </a:r>
          </a:p>
        </p:txBody>
      </p:sp>
      <p:sp>
        <p:nvSpPr>
          <p:cNvPr id="33" name="Rounded Rectangle 32"/>
          <p:cNvSpPr/>
          <p:nvPr/>
        </p:nvSpPr>
        <p:spPr>
          <a:xfrm>
            <a:off x="14538959" y="5257800"/>
            <a:ext cx="2834640" cy="100584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4721839" y="5349240"/>
            <a:ext cx="2514600" cy="822960"/>
          </a:xfrm>
          <a:prstGeom prst="rect">
            <a:avLst/>
          </a:prstGeom>
          <a:noFill/>
        </p:spPr>
        <p:txBody>
          <a:bodyPr wrap="square" anchor="ctr" lIns="0" rIns="0" tIns="0" bIns="0">
            <a:spAutoFit/>
          </a:bodyPr>
          <a:lstStyle/>
          <a:p>
            <a:pPr algn="l">
              <a:lnSpc>
                <a:spcPct val="100000"/>
              </a:lnSpc>
              <a:spcAft>
                <a:spcPts val="0"/>
              </a:spcAft>
            </a:pPr>
            <a:r>
              <a:rPr sz="1900" b="1">
                <a:solidFill>
                  <a:srgbClr val="F5FFF9"/>
                </a:solidFill>
                <a:latin typeface="Manifold Bold"/>
              </a:rPr>
              <a:t>B09-B15
</a:t>
            </a:r>
            <a:r>
              <a:rPr sz="1700" b="0">
                <a:solidFill>
                  <a:srgbClr val="F5FFF9"/>
                </a:solidFill>
                <a:latin typeface="Lato"/>
              </a:rPr>
              <a:t>Attachment modifiers</a:t>
            </a:r>
          </a:p>
        </p:txBody>
      </p:sp>
      <p:sp>
        <p:nvSpPr>
          <p:cNvPr id="35" name="Rounded Rectangle 34"/>
          <p:cNvSpPr/>
          <p:nvPr/>
        </p:nvSpPr>
        <p:spPr>
          <a:xfrm>
            <a:off x="8412480" y="6720840"/>
            <a:ext cx="8961120" cy="256032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86800" y="6903720"/>
            <a:ext cx="4937760" cy="1280160"/>
          </a:xfrm>
          <a:prstGeom prst="rect">
            <a:avLst/>
          </a:prstGeom>
          <a:noFill/>
        </p:spPr>
        <p:txBody>
          <a:bodyPr wrap="square" anchor="ctr" lIns="0" rIns="0" tIns="0" bIns="0">
            <a:spAutoFit/>
          </a:bodyPr>
          <a:lstStyle/>
          <a:p>
            <a:pPr algn="l">
              <a:lnSpc>
                <a:spcPct val="110000"/>
              </a:lnSpc>
              <a:spcAft>
                <a:spcPts val="600"/>
              </a:spcAft>
            </a:pPr>
            <a:r>
              <a:rPr sz="4600" b="0">
                <a:solidFill>
                  <a:srgbClr val="F5FFF9"/>
                </a:solidFill>
                <a:latin typeface="Manifold Ultra-Bold"/>
              </a:rPr>
              <a:t>3.1% → 95.0%</a:t>
            </a:r>
          </a:p>
        </p:txBody>
      </p:sp>
      <p:sp>
        <p:nvSpPr>
          <p:cNvPr id="37" name="TextBox 36"/>
          <p:cNvSpPr txBox="1"/>
          <p:nvPr/>
        </p:nvSpPr>
        <p:spPr>
          <a:xfrm>
            <a:off x="13624560" y="6949440"/>
            <a:ext cx="3566160" cy="219456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of test prompts state an output format after Stage B; 6.4% (31 of 482) are routed to Stage C</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STAGE C: LORA ONLY WHERE RULES STOP</a:t>
            </a:r>
          </a:p>
        </p:txBody>
      </p:sp>
      <p:sp>
        <p:nvSpPr>
          <p:cNvPr id="10" name="Rounded Rectangle 9"/>
          <p:cNvSpPr/>
          <p:nvPr/>
        </p:nvSpPr>
        <p:spPr>
          <a:xfrm>
            <a:off x="914400" y="2103120"/>
            <a:ext cx="7955279" cy="498348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4_b_to_c_contract.png"/>
          <p:cNvPicPr>
            <a:picLocks noChangeAspect="1"/>
          </p:cNvPicPr>
          <p:nvPr/>
        </p:nvPicPr>
        <p:blipFill>
          <a:blip r:embed="rId3"/>
          <a:stretch>
            <a:fillRect/>
          </a:stretch>
        </p:blipFill>
        <p:spPr>
          <a:xfrm>
            <a:off x="1051560" y="2240280"/>
            <a:ext cx="7680960" cy="4545874"/>
          </a:xfrm>
          <a:prstGeom prst="rect">
            <a:avLst/>
          </a:prstGeom>
        </p:spPr>
      </p:pic>
      <p:sp>
        <p:nvSpPr>
          <p:cNvPr id="12" name="TextBox 11"/>
          <p:cNvSpPr txBox="1"/>
          <p:nvPr/>
        </p:nvSpPr>
        <p:spPr>
          <a:xfrm>
            <a:off x="914400" y="7269480"/>
            <a:ext cx="7955279" cy="2011680"/>
          </a:xfrm>
          <a:prstGeom prst="rect">
            <a:avLst/>
          </a:prstGeom>
          <a:noFill/>
        </p:spPr>
        <p:txBody>
          <a:bodyPr wrap="square" anchor="t" lIns="0" rIns="0" tIns="0" bIns="0">
            <a:spAutoFit/>
          </a:bodyPr>
          <a:lstStyle/>
          <a:p>
            <a:pPr algn="l">
              <a:lnSpc>
                <a:spcPct val="110000"/>
              </a:lnSpc>
              <a:spcAft>
                <a:spcPts val="600"/>
              </a:spcAft>
            </a:pPr>
            <a:r>
              <a:rPr sz="1900" b="1">
                <a:solidFill>
                  <a:srgbClr val="457C5B"/>
                </a:solidFill>
                <a:latin typeface="Manifold Bold"/>
              </a:rPr>
              <a:t>B → C contract: </a:t>
            </a:r>
            <a:r>
              <a:rPr sz="1900" b="0">
                <a:solidFill>
                  <a:srgbClr val="1E4926"/>
                </a:solidFill>
                <a:latin typeface="Lato"/>
              </a:rPr>
              <a:t>Stage C gets only the unresolved fields, must return JSON with exactly those keys, is checked with Stage A's own detectors, and falls back to Stage B if invalid.</a:t>
            </a:r>
          </a:p>
        </p:txBody>
      </p:sp>
      <p:sp>
        <p:nvSpPr>
          <p:cNvPr id="13" name="Rounded Rectangle 12"/>
          <p:cNvSpPr/>
          <p:nvPr/>
        </p:nvSpPr>
        <p:spPr>
          <a:xfrm>
            <a:off x="9326880" y="21031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59" y="2267712"/>
            <a:ext cx="3566160" cy="1282446"/>
          </a:xfrm>
          <a:prstGeom prst="rect">
            <a:avLst/>
          </a:prstGeom>
          <a:noFill/>
        </p:spPr>
        <p:txBody>
          <a:bodyPr wrap="square" anchor="ctr" lIns="0" rIns="0" tIns="0" bIns="0">
            <a:spAutoFit/>
          </a:bodyPr>
          <a:lstStyle/>
          <a:p>
            <a:pPr algn="ctr">
              <a:lnSpc>
                <a:spcPct val="110000"/>
              </a:lnSpc>
              <a:spcAft>
                <a:spcPts val="600"/>
              </a:spcAft>
            </a:pPr>
            <a:r>
              <a:rPr sz="4000" b="0">
                <a:solidFill>
                  <a:srgbClr val="F5FFF9"/>
                </a:solidFill>
                <a:latin typeface="Manifold Ultra-Bold"/>
              </a:rPr>
              <a:t>5% → 98%</a:t>
            </a:r>
          </a:p>
        </p:txBody>
      </p:sp>
      <p:sp>
        <p:nvSpPr>
          <p:cNvPr id="15" name="TextBox 14"/>
          <p:cNvSpPr txBox="1"/>
          <p:nvPr/>
        </p:nvSpPr>
        <p:spPr>
          <a:xfrm>
            <a:off x="9555480" y="3502151"/>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answers pass validation: base model vs LoRA</a:t>
            </a:r>
          </a:p>
        </p:txBody>
      </p:sp>
      <p:sp>
        <p:nvSpPr>
          <p:cNvPr id="16" name="Rounded Rectangle 15"/>
          <p:cNvSpPr/>
          <p:nvPr/>
        </p:nvSpPr>
        <p:spPr>
          <a:xfrm>
            <a:off x="13441680" y="21031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624559" y="2267712"/>
            <a:ext cx="3566160" cy="1282446"/>
          </a:xfrm>
          <a:prstGeom prst="rect">
            <a:avLst/>
          </a:prstGeom>
          <a:noFill/>
        </p:spPr>
        <p:txBody>
          <a:bodyPr wrap="square" anchor="ctr" lIns="0" rIns="0" tIns="0" bIns="0">
            <a:spAutoFit/>
          </a:bodyPr>
          <a:lstStyle/>
          <a:p>
            <a:pPr algn="ctr">
              <a:lnSpc>
                <a:spcPct val="110000"/>
              </a:lnSpc>
              <a:spcAft>
                <a:spcPts val="600"/>
              </a:spcAft>
            </a:pPr>
            <a:r>
              <a:rPr sz="3600" b="0">
                <a:solidFill>
                  <a:srgbClr val="F5FFF9"/>
                </a:solidFill>
                <a:latin typeface="Manifold Ultra-Bold"/>
              </a:rPr>
              <a:t>22.6 → 90.3%</a:t>
            </a:r>
          </a:p>
        </p:txBody>
      </p:sp>
      <p:sp>
        <p:nvSpPr>
          <p:cNvPr id="18" name="TextBox 17"/>
          <p:cNvSpPr txBox="1"/>
          <p:nvPr/>
        </p:nvSpPr>
        <p:spPr>
          <a:xfrm>
            <a:off x="13670280" y="3502151"/>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format stated on routed prompts</a:t>
            </a:r>
          </a:p>
        </p:txBody>
      </p:sp>
      <p:sp>
        <p:nvSpPr>
          <p:cNvPr id="19" name="Rounded Rectangle 18"/>
          <p:cNvSpPr/>
          <p:nvPr/>
        </p:nvSpPr>
        <p:spPr>
          <a:xfrm>
            <a:off x="9326880" y="46177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59" y="4782312"/>
            <a:ext cx="3566160" cy="1282446"/>
          </a:xfrm>
          <a:prstGeom prst="rect">
            <a:avLst/>
          </a:prstGeom>
          <a:noFill/>
        </p:spPr>
        <p:txBody>
          <a:bodyPr wrap="square" anchor="ctr" lIns="0" rIns="0" tIns="0" bIns="0">
            <a:spAutoFit/>
          </a:bodyPr>
          <a:lstStyle/>
          <a:p>
            <a:pPr algn="ctr">
              <a:lnSpc>
                <a:spcPct val="110000"/>
              </a:lnSpc>
              <a:spcAft>
                <a:spcPts val="600"/>
              </a:spcAft>
            </a:pPr>
            <a:r>
              <a:rPr sz="4400" b="0">
                <a:solidFill>
                  <a:srgbClr val="F5FFF9"/>
                </a:solidFill>
                <a:latin typeface="Manifold Ultra-Bold"/>
              </a:rPr>
              <a:t>0.74 s</a:t>
            </a:r>
          </a:p>
        </p:txBody>
      </p:sp>
      <p:sp>
        <p:nvSpPr>
          <p:cNvPr id="21" name="TextBox 20"/>
          <p:cNvSpPr txBox="1"/>
          <p:nvPr/>
        </p:nvSpPr>
        <p:spPr>
          <a:xfrm>
            <a:off x="9555480" y="6016752"/>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median per call on RTX 3050 (CPU 4.55 s)</a:t>
            </a:r>
          </a:p>
        </p:txBody>
      </p:sp>
      <p:sp>
        <p:nvSpPr>
          <p:cNvPr id="22" name="Rounded Rectangle 21"/>
          <p:cNvSpPr/>
          <p:nvPr/>
        </p:nvSpPr>
        <p:spPr>
          <a:xfrm>
            <a:off x="13441680" y="4617720"/>
            <a:ext cx="3931920" cy="23317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624559" y="4782312"/>
            <a:ext cx="3566160" cy="1282446"/>
          </a:xfrm>
          <a:prstGeom prst="rect">
            <a:avLst/>
          </a:prstGeom>
          <a:noFill/>
        </p:spPr>
        <p:txBody>
          <a:bodyPr wrap="square" anchor="ctr" lIns="0" rIns="0" tIns="0" bIns="0">
            <a:spAutoFit/>
          </a:bodyPr>
          <a:lstStyle/>
          <a:p>
            <a:pPr algn="ctr">
              <a:lnSpc>
                <a:spcPct val="110000"/>
              </a:lnSpc>
              <a:spcAft>
                <a:spcPts val="600"/>
              </a:spcAft>
            </a:pPr>
            <a:r>
              <a:rPr sz="4400" b="0">
                <a:solidFill>
                  <a:srgbClr val="F5FFF9"/>
                </a:solidFill>
                <a:latin typeface="Manifold Ultra-Bold"/>
              </a:rPr>
              <a:t>6.4%</a:t>
            </a:r>
          </a:p>
        </p:txBody>
      </p:sp>
      <p:sp>
        <p:nvSpPr>
          <p:cNvPr id="24" name="TextBox 23"/>
          <p:cNvSpPr txBox="1"/>
          <p:nvPr/>
        </p:nvSpPr>
        <p:spPr>
          <a:xfrm>
            <a:off x="13670280" y="6016752"/>
            <a:ext cx="3474720" cy="886053"/>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of test prompts routed to Stage C</a:t>
            </a:r>
          </a:p>
        </p:txBody>
      </p:sp>
      <p:sp>
        <p:nvSpPr>
          <p:cNvPr id="25" name="Rounded Rectangle 24"/>
          <p:cNvSpPr/>
          <p:nvPr/>
        </p:nvSpPr>
        <p:spPr>
          <a:xfrm>
            <a:off x="9326880" y="7132320"/>
            <a:ext cx="8046720" cy="214884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0" y="7296912"/>
            <a:ext cx="7498079" cy="182880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Forced on every prompt, Stage C lowers task intent (0.886 → 0.769), so it stays a fallback. Its category is only a suggestion: the UI asks the user and pre-selects it.</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9405415">
            <a:off x="-2955826" y="-922147"/>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470692" y="738526"/>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0" id="1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IR, RENDERERS, ATTACHMENTS, IMAGE MODE</a:t>
            </a:r>
          </a:p>
        </p:txBody>
      </p:sp>
      <p:sp>
        <p:nvSpPr>
          <p:cNvPr name="Freeform 44" id="4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
        <p:nvSpPr>
          <p:cNvPr id="45" name="Rounded Rectangle 44"/>
          <p:cNvSpPr/>
          <p:nvPr/>
        </p:nvSpPr>
        <p:spPr>
          <a:xfrm>
            <a:off x="914400" y="2103120"/>
            <a:ext cx="3520440" cy="4343400"/>
          </a:xfrm>
          <a:prstGeom prst="roundRect">
            <a:avLst>
              <a:gd name="adj" fmla="val 7000"/>
            </a:avLst>
          </a:prstGeom>
          <a:solidFill>
            <a:srgbClr val="FFFFFF"/>
          </a:solidFill>
          <a:ln w="19050">
            <a:solidFill>
              <a:srgbClr val="457C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43000" y="2240280"/>
            <a:ext cx="3108960" cy="50292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Claude</a:t>
            </a:r>
          </a:p>
        </p:txBody>
      </p:sp>
      <p:sp>
        <p:nvSpPr>
          <p:cNvPr id="47" name="TextBox 46"/>
          <p:cNvSpPr txBox="1"/>
          <p:nvPr/>
        </p:nvSpPr>
        <p:spPr>
          <a:xfrm>
            <a:off x="1143000" y="2788920"/>
            <a:ext cx="3154680" cy="3566160"/>
          </a:xfrm>
          <a:prstGeom prst="rect">
            <a:avLst/>
          </a:prstGeom>
          <a:noFill/>
        </p:spPr>
        <p:txBody>
          <a:bodyPr wrap="square" anchor="t" lIns="0" rIns="0" tIns="0" bIns="0">
            <a:spAutoFit/>
          </a:bodyPr>
          <a:lstStyle/>
          <a:p>
            <a:pPr algn="l">
              <a:lnSpc>
                <a:spcPct val="100000"/>
              </a:lnSpc>
              <a:spcAft>
                <a:spcPts val="0"/>
              </a:spcAft>
            </a:pPr>
            <a:r>
              <a:rPr sz="1400" b="0">
                <a:solidFill>
                  <a:srgbClr val="1E4926"/>
                </a:solidFill>
                <a:latin typeface="Courier New"/>
              </a:rPr>
              <a:t>&lt;task&gt;Write code to get
all permutations of
a string.&lt;/task&gt;
&lt;constraints&gt;
- Use Python.
&lt;/constraints&gt;
&lt;output_format&gt;
Return only the code
&lt;/output_format&gt;</a:t>
            </a:r>
          </a:p>
        </p:txBody>
      </p:sp>
      <p:sp>
        <p:nvSpPr>
          <p:cNvPr id="48" name="Rounded Rectangle 47"/>
          <p:cNvSpPr/>
          <p:nvPr/>
        </p:nvSpPr>
        <p:spPr>
          <a:xfrm>
            <a:off x="4663440" y="2103120"/>
            <a:ext cx="3520440" cy="4343400"/>
          </a:xfrm>
          <a:prstGeom prst="roundRect">
            <a:avLst>
              <a:gd name="adj" fmla="val 7000"/>
            </a:avLst>
          </a:prstGeom>
          <a:solidFill>
            <a:srgbClr val="FFFFFF"/>
          </a:solidFill>
          <a:ln w="19050">
            <a:solidFill>
              <a:srgbClr val="457C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92040" y="2240280"/>
            <a:ext cx="3108960" cy="50292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GPT</a:t>
            </a:r>
          </a:p>
        </p:txBody>
      </p:sp>
      <p:sp>
        <p:nvSpPr>
          <p:cNvPr id="50" name="TextBox 49"/>
          <p:cNvSpPr txBox="1"/>
          <p:nvPr/>
        </p:nvSpPr>
        <p:spPr>
          <a:xfrm>
            <a:off x="4892040" y="2788920"/>
            <a:ext cx="3154680" cy="3566160"/>
          </a:xfrm>
          <a:prstGeom prst="rect">
            <a:avLst/>
          </a:prstGeom>
          <a:noFill/>
        </p:spPr>
        <p:txBody>
          <a:bodyPr wrap="square" anchor="t" lIns="0" rIns="0" tIns="0" bIns="0">
            <a:spAutoFit/>
          </a:bodyPr>
          <a:lstStyle/>
          <a:p>
            <a:pPr algn="l">
              <a:lnSpc>
                <a:spcPct val="100000"/>
              </a:lnSpc>
              <a:spcAft>
                <a:spcPts val="0"/>
              </a:spcAft>
            </a:pPr>
            <a:r>
              <a:rPr sz="1400" b="0">
                <a:solidFill>
                  <a:srgbClr val="1E4926"/>
                </a:solidFill>
                <a:latin typeface="Courier New"/>
              </a:rPr>
              <a:t>### Task
Write code to get
all permutations of
a string.
### Constraints
- Use Python.
### Output format
Return only the code</a:t>
            </a:r>
          </a:p>
        </p:txBody>
      </p:sp>
      <p:sp>
        <p:nvSpPr>
          <p:cNvPr id="51" name="Rounded Rectangle 50"/>
          <p:cNvSpPr/>
          <p:nvPr/>
        </p:nvSpPr>
        <p:spPr>
          <a:xfrm>
            <a:off x="8412480" y="2103120"/>
            <a:ext cx="3520440" cy="4343400"/>
          </a:xfrm>
          <a:prstGeom prst="roundRect">
            <a:avLst>
              <a:gd name="adj" fmla="val 7000"/>
            </a:avLst>
          </a:prstGeom>
          <a:solidFill>
            <a:srgbClr val="FFFFFF"/>
          </a:solidFill>
          <a:ln w="19050">
            <a:solidFill>
              <a:srgbClr val="457C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41080" y="2240280"/>
            <a:ext cx="3108960" cy="502920"/>
          </a:xfrm>
          <a:prstGeom prst="rect">
            <a:avLst/>
          </a:prstGeom>
          <a:noFill/>
        </p:spPr>
        <p:txBody>
          <a:bodyPr wrap="square" anchor="t" lIns="0" rIns="0" tIns="0" bIns="0">
            <a:spAutoFit/>
          </a:bodyPr>
          <a:lstStyle/>
          <a:p>
            <a:pPr algn="l">
              <a:lnSpc>
                <a:spcPct val="110000"/>
              </a:lnSpc>
              <a:spcAft>
                <a:spcPts val="600"/>
              </a:spcAft>
            </a:pPr>
            <a:r>
              <a:rPr sz="2400" b="1">
                <a:solidFill>
                  <a:srgbClr val="457C5B"/>
                </a:solidFill>
                <a:latin typeface="Manifold Bold"/>
              </a:rPr>
              <a:t>Gemini</a:t>
            </a:r>
          </a:p>
        </p:txBody>
      </p:sp>
      <p:sp>
        <p:nvSpPr>
          <p:cNvPr id="53" name="TextBox 52"/>
          <p:cNvSpPr txBox="1"/>
          <p:nvPr/>
        </p:nvSpPr>
        <p:spPr>
          <a:xfrm>
            <a:off x="8641080" y="2788920"/>
            <a:ext cx="3154680" cy="3566160"/>
          </a:xfrm>
          <a:prstGeom prst="rect">
            <a:avLst/>
          </a:prstGeom>
          <a:noFill/>
        </p:spPr>
        <p:txBody>
          <a:bodyPr wrap="square" anchor="t" lIns="0" rIns="0" tIns="0" bIns="0">
            <a:spAutoFit/>
          </a:bodyPr>
          <a:lstStyle/>
          <a:p>
            <a:pPr algn="l">
              <a:lnSpc>
                <a:spcPct val="100000"/>
              </a:lnSpc>
              <a:spcAft>
                <a:spcPts val="0"/>
              </a:spcAft>
            </a:pPr>
            <a:r>
              <a:rPr sz="1400" b="0">
                <a:solidFill>
                  <a:srgbClr val="1E4926"/>
                </a:solidFill>
                <a:latin typeface="Courier New"/>
              </a:rPr>
              <a:t>Task: Write code to
get all permutations
of a string.
Constraints:
Use Python.
Output format:
Return only the code</a:t>
            </a:r>
          </a:p>
        </p:txBody>
      </p:sp>
      <p:sp>
        <p:nvSpPr>
          <p:cNvPr id="54" name="TextBox 53"/>
          <p:cNvSpPr txBox="1"/>
          <p:nvPr/>
        </p:nvSpPr>
        <p:spPr>
          <a:xfrm>
            <a:off x="914400" y="6583680"/>
            <a:ext cx="11064240" cy="457200"/>
          </a:xfrm>
          <a:prstGeom prst="rect">
            <a:avLst/>
          </a:prstGeom>
          <a:noFill/>
        </p:spPr>
        <p:txBody>
          <a:bodyPr wrap="square" anchor="t" lIns="0" rIns="0" tIns="0" bIns="0">
            <a:spAutoFit/>
          </a:bodyPr>
          <a:lstStyle/>
          <a:p>
            <a:pPr algn="l">
              <a:lnSpc>
                <a:spcPct val="110000"/>
              </a:lnSpc>
              <a:spcAft>
                <a:spcPts val="600"/>
              </a:spcAft>
            </a:pPr>
            <a:r>
              <a:rPr sz="1700" b="0">
                <a:solidFill>
                  <a:srgbClr val="457C5B"/>
                </a:solidFill>
                <a:latin typeface="Lato"/>
              </a:rPr>
              <a:t>Same content, layout per model · every rendering is parsed back in the tests · GPT tokens exact (tiktoken)</a:t>
            </a:r>
          </a:p>
        </p:txBody>
      </p:sp>
      <p:sp>
        <p:nvSpPr>
          <p:cNvPr id="55" name="Rounded Rectangle 54"/>
          <p:cNvSpPr/>
          <p:nvPr/>
        </p:nvSpPr>
        <p:spPr>
          <a:xfrm>
            <a:off x="914400" y="7178040"/>
            <a:ext cx="11064240" cy="132588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7269480"/>
            <a:ext cx="10515600" cy="1143000"/>
          </a:xfrm>
          <a:prstGeom prst="rect">
            <a:avLst/>
          </a:prstGeom>
          <a:noFill/>
        </p:spPr>
        <p:txBody>
          <a:bodyPr wrap="square" anchor="ctr" lIns="0" rIns="0" tIns="0" bIns="0">
            <a:spAutoFit/>
          </a:bodyPr>
          <a:lstStyle/>
          <a:p>
            <a:pPr algn="l">
              <a:lnSpc>
                <a:spcPct val="110000"/>
              </a:lnSpc>
              <a:spcAft>
                <a:spcPts val="600"/>
              </a:spcAft>
            </a:pPr>
            <a:r>
              <a:rPr sz="1900" b="1">
                <a:solidFill>
                  <a:srgbClr val="9FC4AE"/>
                </a:solidFill>
                <a:latin typeface="Manifold Bold"/>
              </a:rPr>
              <a:t>Attachments  </a:t>
            </a:r>
            <a:r>
              <a:rPr sz="1900" b="0">
                <a:solidFill>
                  <a:srgbClr val="F5FFF9"/>
                </a:solidFill>
                <a:latin typeface="Lato"/>
              </a:rPr>
              <a:t>B09-B15: image, PDF, PPTX, DOCX, spreadsheet, code, other; fire only with an attachment · </a:t>
            </a:r>
            <a:r>
              <a:rPr sz="1900" b="1">
                <a:solidFill>
                  <a:srgbClr val="F5FFF9"/>
                </a:solidFill>
                <a:latin typeface="Manifold Bold"/>
              </a:rPr>
              <a:t>30/30</a:t>
            </a:r>
            <a:r>
              <a:rPr sz="1900" b="0">
                <a:solidFill>
                  <a:srgbClr val="F5FFF9"/>
                </a:solidFill>
                <a:latin typeface="Lato"/>
              </a:rPr>
              <a:t> hand-made prompts correct</a:t>
            </a:r>
          </a:p>
        </p:txBody>
      </p:sp>
      <p:sp>
        <p:nvSpPr>
          <p:cNvPr id="57" name="Rounded Rectangle 56"/>
          <p:cNvSpPr/>
          <p:nvPr/>
        </p:nvSpPr>
        <p:spPr>
          <a:xfrm>
            <a:off x="12344400" y="2103120"/>
            <a:ext cx="5029200" cy="640080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18720" y="2286000"/>
            <a:ext cx="4572000" cy="914400"/>
          </a:xfrm>
          <a:prstGeom prst="rect">
            <a:avLst/>
          </a:prstGeom>
          <a:noFill/>
        </p:spPr>
        <p:txBody>
          <a:bodyPr wrap="square" anchor="t" lIns="0" rIns="0" tIns="0" bIns="0">
            <a:spAutoFit/>
          </a:bodyPr>
          <a:lstStyle/>
          <a:p>
            <a:pPr algn="l">
              <a:lnSpc>
                <a:spcPct val="110000"/>
              </a:lnSpc>
              <a:spcAft>
                <a:spcPts val="600"/>
              </a:spcAft>
            </a:pPr>
            <a:r>
              <a:rPr sz="2100" b="1">
                <a:solidFill>
                  <a:srgbClr val="F5FFF9"/>
                </a:solidFill>
                <a:latin typeface="Manifold Bold"/>
              </a:rPr>
              <a:t>IMAGE MODE (SEPARATE, USER-SELECTED)</a:t>
            </a:r>
          </a:p>
        </p:txBody>
      </p:sp>
      <p:sp>
        <p:nvSpPr>
          <p:cNvPr id="59" name="TextBox 58"/>
          <p:cNvSpPr txBox="1"/>
          <p:nvPr/>
        </p:nvSpPr>
        <p:spPr>
          <a:xfrm>
            <a:off x="12618720" y="3246120"/>
            <a:ext cx="4572000" cy="731520"/>
          </a:xfrm>
          <a:prstGeom prst="rect">
            <a:avLst/>
          </a:prstGeom>
          <a:noFill/>
        </p:spPr>
        <p:txBody>
          <a:bodyPr wrap="square" anchor="t" lIns="0" rIns="0" tIns="0" bIns="0">
            <a:spAutoFit/>
          </a:bodyPr>
          <a:lstStyle/>
          <a:p>
            <a:pPr algn="l">
              <a:lnSpc>
                <a:spcPct val="110000"/>
              </a:lnSpc>
              <a:spcAft>
                <a:spcPts val="600"/>
              </a:spcAft>
            </a:pPr>
            <a:r>
              <a:rPr sz="1700" b="0">
                <a:solidFill>
                  <a:srgbClr val="9FC4AE"/>
                </a:solidFill>
                <a:latin typeface="Lato"/>
              </a:rPr>
              <a:t>Held-out CLIP vs the user's own prompt (30 prompts)</a:t>
            </a:r>
          </a:p>
        </p:txBody>
      </p:sp>
      <p:sp>
        <p:nvSpPr>
          <p:cNvPr id="60" name="TextBox 59"/>
          <p:cNvSpPr txBox="1"/>
          <p:nvPr/>
        </p:nvSpPr>
        <p:spPr>
          <a:xfrm>
            <a:off x="12618720" y="4069080"/>
            <a:ext cx="4572000" cy="1005840"/>
          </a:xfrm>
          <a:prstGeom prst="rect">
            <a:avLst/>
          </a:prstGeom>
          <a:noFill/>
        </p:spPr>
        <p:txBody>
          <a:bodyPr wrap="square" anchor="t" lIns="0" rIns="0" tIns="0" bIns="0">
            <a:spAutoFit/>
          </a:bodyPr>
          <a:lstStyle/>
          <a:p>
            <a:pPr algn="l">
              <a:lnSpc>
                <a:spcPct val="110000"/>
              </a:lnSpc>
              <a:spcAft>
                <a:spcPts val="0"/>
              </a:spcAft>
            </a:pPr>
            <a:r>
              <a:rPr sz="1800" b="1">
                <a:solidFill>
                  <a:srgbClr val="F5FFF9"/>
                </a:solidFill>
                <a:latin typeface="Manifold Bold"/>
              </a:rPr>
              <a:t>Original
</a:t>
            </a:r>
            <a:r>
              <a:rPr sz="1800" b="0">
                <a:solidFill>
                  <a:srgbClr val="F5FFF9"/>
                </a:solidFill>
                <a:latin typeface="Lato"/>
              </a:rPr>
              <a:t>33.08</a:t>
            </a:r>
          </a:p>
        </p:txBody>
      </p:sp>
      <p:sp>
        <p:nvSpPr>
          <p:cNvPr id="61" name="TextBox 60"/>
          <p:cNvSpPr txBox="1"/>
          <p:nvPr/>
        </p:nvSpPr>
        <p:spPr>
          <a:xfrm>
            <a:off x="12618720" y="5166360"/>
            <a:ext cx="4572000" cy="1005840"/>
          </a:xfrm>
          <a:prstGeom prst="rect">
            <a:avLst/>
          </a:prstGeom>
          <a:noFill/>
        </p:spPr>
        <p:txBody>
          <a:bodyPr wrap="square" anchor="t" lIns="0" rIns="0" tIns="0" bIns="0">
            <a:spAutoFit/>
          </a:bodyPr>
          <a:lstStyle/>
          <a:p>
            <a:pPr algn="l">
              <a:lnSpc>
                <a:spcPct val="110000"/>
              </a:lnSpc>
              <a:spcAft>
                <a:spcPts val="0"/>
              </a:spcAft>
            </a:pPr>
            <a:r>
              <a:rPr sz="1800" b="1">
                <a:solidFill>
                  <a:srgbClr val="F5FFF9"/>
                </a:solidFill>
                <a:latin typeface="Manifold Bold"/>
              </a:rPr>
              <a:t>v1: defaults
</a:t>
            </a:r>
            <a:r>
              <a:rPr sz="1800" b="0">
                <a:solidFill>
                  <a:srgbClr val="F5FFF9"/>
                </a:solidFill>
                <a:latin typeface="Lato"/>
              </a:rPr>
              <a:t>30.78 · worse, p = 0.043</a:t>
            </a:r>
          </a:p>
        </p:txBody>
      </p:sp>
      <p:sp>
        <p:nvSpPr>
          <p:cNvPr id="62" name="TextBox 61"/>
          <p:cNvSpPr txBox="1"/>
          <p:nvPr/>
        </p:nvSpPr>
        <p:spPr>
          <a:xfrm>
            <a:off x="12618720" y="6263640"/>
            <a:ext cx="4572000" cy="1005840"/>
          </a:xfrm>
          <a:prstGeom prst="rect">
            <a:avLst/>
          </a:prstGeom>
          <a:noFill/>
        </p:spPr>
        <p:txBody>
          <a:bodyPr wrap="square" anchor="t" lIns="0" rIns="0" tIns="0" bIns="0">
            <a:spAutoFit/>
          </a:bodyPr>
          <a:lstStyle/>
          <a:p>
            <a:pPr algn="l">
              <a:lnSpc>
                <a:spcPct val="110000"/>
              </a:lnSpc>
              <a:spcAft>
                <a:spcPts val="0"/>
              </a:spcAft>
            </a:pPr>
            <a:r>
              <a:rPr sz="1800" b="1">
                <a:solidFill>
                  <a:srgbClr val="F5FFF9"/>
                </a:solidFill>
                <a:latin typeface="Manifold Bold"/>
              </a:rPr>
              <a:t>v2: suggestions
</a:t>
            </a:r>
            <a:r>
              <a:rPr sz="1800" b="0">
                <a:solidFill>
                  <a:srgbClr val="F5FFF9"/>
                </a:solidFill>
                <a:latin typeface="Lato"/>
              </a:rPr>
              <a:t>32.77 · no measurable harm</a:t>
            </a:r>
          </a:p>
        </p:txBody>
      </p:sp>
      <p:sp>
        <p:nvSpPr>
          <p:cNvPr id="63" name="TextBox 62"/>
          <p:cNvSpPr txBox="1"/>
          <p:nvPr/>
        </p:nvSpPr>
        <p:spPr>
          <a:xfrm>
            <a:off x="12618720" y="7452360"/>
            <a:ext cx="4572000" cy="822960"/>
          </a:xfrm>
          <a:prstGeom prst="rect">
            <a:avLst/>
          </a:prstGeom>
          <a:noFill/>
        </p:spPr>
        <p:txBody>
          <a:bodyPr wrap="square" anchor="t" lIns="0" rIns="0" tIns="0" bIns="0">
            <a:spAutoFit/>
          </a:bodyPr>
          <a:lstStyle/>
          <a:p>
            <a:pPr algn="l">
              <a:lnSpc>
                <a:spcPct val="110000"/>
              </a:lnSpc>
              <a:spcAft>
                <a:spcPts val="600"/>
              </a:spcAft>
            </a:pPr>
            <a:r>
              <a:rPr sz="1700" b="0">
                <a:solidFill>
                  <a:srgbClr val="9FC4AE"/>
                </a:solidFill>
                <a:latin typeface="Lato"/>
              </a:rPr>
              <a:t>Style kept in 12/12 styled prompts with v2</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TRANSACTION FLOW</a:t>
            </a:r>
          </a:p>
        </p:txBody>
      </p:sp>
      <p:sp>
        <p:nvSpPr>
          <p:cNvPr id="10" name="Rounded Rectangle 9"/>
          <p:cNvSpPr/>
          <p:nvPr/>
        </p:nvSpPr>
        <p:spPr>
          <a:xfrm>
            <a:off x="2377440" y="2011680"/>
            <a:ext cx="13533120" cy="758952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iag_transaction.png"/>
          <p:cNvPicPr>
            <a:picLocks noChangeAspect="1"/>
          </p:cNvPicPr>
          <p:nvPr/>
        </p:nvPicPr>
        <p:blipFill>
          <a:blip r:embed="rId3"/>
          <a:stretch>
            <a:fillRect/>
          </a:stretch>
        </p:blipFill>
        <p:spPr>
          <a:xfrm>
            <a:off x="2514600" y="2103120"/>
            <a:ext cx="13258800" cy="7343335"/>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5" id="5"/>
          <p:cNvGrpSpPr/>
          <p:nvPr/>
        </p:nvGrpSpPr>
        <p:grpSpPr>
          <a:xfrm rot="9405415">
            <a:off x="-472062" y="-2812968"/>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8" id="8"/>
          <p:cNvGrpSpPr/>
          <p:nvPr/>
        </p:nvGrpSpPr>
        <p:grpSpPr>
          <a:xfrm rot="6936434">
            <a:off x="7303621" y="9528913"/>
            <a:ext cx="5817847" cy="581784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50" id="5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DATABASE LAYER: 10 TABLES</a:t>
            </a:r>
          </a:p>
        </p:txBody>
      </p:sp>
      <p:sp>
        <p:nvSpPr>
          <p:cNvPr id="51" name="Rounded Rectangle 50"/>
          <p:cNvSpPr/>
          <p:nvPr/>
        </p:nvSpPr>
        <p:spPr>
          <a:xfrm>
            <a:off x="914400" y="2103120"/>
            <a:ext cx="6583680" cy="740664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2" name="Picture 51" descr="08_database_er.png"/>
          <p:cNvPicPr>
            <a:picLocks noChangeAspect="1"/>
          </p:cNvPicPr>
          <p:nvPr/>
        </p:nvPicPr>
        <p:blipFill>
          <a:blip r:embed="rId10"/>
          <a:stretch>
            <a:fillRect/>
          </a:stretch>
        </p:blipFill>
        <p:spPr>
          <a:xfrm>
            <a:off x="1051560" y="2194560"/>
            <a:ext cx="6342024" cy="7223760"/>
          </a:xfrm>
          <a:prstGeom prst="rect">
            <a:avLst/>
          </a:prstGeom>
        </p:spPr>
      </p:pic>
      <p:sp>
        <p:nvSpPr>
          <p:cNvPr id="53" name="TextBox 52"/>
          <p:cNvSpPr txBox="1"/>
          <p:nvPr/>
        </p:nvSpPr>
        <p:spPr>
          <a:xfrm>
            <a:off x="8046720" y="2103120"/>
            <a:ext cx="9326880" cy="548640"/>
          </a:xfrm>
          <a:prstGeom prst="rect">
            <a:avLst/>
          </a:prstGeom>
          <a:noFill/>
        </p:spPr>
        <p:txBody>
          <a:bodyPr wrap="square" anchor="t" lIns="0" rIns="0" tIns="0" bIns="0">
            <a:spAutoFit/>
          </a:bodyPr>
          <a:lstStyle/>
          <a:p>
            <a:pPr algn="l">
              <a:lnSpc>
                <a:spcPct val="110000"/>
              </a:lnSpc>
              <a:spcAft>
                <a:spcPts val="600"/>
              </a:spcAft>
            </a:pPr>
            <a:r>
              <a:rPr sz="2200" b="1">
                <a:solidFill>
                  <a:srgbClr val="457C5B"/>
                </a:solidFill>
                <a:latin typeface="Manifold Bold"/>
              </a:rPr>
              <a:t>WRITTEN IN ONE OPTIMIZE TRANSACTION (VIA REPOSITORY.PY)</a:t>
            </a:r>
          </a:p>
        </p:txBody>
      </p:sp>
      <p:graphicFrame>
        <p:nvGraphicFramePr>
          <p:cNvPr id="54" name="Table 53"/>
          <p:cNvGraphicFramePr>
            <a:graphicFrameLocks noGrp="1"/>
          </p:cNvGraphicFramePr>
          <p:nvPr/>
        </p:nvGraphicFramePr>
        <p:xfrm>
          <a:off x="8046720" y="2788920"/>
          <a:ext cx="9326880" cy="3840480"/>
        </p:xfrm>
        <a:graphic>
          <a:graphicData uri="http://schemas.openxmlformats.org/drawingml/2006/table">
            <a:tbl>
              <a:tblPr firstRow="0" bandRow="0"/>
              <a:tblGrid>
                <a:gridCol w="3017520"/>
                <a:gridCol w="2926080"/>
                <a:gridCol w="3383280"/>
              </a:tblGrid>
              <a:tr h="548640">
                <a:tc>
                  <a:txBody>
                    <a:bodyPr wrap="square"/>
                    <a:lstStyle/>
                    <a:p>
                      <a:r>
                        <a:rPr sz="1600" b="1">
                          <a:solidFill>
                            <a:srgbClr val="F5FFF9"/>
                          </a:solidFill>
                          <a:latin typeface="Manifold Bold"/>
                        </a:rPr>
                        <a:t>Table</a:t>
                      </a:r>
                    </a:p>
                  </a:txBody>
                  <a:tcPr marL="109728" marR="109728" marT="45720" marB="45720" anchor="ctr">
                    <a:solidFill>
                      <a:srgbClr val="457C5B"/>
                    </a:solidFill>
                  </a:tcPr>
                </a:tc>
                <a:tc>
                  <a:txBody>
                    <a:bodyPr wrap="square"/>
                    <a:lstStyle/>
                    <a:p>
                      <a:r>
                        <a:rPr sz="1600" b="1">
                          <a:solidFill>
                            <a:srgbClr val="F5FFF9"/>
                          </a:solidFill>
                          <a:latin typeface="Manifold Bold"/>
                        </a:rPr>
                        <a:t>Repository call</a:t>
                      </a:r>
                    </a:p>
                  </a:txBody>
                  <a:tcPr marL="109728" marR="109728" marT="45720" marB="45720" anchor="ctr">
                    <a:solidFill>
                      <a:srgbClr val="457C5B"/>
                    </a:solidFill>
                  </a:tcPr>
                </a:tc>
                <a:tc>
                  <a:txBody>
                    <a:bodyPr wrap="square"/>
                    <a:lstStyle/>
                    <a:p>
                      <a:r>
                        <a:rPr sz="1600" b="1">
                          <a:solidFill>
                            <a:srgbClr val="F5FFF9"/>
                          </a:solidFill>
                          <a:latin typeface="Manifold Bold"/>
                        </a:rPr>
                        <a:t>Stores</a:t>
                      </a:r>
                    </a:p>
                  </a:txBody>
                  <a:tcPr marL="109728" marR="109728" marT="45720" marB="45720" anchor="ctr">
                    <a:solidFill>
                      <a:srgbClr val="457C5B"/>
                    </a:solidFill>
                  </a:tcPr>
                </a:tc>
              </a:tr>
              <a:tr h="548640">
                <a:tc>
                  <a:txBody>
                    <a:bodyPr wrap="square"/>
                    <a:lstStyle/>
                    <a:p>
                      <a:r>
                        <a:rPr sz="1600" b="0">
                          <a:solidFill>
                            <a:srgbClr val="1E4926"/>
                          </a:solidFill>
                          <a:latin typeface="Lato"/>
                        </a:rPr>
                        <a:t>prompts</a:t>
                      </a:r>
                    </a:p>
                  </a:txBody>
                  <a:tcPr marL="109728" marR="109728" marT="45720" marB="45720" anchor="ctr">
                    <a:solidFill>
                      <a:srgbClr val="FFFFFF"/>
                    </a:solidFill>
                  </a:tcPr>
                </a:tc>
                <a:tc>
                  <a:txBody>
                    <a:bodyPr wrap="square"/>
                    <a:lstStyle/>
                    <a:p>
                      <a:r>
                        <a:rPr sz="1600" b="0">
                          <a:solidFill>
                            <a:srgbClr val="1E4926"/>
                          </a:solidFill>
                          <a:latin typeface="Lato"/>
                        </a:rPr>
                        <a:t>create_prompt</a:t>
                      </a:r>
                    </a:p>
                  </a:txBody>
                  <a:tcPr marL="109728" marR="109728" marT="45720" marB="45720" anchor="ctr">
                    <a:solidFill>
                      <a:srgbClr val="FFFFFF"/>
                    </a:solidFill>
                  </a:tcPr>
                </a:tc>
                <a:tc>
                  <a:txBody>
                    <a:bodyPr wrap="square"/>
                    <a:lstStyle/>
                    <a:p>
                      <a:r>
                        <a:rPr sz="1600" b="0">
                          <a:solidFill>
                            <a:srgbClr val="1E4926"/>
                          </a:solidFill>
                          <a:latin typeface="Lato"/>
                        </a:rPr>
                        <a:t>PII-scrubbed text, expires_at</a:t>
                      </a:r>
                    </a:p>
                  </a:txBody>
                  <a:tcPr marL="109728" marR="109728" marT="45720" marB="45720" anchor="ctr">
                    <a:solidFill>
                      <a:srgbClr val="FFFFFF"/>
                    </a:solidFill>
                  </a:tcPr>
                </a:tc>
              </a:tr>
              <a:tr h="548640">
                <a:tc>
                  <a:txBody>
                    <a:bodyPr wrap="square"/>
                    <a:lstStyle/>
                    <a:p>
                      <a:r>
                        <a:rPr sz="1600" b="0">
                          <a:solidFill>
                            <a:srgbClr val="1E4926"/>
                          </a:solidFill>
                          <a:latin typeface="Lato"/>
                        </a:rPr>
                        <a:t>prompt_features</a:t>
                      </a:r>
                    </a:p>
                  </a:txBody>
                  <a:tcPr marL="109728" marR="109728" marT="45720" marB="45720" anchor="ctr">
                    <a:solidFill>
                      <a:srgbClr val="F5FFF9"/>
                    </a:solidFill>
                  </a:tcPr>
                </a:tc>
                <a:tc>
                  <a:txBody>
                    <a:bodyPr wrap="square"/>
                    <a:lstStyle/>
                    <a:p>
                      <a:r>
                        <a:rPr sz="1600" b="0">
                          <a:solidFill>
                            <a:srgbClr val="1E4926"/>
                          </a:solidFill>
                          <a:latin typeface="Lato"/>
                        </a:rPr>
                        <a:t>save_features</a:t>
                      </a:r>
                    </a:p>
                  </a:txBody>
                  <a:tcPr marL="109728" marR="109728" marT="45720" marB="45720" anchor="ctr">
                    <a:solidFill>
                      <a:srgbClr val="F5FFF9"/>
                    </a:solidFill>
                  </a:tcPr>
                </a:tc>
                <a:tc>
                  <a:txBody>
                    <a:bodyPr wrap="square"/>
                    <a:lstStyle/>
                    <a:p>
                      <a:r>
                        <a:rPr sz="1600" b="0">
                          <a:solidFill>
                            <a:srgbClr val="1E4926"/>
                          </a:solidFill>
                          <a:latin typeface="Lato"/>
                        </a:rPr>
                        <a:t>category, confidence, gaps</a:t>
                      </a:r>
                    </a:p>
                  </a:txBody>
                  <a:tcPr marL="109728" marR="109728" marT="45720" marB="45720" anchor="ctr">
                    <a:solidFill>
                      <a:srgbClr val="F5FFF9"/>
                    </a:solidFill>
                  </a:tcPr>
                </a:tc>
              </a:tr>
              <a:tr h="548640">
                <a:tc>
                  <a:txBody>
                    <a:bodyPr wrap="square"/>
                    <a:lstStyle/>
                    <a:p>
                      <a:r>
                        <a:rPr sz="1600" b="0">
                          <a:solidFill>
                            <a:srgbClr val="1E4926"/>
                          </a:solidFill>
                          <a:latin typeface="Lato"/>
                        </a:rPr>
                        <a:t>optimization_results</a:t>
                      </a:r>
                    </a:p>
                  </a:txBody>
                  <a:tcPr marL="109728" marR="109728" marT="45720" marB="45720" anchor="ctr">
                    <a:solidFill>
                      <a:srgbClr val="FFFFFF"/>
                    </a:solidFill>
                  </a:tcPr>
                </a:tc>
                <a:tc>
                  <a:txBody>
                    <a:bodyPr wrap="square"/>
                    <a:lstStyle/>
                    <a:p>
                      <a:r>
                        <a:rPr sz="1600" b="0">
                          <a:solidFill>
                            <a:srgbClr val="1E4926"/>
                          </a:solidFill>
                          <a:latin typeface="Lato"/>
                        </a:rPr>
                        <a:t>save_optimization</a:t>
                      </a:r>
                    </a:p>
                  </a:txBody>
                  <a:tcPr marL="109728" marR="109728" marT="45720" marB="45720" anchor="ctr">
                    <a:solidFill>
                      <a:srgbClr val="FFFFFF"/>
                    </a:solidFill>
                  </a:tcPr>
                </a:tc>
                <a:tc>
                  <a:txBody>
                    <a:bodyPr wrap="square"/>
                    <a:lstStyle/>
                    <a:p>
                      <a:r>
                        <a:rPr sz="1600" b="0">
                          <a:solidFill>
                            <a:srgbClr val="1E4926"/>
                          </a:solidFill>
                          <a:latin typeface="Lato"/>
                        </a:rPr>
                        <a:t>IR, optimized text, used_lora</a:t>
                      </a:r>
                    </a:p>
                  </a:txBody>
                  <a:tcPr marL="109728" marR="109728" marT="45720" marB="45720" anchor="ctr">
                    <a:solidFill>
                      <a:srgbClr val="FFFFFF"/>
                    </a:solidFill>
                  </a:tcPr>
                </a:tc>
              </a:tr>
              <a:tr h="548640">
                <a:tc>
                  <a:txBody>
                    <a:bodyPr wrap="square"/>
                    <a:lstStyle/>
                    <a:p>
                      <a:r>
                        <a:rPr sz="1600" b="0">
                          <a:solidFill>
                            <a:srgbClr val="1E4926"/>
                          </a:solidFill>
                          <a:latin typeface="Lato"/>
                        </a:rPr>
                        <a:t>transformations</a:t>
                      </a:r>
                    </a:p>
                  </a:txBody>
                  <a:tcPr marL="109728" marR="109728" marT="45720" marB="45720" anchor="ctr">
                    <a:solidFill>
                      <a:srgbClr val="F5FFF9"/>
                    </a:solidFill>
                  </a:tcPr>
                </a:tc>
                <a:tc>
                  <a:txBody>
                    <a:bodyPr wrap="square"/>
                    <a:lstStyle/>
                    <a:p>
                      <a:r>
                        <a:rPr sz="1600" b="0">
                          <a:solidFill>
                            <a:srgbClr val="1E4926"/>
                          </a:solidFill>
                          <a:latin typeface="Lato"/>
                        </a:rPr>
                        <a:t>save_optimization</a:t>
                      </a:r>
                    </a:p>
                  </a:txBody>
                  <a:tcPr marL="109728" marR="109728" marT="45720" marB="45720" anchor="ctr">
                    <a:solidFill>
                      <a:srgbClr val="F5FFF9"/>
                    </a:solidFill>
                  </a:tcPr>
                </a:tc>
                <a:tc>
                  <a:txBody>
                    <a:bodyPr wrap="square"/>
                    <a:lstStyle/>
                    <a:p>
                      <a:r>
                        <a:rPr sz="1600" b="0">
                          <a:solidFill>
                            <a:srgbClr val="1E4926"/>
                          </a:solidFill>
                          <a:latin typeface="Lato"/>
                        </a:rPr>
                        <a:t>one row per change, rule_id</a:t>
                      </a:r>
                    </a:p>
                  </a:txBody>
                  <a:tcPr marL="109728" marR="109728" marT="45720" marB="45720" anchor="ctr">
                    <a:solidFill>
                      <a:srgbClr val="F5FFF9"/>
                    </a:solidFill>
                  </a:tcPr>
                </a:tc>
              </a:tr>
              <a:tr h="548640">
                <a:tc>
                  <a:txBody>
                    <a:bodyPr wrap="square"/>
                    <a:lstStyle/>
                    <a:p>
                      <a:r>
                        <a:rPr sz="1600" b="0">
                          <a:solidFill>
                            <a:srgbClr val="1E4926"/>
                          </a:solidFill>
                          <a:latin typeface="Lato"/>
                        </a:rPr>
                        <a:t>renderings</a:t>
                      </a:r>
                    </a:p>
                  </a:txBody>
                  <a:tcPr marL="109728" marR="109728" marT="45720" marB="45720" anchor="ctr">
                    <a:solidFill>
                      <a:srgbClr val="FFFFFF"/>
                    </a:solidFill>
                  </a:tcPr>
                </a:tc>
                <a:tc>
                  <a:txBody>
                    <a:bodyPr wrap="square"/>
                    <a:lstStyle/>
                    <a:p>
                      <a:r>
                        <a:rPr sz="1600" b="0">
                          <a:solidFill>
                            <a:srgbClr val="1E4926"/>
                          </a:solidFill>
                          <a:latin typeface="Lato"/>
                        </a:rPr>
                        <a:t>save_renderings</a:t>
                      </a:r>
                    </a:p>
                  </a:txBody>
                  <a:tcPr marL="109728" marR="109728" marT="45720" marB="45720" anchor="ctr">
                    <a:solidFill>
                      <a:srgbClr val="FFFFFF"/>
                    </a:solidFill>
                  </a:tcPr>
                </a:tc>
                <a:tc>
                  <a:txBody>
                    <a:bodyPr wrap="square"/>
                    <a:lstStyle/>
                    <a:p>
                      <a:r>
                        <a:rPr sz="1600" b="0">
                          <a:solidFill>
                            <a:srgbClr val="1E4926"/>
                          </a:solidFill>
                          <a:latin typeface="Lato"/>
                        </a:rPr>
                        <a:t>prompt per target LLM</a:t>
                      </a:r>
                    </a:p>
                  </a:txBody>
                  <a:tcPr marL="109728" marR="109728" marT="45720" marB="45720" anchor="ctr">
                    <a:solidFill>
                      <a:srgbClr val="FFFFFF"/>
                    </a:solidFill>
                  </a:tcPr>
                </a:tc>
              </a:tr>
              <a:tr h="548640">
                <a:tc>
                  <a:txBody>
                    <a:bodyPr wrap="square"/>
                    <a:lstStyle/>
                    <a:p>
                      <a:r>
                        <a:rPr sz="1600" b="0">
                          <a:solidFill>
                            <a:srgbClr val="1E4926"/>
                          </a:solidFill>
                          <a:latin typeface="Lato"/>
                        </a:rPr>
                        <a:t>token_usage</a:t>
                      </a:r>
                    </a:p>
                  </a:txBody>
                  <a:tcPr marL="109728" marR="109728" marT="45720" marB="45720" anchor="ctr">
                    <a:solidFill>
                      <a:srgbClr val="F5FFF9"/>
                    </a:solidFill>
                  </a:tcPr>
                </a:tc>
                <a:tc>
                  <a:txBody>
                    <a:bodyPr wrap="square"/>
                    <a:lstStyle/>
                    <a:p>
                      <a:r>
                        <a:rPr sz="1600" b="0">
                          <a:solidFill>
                            <a:srgbClr val="1E4926"/>
                          </a:solidFill>
                          <a:latin typeface="Lato"/>
                        </a:rPr>
                        <a:t>save_token_usage</a:t>
                      </a:r>
                    </a:p>
                  </a:txBody>
                  <a:tcPr marL="109728" marR="109728" marT="45720" marB="45720" anchor="ctr">
                    <a:solidFill>
                      <a:srgbClr val="F5FFF9"/>
                    </a:solidFill>
                  </a:tcPr>
                </a:tc>
                <a:tc>
                  <a:txBody>
                    <a:bodyPr wrap="square"/>
                    <a:lstStyle/>
                    <a:p>
                      <a:r>
                        <a:rPr sz="1600" b="0">
                          <a:solidFill>
                            <a:srgbClr val="1E4926"/>
                          </a:solidFill>
                          <a:latin typeface="Lato"/>
                        </a:rPr>
                        <a:t>tokens per target</a:t>
                      </a:r>
                    </a:p>
                  </a:txBody>
                  <a:tcPr marL="109728" marR="109728" marT="45720" marB="45720" anchor="ctr">
                    <a:solidFill>
                      <a:srgbClr val="F5FFF9"/>
                    </a:solidFill>
                  </a:tcPr>
                </a:tc>
              </a:tr>
            </a:tbl>
          </a:graphicData>
        </a:graphic>
      </p:graphicFrame>
      <p:sp>
        <p:nvSpPr>
          <p:cNvPr id="55" name="Rounded Rectangle 54"/>
          <p:cNvSpPr/>
          <p:nvPr/>
        </p:nvSpPr>
        <p:spPr>
          <a:xfrm>
            <a:off x="8046720" y="6949440"/>
            <a:ext cx="9326880" cy="256032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21040" y="7132320"/>
            <a:ext cx="8869680" cy="2286000"/>
          </a:xfrm>
          <a:prstGeom prst="rect">
            <a:avLst/>
          </a:prstGeom>
          <a:noFill/>
        </p:spPr>
        <p:txBody>
          <a:bodyPr wrap="square" anchor="t" lIns="0" rIns="0" tIns="0" bIns="0">
            <a:spAutoFit/>
          </a:bodyPr>
          <a:lstStyle/>
          <a:p>
            <a:pPr algn="l">
              <a:lnSpc>
                <a:spcPct val="110000"/>
              </a:lnSpc>
              <a:spcAft>
                <a:spcPts val="600"/>
              </a:spcAft>
            </a:pPr>
            <a:r>
              <a:rPr sz="1200" b="0">
                <a:solidFill>
                  <a:srgbClr val="9FC4AE"/>
                </a:solidFill>
                <a:latin typeface="Lato"/>
              </a:rPr>
              <a:t>●  </a:t>
            </a:r>
            <a:r>
              <a:rPr sz="1800" b="0">
                <a:solidFill>
                  <a:srgbClr val="F5FFF9"/>
                </a:solidFill>
                <a:latin typeface="Lato"/>
              </a:rPr>
              <a:t>Cascade on delete: purge removes everything derived from a prompt</a:t>
            </a:r>
          </a:p>
          <a:p>
            <a:pPr algn="l">
              <a:lnSpc>
                <a:spcPct val="110000"/>
              </a:lnSpc>
              <a:spcAft>
                <a:spcPts val="600"/>
              </a:spcAft>
            </a:pPr>
            <a:r>
              <a:rPr sz="1200" b="0">
                <a:solidFill>
                  <a:srgbClr val="9FC4AE"/>
                </a:solidFill>
                <a:latin typeface="Lato"/>
              </a:rPr>
              <a:t>●  </a:t>
            </a:r>
            <a:r>
              <a:rPr sz="1800" b="0">
                <a:solidFill>
                  <a:srgbClr val="F5FFF9"/>
                </a:solidFill>
                <a:latin typeface="Lato"/>
              </a:rPr>
              <a:t>PII (e-mail, phone) scrubbed before storing</a:t>
            </a:r>
          </a:p>
          <a:p>
            <a:pPr algn="l">
              <a:lnSpc>
                <a:spcPct val="110000"/>
              </a:lnSpc>
              <a:spcAft>
                <a:spcPts val="600"/>
              </a:spcAft>
            </a:pPr>
            <a:r>
              <a:rPr sz="1200" b="0">
                <a:solidFill>
                  <a:srgbClr val="9FC4AE"/>
                </a:solidFill>
                <a:latin typeface="Lato"/>
              </a:rPr>
              <a:t>●  </a:t>
            </a:r>
            <a:r>
              <a:rPr sz="1800" b="0">
                <a:solidFill>
                  <a:srgbClr val="F5FFF9"/>
                </a:solidFill>
                <a:latin typeface="Lato"/>
              </a:rPr>
              <a:t>30-day retention enforced before every request · SQLite / PostgreSQL</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72" id="72"/>
          <p:cNvGrpSpPr/>
          <p:nvPr/>
        </p:nvGrpSpPr>
        <p:grpSpPr>
          <a:xfrm rot="6936434">
            <a:off x="16860459" y="8130191"/>
            <a:ext cx="5817847" cy="5817847"/>
            <a:chOff x="0" y="0"/>
            <a:chExt cx="812800" cy="812800"/>
          </a:xfrm>
        </p:grpSpPr>
        <p:sp>
          <p:nvSpPr>
            <p:cNvPr name="Freeform 73" id="7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4" id="7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75" id="75"/>
          <p:cNvGrpSpPr/>
          <p:nvPr/>
        </p:nvGrpSpPr>
        <p:grpSpPr>
          <a:xfrm rot="9405415">
            <a:off x="-3681581" y="8273503"/>
            <a:ext cx="5159957" cy="5159957"/>
            <a:chOff x="0" y="0"/>
            <a:chExt cx="812800" cy="812800"/>
          </a:xfrm>
        </p:grpSpPr>
        <p:sp>
          <p:nvSpPr>
            <p:cNvPr name="Freeform 76" id="7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7" id="7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78" id="78"/>
          <p:cNvSpPr/>
          <p:nvPr/>
        </p:nvSpPr>
        <p:spPr>
          <a:xfrm flipH="false" flipV="false" rot="0">
            <a:off x="-1101602" y="-467749"/>
            <a:ext cx="2992899" cy="2992899"/>
          </a:xfrm>
          <a:custGeom>
            <a:avLst/>
            <a:gdLst/>
            <a:ahLst/>
            <a:cxnLst/>
            <a:rect r="r" b="b" t="t" l="l"/>
            <a:pathLst>
              <a:path h="2992899" w="2992899">
                <a:moveTo>
                  <a:pt x="0" y="0"/>
                </a:moveTo>
                <a:lnTo>
                  <a:pt x="2992898" y="0"/>
                </a:lnTo>
                <a:lnTo>
                  <a:pt x="2992898" y="2992898"/>
                </a:lnTo>
                <a:lnTo>
                  <a:pt x="0" y="299289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79" id="79"/>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14"/>
            <a:stretch>
              <a:fillRect l="0" t="0" r="0" b="0"/>
            </a:stretch>
          </a:blipFill>
        </p:spPr>
      </p:sp>
      <p:sp>
        <p:nvSpPr>
          <p:cNvPr name="Freeform 80" id="80"/>
          <p:cNvSpPr/>
          <p:nvPr/>
        </p:nvSpPr>
        <p:spPr>
          <a:xfrm flipH="true" flipV="false" rot="0">
            <a:off x="16398977" y="-467749"/>
            <a:ext cx="2992899" cy="2992899"/>
          </a:xfrm>
          <a:custGeom>
            <a:avLst/>
            <a:gdLst/>
            <a:ahLst/>
            <a:cxnLst/>
            <a:rect r="r" b="b" t="t" l="l"/>
            <a:pathLst>
              <a:path h="2992899" w="2992899">
                <a:moveTo>
                  <a:pt x="2992899" y="0"/>
                </a:moveTo>
                <a:lnTo>
                  <a:pt x="0" y="0"/>
                </a:lnTo>
                <a:lnTo>
                  <a:pt x="0" y="2992898"/>
                </a:lnTo>
                <a:lnTo>
                  <a:pt x="2992899" y="2992898"/>
                </a:lnTo>
                <a:lnTo>
                  <a:pt x="2992899"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81" id="81"/>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UNIT TESTING: 798 TESTS, ALL PASSING</a:t>
            </a:r>
          </a:p>
        </p:txBody>
      </p:sp>
      <p:sp>
        <p:nvSpPr>
          <p:cNvPr id="82" name="Rounded Rectangle 81"/>
          <p:cNvSpPr/>
          <p:nvPr/>
        </p:nvSpPr>
        <p:spPr>
          <a:xfrm>
            <a:off x="914400" y="2011680"/>
            <a:ext cx="9509760" cy="740664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3" name="Chart 82"/>
          <p:cNvGraphicFramePr>
            <a:graphicFrameLocks noGrp="1"/>
          </p:cNvGraphicFramePr>
          <p:nvPr/>
        </p:nvGraphicFramePr>
        <p:xfrm>
          <a:off x="1097280" y="2148840"/>
          <a:ext cx="9144000" cy="7132320"/>
        </p:xfrm>
        <a:graphic>
          <a:graphicData uri="http://schemas.openxmlformats.org/drawingml/2006/chart">
            <c:chart xmlns:c="http://schemas.openxmlformats.org/drawingml/2006/chart" r:id="rId15"/>
          </a:graphicData>
        </a:graphic>
      </p:graphicFrame>
      <p:sp>
        <p:nvSpPr>
          <p:cNvPr id="84" name="Rounded Rectangle 83"/>
          <p:cNvSpPr/>
          <p:nvPr/>
        </p:nvSpPr>
        <p:spPr>
          <a:xfrm>
            <a:off x="10881360" y="2011680"/>
            <a:ext cx="6492240" cy="27432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1155680" y="2194560"/>
            <a:ext cx="6035040" cy="502920"/>
          </a:xfrm>
          <a:prstGeom prst="rect">
            <a:avLst/>
          </a:prstGeom>
          <a:noFill/>
        </p:spPr>
        <p:txBody>
          <a:bodyPr wrap="square" anchor="t" lIns="0" rIns="0" tIns="0" bIns="0">
            <a:spAutoFit/>
          </a:bodyPr>
          <a:lstStyle/>
          <a:p>
            <a:pPr algn="l">
              <a:lnSpc>
                <a:spcPct val="110000"/>
              </a:lnSpc>
              <a:spcAft>
                <a:spcPts val="600"/>
              </a:spcAft>
            </a:pPr>
            <a:r>
              <a:rPr sz="2200" b="1">
                <a:solidFill>
                  <a:srgbClr val="457C5B"/>
                </a:solidFill>
                <a:latin typeface="Manifold Bold"/>
              </a:rPr>
              <a:t>RUN</a:t>
            </a:r>
          </a:p>
        </p:txBody>
      </p:sp>
      <p:sp>
        <p:nvSpPr>
          <p:cNvPr id="86" name="TextBox 85"/>
          <p:cNvSpPr txBox="1"/>
          <p:nvPr/>
        </p:nvSpPr>
        <p:spPr>
          <a:xfrm>
            <a:off x="11155680" y="2788920"/>
            <a:ext cx="6035040" cy="1828800"/>
          </a:xfrm>
          <a:prstGeom prst="rect">
            <a:avLst/>
          </a:prstGeom>
          <a:noFill/>
        </p:spPr>
        <p:txBody>
          <a:bodyPr wrap="square" anchor="t" lIns="0" rIns="0" tIns="0" bIns="0">
            <a:spAutoFit/>
          </a:bodyPr>
          <a:lstStyle/>
          <a:p>
            <a:pPr algn="l">
              <a:lnSpc>
                <a:spcPct val="110000"/>
              </a:lnSpc>
              <a:spcAft>
                <a:spcPts val="0"/>
              </a:spcAft>
            </a:pPr>
            <a:r>
              <a:rPr sz="1700" b="0">
                <a:solidFill>
                  <a:srgbClr val="1E4926"/>
                </a:solidFill>
                <a:latin typeface="Courier New"/>
              </a:rPr>
              <a:t>cd backend
source .venv/bin/activate
python -m pytest -q
→ 798 passed in 24.6 s</a:t>
            </a:r>
          </a:p>
        </p:txBody>
      </p:sp>
      <p:sp>
        <p:nvSpPr>
          <p:cNvPr id="87" name="Rounded Rectangle 86"/>
          <p:cNvSpPr/>
          <p:nvPr/>
        </p:nvSpPr>
        <p:spPr>
          <a:xfrm>
            <a:off x="10881360" y="5029200"/>
            <a:ext cx="6492240" cy="438912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55680" y="5212080"/>
            <a:ext cx="6035040" cy="502920"/>
          </a:xfrm>
          <a:prstGeom prst="rect">
            <a:avLst/>
          </a:prstGeom>
          <a:noFill/>
        </p:spPr>
        <p:txBody>
          <a:bodyPr wrap="square" anchor="t" lIns="0" rIns="0" tIns="0" bIns="0">
            <a:spAutoFit/>
          </a:bodyPr>
          <a:lstStyle/>
          <a:p>
            <a:pPr algn="l">
              <a:lnSpc>
                <a:spcPct val="110000"/>
              </a:lnSpc>
              <a:spcAft>
                <a:spcPts val="600"/>
              </a:spcAft>
            </a:pPr>
            <a:r>
              <a:rPr sz="2200" b="1">
                <a:solidFill>
                  <a:srgbClr val="457C5B"/>
                </a:solidFill>
                <a:latin typeface="Manifold Bold"/>
              </a:rPr>
              <a:t>REAL EXAMPLES</a:t>
            </a:r>
          </a:p>
        </p:txBody>
      </p:sp>
      <p:sp>
        <p:nvSpPr>
          <p:cNvPr id="89" name="TextBox 88"/>
          <p:cNvSpPr txBox="1"/>
          <p:nvPr/>
        </p:nvSpPr>
        <p:spPr>
          <a:xfrm>
            <a:off x="11155680" y="5806440"/>
            <a:ext cx="6035040" cy="3474720"/>
          </a:xfrm>
          <a:prstGeom prst="rect">
            <a:avLst/>
          </a:prstGeom>
          <a:noFill/>
        </p:spPr>
        <p:txBody>
          <a:bodyPr wrap="square" anchor="t" lIns="0" rIns="0" tIns="0" bIns="0">
            <a:spAutoFit/>
          </a:bodyPr>
          <a:lstStyle/>
          <a:p>
            <a:pPr algn="l">
              <a:lnSpc>
                <a:spcPct val="110000"/>
              </a:lnSpc>
              <a:spcAft>
                <a:spcPts val="400"/>
              </a:spcAft>
            </a:pPr>
            <a:r>
              <a:rPr sz="1200" b="0">
                <a:solidFill>
                  <a:srgbClr val="457C5B"/>
                </a:solidFill>
                <a:latin typeface="Lato"/>
              </a:rPr>
              <a:t>●  </a:t>
            </a:r>
            <a:r>
              <a:rPr sz="1800" b="0">
                <a:solidFill>
                  <a:srgbClr val="1E4926"/>
                </a:solidFill>
                <a:latin typeface="Lato"/>
              </a:rPr>
              <a:t>B05 defaults to Python</a:t>
            </a:r>
          </a:p>
          <a:p>
            <a:pPr algn="l">
              <a:lnSpc>
                <a:spcPct val="110000"/>
              </a:lnSpc>
              <a:spcAft>
                <a:spcPts val="400"/>
              </a:spcAft>
            </a:pPr>
            <a:r>
              <a:rPr sz="1200" b="0">
                <a:solidFill>
                  <a:srgbClr val="457C5B"/>
                </a:solidFill>
                <a:latin typeface="Lato"/>
              </a:rPr>
              <a:t>●  </a:t>
            </a:r>
            <a:r>
              <a:rPr sz="1800" b="0">
                <a:solidFill>
                  <a:srgbClr val="1E4926"/>
                </a:solidFill>
                <a:latin typeface="Lato"/>
              </a:rPr>
              <a:t>PII scrubbed before storage</a:t>
            </a:r>
          </a:p>
          <a:p>
            <a:pPr algn="l">
              <a:lnSpc>
                <a:spcPct val="110000"/>
              </a:lnSpc>
              <a:spcAft>
                <a:spcPts val="400"/>
              </a:spcAft>
            </a:pPr>
            <a:r>
              <a:rPr sz="1200" b="0">
                <a:solidFill>
                  <a:srgbClr val="457C5B"/>
                </a:solidFill>
                <a:latin typeface="Lato"/>
              </a:rPr>
              <a:t>●  </a:t>
            </a:r>
            <a:r>
              <a:rPr sz="1800" b="0">
                <a:solidFill>
                  <a:srgbClr val="1E4926"/>
                </a:solidFill>
                <a:latin typeface="Lato"/>
              </a:rPr>
              <a:t>retention purge cascades</a:t>
            </a:r>
          </a:p>
          <a:p>
            <a:pPr algn="l">
              <a:lnSpc>
                <a:spcPct val="110000"/>
              </a:lnSpc>
              <a:spcAft>
                <a:spcPts val="400"/>
              </a:spcAft>
            </a:pPr>
            <a:r>
              <a:rPr sz="1200" b="0">
                <a:solidFill>
                  <a:srgbClr val="457C5B"/>
                </a:solidFill>
                <a:latin typeface="Lato"/>
              </a:rPr>
              <a:t>●  </a:t>
            </a:r>
            <a:r>
              <a:rPr sz="1800" b="0">
                <a:solidFill>
                  <a:srgbClr val="1E4926"/>
                </a:solidFill>
                <a:latin typeface="Lato"/>
              </a:rPr>
              <a:t>blank prompt → HTTP 422, not 500</a:t>
            </a:r>
          </a:p>
          <a:p>
            <a:pPr algn="l">
              <a:lnSpc>
                <a:spcPct val="110000"/>
              </a:lnSpc>
              <a:spcAft>
                <a:spcPts val="400"/>
              </a:spcAft>
            </a:pPr>
            <a:r>
              <a:rPr sz="1200" b="0">
                <a:solidFill>
                  <a:srgbClr val="457C5B"/>
                </a:solidFill>
                <a:latin typeface="Lato"/>
              </a:rPr>
              <a:t>●  </a:t>
            </a:r>
            <a:r>
              <a:rPr sz="1800" b="0">
                <a:solidFill>
                  <a:srgbClr val="1E4926"/>
                </a:solidFill>
                <a:latin typeface="Lato"/>
              </a:rPr>
              <a:t>invalid Stage C answer → Stage B kept</a:t>
            </a:r>
          </a:p>
          <a:p>
            <a:pPr algn="l">
              <a:lnSpc>
                <a:spcPct val="110000"/>
              </a:lnSpc>
              <a:spcAft>
                <a:spcPts val="400"/>
              </a:spcAft>
            </a:pPr>
            <a:r>
              <a:rPr sz="1200" b="0">
                <a:solidFill>
                  <a:srgbClr val="457C5B"/>
                </a:solidFill>
                <a:latin typeface="Lato"/>
              </a:rPr>
              <a:t>●  </a:t>
            </a:r>
            <a:r>
              <a:rPr sz="1800" b="0">
                <a:solidFill>
                  <a:srgbClr val="1E4926"/>
                </a:solidFill>
                <a:latin typeface="Lato"/>
              </a:rPr>
              <a:t>sandbox has no network</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9405415">
            <a:off x="-2955826" y="-922147"/>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470692" y="738526"/>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0" id="1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INTEGRATION AND SYSTEM TESTING</a:t>
            </a:r>
          </a:p>
        </p:txBody>
      </p:sp>
      <p:sp>
        <p:nvSpPr>
          <p:cNvPr name="Freeform 44" id="4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
        <p:nvSpPr>
          <p:cNvPr id="45" name="Rounded Rectangle 44"/>
          <p:cNvSpPr/>
          <p:nvPr/>
        </p:nvSpPr>
        <p:spPr>
          <a:xfrm>
            <a:off x="914400" y="210312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88720" y="228600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FREEZE CHECK</a:t>
            </a:r>
          </a:p>
        </p:txBody>
      </p:sp>
      <p:sp>
        <p:nvSpPr>
          <p:cNvPr id="47" name="TextBox 46"/>
          <p:cNvSpPr txBox="1"/>
          <p:nvPr/>
        </p:nvSpPr>
        <p:spPr>
          <a:xfrm>
            <a:off x="1188720" y="278892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BYTE-IDENTICAL</a:t>
            </a:r>
          </a:p>
        </p:txBody>
      </p:sp>
      <p:sp>
        <p:nvSpPr>
          <p:cNvPr id="48" name="TextBox 47"/>
          <p:cNvSpPr txBox="1"/>
          <p:nvPr/>
        </p:nvSpPr>
        <p:spPr>
          <a:xfrm>
            <a:off x="1188720" y="370332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482 test prompts, Stage A+B vs tag frozen-for-test (sha256 35f7d4dc…)</a:t>
            </a:r>
          </a:p>
        </p:txBody>
      </p:sp>
      <p:sp>
        <p:nvSpPr>
          <p:cNvPr id="49" name="Rounded Rectangle 48"/>
          <p:cNvSpPr/>
          <p:nvPr/>
        </p:nvSpPr>
        <p:spPr>
          <a:xfrm>
            <a:off x="6519672" y="210312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793992" y="228600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UI END-TO-END</a:t>
            </a:r>
          </a:p>
        </p:txBody>
      </p:sp>
      <p:sp>
        <p:nvSpPr>
          <p:cNvPr id="51" name="TextBox 50"/>
          <p:cNvSpPr txBox="1"/>
          <p:nvPr/>
        </p:nvSpPr>
        <p:spPr>
          <a:xfrm>
            <a:off x="6793992" y="278892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13 / 13</a:t>
            </a:r>
          </a:p>
        </p:txBody>
      </p:sp>
      <p:sp>
        <p:nvSpPr>
          <p:cNvPr id="52" name="TextBox 51"/>
          <p:cNvSpPr txBox="1"/>
          <p:nvPr/>
        </p:nvSpPr>
        <p:spPr>
          <a:xfrm>
            <a:off x="6793992" y="370332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Playwright + Chrome: optimize, compare, suite, history, image mode, no console errors</a:t>
            </a:r>
          </a:p>
        </p:txBody>
      </p:sp>
      <p:sp>
        <p:nvSpPr>
          <p:cNvPr id="53" name="Rounded Rectangle 52"/>
          <p:cNvSpPr/>
          <p:nvPr/>
        </p:nvSpPr>
        <p:spPr>
          <a:xfrm>
            <a:off x="12124944" y="210312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2399264" y="228600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API END-TO-END</a:t>
            </a:r>
          </a:p>
        </p:txBody>
      </p:sp>
      <p:sp>
        <p:nvSpPr>
          <p:cNvPr id="55" name="TextBox 54"/>
          <p:cNvSpPr txBox="1"/>
          <p:nvPr/>
        </p:nvSpPr>
        <p:spPr>
          <a:xfrm>
            <a:off x="12399264" y="278892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pytest</a:t>
            </a:r>
          </a:p>
        </p:txBody>
      </p:sp>
      <p:sp>
        <p:nvSpPr>
          <p:cNvPr id="56" name="TextBox 55"/>
          <p:cNvSpPr txBox="1"/>
          <p:nvPr/>
        </p:nvSpPr>
        <p:spPr>
          <a:xfrm>
            <a:off x="12399264" y="370332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FastAPI TestClient: Stage C on/off, 422 errors, retention, PII-scrubbed Compare</a:t>
            </a:r>
          </a:p>
        </p:txBody>
      </p:sp>
      <p:sp>
        <p:nvSpPr>
          <p:cNvPr id="57" name="Rounded Rectangle 56"/>
          <p:cNvSpPr/>
          <p:nvPr/>
        </p:nvSpPr>
        <p:spPr>
          <a:xfrm>
            <a:off x="914400" y="534924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188720" y="553212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FULL PIPELINE</a:t>
            </a:r>
          </a:p>
        </p:txBody>
      </p:sp>
      <p:sp>
        <p:nvSpPr>
          <p:cNvPr id="59" name="TextBox 58"/>
          <p:cNvSpPr txBox="1"/>
          <p:nvPr/>
        </p:nvSpPr>
        <p:spPr>
          <a:xfrm>
            <a:off x="1188720" y="603504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482 + 44</a:t>
            </a:r>
          </a:p>
        </p:txBody>
      </p:sp>
      <p:sp>
        <p:nvSpPr>
          <p:cNvPr id="60" name="TextBox 59"/>
          <p:cNvSpPr txBox="1"/>
          <p:nvPr/>
        </p:nvSpPr>
        <p:spPr>
          <a:xfrm>
            <a:off x="1188720" y="694944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test split run once (2 Oct) · benchmark with a real LLM + blind judge</a:t>
            </a:r>
          </a:p>
        </p:txBody>
      </p:sp>
      <p:sp>
        <p:nvSpPr>
          <p:cNvPr id="61" name="Rounded Rectangle 60"/>
          <p:cNvSpPr/>
          <p:nvPr/>
        </p:nvSpPr>
        <p:spPr>
          <a:xfrm>
            <a:off x="6519672" y="534924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793992" y="553212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CODING SANDBOX</a:t>
            </a:r>
          </a:p>
        </p:txBody>
      </p:sp>
      <p:sp>
        <p:nvSpPr>
          <p:cNvPr id="63" name="TextBox 62"/>
          <p:cNvSpPr txBox="1"/>
          <p:nvPr/>
        </p:nvSpPr>
        <p:spPr>
          <a:xfrm>
            <a:off x="6793992" y="603504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20.7 → 34.5%</a:t>
            </a:r>
          </a:p>
        </p:txBody>
      </p:sp>
      <p:sp>
        <p:nvSpPr>
          <p:cNvPr id="64" name="TextBox 63"/>
          <p:cNvSpPr txBox="1"/>
          <p:nvPr/>
        </p:nvSpPr>
        <p:spPr>
          <a:xfrm>
            <a:off x="6793992" y="694944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pass@1 strict, 29 Python items; bubblewrap: no network, read-only</a:t>
            </a:r>
          </a:p>
        </p:txBody>
      </p:sp>
      <p:sp>
        <p:nvSpPr>
          <p:cNvPr id="65" name="Rounded Rectangle 64"/>
          <p:cNvSpPr/>
          <p:nvPr/>
        </p:nvSpPr>
        <p:spPr>
          <a:xfrm>
            <a:off x="12124944" y="5349240"/>
            <a:ext cx="5257800" cy="30175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99264" y="5532120"/>
            <a:ext cx="47548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5FFF9"/>
                </a:solidFill>
                <a:latin typeface="Manifold Bold"/>
              </a:rPr>
              <a:t>CORRECTNESS SUITE</a:t>
            </a:r>
          </a:p>
        </p:txBody>
      </p:sp>
      <p:sp>
        <p:nvSpPr>
          <p:cNvPr id="67" name="TextBox 66"/>
          <p:cNvSpPr txBox="1"/>
          <p:nvPr/>
        </p:nvSpPr>
        <p:spPr>
          <a:xfrm>
            <a:off x="12399264" y="6035040"/>
            <a:ext cx="4754880" cy="822960"/>
          </a:xfrm>
          <a:prstGeom prst="rect">
            <a:avLst/>
          </a:prstGeom>
          <a:noFill/>
        </p:spPr>
        <p:txBody>
          <a:bodyPr wrap="square" anchor="ctr" lIns="0" rIns="0" tIns="0" bIns="0">
            <a:spAutoFit/>
          </a:bodyPr>
          <a:lstStyle/>
          <a:p>
            <a:pPr algn="l">
              <a:lnSpc>
                <a:spcPct val="110000"/>
              </a:lnSpc>
              <a:spcAft>
                <a:spcPts val="600"/>
              </a:spcAft>
            </a:pPr>
            <a:r>
              <a:rPr sz="3400" b="0">
                <a:solidFill>
                  <a:srgbClr val="F5FFF9"/>
                </a:solidFill>
                <a:latin typeface="Manifold Ultra-Bold"/>
              </a:rPr>
              <a:t>37 → 42 / 50</a:t>
            </a:r>
          </a:p>
        </p:txBody>
      </p:sp>
      <p:sp>
        <p:nvSpPr>
          <p:cNvPr id="68" name="TextBox 67"/>
          <p:cNvSpPr txBox="1"/>
          <p:nvPr/>
        </p:nvSpPr>
        <p:spPr>
          <a:xfrm>
            <a:off x="12399264" y="6949440"/>
            <a:ext cx="4754880" cy="132588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hand-written cases with verifiable answers, gold human-reviewed</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TEST CASES AND CORRECTNESS</a:t>
            </a:r>
          </a:p>
        </p:txBody>
      </p:sp>
      <p:graphicFrame>
        <p:nvGraphicFramePr>
          <p:cNvPr id="10" name="Table 9"/>
          <p:cNvGraphicFramePr>
            <a:graphicFrameLocks noGrp="1"/>
          </p:cNvGraphicFramePr>
          <p:nvPr/>
        </p:nvGraphicFramePr>
        <p:xfrm>
          <a:off x="914400" y="2103120"/>
          <a:ext cx="10881360" cy="5376672"/>
        </p:xfrm>
        <a:graphic>
          <a:graphicData uri="http://schemas.openxmlformats.org/drawingml/2006/table">
            <a:tbl>
              <a:tblPr firstRow="0" bandRow="0"/>
              <a:tblGrid>
                <a:gridCol w="914400"/>
                <a:gridCol w="2468880"/>
                <a:gridCol w="3840480"/>
                <a:gridCol w="2560320"/>
                <a:gridCol w="1097280"/>
              </a:tblGrid>
              <a:tr h="768096">
                <a:tc>
                  <a:txBody>
                    <a:bodyPr wrap="square"/>
                    <a:lstStyle/>
                    <a:p>
                      <a:r>
                        <a:rPr sz="1500" b="1">
                          <a:solidFill>
                            <a:srgbClr val="F5FFF9"/>
                          </a:solidFill>
                          <a:latin typeface="Manifold Bold"/>
                        </a:rPr>
                        <a:t>ID</a:t>
                      </a:r>
                    </a:p>
                  </a:txBody>
                  <a:tcPr marL="109728" marR="109728" marT="45720" marB="45720" anchor="ctr">
                    <a:solidFill>
                      <a:srgbClr val="457C5B"/>
                    </a:solidFill>
                  </a:tcPr>
                </a:tc>
                <a:tc>
                  <a:txBody>
                    <a:bodyPr wrap="square"/>
                    <a:lstStyle/>
                    <a:p>
                      <a:r>
                        <a:rPr sz="1500" b="1">
                          <a:solidFill>
                            <a:srgbClr val="F5FFF9"/>
                          </a:solidFill>
                          <a:latin typeface="Manifold Bold"/>
                        </a:rPr>
                        <a:t>Case</a:t>
                      </a:r>
                    </a:p>
                  </a:txBody>
                  <a:tcPr marL="109728" marR="109728" marT="45720" marB="45720" anchor="ctr">
                    <a:solidFill>
                      <a:srgbClr val="457C5B"/>
                    </a:solidFill>
                  </a:tcPr>
                </a:tc>
                <a:tc>
                  <a:txBody>
                    <a:bodyPr wrap="square"/>
                    <a:lstStyle/>
                    <a:p>
                      <a:r>
                        <a:rPr sz="1500" b="1">
                          <a:solidFill>
                            <a:srgbClr val="F5FFF9"/>
                          </a:solidFill>
                          <a:latin typeface="Manifold Bold"/>
                        </a:rPr>
                        <a:t>Input</a:t>
                      </a:r>
                    </a:p>
                  </a:txBody>
                  <a:tcPr marL="109728" marR="109728" marT="45720" marB="45720" anchor="ctr">
                    <a:solidFill>
                      <a:srgbClr val="457C5B"/>
                    </a:solidFill>
                  </a:tcPr>
                </a:tc>
                <a:tc>
                  <a:txBody>
                    <a:bodyPr wrap="square"/>
                    <a:lstStyle/>
                    <a:p>
                      <a:r>
                        <a:rPr sz="1500" b="1">
                          <a:solidFill>
                            <a:srgbClr val="F5FFF9"/>
                          </a:solidFill>
                          <a:latin typeface="Manifold Bold"/>
                        </a:rPr>
                        <a:t>Result</a:t>
                      </a:r>
                    </a:p>
                  </a:txBody>
                  <a:tcPr marL="109728" marR="109728" marT="45720" marB="45720" anchor="ctr">
                    <a:solidFill>
                      <a:srgbClr val="457C5B"/>
                    </a:solidFill>
                  </a:tcPr>
                </a:tc>
                <a:tc>
                  <a:txBody>
                    <a:bodyPr wrap="square"/>
                    <a:lstStyle/>
                    <a:p>
                      <a:r>
                        <a:rPr sz="1500" b="1">
                          <a:solidFill>
                            <a:srgbClr val="F5FFF9"/>
                          </a:solidFill>
                          <a:latin typeface="Manifold Bold"/>
                        </a:rPr>
                        <a:t>Status</a:t>
                      </a:r>
                    </a:p>
                  </a:txBody>
                  <a:tcPr marL="109728" marR="109728" marT="45720" marB="45720" anchor="ctr">
                    <a:solidFill>
                      <a:srgbClr val="457C5B"/>
                    </a:solidFill>
                  </a:tcPr>
                </a:tc>
              </a:tr>
              <a:tr h="768096">
                <a:tc>
                  <a:txBody>
                    <a:bodyPr wrap="square"/>
                    <a:lstStyle/>
                    <a:p>
                      <a:r>
                        <a:rPr sz="1500" b="0">
                          <a:solidFill>
                            <a:srgbClr val="1E4926"/>
                          </a:solidFill>
                          <a:latin typeface="Lato"/>
                        </a:rPr>
                        <a:t>TC04</a:t>
                      </a:r>
                    </a:p>
                  </a:txBody>
                  <a:tcPr marL="109728" marR="109728" marT="45720" marB="45720" anchor="ctr">
                    <a:solidFill>
                      <a:srgbClr val="FFFFFF"/>
                    </a:solidFill>
                  </a:tcPr>
                </a:tc>
                <a:tc>
                  <a:txBody>
                    <a:bodyPr wrap="square"/>
                    <a:lstStyle/>
                    <a:p>
                      <a:r>
                        <a:rPr sz="1500" b="0">
                          <a:solidFill>
                            <a:srgbClr val="1E4926"/>
                          </a:solidFill>
                          <a:latin typeface="Lato"/>
                        </a:rPr>
                        <a:t>B01 removes filler</a:t>
                      </a:r>
                    </a:p>
                  </a:txBody>
                  <a:tcPr marL="109728" marR="109728" marT="45720" marB="45720" anchor="ctr">
                    <a:solidFill>
                      <a:srgbClr val="FFFFFF"/>
                    </a:solidFill>
                  </a:tcPr>
                </a:tc>
                <a:tc>
                  <a:txBody>
                    <a:bodyPr wrap="square"/>
                    <a:lstStyle/>
                    <a:p>
                      <a:r>
                        <a:rPr sz="1500" b="0">
                          <a:solidFill>
                            <a:srgbClr val="1E4926"/>
                          </a:solidFill>
                          <a:latin typeface="Lato"/>
                        </a:rPr>
                        <a:t>"hey can you please summarize the text for me?"</a:t>
                      </a:r>
                    </a:p>
                  </a:txBody>
                  <a:tcPr marL="109728" marR="109728" marT="45720" marB="45720" anchor="ctr">
                    <a:solidFill>
                      <a:srgbClr val="FFFFFF"/>
                    </a:solidFill>
                  </a:tcPr>
                </a:tc>
                <a:tc>
                  <a:txBody>
                    <a:bodyPr wrap="square"/>
                    <a:lstStyle/>
                    <a:p>
                      <a:r>
                        <a:rPr sz="1500" b="0">
                          <a:solidFill>
                            <a:srgbClr val="1E4926"/>
                          </a:solidFill>
                          <a:latin typeface="Lato"/>
                        </a:rPr>
                        <a:t>"Summarize the text."</a:t>
                      </a:r>
                    </a:p>
                  </a:txBody>
                  <a:tcPr marL="109728" marR="109728" marT="45720" marB="45720" anchor="ctr">
                    <a:solidFill>
                      <a:srgbClr val="FFFFFF"/>
                    </a:solidFill>
                  </a:tcPr>
                </a:tc>
                <a:tc>
                  <a:txBody>
                    <a:bodyPr wrap="square"/>
                    <a:lstStyle/>
                    <a:p>
                      <a:r>
                        <a:rPr sz="1500" b="1">
                          <a:solidFill>
                            <a:srgbClr val="1E7B34"/>
                          </a:solidFill>
                          <a:latin typeface="Manifold Bold"/>
                        </a:rPr>
                        <a:t>PASS</a:t>
                      </a:r>
                    </a:p>
                  </a:txBody>
                  <a:tcPr marL="109728" marR="109728" marT="45720" marB="45720" anchor="ctr">
                    <a:solidFill>
                      <a:srgbClr val="FFFFFF"/>
                    </a:solidFill>
                  </a:tcPr>
                </a:tc>
              </a:tr>
              <a:tr h="768096">
                <a:tc>
                  <a:txBody>
                    <a:bodyPr wrap="square"/>
                    <a:lstStyle/>
                    <a:p>
                      <a:r>
                        <a:rPr sz="1500" b="0">
                          <a:solidFill>
                            <a:srgbClr val="1E4926"/>
                          </a:solidFill>
                          <a:latin typeface="Lato"/>
                        </a:rPr>
                        <a:t>TC16</a:t>
                      </a:r>
                    </a:p>
                  </a:txBody>
                  <a:tcPr marL="109728" marR="109728" marT="45720" marB="45720" anchor="ctr">
                    <a:solidFill>
                      <a:srgbClr val="F5FFF9"/>
                    </a:solidFill>
                  </a:tcPr>
                </a:tc>
                <a:tc>
                  <a:txBody>
                    <a:bodyPr wrap="square"/>
                    <a:lstStyle/>
                    <a:p>
                      <a:r>
                        <a:rPr sz="1500" b="0">
                          <a:solidFill>
                            <a:srgbClr val="1E4926"/>
                          </a:solidFill>
                          <a:latin typeface="Lato"/>
                        </a:rPr>
                        <a:t>PII scrubbed</a:t>
                      </a:r>
                    </a:p>
                  </a:txBody>
                  <a:tcPr marL="109728" marR="109728" marT="45720" marB="45720" anchor="ctr">
                    <a:solidFill>
                      <a:srgbClr val="F5FFF9"/>
                    </a:solidFill>
                  </a:tcPr>
                </a:tc>
                <a:tc>
                  <a:txBody>
                    <a:bodyPr wrap="square"/>
                    <a:lstStyle/>
                    <a:p>
                      <a:r>
                        <a:rPr sz="1500" b="0">
                          <a:solidFill>
                            <a:srgbClr val="1E4926"/>
                          </a:solidFill>
                          <a:latin typeface="Lato"/>
                        </a:rPr>
                        <a:t>mail rahul.k@example.com … 98765 43210</a:t>
                      </a:r>
                    </a:p>
                  </a:txBody>
                  <a:tcPr marL="109728" marR="109728" marT="45720" marB="45720" anchor="ctr">
                    <a:solidFill>
                      <a:srgbClr val="F5FFF9"/>
                    </a:solidFill>
                  </a:tcPr>
                </a:tc>
                <a:tc>
                  <a:txBody>
                    <a:bodyPr wrap="square"/>
                    <a:lstStyle/>
                    <a:p>
                      <a:r>
                        <a:rPr sz="1500" b="0">
                          <a:solidFill>
                            <a:srgbClr val="1E4926"/>
                          </a:solidFill>
                          <a:latin typeface="Lato"/>
                        </a:rPr>
                        <a:t>1 [EMAIL], 2 [PHONE]</a:t>
                      </a:r>
                    </a:p>
                  </a:txBody>
                  <a:tcPr marL="109728" marR="109728" marT="45720" marB="45720" anchor="ctr">
                    <a:solidFill>
                      <a:srgbClr val="F5FFF9"/>
                    </a:solidFill>
                  </a:tcPr>
                </a:tc>
                <a:tc>
                  <a:txBody>
                    <a:bodyPr wrap="square"/>
                    <a:lstStyle/>
                    <a:p>
                      <a:r>
                        <a:rPr sz="1500" b="1">
                          <a:solidFill>
                            <a:srgbClr val="1E7B34"/>
                          </a:solidFill>
                          <a:latin typeface="Manifold Bold"/>
                        </a:rPr>
                        <a:t>PASS</a:t>
                      </a:r>
                    </a:p>
                  </a:txBody>
                  <a:tcPr marL="109728" marR="109728" marT="45720" marB="45720" anchor="ctr">
                    <a:solidFill>
                      <a:srgbClr val="F5FFF9"/>
                    </a:solidFill>
                  </a:tcPr>
                </a:tc>
              </a:tr>
              <a:tr h="768096">
                <a:tc>
                  <a:txBody>
                    <a:bodyPr wrap="square"/>
                    <a:lstStyle/>
                    <a:p>
                      <a:r>
                        <a:rPr sz="1500" b="0">
                          <a:solidFill>
                            <a:srgbClr val="1E4926"/>
                          </a:solidFill>
                          <a:latin typeface="Lato"/>
                        </a:rPr>
                        <a:t>TC26</a:t>
                      </a:r>
                    </a:p>
                  </a:txBody>
                  <a:tcPr marL="109728" marR="109728" marT="45720" marB="45720" anchor="ctr">
                    <a:solidFill>
                      <a:srgbClr val="FFFFFF"/>
                    </a:solidFill>
                  </a:tcPr>
                </a:tc>
                <a:tc>
                  <a:txBody>
                    <a:bodyPr wrap="square"/>
                    <a:lstStyle/>
                    <a:p>
                      <a:r>
                        <a:rPr sz="1500" b="0">
                          <a:solidFill>
                            <a:srgbClr val="1E4926"/>
                          </a:solidFill>
                          <a:latin typeface="Lato"/>
                        </a:rPr>
                        <a:t>Freeze check</a:t>
                      </a:r>
                    </a:p>
                  </a:txBody>
                  <a:tcPr marL="109728" marR="109728" marT="45720" marB="45720" anchor="ctr">
                    <a:solidFill>
                      <a:srgbClr val="FFFFFF"/>
                    </a:solidFill>
                  </a:tcPr>
                </a:tc>
                <a:tc>
                  <a:txBody>
                    <a:bodyPr wrap="square"/>
                    <a:lstStyle/>
                    <a:p>
                      <a:r>
                        <a:rPr sz="1500" b="0">
                          <a:solidFill>
                            <a:srgbClr val="1E4926"/>
                          </a:solidFill>
                          <a:latin typeface="Lato"/>
                        </a:rPr>
                        <a:t>482 test prompts</a:t>
                      </a:r>
                    </a:p>
                  </a:txBody>
                  <a:tcPr marL="109728" marR="109728" marT="45720" marB="45720" anchor="ctr">
                    <a:solidFill>
                      <a:srgbClr val="FFFFFF"/>
                    </a:solidFill>
                  </a:tcPr>
                </a:tc>
                <a:tc>
                  <a:txBody>
                    <a:bodyPr wrap="square"/>
                    <a:lstStyle/>
                    <a:p>
                      <a:r>
                        <a:rPr sz="1500" b="0">
                          <a:solidFill>
                            <a:srgbClr val="1E4926"/>
                          </a:solidFill>
                          <a:latin typeface="Lato"/>
                        </a:rPr>
                        <a:t>byte-identical</a:t>
                      </a:r>
                    </a:p>
                  </a:txBody>
                  <a:tcPr marL="109728" marR="109728" marT="45720" marB="45720" anchor="ctr">
                    <a:solidFill>
                      <a:srgbClr val="FFFFFF"/>
                    </a:solidFill>
                  </a:tcPr>
                </a:tc>
                <a:tc>
                  <a:txBody>
                    <a:bodyPr wrap="square"/>
                    <a:lstStyle/>
                    <a:p>
                      <a:r>
                        <a:rPr sz="1500" b="1">
                          <a:solidFill>
                            <a:srgbClr val="1E7B34"/>
                          </a:solidFill>
                          <a:latin typeface="Manifold Bold"/>
                        </a:rPr>
                        <a:t>PASS</a:t>
                      </a:r>
                    </a:p>
                  </a:txBody>
                  <a:tcPr marL="109728" marR="109728" marT="45720" marB="45720" anchor="ctr">
                    <a:solidFill>
                      <a:srgbClr val="FFFFFF"/>
                    </a:solidFill>
                  </a:tcPr>
                </a:tc>
              </a:tr>
              <a:tr h="768096">
                <a:tc>
                  <a:txBody>
                    <a:bodyPr wrap="square"/>
                    <a:lstStyle/>
                    <a:p>
                      <a:r>
                        <a:rPr sz="1500" b="0">
                          <a:solidFill>
                            <a:srgbClr val="1E4926"/>
                          </a:solidFill>
                          <a:latin typeface="Lato"/>
                        </a:rPr>
                        <a:t>TC31</a:t>
                      </a:r>
                    </a:p>
                  </a:txBody>
                  <a:tcPr marL="109728" marR="109728" marT="45720" marB="45720" anchor="ctr">
                    <a:solidFill>
                      <a:srgbClr val="F5FFF9"/>
                    </a:solidFill>
                  </a:tcPr>
                </a:tc>
                <a:tc>
                  <a:txBody>
                    <a:bodyPr wrap="square"/>
                    <a:lstStyle/>
                    <a:p>
                      <a:r>
                        <a:rPr sz="1500" b="0">
                          <a:solidFill>
                            <a:srgbClr val="1E4926"/>
                          </a:solidFill>
                          <a:latin typeface="Lato"/>
                        </a:rPr>
                        <a:t>cqa-01 hostel fee</a:t>
                      </a:r>
                    </a:p>
                  </a:txBody>
                  <a:tcPr marL="109728" marR="109728" marT="45720" marB="45720" anchor="ctr">
                    <a:solidFill>
                      <a:srgbClr val="F5FFF9"/>
                    </a:solidFill>
                  </a:tcPr>
                </a:tc>
                <a:tc>
                  <a:txBody>
                    <a:bodyPr wrap="square"/>
                    <a:lstStyle/>
                    <a:p>
                      <a:r>
                        <a:rPr sz="1500" b="0">
                          <a:solidFill>
                            <a:srgbClr val="1E4926"/>
                          </a:solidFill>
                          <a:latin typeface="Lato"/>
                        </a:rPr>
                        <a:t>"if i pay on 18 july how much total??"</a:t>
                      </a:r>
                    </a:p>
                  </a:txBody>
                  <a:tcPr marL="109728" marR="109728" marT="45720" marB="45720" anchor="ctr">
                    <a:solidFill>
                      <a:srgbClr val="F5FFF9"/>
                    </a:solidFill>
                  </a:tcPr>
                </a:tc>
                <a:tc>
                  <a:txBody>
                    <a:bodyPr wrap="square"/>
                    <a:lstStyle/>
                    <a:p>
                      <a:r>
                        <a:rPr sz="1500" b="0">
                          <a:solidFill>
                            <a:srgbClr val="1E4926"/>
                          </a:solidFill>
                          <a:latin typeface="Lato"/>
                        </a:rPr>
                        <a:t>80300 (vague said 85300)</a:t>
                      </a:r>
                    </a:p>
                  </a:txBody>
                  <a:tcPr marL="109728" marR="109728" marT="45720" marB="45720" anchor="ctr">
                    <a:solidFill>
                      <a:srgbClr val="F5FFF9"/>
                    </a:solidFill>
                  </a:tcPr>
                </a:tc>
                <a:tc>
                  <a:txBody>
                    <a:bodyPr wrap="square"/>
                    <a:lstStyle/>
                    <a:p>
                      <a:r>
                        <a:rPr sz="1500" b="1">
                          <a:solidFill>
                            <a:srgbClr val="1E7B34"/>
                          </a:solidFill>
                          <a:latin typeface="Manifold Bold"/>
                        </a:rPr>
                        <a:t>PASS</a:t>
                      </a:r>
                    </a:p>
                  </a:txBody>
                  <a:tcPr marL="109728" marR="109728" marT="45720" marB="45720" anchor="ctr">
                    <a:solidFill>
                      <a:srgbClr val="F5FFF9"/>
                    </a:solidFill>
                  </a:tcPr>
                </a:tc>
              </a:tr>
              <a:tr h="768096">
                <a:tc>
                  <a:txBody>
                    <a:bodyPr wrap="square"/>
                    <a:lstStyle/>
                    <a:p>
                      <a:r>
                        <a:rPr sz="1500" b="0">
                          <a:solidFill>
                            <a:srgbClr val="1E4926"/>
                          </a:solidFill>
                          <a:latin typeface="Lato"/>
                        </a:rPr>
                        <a:t>TC34</a:t>
                      </a:r>
                    </a:p>
                  </a:txBody>
                  <a:tcPr marL="109728" marR="109728" marT="45720" marB="45720" anchor="ctr">
                    <a:solidFill>
                      <a:srgbClr val="FFFFFF"/>
                    </a:solidFill>
                  </a:tcPr>
                </a:tc>
                <a:tc>
                  <a:txBody>
                    <a:bodyPr wrap="square"/>
                    <a:lstStyle/>
                    <a:p>
                      <a:r>
                        <a:rPr sz="1500" b="0">
                          <a:solidFill>
                            <a:srgbClr val="1E4926"/>
                          </a:solidFill>
                          <a:latin typeface="Lato"/>
                        </a:rPr>
                        <a:t>cls-09 attendance</a:t>
                      </a:r>
                    </a:p>
                  </a:txBody>
                  <a:tcPr marL="109728" marR="109728" marT="45720" marB="45720" anchor="ctr">
                    <a:solidFill>
                      <a:srgbClr val="FFFFFF"/>
                    </a:solidFill>
                  </a:tcPr>
                </a:tc>
                <a:tc>
                  <a:txBody>
                    <a:bodyPr wrap="square"/>
                    <a:lstStyle/>
                    <a:p>
                      <a:r>
                        <a:rPr sz="1500" b="0">
                          <a:solidFill>
                            <a:srgbClr val="1E4926"/>
                          </a:solidFill>
                          <a:latin typeface="Lato"/>
                        </a:rPr>
                        <a:t>"mark each student safe warning or detained"</a:t>
                      </a:r>
                    </a:p>
                  </a:txBody>
                  <a:tcPr marL="109728" marR="109728" marT="45720" marB="45720" anchor="ctr">
                    <a:solidFill>
                      <a:srgbClr val="FFFFFF"/>
                    </a:solidFill>
                  </a:tcPr>
                </a:tc>
                <a:tc>
                  <a:txBody>
                    <a:bodyPr wrap="square"/>
                    <a:lstStyle/>
                    <a:p>
                      <a:r>
                        <a:rPr sz="1500" b="0">
                          <a:solidFill>
                            <a:srgbClr val="1E4926"/>
                          </a:solidFill>
                          <a:latin typeface="Lato"/>
                        </a:rPr>
                        <a:t>got a Python script</a:t>
                      </a:r>
                    </a:p>
                  </a:txBody>
                  <a:tcPr marL="109728" marR="109728" marT="45720" marB="45720" anchor="ctr">
                    <a:solidFill>
                      <a:srgbClr val="FFFFFF"/>
                    </a:solidFill>
                  </a:tcPr>
                </a:tc>
                <a:tc>
                  <a:txBody>
                    <a:bodyPr wrap="square"/>
                    <a:lstStyle/>
                    <a:p>
                      <a:r>
                        <a:rPr sz="1500" b="1">
                          <a:solidFill>
                            <a:srgbClr val="8E1711"/>
                          </a:solidFill>
                          <a:latin typeface="Manifold Bold"/>
                        </a:rPr>
                        <a:t>FAIL</a:t>
                      </a:r>
                    </a:p>
                  </a:txBody>
                  <a:tcPr marL="109728" marR="109728" marT="45720" marB="45720" anchor="ctr">
                    <a:solidFill>
                      <a:srgbClr val="FFFFFF"/>
                    </a:solidFill>
                  </a:tcPr>
                </a:tc>
              </a:tr>
              <a:tr h="768096">
                <a:tc>
                  <a:txBody>
                    <a:bodyPr wrap="square"/>
                    <a:lstStyle/>
                    <a:p>
                      <a:r>
                        <a:rPr sz="1500" b="0">
                          <a:solidFill>
                            <a:srgbClr val="1E4926"/>
                          </a:solidFill>
                          <a:latin typeface="Lato"/>
                        </a:rPr>
                        <a:t>TC37</a:t>
                      </a:r>
                    </a:p>
                  </a:txBody>
                  <a:tcPr marL="109728" marR="109728" marT="45720" marB="45720" anchor="ctr">
                    <a:solidFill>
                      <a:srgbClr val="F5FFF9"/>
                    </a:solidFill>
                  </a:tcPr>
                </a:tc>
                <a:tc>
                  <a:txBody>
                    <a:bodyPr wrap="square"/>
                    <a:lstStyle/>
                    <a:p>
                      <a:r>
                        <a:rPr sz="1500" b="0">
                          <a:solidFill>
                            <a:srgbClr val="1E4926"/>
                          </a:solidFill>
                          <a:latin typeface="Lato"/>
                        </a:rPr>
                        <a:t>cod-10 recipe scaler</a:t>
                      </a:r>
                    </a:p>
                  </a:txBody>
                  <a:tcPr marL="109728" marR="109728" marT="45720" marB="45720" anchor="ctr">
                    <a:solidFill>
                      <a:srgbClr val="F5FFF9"/>
                    </a:solidFill>
                  </a:tcPr>
                </a:tc>
                <a:tc>
                  <a:txBody>
                    <a:bodyPr wrap="square"/>
                    <a:lstStyle/>
                    <a:p>
                      <a:r>
                        <a:rPr sz="1500" b="0">
                          <a:solidFill>
                            <a:srgbClr val="1E4926"/>
                          </a:solidFill>
                          <a:latin typeface="Lato"/>
                        </a:rPr>
                        <a:t>"write the scale fn for recipe app"</a:t>
                      </a:r>
                    </a:p>
                  </a:txBody>
                  <a:tcPr marL="109728" marR="109728" marT="45720" marB="45720" anchor="ctr">
                    <a:solidFill>
                      <a:srgbClr val="F5FFF9"/>
                    </a:solidFill>
                  </a:tcPr>
                </a:tc>
                <a:tc>
                  <a:txBody>
                    <a:bodyPr wrap="square"/>
                    <a:lstStyle/>
                    <a:p>
                      <a:r>
                        <a:rPr sz="1500" b="0">
                          <a:solidFill>
                            <a:srgbClr val="1E4926"/>
                          </a:solidFill>
                          <a:latin typeface="Lato"/>
                        </a:rPr>
                        <a:t>4/8 asserts</a:t>
                      </a:r>
                    </a:p>
                  </a:txBody>
                  <a:tcPr marL="109728" marR="109728" marT="45720" marB="45720" anchor="ctr">
                    <a:solidFill>
                      <a:srgbClr val="F5FFF9"/>
                    </a:solidFill>
                  </a:tcPr>
                </a:tc>
                <a:tc>
                  <a:txBody>
                    <a:bodyPr wrap="square"/>
                    <a:lstStyle/>
                    <a:p>
                      <a:r>
                        <a:rPr sz="1500" b="1">
                          <a:solidFill>
                            <a:srgbClr val="8E1711"/>
                          </a:solidFill>
                          <a:latin typeface="Manifold Bold"/>
                        </a:rPr>
                        <a:t>FAIL</a:t>
                      </a:r>
                    </a:p>
                  </a:txBody>
                  <a:tcPr marL="109728" marR="109728" marT="45720" marB="45720" anchor="ctr">
                    <a:solidFill>
                      <a:srgbClr val="F5FFF9"/>
                    </a:solidFill>
                  </a:tcPr>
                </a:tc>
              </a:tr>
            </a:tbl>
          </a:graphicData>
        </a:graphic>
      </p:graphicFrame>
      <p:sp>
        <p:nvSpPr>
          <p:cNvPr id="11" name="TextBox 10"/>
          <p:cNvSpPr txBox="1"/>
          <p:nvPr/>
        </p:nvSpPr>
        <p:spPr>
          <a:xfrm>
            <a:off x="914400" y="7635240"/>
            <a:ext cx="10881360" cy="457200"/>
          </a:xfrm>
          <a:prstGeom prst="rect">
            <a:avLst/>
          </a:prstGeom>
          <a:noFill/>
        </p:spPr>
        <p:txBody>
          <a:bodyPr wrap="square" anchor="t" lIns="0" rIns="0" tIns="0" bIns="0">
            <a:spAutoFit/>
          </a:bodyPr>
          <a:lstStyle/>
          <a:p>
            <a:pPr algn="l">
              <a:lnSpc>
                <a:spcPct val="110000"/>
              </a:lnSpc>
              <a:spcAft>
                <a:spcPts val="600"/>
              </a:spcAft>
            </a:pPr>
            <a:r>
              <a:rPr sz="2000" b="1">
                <a:solidFill>
                  <a:srgbClr val="457C5B"/>
                </a:solidFill>
                <a:latin typeface="Manifold Bold"/>
              </a:rPr>
              <a:t>Fixed 9 · broke 4 · McNemar p = 0.267 (not significant at n = 50)</a:t>
            </a:r>
          </a:p>
        </p:txBody>
      </p:sp>
      <p:sp>
        <p:nvSpPr>
          <p:cNvPr id="12" name="TextBox 11"/>
          <p:cNvSpPr txBox="1"/>
          <p:nvPr/>
        </p:nvSpPr>
        <p:spPr>
          <a:xfrm>
            <a:off x="914400" y="8183879"/>
            <a:ext cx="10881360" cy="1188720"/>
          </a:xfrm>
          <a:prstGeom prst="rect">
            <a:avLst/>
          </a:prstGeom>
          <a:noFill/>
        </p:spPr>
        <p:txBody>
          <a:bodyPr wrap="square" anchor="t" lIns="0" rIns="0" tIns="0" bIns="0">
            <a:spAutoFit/>
          </a:bodyPr>
          <a:lstStyle/>
          <a:p>
            <a:pPr algn="l">
              <a:lnSpc>
                <a:spcPct val="110000"/>
              </a:lnSpc>
              <a:spcAft>
                <a:spcPts val="600"/>
              </a:spcAft>
            </a:pPr>
            <a:r>
              <a:rPr sz="1800" b="0">
                <a:solidFill>
                  <a:srgbClr val="1E4926"/>
                </a:solidFill>
                <a:latin typeface="Lato"/>
              </a:rPr>
              <a:t>Failures: Stage A misread a table as code (cls-09); two summaries 2-3 words over the limit; one Stage C coding case passed 4 of 8 asserts.</a:t>
            </a:r>
          </a:p>
        </p:txBody>
      </p:sp>
      <p:sp>
        <p:nvSpPr>
          <p:cNvPr id="13" name="Rounded Rectangle 12"/>
          <p:cNvSpPr/>
          <p:nvPr/>
        </p:nvSpPr>
        <p:spPr>
          <a:xfrm>
            <a:off x="12161520" y="2103120"/>
            <a:ext cx="5212080" cy="4709160"/>
          </a:xfrm>
          <a:prstGeom prst="roundRect">
            <a:avLst>
              <a:gd name="adj" fmla="val 7000"/>
            </a:avLst>
          </a:prstGeom>
          <a:solidFill>
            <a:srgbClr val="FFFFFF"/>
          </a:solidFill>
          <a:ln w="19050">
            <a:solidFill>
              <a:srgbClr val="8AB7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4" name="Chart 13"/>
          <p:cNvGraphicFramePr>
            <a:graphicFrameLocks noGrp="1"/>
          </p:cNvGraphicFramePr>
          <p:nvPr/>
        </p:nvGraphicFramePr>
        <p:xfrm>
          <a:off x="12252960" y="2194560"/>
          <a:ext cx="5029200" cy="4526280"/>
        </p:xfrm>
        <a:graphic>
          <a:graphicData uri="http://schemas.openxmlformats.org/drawingml/2006/chart">
            <c:chart xmlns:c="http://schemas.openxmlformats.org/drawingml/2006/chart" r:id="rId3"/>
          </a:graphicData>
        </a:graphic>
      </p:graphicFrame>
      <p:sp>
        <p:nvSpPr>
          <p:cNvPr id="15" name="Rounded Rectangle 14"/>
          <p:cNvSpPr/>
          <p:nvPr/>
        </p:nvSpPr>
        <p:spPr>
          <a:xfrm>
            <a:off x="12161520" y="7086600"/>
            <a:ext cx="2514600" cy="224028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344400" y="7251192"/>
            <a:ext cx="2148840" cy="1232154"/>
          </a:xfrm>
          <a:prstGeom prst="rect">
            <a:avLst/>
          </a:prstGeom>
          <a:noFill/>
        </p:spPr>
        <p:txBody>
          <a:bodyPr wrap="square" anchor="ctr" lIns="0" rIns="0" tIns="0" bIns="0">
            <a:spAutoFit/>
          </a:bodyPr>
          <a:lstStyle/>
          <a:p>
            <a:pPr algn="ctr">
              <a:lnSpc>
                <a:spcPct val="110000"/>
              </a:lnSpc>
              <a:spcAft>
                <a:spcPts val="600"/>
              </a:spcAft>
            </a:pPr>
            <a:r>
              <a:rPr sz="3600" b="0">
                <a:solidFill>
                  <a:srgbClr val="F5FFF9"/>
                </a:solidFill>
                <a:latin typeface="Manifold Ultra-Bold"/>
              </a:rPr>
              <a:t>42/50</a:t>
            </a:r>
          </a:p>
        </p:txBody>
      </p:sp>
      <p:sp>
        <p:nvSpPr>
          <p:cNvPr id="17" name="TextBox 16"/>
          <p:cNvSpPr txBox="1"/>
          <p:nvPr/>
        </p:nvSpPr>
        <p:spPr>
          <a:xfrm>
            <a:off x="12390120" y="8430768"/>
            <a:ext cx="2057400" cy="851306"/>
          </a:xfrm>
          <a:prstGeom prst="rect">
            <a:avLst/>
          </a:prstGeom>
          <a:noFill/>
        </p:spPr>
        <p:txBody>
          <a:bodyPr wrap="square" anchor="t" lIns="0" rIns="0" tIns="0" bIns="0">
            <a:spAutoFit/>
          </a:bodyPr>
          <a:lstStyle/>
          <a:p>
            <a:pPr algn="ctr">
              <a:lnSpc>
                <a:spcPct val="110000"/>
              </a:lnSpc>
              <a:spcAft>
                <a:spcPts val="600"/>
              </a:spcAft>
            </a:pPr>
            <a:r>
              <a:rPr sz="1600" b="0">
                <a:solidFill>
                  <a:srgbClr val="F5FFF9"/>
                </a:solidFill>
                <a:latin typeface="Lato"/>
              </a:rPr>
              <a:t>optimized (vague 37)</a:t>
            </a:r>
          </a:p>
        </p:txBody>
      </p:sp>
      <p:sp>
        <p:nvSpPr>
          <p:cNvPr id="18" name="Rounded Rectangle 17"/>
          <p:cNvSpPr/>
          <p:nvPr/>
        </p:nvSpPr>
        <p:spPr>
          <a:xfrm>
            <a:off x="14859000" y="7086600"/>
            <a:ext cx="2514600" cy="224028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041880" y="7251192"/>
            <a:ext cx="2148840" cy="1232154"/>
          </a:xfrm>
          <a:prstGeom prst="rect">
            <a:avLst/>
          </a:prstGeom>
          <a:noFill/>
        </p:spPr>
        <p:txBody>
          <a:bodyPr wrap="square" anchor="ctr" lIns="0" rIns="0" tIns="0" bIns="0">
            <a:spAutoFit/>
          </a:bodyPr>
          <a:lstStyle/>
          <a:p>
            <a:pPr algn="ctr">
              <a:lnSpc>
                <a:spcPct val="110000"/>
              </a:lnSpc>
              <a:spcAft>
                <a:spcPts val="600"/>
              </a:spcAft>
            </a:pPr>
            <a:r>
              <a:rPr sz="3600" b="0">
                <a:solidFill>
                  <a:srgbClr val="F5FFF9"/>
                </a:solidFill>
                <a:latin typeface="Manifold Ultra-Bold"/>
              </a:rPr>
              <a:t>-29.6%</a:t>
            </a:r>
          </a:p>
        </p:txBody>
      </p:sp>
      <p:sp>
        <p:nvSpPr>
          <p:cNvPr id="20" name="TextBox 19"/>
          <p:cNvSpPr txBox="1"/>
          <p:nvPr/>
        </p:nvSpPr>
        <p:spPr>
          <a:xfrm>
            <a:off x="15087600" y="8430768"/>
            <a:ext cx="2057400" cy="851306"/>
          </a:xfrm>
          <a:prstGeom prst="rect">
            <a:avLst/>
          </a:prstGeom>
          <a:noFill/>
        </p:spPr>
        <p:txBody>
          <a:bodyPr wrap="square" anchor="t" lIns="0" rIns="0" tIns="0" bIns="0">
            <a:spAutoFit/>
          </a:bodyPr>
          <a:lstStyle/>
          <a:p>
            <a:pPr algn="ctr">
              <a:lnSpc>
                <a:spcPct val="110000"/>
              </a:lnSpc>
              <a:spcAft>
                <a:spcPts val="600"/>
              </a:spcAft>
            </a:pPr>
            <a:r>
              <a:rPr sz="1600" b="0">
                <a:solidFill>
                  <a:srgbClr val="F5FFF9"/>
                </a:solidFill>
                <a:latin typeface="Lato"/>
              </a:rPr>
              <a:t>total tokens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2" id="2"/>
          <p:cNvGrpSpPr/>
          <p:nvPr/>
        </p:nvGrpSpPr>
        <p:grpSpPr>
          <a:xfrm rot="9405415">
            <a:off x="-3681581" y="8273503"/>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860459" y="8130191"/>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TextBox 8" id="8"/>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RESULTS: -39.2% TOTAL TOKENS</a:t>
            </a:r>
          </a:p>
        </p:txBody>
      </p:sp>
      <p:sp>
        <p:nvSpPr>
          <p:cNvPr name="Freeform 9" id="9"/>
          <p:cNvSpPr/>
          <p:nvPr/>
        </p:nvSpPr>
        <p:spPr>
          <a:xfrm flipH="false" flipV="false" rot="0">
            <a:off x="-1101602" y="-467749"/>
            <a:ext cx="2992899" cy="2992899"/>
          </a:xfrm>
          <a:custGeom>
            <a:avLst/>
            <a:gdLst/>
            <a:ahLst/>
            <a:cxnLst/>
            <a:rect r="r" b="b" t="t" l="l"/>
            <a:pathLst>
              <a:path h="2992899" w="2992899">
                <a:moveTo>
                  <a:pt x="0" y="0"/>
                </a:moveTo>
                <a:lnTo>
                  <a:pt x="2992898" y="0"/>
                </a:lnTo>
                <a:lnTo>
                  <a:pt x="2992898" y="2992898"/>
                </a:lnTo>
                <a:lnTo>
                  <a:pt x="0" y="299289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0" id="10"/>
          <p:cNvSpPr/>
          <p:nvPr/>
        </p:nvSpPr>
        <p:spPr>
          <a:xfrm flipH="true" flipV="false" rot="0">
            <a:off x="16398977" y="-467749"/>
            <a:ext cx="2992899" cy="2992899"/>
          </a:xfrm>
          <a:custGeom>
            <a:avLst/>
            <a:gdLst/>
            <a:ahLst/>
            <a:cxnLst/>
            <a:rect r="r" b="b" t="t" l="l"/>
            <a:pathLst>
              <a:path h="2992899" w="2992899">
                <a:moveTo>
                  <a:pt x="2992899" y="0"/>
                </a:moveTo>
                <a:lnTo>
                  <a:pt x="0" y="0"/>
                </a:lnTo>
                <a:lnTo>
                  <a:pt x="0" y="2992898"/>
                </a:lnTo>
                <a:lnTo>
                  <a:pt x="2992899" y="2992898"/>
                </a:lnTo>
                <a:lnTo>
                  <a:pt x="299289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4"/>
            <a:stretch>
              <a:fillRect l="0" t="0" r="0" b="0"/>
            </a:stretch>
          </a:blipFill>
        </p:spPr>
      </p:sp>
      <p:sp>
        <p:nvSpPr>
          <p:cNvPr id="12" name="Rounded Rectangle 11"/>
          <p:cNvSpPr/>
          <p:nvPr/>
        </p:nvSpPr>
        <p:spPr>
          <a:xfrm>
            <a:off x="914400" y="2011680"/>
            <a:ext cx="10607040" cy="740664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Chart 12"/>
          <p:cNvGraphicFramePr>
            <a:graphicFrameLocks noGrp="1"/>
          </p:cNvGraphicFramePr>
          <p:nvPr/>
        </p:nvGraphicFramePr>
        <p:xfrm>
          <a:off x="1097280" y="2148840"/>
          <a:ext cx="10241280" cy="7132320"/>
        </p:xfrm>
        <a:graphic>
          <a:graphicData uri="http://schemas.openxmlformats.org/drawingml/2006/chart">
            <c:chart xmlns:c="http://schemas.openxmlformats.org/drawingml/2006/chart" r:id="rId6"/>
          </a:graphicData>
        </a:graphic>
      </p:graphicFrame>
      <p:sp>
        <p:nvSpPr>
          <p:cNvPr id="14" name="Rounded Rectangle 13"/>
          <p:cNvSpPr/>
          <p:nvPr/>
        </p:nvSpPr>
        <p:spPr>
          <a:xfrm>
            <a:off x="11978640" y="2011680"/>
            <a:ext cx="5394960" cy="2286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161519" y="2176272"/>
            <a:ext cx="5029200" cy="1257300"/>
          </a:xfrm>
          <a:prstGeom prst="rect">
            <a:avLst/>
          </a:prstGeom>
          <a:noFill/>
        </p:spPr>
        <p:txBody>
          <a:bodyPr wrap="square" anchor="ctr" lIns="0" rIns="0" tIns="0" bIns="0">
            <a:spAutoFit/>
          </a:bodyPr>
          <a:lstStyle/>
          <a:p>
            <a:pPr algn="ctr">
              <a:lnSpc>
                <a:spcPct val="110000"/>
              </a:lnSpc>
              <a:spcAft>
                <a:spcPts val="600"/>
              </a:spcAft>
            </a:pPr>
            <a:r>
              <a:rPr sz="4400" b="0">
                <a:solidFill>
                  <a:srgbClr val="1E4926"/>
                </a:solidFill>
                <a:latin typeface="Manifold Ultra-Bold"/>
              </a:rPr>
              <a:t>682 → 165</a:t>
            </a:r>
          </a:p>
        </p:txBody>
      </p:sp>
      <p:sp>
        <p:nvSpPr>
          <p:cNvPr id="16" name="TextBox 15"/>
          <p:cNvSpPr txBox="1"/>
          <p:nvPr/>
        </p:nvSpPr>
        <p:spPr>
          <a:xfrm>
            <a:off x="12207240" y="3383280"/>
            <a:ext cx="4937760" cy="868680"/>
          </a:xfrm>
          <a:prstGeom prst="rect">
            <a:avLst/>
          </a:prstGeom>
          <a:noFill/>
        </p:spPr>
        <p:txBody>
          <a:bodyPr wrap="square" anchor="t" lIns="0" rIns="0" tIns="0" bIns="0">
            <a:spAutoFit/>
          </a:bodyPr>
          <a:lstStyle/>
          <a:p>
            <a:pPr algn="ctr">
              <a:lnSpc>
                <a:spcPct val="110000"/>
              </a:lnSpc>
              <a:spcAft>
                <a:spcPts val="600"/>
              </a:spcAft>
            </a:pPr>
            <a:r>
              <a:rPr sz="1800" b="0">
                <a:solidFill>
                  <a:srgbClr val="1E4926"/>
                </a:solidFill>
                <a:latin typeface="Lato"/>
              </a:rPr>
              <a:t>output tokens per prompt (input 226 → 241)</a:t>
            </a:r>
          </a:p>
        </p:txBody>
      </p:sp>
      <p:sp>
        <p:nvSpPr>
          <p:cNvPr id="17" name="Rounded Rectangle 16"/>
          <p:cNvSpPr/>
          <p:nvPr/>
        </p:nvSpPr>
        <p:spPr>
          <a:xfrm>
            <a:off x="11978640" y="4526280"/>
            <a:ext cx="5394960" cy="2286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161519" y="4690872"/>
            <a:ext cx="5029200" cy="1257300"/>
          </a:xfrm>
          <a:prstGeom prst="rect">
            <a:avLst/>
          </a:prstGeom>
          <a:noFill/>
        </p:spPr>
        <p:txBody>
          <a:bodyPr wrap="square" anchor="ctr" lIns="0" rIns="0" tIns="0" bIns="0">
            <a:spAutoFit/>
          </a:bodyPr>
          <a:lstStyle/>
          <a:p>
            <a:pPr algn="ctr">
              <a:lnSpc>
                <a:spcPct val="110000"/>
              </a:lnSpc>
              <a:spcAft>
                <a:spcPts val="600"/>
              </a:spcAft>
            </a:pPr>
            <a:r>
              <a:rPr sz="4400" b="0">
                <a:solidFill>
                  <a:srgbClr val="1E4926"/>
                </a:solidFill>
                <a:latin typeface="Manifold Ultra-Bold"/>
              </a:rPr>
              <a:t>8.2 → 9.0</a:t>
            </a:r>
          </a:p>
        </p:txBody>
      </p:sp>
      <p:sp>
        <p:nvSpPr>
          <p:cNvPr id="19" name="TextBox 18"/>
          <p:cNvSpPr txBox="1"/>
          <p:nvPr/>
        </p:nvSpPr>
        <p:spPr>
          <a:xfrm>
            <a:off x="12207240" y="5897880"/>
            <a:ext cx="4937760" cy="868680"/>
          </a:xfrm>
          <a:prstGeom prst="rect">
            <a:avLst/>
          </a:prstGeom>
          <a:noFill/>
        </p:spPr>
        <p:txBody>
          <a:bodyPr wrap="square" anchor="t" lIns="0" rIns="0" tIns="0" bIns="0">
            <a:spAutoFit/>
          </a:bodyPr>
          <a:lstStyle/>
          <a:p>
            <a:pPr algn="ctr">
              <a:lnSpc>
                <a:spcPct val="110000"/>
              </a:lnSpc>
              <a:spcAft>
                <a:spcPts val="600"/>
              </a:spcAft>
            </a:pPr>
            <a:r>
              <a:rPr sz="1800" b="0">
                <a:solidFill>
                  <a:srgbClr val="1E4926"/>
                </a:solidFill>
                <a:latin typeface="Lato"/>
              </a:rPr>
              <a:t>benchmark quality; task success 67% → 85%</a:t>
            </a:r>
          </a:p>
        </p:txBody>
      </p:sp>
      <p:sp>
        <p:nvSpPr>
          <p:cNvPr id="20" name="Rounded Rectangle 19"/>
          <p:cNvSpPr/>
          <p:nvPr/>
        </p:nvSpPr>
        <p:spPr>
          <a:xfrm>
            <a:off x="11978640" y="7040880"/>
            <a:ext cx="5394960" cy="237744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0" y="7223760"/>
            <a:ext cx="4846320" cy="2011680"/>
          </a:xfrm>
          <a:prstGeom prst="rect">
            <a:avLst/>
          </a:prstGeom>
          <a:noFill/>
        </p:spPr>
        <p:txBody>
          <a:bodyPr wrap="square" anchor="t" lIns="0" rIns="0" tIns="0" bIns="0">
            <a:spAutoFit/>
          </a:bodyPr>
          <a:lstStyle/>
          <a:p>
            <a:pPr algn="l">
              <a:lnSpc>
                <a:spcPct val="110000"/>
              </a:lnSpc>
              <a:spcAft>
                <a:spcPts val="600"/>
              </a:spcAft>
            </a:pPr>
            <a:r>
              <a:rPr sz="1800" b="1">
                <a:solidFill>
                  <a:srgbClr val="9FC4AE"/>
                </a:solidFill>
                <a:latin typeface="Manifold Bold"/>
              </a:rPr>
              <a:t>Limitation  </a:t>
            </a:r>
            <a:r>
              <a:rPr sz="1800" b="0">
                <a:solidFill>
                  <a:srgbClr val="F5FFF9"/>
                </a:solidFill>
                <a:latin typeface="Lato"/>
              </a:rPr>
              <a:t>87 of 482 prompts cost more: their answer was already short (mostly extraction). Next: lean mode.</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5" id="5"/>
          <p:cNvGrpSpPr/>
          <p:nvPr/>
        </p:nvGrpSpPr>
        <p:grpSpPr>
          <a:xfrm rot="9405415">
            <a:off x="-472062" y="-2812968"/>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8" id="8"/>
          <p:cNvGrpSpPr/>
          <p:nvPr/>
        </p:nvGrpSpPr>
        <p:grpSpPr>
          <a:xfrm rot="6936434">
            <a:off x="7303621" y="9528913"/>
            <a:ext cx="5817847" cy="5817847"/>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11" id="11"/>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50" id="5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WORKING PROTOTYPE</a:t>
            </a:r>
          </a:p>
        </p:txBody>
      </p:sp>
      <p:pic>
        <p:nvPicPr>
          <p:cNvPr id="51" name="Picture 50" descr="ui_optimize.png"/>
          <p:cNvPicPr>
            <a:picLocks noChangeAspect="1"/>
          </p:cNvPicPr>
          <p:nvPr/>
        </p:nvPicPr>
        <p:blipFill>
          <a:blip r:embed="rId10"/>
          <a:srcRect b="36599"/>
          <a:stretch>
            <a:fillRect/>
          </a:stretch>
        </p:blipFill>
        <p:spPr>
          <a:xfrm>
            <a:off x="914400" y="2057400"/>
            <a:ext cx="8001000" cy="6400800"/>
          </a:xfrm>
          <a:prstGeom prst="rect">
            <a:avLst/>
          </a:prstGeom>
          <a:ln w="19050">
            <a:solidFill>
              <a:srgbClr val="457C5B"/>
            </a:solidFill>
          </a:ln>
        </p:spPr>
      </p:pic>
      <p:pic>
        <p:nvPicPr>
          <p:cNvPr id="52" name="Picture 51" descr="ui_compare-result.png"/>
          <p:cNvPicPr>
            <a:picLocks noChangeAspect="1"/>
          </p:cNvPicPr>
          <p:nvPr/>
        </p:nvPicPr>
        <p:blipFill>
          <a:blip r:embed="rId11"/>
          <a:srcRect b="22162"/>
          <a:stretch>
            <a:fillRect/>
          </a:stretch>
        </p:blipFill>
        <p:spPr>
          <a:xfrm>
            <a:off x="9372600" y="2057400"/>
            <a:ext cx="8001000" cy="6400800"/>
          </a:xfrm>
          <a:prstGeom prst="rect">
            <a:avLst/>
          </a:prstGeom>
          <a:ln w="19050">
            <a:solidFill>
              <a:srgbClr val="457C5B"/>
            </a:solidFill>
          </a:ln>
        </p:spPr>
      </p:pic>
      <p:sp>
        <p:nvSpPr>
          <p:cNvPr id="53" name="TextBox 52"/>
          <p:cNvSpPr txBox="1"/>
          <p:nvPr/>
        </p:nvSpPr>
        <p:spPr>
          <a:xfrm>
            <a:off x="914400" y="8595360"/>
            <a:ext cx="8001000" cy="822960"/>
          </a:xfrm>
          <a:prstGeom prst="rect">
            <a:avLst/>
          </a:prstGeom>
          <a:noFill/>
        </p:spPr>
        <p:txBody>
          <a:bodyPr wrap="square" anchor="t" lIns="0" rIns="0" tIns="0" bIns="0">
            <a:spAutoFit/>
          </a:bodyPr>
          <a:lstStyle/>
          <a:p>
            <a:pPr algn="l">
              <a:lnSpc>
                <a:spcPct val="110000"/>
              </a:lnSpc>
              <a:spcAft>
                <a:spcPts val="600"/>
              </a:spcAft>
            </a:pPr>
            <a:r>
              <a:rPr sz="1800" b="1">
                <a:solidFill>
                  <a:srgbClr val="457C5B"/>
                </a:solidFill>
                <a:latin typeface="Manifold Bold"/>
              </a:rPr>
              <a:t>Optimize: </a:t>
            </a:r>
            <a:r>
              <a:rPr sz="1800" b="0">
                <a:solidFill>
                  <a:srgbClr val="1E4926"/>
                </a:solidFill>
                <a:latin typeface="Lato"/>
              </a:rPr>
              <a:t>every stage shown, rule by rule, with before/after text and the rendered prompt</a:t>
            </a:r>
          </a:p>
        </p:txBody>
      </p:sp>
      <p:sp>
        <p:nvSpPr>
          <p:cNvPr id="54" name="TextBox 53"/>
          <p:cNvSpPr txBox="1"/>
          <p:nvPr/>
        </p:nvSpPr>
        <p:spPr>
          <a:xfrm>
            <a:off x="9372600" y="8595360"/>
            <a:ext cx="8001000" cy="822960"/>
          </a:xfrm>
          <a:prstGeom prst="rect">
            <a:avLst/>
          </a:prstGeom>
          <a:noFill/>
        </p:spPr>
        <p:txBody>
          <a:bodyPr wrap="square" anchor="t" lIns="0" rIns="0" tIns="0" bIns="0">
            <a:spAutoFit/>
          </a:bodyPr>
          <a:lstStyle/>
          <a:p>
            <a:pPr algn="l">
              <a:lnSpc>
                <a:spcPct val="110000"/>
              </a:lnSpc>
              <a:spcAft>
                <a:spcPts val="600"/>
              </a:spcAft>
            </a:pPr>
            <a:r>
              <a:rPr sz="1800" b="1">
                <a:solidFill>
                  <a:srgbClr val="457C5B"/>
                </a:solidFill>
                <a:latin typeface="Manifold Bold"/>
              </a:rPr>
              <a:t>Compare: </a:t>
            </a:r>
            <a:r>
              <a:rPr sz="1800" b="0">
                <a:solidFill>
                  <a:srgbClr val="1E4926"/>
                </a:solidFill>
                <a:latin typeface="Lato"/>
              </a:rPr>
              <a:t>768 → 248 tokens (-67.7%) on gpt-oss-120b, both answers pass 6/6 tests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1065972">
            <a:off x="-1561962" y="-520880"/>
            <a:ext cx="11464130" cy="11464130"/>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9405415">
            <a:off x="15708021" y="7901905"/>
            <a:ext cx="5159957" cy="515995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2"/>
            <a:stretch>
              <a:fillRect l="0" t="0" r="0" b="0"/>
            </a:stretch>
          </a:blipFill>
        </p:spPr>
      </p:sp>
      <p:sp>
        <p:nvSpPr>
          <p:cNvPr name="TextBox 9" id="9"/>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GIT AND GITHUB</a:t>
            </a:r>
          </a:p>
        </p:txBody>
      </p:sp>
      <p:pic>
        <p:nvPicPr>
          <p:cNvPr id="10" name="Picture 9" descr="gh_repo.png"/>
          <p:cNvPicPr>
            <a:picLocks noChangeAspect="1"/>
          </p:cNvPicPr>
          <p:nvPr/>
        </p:nvPicPr>
        <p:blipFill>
          <a:blip r:embed="rId3"/>
          <a:stretch>
            <a:fillRect/>
          </a:stretch>
        </p:blipFill>
        <p:spPr>
          <a:xfrm>
            <a:off x="914400" y="2148840"/>
            <a:ext cx="8229600" cy="4561090"/>
          </a:xfrm>
          <a:prstGeom prst="rect">
            <a:avLst/>
          </a:prstGeom>
          <a:ln w="19050">
            <a:solidFill>
              <a:srgbClr val="457C5B"/>
            </a:solidFill>
          </a:ln>
        </p:spPr>
      </p:pic>
      <p:sp>
        <p:nvSpPr>
          <p:cNvPr id="11" name="TextBox 10"/>
          <p:cNvSpPr txBox="1"/>
          <p:nvPr/>
        </p:nvSpPr>
        <p:spPr>
          <a:xfrm>
            <a:off x="914400" y="6949440"/>
            <a:ext cx="8229600" cy="457200"/>
          </a:xfrm>
          <a:prstGeom prst="rect">
            <a:avLst/>
          </a:prstGeom>
          <a:noFill/>
        </p:spPr>
        <p:txBody>
          <a:bodyPr wrap="square" anchor="t" lIns="0" rIns="0" tIns="0" bIns="0">
            <a:spAutoFit/>
          </a:bodyPr>
          <a:lstStyle/>
          <a:p>
            <a:pPr algn="l">
              <a:lnSpc>
                <a:spcPct val="110000"/>
              </a:lnSpc>
              <a:spcAft>
                <a:spcPts val="600"/>
              </a:spcAft>
            </a:pPr>
            <a:r>
              <a:rPr sz="2000" b="1">
                <a:solidFill>
                  <a:srgbClr val="457C5B"/>
                </a:solidFill>
                <a:latin typeface="Manifold Bold"/>
              </a:rPr>
              <a:t>github.com/piush365/PromptOpt</a:t>
            </a:r>
          </a:p>
        </p:txBody>
      </p:sp>
      <p:sp>
        <p:nvSpPr>
          <p:cNvPr id="12" name="TextBox 11"/>
          <p:cNvSpPr txBox="1"/>
          <p:nvPr/>
        </p:nvSpPr>
        <p:spPr>
          <a:xfrm>
            <a:off x="914400" y="7498079"/>
            <a:ext cx="8229600" cy="1737360"/>
          </a:xfrm>
          <a:prstGeom prst="rect">
            <a:avLst/>
          </a:prstGeom>
          <a:noFill/>
        </p:spPr>
        <p:txBody>
          <a:bodyPr wrap="square" anchor="t" lIns="0" rIns="0" tIns="0" bIns="0">
            <a:spAutoFit/>
          </a:bodyPr>
          <a:lstStyle/>
          <a:p>
            <a:pPr algn="l">
              <a:lnSpc>
                <a:spcPct val="110000"/>
              </a:lnSpc>
              <a:spcAft>
                <a:spcPts val="600"/>
              </a:spcAft>
            </a:pPr>
            <a:r>
              <a:rPr sz="1800" b="0">
                <a:solidFill>
                  <a:srgbClr val="1E4926"/>
                </a:solidFill>
                <a:latin typeface="Lato"/>
              </a:rPr>
              <a:t>Tags are our evaluation checkpoints: after frozen-for-test no Stage A/B rule, threshold or judge changed, and the freeze check proves it.</a:t>
            </a:r>
          </a:p>
        </p:txBody>
      </p:sp>
      <p:sp>
        <p:nvSpPr>
          <p:cNvPr id="13" name="Rounded Rectangle 12"/>
          <p:cNvSpPr/>
          <p:nvPr/>
        </p:nvSpPr>
        <p:spPr>
          <a:xfrm>
            <a:off x="9692640" y="2148840"/>
            <a:ext cx="2423160" cy="21945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19" y="2313432"/>
            <a:ext cx="2057400" cy="1207008"/>
          </a:xfrm>
          <a:prstGeom prst="rect">
            <a:avLst/>
          </a:prstGeom>
          <a:noFill/>
        </p:spPr>
        <p:txBody>
          <a:bodyPr wrap="square" anchor="ctr" lIns="0" rIns="0" tIns="0" bIns="0">
            <a:spAutoFit/>
          </a:bodyPr>
          <a:lstStyle/>
          <a:p>
            <a:pPr algn="ctr">
              <a:lnSpc>
                <a:spcPct val="110000"/>
              </a:lnSpc>
              <a:spcAft>
                <a:spcPts val="600"/>
              </a:spcAft>
            </a:pPr>
            <a:r>
              <a:rPr sz="4800" b="0">
                <a:solidFill>
                  <a:srgbClr val="F5FFF9"/>
                </a:solidFill>
                <a:latin typeface="Manifold Ultra-Bold"/>
              </a:rPr>
              <a:t>92</a:t>
            </a:r>
          </a:p>
        </p:txBody>
      </p:sp>
      <p:sp>
        <p:nvSpPr>
          <p:cNvPr id="15" name="TextBox 14"/>
          <p:cNvSpPr txBox="1"/>
          <p:nvPr/>
        </p:nvSpPr>
        <p:spPr>
          <a:xfrm>
            <a:off x="9921240" y="3465576"/>
            <a:ext cx="1965960" cy="833932"/>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commits</a:t>
            </a:r>
          </a:p>
        </p:txBody>
      </p:sp>
      <p:sp>
        <p:nvSpPr>
          <p:cNvPr id="16" name="Rounded Rectangle 15"/>
          <p:cNvSpPr/>
          <p:nvPr/>
        </p:nvSpPr>
        <p:spPr>
          <a:xfrm>
            <a:off x="12298680" y="2148840"/>
            <a:ext cx="2423160" cy="21945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81559" y="2313432"/>
            <a:ext cx="2057400" cy="1207008"/>
          </a:xfrm>
          <a:prstGeom prst="rect">
            <a:avLst/>
          </a:prstGeom>
          <a:noFill/>
        </p:spPr>
        <p:txBody>
          <a:bodyPr wrap="square" anchor="ctr" lIns="0" rIns="0" tIns="0" bIns="0">
            <a:spAutoFit/>
          </a:bodyPr>
          <a:lstStyle/>
          <a:p>
            <a:pPr algn="ctr">
              <a:lnSpc>
                <a:spcPct val="110000"/>
              </a:lnSpc>
              <a:spcAft>
                <a:spcPts val="600"/>
              </a:spcAft>
            </a:pPr>
            <a:r>
              <a:rPr sz="4800" b="0">
                <a:solidFill>
                  <a:srgbClr val="F5FFF9"/>
                </a:solidFill>
                <a:latin typeface="Manifold Ultra-Bold"/>
              </a:rPr>
              <a:t>3</a:t>
            </a:r>
          </a:p>
        </p:txBody>
      </p:sp>
      <p:sp>
        <p:nvSpPr>
          <p:cNvPr id="18" name="TextBox 17"/>
          <p:cNvSpPr txBox="1"/>
          <p:nvPr/>
        </p:nvSpPr>
        <p:spPr>
          <a:xfrm>
            <a:off x="12527280" y="3465576"/>
            <a:ext cx="1965960" cy="833932"/>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branches</a:t>
            </a:r>
          </a:p>
        </p:txBody>
      </p:sp>
      <p:sp>
        <p:nvSpPr>
          <p:cNvPr id="19" name="Rounded Rectangle 18"/>
          <p:cNvSpPr/>
          <p:nvPr/>
        </p:nvSpPr>
        <p:spPr>
          <a:xfrm>
            <a:off x="14904720" y="2148840"/>
            <a:ext cx="2468880" cy="219456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087600" y="2313432"/>
            <a:ext cx="2103120" cy="1207008"/>
          </a:xfrm>
          <a:prstGeom prst="rect">
            <a:avLst/>
          </a:prstGeom>
          <a:noFill/>
        </p:spPr>
        <p:txBody>
          <a:bodyPr wrap="square" anchor="ctr" lIns="0" rIns="0" tIns="0" bIns="0">
            <a:spAutoFit/>
          </a:bodyPr>
          <a:lstStyle/>
          <a:p>
            <a:pPr algn="ctr">
              <a:lnSpc>
                <a:spcPct val="110000"/>
              </a:lnSpc>
              <a:spcAft>
                <a:spcPts val="600"/>
              </a:spcAft>
            </a:pPr>
            <a:r>
              <a:rPr sz="4800" b="0">
                <a:solidFill>
                  <a:srgbClr val="F5FFF9"/>
                </a:solidFill>
                <a:latin typeface="Manifold Ultra-Bold"/>
              </a:rPr>
              <a:t>4</a:t>
            </a:r>
          </a:p>
        </p:txBody>
      </p:sp>
      <p:sp>
        <p:nvSpPr>
          <p:cNvPr id="21" name="TextBox 20"/>
          <p:cNvSpPr txBox="1"/>
          <p:nvPr/>
        </p:nvSpPr>
        <p:spPr>
          <a:xfrm>
            <a:off x="15133320" y="3465576"/>
            <a:ext cx="2011680" cy="833932"/>
          </a:xfrm>
          <a:prstGeom prst="rect">
            <a:avLst/>
          </a:prstGeom>
          <a:noFill/>
        </p:spPr>
        <p:txBody>
          <a:bodyPr wrap="square" anchor="t" lIns="0" rIns="0" tIns="0" bIns="0">
            <a:spAutoFit/>
          </a:bodyPr>
          <a:lstStyle/>
          <a:p>
            <a:pPr algn="ctr">
              <a:lnSpc>
                <a:spcPct val="110000"/>
              </a:lnSpc>
              <a:spcAft>
                <a:spcPts val="600"/>
              </a:spcAft>
            </a:pPr>
            <a:r>
              <a:rPr sz="1800" b="0">
                <a:solidFill>
                  <a:srgbClr val="F5FFF9"/>
                </a:solidFill>
                <a:latin typeface="Lato"/>
              </a:rPr>
              <a:t>tags · 1 release</a:t>
            </a:r>
          </a:p>
        </p:txBody>
      </p:sp>
      <p:sp>
        <p:nvSpPr>
          <p:cNvPr id="22" name="Rounded Rectangle 21"/>
          <p:cNvSpPr/>
          <p:nvPr/>
        </p:nvSpPr>
        <p:spPr>
          <a:xfrm>
            <a:off x="9692640" y="4572000"/>
            <a:ext cx="7680960" cy="466344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0" y="4754880"/>
            <a:ext cx="7223760" cy="4389120"/>
          </a:xfrm>
          <a:prstGeom prst="rect">
            <a:avLst/>
          </a:prstGeom>
          <a:noFill/>
        </p:spPr>
        <p:txBody>
          <a:bodyPr wrap="square" anchor="t" lIns="0" rIns="0" tIns="0" bIns="0">
            <a:spAutoFit/>
          </a:bodyPr>
          <a:lstStyle/>
          <a:p>
            <a:pPr algn="l">
              <a:lnSpc>
                <a:spcPct val="110000"/>
              </a:lnSpc>
              <a:spcAft>
                <a:spcPts val="900"/>
              </a:spcAft>
            </a:pPr>
            <a:r>
              <a:rPr sz="1400" b="0">
                <a:solidFill>
                  <a:srgbClr val="9FC4AE"/>
                </a:solidFill>
                <a:latin typeface="Lato"/>
              </a:rPr>
              <a:t>●  </a:t>
            </a:r>
            <a:r>
              <a:rPr sz="2000" b="0">
                <a:solidFill>
                  <a:srgbClr val="F5FFF9"/>
                </a:solidFill>
                <a:latin typeface="Lato"/>
              </a:rPr>
              <a:t>frozen-for-test (27 Sep): code for the final numbers</a:t>
            </a:r>
          </a:p>
          <a:p>
            <a:pPr algn="l">
              <a:lnSpc>
                <a:spcPct val="110000"/>
              </a:lnSpc>
              <a:spcAft>
                <a:spcPts val="900"/>
              </a:spcAft>
            </a:pPr>
            <a:r>
              <a:rPr sz="1400" b="0">
                <a:solidFill>
                  <a:srgbClr val="9FC4AE"/>
                </a:solidFill>
                <a:latin typeface="Lato"/>
              </a:rPr>
              <a:t>●  </a:t>
            </a:r>
            <a:r>
              <a:rPr sz="2000" b="0">
                <a:solidFill>
                  <a:srgbClr val="F5FFF9"/>
                </a:solidFill>
                <a:latin typeface="Lato"/>
              </a:rPr>
              <a:t>final-for-test (2 Oct): test split run once</a:t>
            </a:r>
          </a:p>
          <a:p>
            <a:pPr algn="l">
              <a:lnSpc>
                <a:spcPct val="110000"/>
              </a:lnSpc>
              <a:spcAft>
                <a:spcPts val="900"/>
              </a:spcAft>
            </a:pPr>
            <a:r>
              <a:rPr sz="1400" b="0">
                <a:solidFill>
                  <a:srgbClr val="9FC4AE"/>
                </a:solidFill>
                <a:latin typeface="Lato"/>
              </a:rPr>
              <a:t>●  </a:t>
            </a:r>
            <a:r>
              <a:rPr sz="2000" b="0">
                <a:solidFill>
                  <a:srgbClr val="F5FFF9"/>
                </a:solidFill>
                <a:latin typeface="Lato"/>
              </a:rPr>
              <a:t>v1.0 (8 Oct): release with the Stage C adapter</a:t>
            </a:r>
          </a:p>
          <a:p>
            <a:pPr algn="l">
              <a:lnSpc>
                <a:spcPct val="110000"/>
              </a:lnSpc>
              <a:spcAft>
                <a:spcPts val="900"/>
              </a:spcAft>
            </a:pPr>
            <a:r>
              <a:rPr sz="1400" b="0">
                <a:solidFill>
                  <a:srgbClr val="9FC4AE"/>
                </a:solidFill>
                <a:latin typeface="Lato"/>
              </a:rPr>
              <a:t>●  </a:t>
            </a:r>
            <a:r>
              <a:rPr sz="2000" b="0">
                <a:solidFill>
                  <a:srgbClr val="F5FFF9"/>
                </a:solidFill>
                <a:latin typeface="Lato"/>
              </a:rPr>
              <a:t>Commits per month: Aug 7 · Sep 38 · Oct 47</a:t>
            </a:r>
          </a:p>
          <a:p>
            <a:pPr algn="l">
              <a:lnSpc>
                <a:spcPct val="110000"/>
              </a:lnSpc>
              <a:spcAft>
                <a:spcPts val="900"/>
              </a:spcAft>
            </a:pPr>
            <a:r>
              <a:rPr sz="1400" b="0">
                <a:solidFill>
                  <a:srgbClr val="9FC4AE"/>
                </a:solidFill>
                <a:latin typeface="Lato"/>
              </a:rPr>
              <a:t>●  </a:t>
            </a:r>
            <a:r>
              <a:rPr sz="2000" b="0">
                <a:solidFill>
                  <a:srgbClr val="F5FFF9"/>
                </a:solidFill>
                <a:latin typeface="Lato"/>
              </a:rPr>
              <a:t>Tracking: roadmap and phase tables in CLAUDE.md, tags, release (no GitHub Issues/Projects used)</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2" id="2"/>
          <p:cNvGrpSpPr/>
          <p:nvPr/>
        </p:nvGrpSpPr>
        <p:grpSpPr>
          <a:xfrm rot="9405415">
            <a:off x="-3401275" y="-1868725"/>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7514712" y="5360057"/>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TextBox 8" id="8"/>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CHALLENGES AND HOW WE SOLVED THEM</a:t>
            </a:r>
          </a:p>
        </p:txBody>
      </p:sp>
      <p:sp>
        <p:nvSpPr>
          <p:cNvPr name="Freeform 21" id="21"/>
          <p:cNvSpPr/>
          <p:nvPr/>
        </p:nvSpPr>
        <p:spPr>
          <a:xfrm flipH="false" flipV="false" rot="0">
            <a:off x="-2006420" y="8933198"/>
            <a:ext cx="2992899" cy="2992899"/>
          </a:xfrm>
          <a:custGeom>
            <a:avLst/>
            <a:gdLst/>
            <a:ahLst/>
            <a:cxnLst/>
            <a:rect r="r" b="b" t="t" l="l"/>
            <a:pathLst>
              <a:path h="2992899" w="2992899">
                <a:moveTo>
                  <a:pt x="0" y="0"/>
                </a:moveTo>
                <a:lnTo>
                  <a:pt x="2992899" y="0"/>
                </a:lnTo>
                <a:lnTo>
                  <a:pt x="2992899"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2" id="22"/>
          <p:cNvSpPr/>
          <p:nvPr/>
        </p:nvSpPr>
        <p:spPr>
          <a:xfrm flipH="false" flipV="false" rot="0">
            <a:off x="16543197" y="-785196"/>
            <a:ext cx="2992899" cy="2992899"/>
          </a:xfrm>
          <a:custGeom>
            <a:avLst/>
            <a:gdLst/>
            <a:ahLst/>
            <a:cxnLst/>
            <a:rect r="r" b="b" t="t" l="l"/>
            <a:pathLst>
              <a:path h="2992899" w="2992899">
                <a:moveTo>
                  <a:pt x="0" y="0"/>
                </a:moveTo>
                <a:lnTo>
                  <a:pt x="2992898" y="0"/>
                </a:lnTo>
                <a:lnTo>
                  <a:pt x="2992898"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23" id="23"/>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4"/>
            <a:stretch>
              <a:fillRect l="0" t="0" r="0" b="0"/>
            </a:stretch>
          </a:blipFill>
        </p:spPr>
      </p:sp>
      <p:sp>
        <p:nvSpPr>
          <p:cNvPr id="24" name="Rounded Rectangle 23"/>
          <p:cNvSpPr/>
          <p:nvPr/>
        </p:nvSpPr>
        <p:spPr>
          <a:xfrm>
            <a:off x="914400"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3000"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DATASET GENERATION BUGS</a:t>
            </a:r>
          </a:p>
        </p:txBody>
      </p:sp>
      <p:sp>
        <p:nvSpPr>
          <p:cNvPr id="26" name="TextBox 25"/>
          <p:cNvSpPr txBox="1"/>
          <p:nvPr/>
        </p:nvSpPr>
        <p:spPr>
          <a:xfrm>
            <a:off x="1143000"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LLM targets dropped data → deterministic repair: 349 prompts fixed, every change logged</a:t>
            </a:r>
          </a:p>
        </p:txBody>
      </p:sp>
      <p:sp>
        <p:nvSpPr>
          <p:cNvPr id="27" name="Rounded Rectangle 26"/>
          <p:cNvSpPr/>
          <p:nvPr/>
        </p:nvSpPr>
        <p:spPr>
          <a:xfrm>
            <a:off x="5093208"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21808"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KAPPA PARADOX</a:t>
            </a:r>
          </a:p>
        </p:txBody>
      </p:sp>
      <p:sp>
        <p:nvSpPr>
          <p:cNvPr id="29" name="TextBox 28"/>
          <p:cNvSpPr txBox="1"/>
          <p:nvPr/>
        </p:nvSpPr>
        <p:spPr>
          <a:xfrm>
            <a:off x="5321808"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90% agreement but kappa 0.065 → report Gwet's AC1 (0.92-0.96) next to it</a:t>
            </a:r>
          </a:p>
        </p:txBody>
      </p:sp>
      <p:sp>
        <p:nvSpPr>
          <p:cNvPr id="30" name="Rounded Rectangle 29"/>
          <p:cNvSpPr/>
          <p:nvPr/>
        </p:nvSpPr>
        <p:spPr>
          <a:xfrm>
            <a:off x="9272016"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0616"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API QUOTA LIMITS</a:t>
            </a:r>
          </a:p>
        </p:txBody>
      </p:sp>
      <p:sp>
        <p:nvSpPr>
          <p:cNvPr id="32" name="TextBox 31"/>
          <p:cNvSpPr txBox="1"/>
          <p:nvPr/>
        </p:nvSpPr>
        <p:spPr>
          <a:xfrm>
            <a:off x="9500616"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Groq 200k tokens/day → rolling 24-h usage ledger, 70% budget rule, resumable runs</a:t>
            </a:r>
          </a:p>
        </p:txBody>
      </p:sp>
      <p:sp>
        <p:nvSpPr>
          <p:cNvPr id="33" name="Rounded Rectangle 32"/>
          <p:cNvSpPr/>
          <p:nvPr/>
        </p:nvSpPr>
        <p:spPr>
          <a:xfrm>
            <a:off x="13450824" y="21031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679424" y="22860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STAGE C HALLUCINATION</a:t>
            </a:r>
          </a:p>
        </p:txBody>
      </p:sp>
      <p:sp>
        <p:nvSpPr>
          <p:cNvPr id="35" name="TextBox 34"/>
          <p:cNvSpPr txBox="1"/>
          <p:nvPr/>
        </p:nvSpPr>
        <p:spPr>
          <a:xfrm>
            <a:off x="13679424" y="32004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base model 5% valid → LoRA 98.2%, strict JSON contract, fallback to Stage B</a:t>
            </a:r>
          </a:p>
        </p:txBody>
      </p:sp>
      <p:sp>
        <p:nvSpPr>
          <p:cNvPr id="36" name="Rounded Rectangle 35"/>
          <p:cNvSpPr/>
          <p:nvPr/>
        </p:nvSpPr>
        <p:spPr>
          <a:xfrm>
            <a:off x="914400" y="57607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43000"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IMAGE MODE V1 FAILURE</a:t>
            </a:r>
          </a:p>
        </p:txBody>
      </p:sp>
      <p:sp>
        <p:nvSpPr>
          <p:cNvPr id="38" name="TextBox 37"/>
          <p:cNvSpPr txBox="1"/>
          <p:nvPr/>
        </p:nvSpPr>
        <p:spPr>
          <a:xfrm>
            <a:off x="1143000" y="68580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defaults turned a watercolor into a photo → v2: suggestions only</a:t>
            </a:r>
          </a:p>
        </p:txBody>
      </p:sp>
      <p:sp>
        <p:nvSpPr>
          <p:cNvPr id="39" name="Rounded Rectangle 38"/>
          <p:cNvSpPr/>
          <p:nvPr/>
        </p:nvSpPr>
        <p:spPr>
          <a:xfrm>
            <a:off x="5093208" y="57607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21808"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LABEL / REGEX EDGE CASES</a:t>
            </a:r>
          </a:p>
        </p:txBody>
      </p:sp>
      <p:sp>
        <p:nvSpPr>
          <p:cNvPr id="41" name="TextBox 40"/>
          <p:cNvSpPr txBox="1"/>
          <p:nvPr/>
        </p:nvSpPr>
        <p:spPr>
          <a:xfrm>
            <a:off x="5321808" y="68580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"thank you so much" inside a button → a unit test per edge case, B16 in the app</a:t>
            </a:r>
          </a:p>
        </p:txBody>
      </p:sp>
      <p:sp>
        <p:nvSpPr>
          <p:cNvPr id="42" name="Rounded Rectangle 41"/>
          <p:cNvSpPr/>
          <p:nvPr/>
        </p:nvSpPr>
        <p:spPr>
          <a:xfrm>
            <a:off x="9272016" y="5760720"/>
            <a:ext cx="3931920" cy="342900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00616"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457C5B"/>
                </a:solidFill>
                <a:latin typeface="Manifold Bold"/>
              </a:rPr>
              <a:t>4 GB GPU TRAINING</a:t>
            </a:r>
          </a:p>
        </p:txBody>
      </p:sp>
      <p:sp>
        <p:nvSpPr>
          <p:cNvPr id="44" name="TextBox 43"/>
          <p:cNvSpPr txBox="1"/>
          <p:nvPr/>
        </p:nvSpPr>
        <p:spPr>
          <a:xfrm>
            <a:off x="9500616" y="6858000"/>
            <a:ext cx="3474720" cy="2240280"/>
          </a:xfrm>
          <a:prstGeom prst="rect">
            <a:avLst/>
          </a:prstGeom>
          <a:noFill/>
        </p:spPr>
        <p:txBody>
          <a:bodyPr wrap="square" anchor="t" lIns="0" rIns="0" tIns="0" bIns="0">
            <a:spAutoFit/>
          </a:bodyPr>
          <a:lstStyle/>
          <a:p>
            <a:pPr algn="l">
              <a:lnSpc>
                <a:spcPct val="110000"/>
              </a:lnSpc>
              <a:spcAft>
                <a:spcPts val="600"/>
              </a:spcAft>
            </a:pPr>
            <a:r>
              <a:rPr sz="1700" b="0">
                <a:solidFill>
                  <a:srgbClr val="1E4926"/>
                </a:solidFill>
                <a:latin typeface="Lato"/>
              </a:rPr>
              <a:t>micro-batch 1 × 16, bf16, gradient checkpointing: 51 min; models loaded once</a:t>
            </a:r>
          </a:p>
        </p:txBody>
      </p:sp>
      <p:sp>
        <p:nvSpPr>
          <p:cNvPr id="45" name="Rounded Rectangle 44"/>
          <p:cNvSpPr/>
          <p:nvPr/>
        </p:nvSpPr>
        <p:spPr>
          <a:xfrm>
            <a:off x="13450824" y="5760720"/>
            <a:ext cx="3931920" cy="3429000"/>
          </a:xfrm>
          <a:prstGeom prst="roundRect">
            <a:avLst>
              <a:gd name="adj" fmla="val 7000"/>
            </a:avLst>
          </a:prstGeom>
          <a:solidFill>
            <a:srgbClr val="1E49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679424" y="5943600"/>
            <a:ext cx="3474720" cy="868680"/>
          </a:xfrm>
          <a:prstGeom prst="rect">
            <a:avLst/>
          </a:prstGeom>
          <a:noFill/>
        </p:spPr>
        <p:txBody>
          <a:bodyPr wrap="square" anchor="t" lIns="0" rIns="0" tIns="0" bIns="0">
            <a:spAutoFit/>
          </a:bodyPr>
          <a:lstStyle/>
          <a:p>
            <a:pPr algn="l">
              <a:lnSpc>
                <a:spcPct val="100000"/>
              </a:lnSpc>
              <a:spcAft>
                <a:spcPts val="600"/>
              </a:spcAft>
            </a:pPr>
            <a:r>
              <a:rPr sz="1900" b="1">
                <a:solidFill>
                  <a:srgbClr val="F5FFF9"/>
                </a:solidFill>
                <a:latin typeface="Manifold Bold"/>
              </a:rPr>
              <a:t>REPORT IT, DON'T HIDE IT</a:t>
            </a:r>
          </a:p>
        </p:txBody>
      </p:sp>
      <p:sp>
        <p:nvSpPr>
          <p:cNvPr id="47" name="TextBox 46"/>
          <p:cNvSpPr txBox="1"/>
          <p:nvPr/>
        </p:nvSpPr>
        <p:spPr>
          <a:xfrm>
            <a:off x="13679424" y="6858000"/>
            <a:ext cx="3474720" cy="219456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After the freeze, bugs were reported, not fixed; failures are shown in the results.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5FFF9"/>
        </a:solidFill>
      </p:bgPr>
    </p:bg>
    <p:spTree>
      <p:nvGrpSpPr>
        <p:cNvPr id="1" name=""/>
        <p:cNvGrpSpPr/>
        <p:nvPr/>
      </p:nvGrpSpPr>
      <p:grpSpPr>
        <a:xfrm>
          <a:off x="0" y="0"/>
          <a:ext cx="0" cy="0"/>
          <a:chOff x="0" y="0"/>
          <a:chExt cx="0" cy="0"/>
        </a:xfrm>
      </p:grpSpPr>
      <p:grpSp>
        <p:nvGrpSpPr>
          <p:cNvPr name="Group 2" id="2"/>
          <p:cNvGrpSpPr/>
          <p:nvPr/>
        </p:nvGrpSpPr>
        <p:grpSpPr>
          <a:xfrm rot="9405415">
            <a:off x="-2955826" y="-922147"/>
            <a:ext cx="5159957" cy="5159957"/>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5" id="5"/>
          <p:cNvGrpSpPr/>
          <p:nvPr/>
        </p:nvGrpSpPr>
        <p:grpSpPr>
          <a:xfrm rot="6936434">
            <a:off x="16470692" y="738526"/>
            <a:ext cx="5817847" cy="581784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8" id="8"/>
          <p:cNvSpPr/>
          <p:nvPr/>
        </p:nvSpPr>
        <p:spPr>
          <a:xfrm flipH="false" flipV="true" rot="0">
            <a:off x="12732070" y="873769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true" rot="0">
            <a:off x="908794" y="8737690"/>
            <a:ext cx="4647136" cy="778395"/>
          </a:xfrm>
          <a:custGeom>
            <a:avLst/>
            <a:gdLst/>
            <a:ahLst/>
            <a:cxnLst/>
            <a:rect r="r" b="b" t="t" l="l"/>
            <a:pathLst>
              <a:path h="778395" w="4647136">
                <a:moveTo>
                  <a:pt x="4647136" y="778395"/>
                </a:moveTo>
                <a:lnTo>
                  <a:pt x="0" y="778395"/>
                </a:lnTo>
                <a:lnTo>
                  <a:pt x="0" y="0"/>
                </a:lnTo>
                <a:lnTo>
                  <a:pt x="4647136" y="0"/>
                </a:lnTo>
                <a:lnTo>
                  <a:pt x="4647136" y="778395"/>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0" id="10"/>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457C5B"/>
                </a:solidFill>
                <a:latin typeface="Manifold Ultra-Bold"/>
                <a:ea typeface="Manifold Ultra-Bold"/>
                <a:cs typeface="Manifold Ultra-Bold"/>
                <a:sym typeface="Manifold Ultra-Bold"/>
              </a:rPr>
              <a:t>PLANS FOR THE UPCOMING PHASES</a:t>
            </a:r>
          </a:p>
        </p:txBody>
      </p:sp>
      <p:sp>
        <p:nvSpPr>
          <p:cNvPr name="Freeform 44" id="44"/>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
        <p:nvSpPr>
          <p:cNvPr id="45" name="Rounded Rectangle 44"/>
          <p:cNvSpPr/>
          <p:nvPr/>
        </p:nvSpPr>
        <p:spPr>
          <a:xfrm>
            <a:off x="914400" y="2103120"/>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43000" y="2377439"/>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43000" y="2377439"/>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1</a:t>
            </a:r>
          </a:p>
        </p:txBody>
      </p:sp>
      <p:sp>
        <p:nvSpPr>
          <p:cNvPr id="48" name="TextBox 47"/>
          <p:cNvSpPr txBox="1"/>
          <p:nvPr/>
        </p:nvSpPr>
        <p:spPr>
          <a:xfrm>
            <a:off x="2240280" y="2258568"/>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Lean mode</a:t>
            </a:r>
          </a:p>
        </p:txBody>
      </p:sp>
      <p:sp>
        <p:nvSpPr>
          <p:cNvPr id="49" name="TextBox 48"/>
          <p:cNvSpPr txBox="1"/>
          <p:nvPr/>
        </p:nvSpPr>
        <p:spPr>
          <a:xfrm>
            <a:off x="2240280" y="2834639"/>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add only the format line when the answer is short</a:t>
            </a:r>
          </a:p>
        </p:txBody>
      </p:sp>
      <p:sp>
        <p:nvSpPr>
          <p:cNvPr id="50" name="Rounded Rectangle 49"/>
          <p:cNvSpPr/>
          <p:nvPr/>
        </p:nvSpPr>
        <p:spPr>
          <a:xfrm>
            <a:off x="9281160" y="2103120"/>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509760" y="2377439"/>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509760" y="2377439"/>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2</a:t>
            </a:r>
          </a:p>
        </p:txBody>
      </p:sp>
      <p:sp>
        <p:nvSpPr>
          <p:cNvPr id="53" name="TextBox 52"/>
          <p:cNvSpPr txBox="1"/>
          <p:nvPr/>
        </p:nvSpPr>
        <p:spPr>
          <a:xfrm>
            <a:off x="10607040" y="2258568"/>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Smarter routing</a:t>
            </a:r>
          </a:p>
        </p:txBody>
      </p:sp>
      <p:sp>
        <p:nvSpPr>
          <p:cNvPr id="54" name="TextBox 53"/>
          <p:cNvSpPr txBox="1"/>
          <p:nvPr/>
        </p:nvSpPr>
        <p:spPr>
          <a:xfrm>
            <a:off x="10607040" y="2834639"/>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send label-set and typo prompts to Stage C</a:t>
            </a:r>
          </a:p>
        </p:txBody>
      </p:sp>
      <p:sp>
        <p:nvSpPr>
          <p:cNvPr id="55" name="Rounded Rectangle 54"/>
          <p:cNvSpPr/>
          <p:nvPr/>
        </p:nvSpPr>
        <p:spPr>
          <a:xfrm>
            <a:off x="914400" y="3730752"/>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43000" y="4005072"/>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143000" y="4005072"/>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3</a:t>
            </a:r>
          </a:p>
        </p:txBody>
      </p:sp>
      <p:sp>
        <p:nvSpPr>
          <p:cNvPr id="58" name="TextBox 57"/>
          <p:cNvSpPr txBox="1"/>
          <p:nvPr/>
        </p:nvSpPr>
        <p:spPr>
          <a:xfrm>
            <a:off x="2240280" y="3886200"/>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Spelling normalisation</a:t>
            </a:r>
          </a:p>
        </p:txBody>
      </p:sp>
      <p:sp>
        <p:nvSpPr>
          <p:cNvPr id="59" name="TextBox 58"/>
          <p:cNvSpPr txBox="1"/>
          <p:nvPr/>
        </p:nvSpPr>
        <p:spPr>
          <a:xfrm>
            <a:off x="2240280" y="4462272"/>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user-confirmed fixes before optimizing</a:t>
            </a:r>
          </a:p>
        </p:txBody>
      </p:sp>
      <p:sp>
        <p:nvSpPr>
          <p:cNvPr id="60" name="Rounded Rectangle 59"/>
          <p:cNvSpPr/>
          <p:nvPr/>
        </p:nvSpPr>
        <p:spPr>
          <a:xfrm>
            <a:off x="9281160" y="3730752"/>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509760" y="4005072"/>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509760" y="4005072"/>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4</a:t>
            </a:r>
          </a:p>
        </p:txBody>
      </p:sp>
      <p:sp>
        <p:nvSpPr>
          <p:cNvPr id="63" name="TextBox 62"/>
          <p:cNvSpPr txBox="1"/>
          <p:nvPr/>
        </p:nvSpPr>
        <p:spPr>
          <a:xfrm>
            <a:off x="10607040" y="3886200"/>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Blind user tests</a:t>
            </a:r>
          </a:p>
        </p:txBody>
      </p:sp>
      <p:sp>
        <p:nvSpPr>
          <p:cNvPr id="64" name="TextBox 63"/>
          <p:cNvSpPr txBox="1"/>
          <p:nvPr/>
        </p:nvSpPr>
        <p:spPr>
          <a:xfrm>
            <a:off x="10607040" y="4462272"/>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prompts written by people outside the team</a:t>
            </a:r>
          </a:p>
        </p:txBody>
      </p:sp>
      <p:sp>
        <p:nvSpPr>
          <p:cNvPr id="65" name="Rounded Rectangle 64"/>
          <p:cNvSpPr/>
          <p:nvPr/>
        </p:nvSpPr>
        <p:spPr>
          <a:xfrm>
            <a:off x="914400" y="5358383"/>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43000" y="5632703"/>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43000" y="5632703"/>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5</a:t>
            </a:r>
          </a:p>
        </p:txBody>
      </p:sp>
      <p:sp>
        <p:nvSpPr>
          <p:cNvPr id="68" name="TextBox 67"/>
          <p:cNvSpPr txBox="1"/>
          <p:nvPr/>
        </p:nvSpPr>
        <p:spPr>
          <a:xfrm>
            <a:off x="2240280" y="5513831"/>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Real GPT / Claude / Gemini</a:t>
            </a:r>
          </a:p>
        </p:txBody>
      </p:sp>
      <p:sp>
        <p:nvSpPr>
          <p:cNvPr id="69" name="TextBox 68"/>
          <p:cNvSpPr txBox="1"/>
          <p:nvPr/>
        </p:nvSpPr>
        <p:spPr>
          <a:xfrm>
            <a:off x="2240280" y="6089903"/>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Compare with paid API keys</a:t>
            </a:r>
          </a:p>
        </p:txBody>
      </p:sp>
      <p:sp>
        <p:nvSpPr>
          <p:cNvPr id="70" name="Rounded Rectangle 69"/>
          <p:cNvSpPr/>
          <p:nvPr/>
        </p:nvSpPr>
        <p:spPr>
          <a:xfrm>
            <a:off x="9281160" y="5358383"/>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509760" y="5632703"/>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509760" y="5632703"/>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6</a:t>
            </a:r>
          </a:p>
        </p:txBody>
      </p:sp>
      <p:sp>
        <p:nvSpPr>
          <p:cNvPr id="73" name="TextBox 72"/>
          <p:cNvSpPr txBox="1"/>
          <p:nvPr/>
        </p:nvSpPr>
        <p:spPr>
          <a:xfrm>
            <a:off x="10607040" y="5513831"/>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Larger correctness suite</a:t>
            </a:r>
          </a:p>
        </p:txBody>
      </p:sp>
      <p:sp>
        <p:nvSpPr>
          <p:cNvPr id="74" name="TextBox 73"/>
          <p:cNvSpPr txBox="1"/>
          <p:nvPr/>
        </p:nvSpPr>
        <p:spPr>
          <a:xfrm>
            <a:off x="10607040" y="6089903"/>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more cases and providers for significance</a:t>
            </a:r>
          </a:p>
        </p:txBody>
      </p:sp>
      <p:sp>
        <p:nvSpPr>
          <p:cNvPr id="75" name="Rounded Rectangle 74"/>
          <p:cNvSpPr/>
          <p:nvPr/>
        </p:nvSpPr>
        <p:spPr>
          <a:xfrm>
            <a:off x="914400" y="6986016"/>
            <a:ext cx="8092440" cy="1417320"/>
          </a:xfrm>
          <a:prstGeom prst="roundRect">
            <a:avLst>
              <a:gd name="adj" fmla="val 7000"/>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1143000" y="7260336"/>
            <a:ext cx="868680" cy="868680"/>
          </a:xfrm>
          <a:prstGeom prst="ellipse">
            <a:avLst/>
          </a:prstGeom>
          <a:solidFill>
            <a:srgbClr val="9FC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143000" y="7260336"/>
            <a:ext cx="868680" cy="868680"/>
          </a:xfrm>
          <a:prstGeom prst="rect">
            <a:avLst/>
          </a:prstGeom>
          <a:noFill/>
        </p:spPr>
        <p:txBody>
          <a:bodyPr wrap="square" anchor="ctr" lIns="0" rIns="0" tIns="0" bIns="0">
            <a:spAutoFit/>
          </a:bodyPr>
          <a:lstStyle/>
          <a:p>
            <a:pPr algn="ctr">
              <a:lnSpc>
                <a:spcPct val="110000"/>
              </a:lnSpc>
              <a:spcAft>
                <a:spcPts val="600"/>
              </a:spcAft>
            </a:pPr>
            <a:r>
              <a:rPr sz="2400" b="1">
                <a:solidFill>
                  <a:srgbClr val="1E4926"/>
                </a:solidFill>
                <a:latin typeface="Manifold Bold"/>
              </a:rPr>
              <a:t>7</a:t>
            </a:r>
          </a:p>
        </p:txBody>
      </p:sp>
      <p:sp>
        <p:nvSpPr>
          <p:cNvPr id="78" name="TextBox 77"/>
          <p:cNvSpPr txBox="1"/>
          <p:nvPr/>
        </p:nvSpPr>
        <p:spPr>
          <a:xfrm>
            <a:off x="2240280" y="7141464"/>
            <a:ext cx="6583680" cy="502920"/>
          </a:xfrm>
          <a:prstGeom prst="rect">
            <a:avLst/>
          </a:prstGeom>
          <a:noFill/>
        </p:spPr>
        <p:txBody>
          <a:bodyPr wrap="square" anchor="t" lIns="0" rIns="0" tIns="0" bIns="0">
            <a:spAutoFit/>
          </a:bodyPr>
          <a:lstStyle/>
          <a:p>
            <a:pPr algn="l">
              <a:lnSpc>
                <a:spcPct val="110000"/>
              </a:lnSpc>
              <a:spcAft>
                <a:spcPts val="600"/>
              </a:spcAft>
            </a:pPr>
            <a:r>
              <a:rPr sz="2200" b="1">
                <a:solidFill>
                  <a:srgbClr val="F5FFF9"/>
                </a:solidFill>
                <a:latin typeface="Manifold Bold"/>
              </a:rPr>
              <a:t>Deployment</a:t>
            </a:r>
          </a:p>
        </p:txBody>
      </p:sp>
      <p:sp>
        <p:nvSpPr>
          <p:cNvPr id="79" name="TextBox 78"/>
          <p:cNvSpPr txBox="1"/>
          <p:nvPr/>
        </p:nvSpPr>
        <p:spPr>
          <a:xfrm>
            <a:off x="2240280" y="7717536"/>
            <a:ext cx="6583680" cy="548640"/>
          </a:xfrm>
          <a:prstGeom prst="rect">
            <a:avLst/>
          </a:prstGeom>
          <a:noFill/>
        </p:spPr>
        <p:txBody>
          <a:bodyPr wrap="square" anchor="t" lIns="0" rIns="0" tIns="0" bIns="0">
            <a:spAutoFit/>
          </a:bodyPr>
          <a:lstStyle/>
          <a:p>
            <a:pPr algn="l">
              <a:lnSpc>
                <a:spcPct val="110000"/>
              </a:lnSpc>
              <a:spcAft>
                <a:spcPts val="600"/>
              </a:spcAft>
            </a:pPr>
            <a:r>
              <a:rPr sz="1800" b="0">
                <a:solidFill>
                  <a:srgbClr val="F5FFF9"/>
                </a:solidFill>
                <a:latin typeface="Lato"/>
              </a:rPr>
              <a:t>PostgreSQL, HTTPS and login, beyond the LAN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72" id="72"/>
          <p:cNvGrpSpPr/>
          <p:nvPr/>
        </p:nvGrpSpPr>
        <p:grpSpPr>
          <a:xfrm rot="6936434">
            <a:off x="16860459" y="8130191"/>
            <a:ext cx="5817847" cy="5817847"/>
            <a:chOff x="0" y="0"/>
            <a:chExt cx="812800" cy="812800"/>
          </a:xfrm>
        </p:grpSpPr>
        <p:sp>
          <p:nvSpPr>
            <p:cNvPr name="Freeform 73" id="7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4" id="74"/>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grpSp>
        <p:nvGrpSpPr>
          <p:cNvPr name="Group 75" id="75"/>
          <p:cNvGrpSpPr/>
          <p:nvPr/>
        </p:nvGrpSpPr>
        <p:grpSpPr>
          <a:xfrm rot="9405415">
            <a:off x="-3681581" y="8273503"/>
            <a:ext cx="5159957" cy="5159957"/>
            <a:chOff x="0" y="0"/>
            <a:chExt cx="812800" cy="812800"/>
          </a:xfrm>
        </p:grpSpPr>
        <p:sp>
          <p:nvSpPr>
            <p:cNvPr name="Freeform 76" id="7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true">
              <a:gsLst>
                <a:gs pos="0">
                  <a:srgbClr val="9FC4AE">
                    <a:alpha val="66000"/>
                  </a:srgbClr>
                </a:gs>
                <a:gs pos="100000">
                  <a:srgbClr val="FFFFFF">
                    <a:alpha val="66000"/>
                  </a:srgbClr>
                </a:gs>
              </a:gsLst>
              <a:lin ang="0"/>
            </a:gradFill>
          </p:spPr>
        </p:sp>
        <p:sp>
          <p:nvSpPr>
            <p:cNvPr name="TextBox 77" id="77"/>
            <p:cNvSpPr txBox="true"/>
            <p:nvPr/>
          </p:nvSpPr>
          <p:spPr>
            <a:xfrm>
              <a:off x="76200" y="28575"/>
              <a:ext cx="660400" cy="708025"/>
            </a:xfrm>
            <a:prstGeom prst="rect">
              <a:avLst/>
            </a:prstGeom>
          </p:spPr>
          <p:txBody>
            <a:bodyPr anchor="ctr" rtlCol="false" tIns="50800" lIns="50800" bIns="50800" rIns="50800"/>
            <a:lstStyle/>
            <a:p>
              <a:pPr algn="ctr">
                <a:lnSpc>
                  <a:spcPts val="2936"/>
                </a:lnSpc>
              </a:pPr>
            </a:p>
          </p:txBody>
        </p:sp>
      </p:grpSp>
      <p:sp>
        <p:nvSpPr>
          <p:cNvPr name="Freeform 78" id="78"/>
          <p:cNvSpPr/>
          <p:nvPr/>
        </p:nvSpPr>
        <p:spPr>
          <a:xfrm flipH="false" flipV="false" rot="0">
            <a:off x="-1101602" y="-467749"/>
            <a:ext cx="2992899" cy="2992899"/>
          </a:xfrm>
          <a:custGeom>
            <a:avLst/>
            <a:gdLst/>
            <a:ahLst/>
            <a:cxnLst/>
            <a:rect r="r" b="b" t="t" l="l"/>
            <a:pathLst>
              <a:path h="2992899" w="2992899">
                <a:moveTo>
                  <a:pt x="0" y="0"/>
                </a:moveTo>
                <a:lnTo>
                  <a:pt x="2992898" y="0"/>
                </a:lnTo>
                <a:lnTo>
                  <a:pt x="2992898" y="2992898"/>
                </a:lnTo>
                <a:lnTo>
                  <a:pt x="0" y="2992898"/>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79" id="79"/>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14"/>
            <a:stretch>
              <a:fillRect l="0" t="0" r="0" b="0"/>
            </a:stretch>
          </a:blipFill>
        </p:spPr>
      </p:sp>
      <p:sp>
        <p:nvSpPr>
          <p:cNvPr name="Freeform 80" id="80"/>
          <p:cNvSpPr/>
          <p:nvPr/>
        </p:nvSpPr>
        <p:spPr>
          <a:xfrm flipH="true" flipV="false" rot="0">
            <a:off x="16398977" y="-467749"/>
            <a:ext cx="2992899" cy="2992899"/>
          </a:xfrm>
          <a:custGeom>
            <a:avLst/>
            <a:gdLst/>
            <a:ahLst/>
            <a:cxnLst/>
            <a:rect r="r" b="b" t="t" l="l"/>
            <a:pathLst>
              <a:path h="2992899" w="2992899">
                <a:moveTo>
                  <a:pt x="2992899" y="0"/>
                </a:moveTo>
                <a:lnTo>
                  <a:pt x="0" y="0"/>
                </a:lnTo>
                <a:lnTo>
                  <a:pt x="0" y="2992898"/>
                </a:lnTo>
                <a:lnTo>
                  <a:pt x="2992899" y="2992898"/>
                </a:lnTo>
                <a:lnTo>
                  <a:pt x="2992899"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81" id="81"/>
          <p:cNvSpPr txBox="true"/>
          <p:nvPr/>
        </p:nvSpPr>
        <p:spPr>
          <a:xfrm rot="0">
            <a:off x="2103120" y="566928"/>
            <a:ext cx="14081760" cy="946150"/>
          </a:xfrm>
          <a:prstGeom prst="rect">
            <a:avLst/>
          </a:prstGeom>
        </p:spPr>
        <p:txBody>
          <a:bodyPr anchor="t" rtlCol="false" tIns="0" lIns="0" bIns="0" rIns="0" wrap="square">
            <a:spAutoFit/>
          </a:bodyPr>
          <a:lstStyle/>
          <a:p>
            <a:pPr algn="ctr">
              <a:lnSpc>
                <a:spcPts val="7699"/>
              </a:lnSpc>
            </a:pPr>
            <a:r>
              <a:rPr lang="en-US" b="true" sz="5499">
                <a:solidFill>
                  <a:srgbClr val="F5FFF9"/>
                </a:solidFill>
                <a:latin typeface="Manifold Ultra-Bold"/>
                <a:ea typeface="Manifold Ultra-Bold"/>
                <a:cs typeface="Manifold Ultra-Bold"/>
                <a:sym typeface="Manifold Ultra-Bold"/>
              </a:rPr>
              <a:t>LIVE DEMO</a:t>
            </a:r>
          </a:p>
        </p:txBody>
      </p:sp>
      <p:sp>
        <p:nvSpPr>
          <p:cNvPr id="82" name="Rounded Rectangle 81"/>
          <p:cNvSpPr/>
          <p:nvPr/>
        </p:nvSpPr>
        <p:spPr>
          <a:xfrm>
            <a:off x="2377440" y="2103120"/>
            <a:ext cx="13533120" cy="7223760"/>
          </a:xfrm>
          <a:prstGeom prst="roundRect">
            <a:avLst>
              <a:gd name="adj" fmla="val 7000"/>
            </a:avLst>
          </a:prstGeom>
          <a:solidFill>
            <a:srgbClr val="F5FF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926080" y="251460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926080" y="251460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1</a:t>
            </a:r>
          </a:p>
        </p:txBody>
      </p:sp>
      <p:sp>
        <p:nvSpPr>
          <p:cNvPr id="85" name="TextBox 84"/>
          <p:cNvSpPr txBox="1"/>
          <p:nvPr/>
        </p:nvSpPr>
        <p:spPr>
          <a:xfrm>
            <a:off x="4206240" y="249631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Optimize   </a:t>
            </a:r>
            <a:r>
              <a:rPr sz="2100" b="0">
                <a:solidFill>
                  <a:srgbClr val="1E4926"/>
                </a:solidFill>
                <a:latin typeface="Lato"/>
              </a:rPr>
              <a:t>"write code to get all permutations of a string"</a:t>
            </a:r>
          </a:p>
        </p:txBody>
      </p:sp>
      <p:sp>
        <p:nvSpPr>
          <p:cNvPr id="86" name="Oval 85"/>
          <p:cNvSpPr/>
          <p:nvPr/>
        </p:nvSpPr>
        <p:spPr>
          <a:xfrm>
            <a:off x="2926080" y="384048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926080" y="384048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2</a:t>
            </a:r>
          </a:p>
        </p:txBody>
      </p:sp>
      <p:sp>
        <p:nvSpPr>
          <p:cNvPr id="88" name="TextBox 87"/>
          <p:cNvSpPr txBox="1"/>
          <p:nvPr/>
        </p:nvSpPr>
        <p:spPr>
          <a:xfrm>
            <a:off x="4206240" y="382219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Stage C   </a:t>
            </a:r>
            <a:r>
              <a:rPr sz="2100" b="0">
                <a:solidFill>
                  <a:srgbClr val="1E4926"/>
                </a:solidFill>
                <a:latin typeface="Lato"/>
              </a:rPr>
              <a:t>"hey can you just summarize this article for me"</a:t>
            </a:r>
          </a:p>
        </p:txBody>
      </p:sp>
      <p:sp>
        <p:nvSpPr>
          <p:cNvPr id="89" name="Oval 88"/>
          <p:cNvSpPr/>
          <p:nvPr/>
        </p:nvSpPr>
        <p:spPr>
          <a:xfrm>
            <a:off x="2926080" y="516636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926080" y="516636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3</a:t>
            </a:r>
          </a:p>
        </p:txBody>
      </p:sp>
      <p:sp>
        <p:nvSpPr>
          <p:cNvPr id="91" name="TextBox 90"/>
          <p:cNvSpPr txBox="1"/>
          <p:nvPr/>
        </p:nvSpPr>
        <p:spPr>
          <a:xfrm>
            <a:off x="4206240" y="514807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Compare   </a:t>
            </a:r>
            <a:r>
              <a:rPr sz="2100" b="0">
                <a:solidFill>
                  <a:srgbClr val="1E4926"/>
                </a:solidFill>
                <a:latin typeface="Lato"/>
              </a:rPr>
              <a:t>gpt-oss-120b: tokens, latency, sandbox tests</a:t>
            </a:r>
          </a:p>
        </p:txBody>
      </p:sp>
      <p:sp>
        <p:nvSpPr>
          <p:cNvPr id="92" name="Oval 91"/>
          <p:cNvSpPr/>
          <p:nvPr/>
        </p:nvSpPr>
        <p:spPr>
          <a:xfrm>
            <a:off x="2926080" y="649224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926080" y="649224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4</a:t>
            </a:r>
          </a:p>
        </p:txBody>
      </p:sp>
      <p:sp>
        <p:nvSpPr>
          <p:cNvPr id="94" name="TextBox 93"/>
          <p:cNvSpPr txBox="1"/>
          <p:nvPr/>
        </p:nvSpPr>
        <p:spPr>
          <a:xfrm>
            <a:off x="4206240" y="647395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Image mode   </a:t>
            </a:r>
            <a:r>
              <a:rPr sz="2100" b="0">
                <a:solidFill>
                  <a:srgbClr val="1E4926"/>
                </a:solidFill>
                <a:latin typeface="Lato"/>
              </a:rPr>
              <a:t>"oil painting of a sailboat in a storm"</a:t>
            </a:r>
          </a:p>
        </p:txBody>
      </p:sp>
      <p:sp>
        <p:nvSpPr>
          <p:cNvPr id="95" name="Oval 94"/>
          <p:cNvSpPr/>
          <p:nvPr/>
        </p:nvSpPr>
        <p:spPr>
          <a:xfrm>
            <a:off x="2926080" y="7818120"/>
            <a:ext cx="914400" cy="914400"/>
          </a:xfrm>
          <a:prstGeom prst="ellipse">
            <a:avLst/>
          </a:prstGeom>
          <a:solidFill>
            <a:srgbClr val="457C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926080" y="7818120"/>
            <a:ext cx="914400" cy="914400"/>
          </a:xfrm>
          <a:prstGeom prst="rect">
            <a:avLst/>
          </a:prstGeom>
          <a:noFill/>
        </p:spPr>
        <p:txBody>
          <a:bodyPr wrap="square" anchor="ctr" lIns="0" rIns="0" tIns="0" bIns="0">
            <a:spAutoFit/>
          </a:bodyPr>
          <a:lstStyle/>
          <a:p>
            <a:pPr algn="ctr">
              <a:lnSpc>
                <a:spcPct val="110000"/>
              </a:lnSpc>
              <a:spcAft>
                <a:spcPts val="600"/>
              </a:spcAft>
            </a:pPr>
            <a:r>
              <a:rPr sz="2600" b="1">
                <a:solidFill>
                  <a:srgbClr val="F5FFF9"/>
                </a:solidFill>
                <a:latin typeface="Manifold Bold"/>
              </a:rPr>
              <a:t>5</a:t>
            </a:r>
          </a:p>
        </p:txBody>
      </p:sp>
      <p:sp>
        <p:nvSpPr>
          <p:cNvPr id="97" name="TextBox 96"/>
          <p:cNvSpPr txBox="1"/>
          <p:nvPr/>
        </p:nvSpPr>
        <p:spPr>
          <a:xfrm>
            <a:off x="4206240" y="7799832"/>
            <a:ext cx="11247120" cy="1005840"/>
          </a:xfrm>
          <a:prstGeom prst="rect">
            <a:avLst/>
          </a:prstGeom>
          <a:noFill/>
        </p:spPr>
        <p:txBody>
          <a:bodyPr wrap="square" anchor="ctr" lIns="0" rIns="0" tIns="0" bIns="0">
            <a:spAutoFit/>
          </a:bodyPr>
          <a:lstStyle/>
          <a:p>
            <a:pPr algn="l">
              <a:lnSpc>
                <a:spcPct val="110000"/>
              </a:lnSpc>
              <a:spcAft>
                <a:spcPts val="600"/>
              </a:spcAft>
            </a:pPr>
            <a:r>
              <a:rPr sz="2400" b="1">
                <a:solidFill>
                  <a:srgbClr val="457C5B"/>
                </a:solidFill>
                <a:latin typeface="Manifold Bold"/>
              </a:rPr>
              <a:t>History · Test suite · Results   </a:t>
            </a:r>
            <a:r>
              <a:rPr sz="2100" b="0">
                <a:solidFill>
                  <a:srgbClr val="1E4926"/>
                </a:solidFill>
                <a:latin typeface="Lato"/>
              </a:rPr>
              <a:t>past prompts, 50-case suite, headline numbers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457C5B"/>
        </a:solidFill>
      </p:bgPr>
    </p:bg>
    <p:spTree>
      <p:nvGrpSpPr>
        <p:cNvPr id="1" name=""/>
        <p:cNvGrpSpPr/>
        <p:nvPr/>
      </p:nvGrpSpPr>
      <p:grpSpPr>
        <a:xfrm>
          <a:off x="0" y="0"/>
          <a:ext cx="0" cy="0"/>
          <a:chOff x="0" y="0"/>
          <a:chExt cx="0" cy="0"/>
        </a:xfrm>
      </p:grpSpPr>
      <p:grpSp>
        <p:nvGrpSpPr>
          <p:cNvPr name="Group 2" id="2"/>
          <p:cNvGrpSpPr/>
          <p:nvPr/>
        </p:nvGrpSpPr>
        <p:grpSpPr>
          <a:xfrm rot="0">
            <a:off x="-1265404" y="2220741"/>
            <a:ext cx="20818807" cy="5845518"/>
            <a:chOff x="0" y="0"/>
            <a:chExt cx="5836242" cy="1638704"/>
          </a:xfrm>
        </p:grpSpPr>
        <p:sp>
          <p:nvSpPr>
            <p:cNvPr name="Freeform 3" id="3"/>
            <p:cNvSpPr/>
            <p:nvPr/>
          </p:nvSpPr>
          <p:spPr>
            <a:xfrm flipH="false" flipV="false" rot="0">
              <a:off x="0" y="0"/>
              <a:ext cx="5836242" cy="1638704"/>
            </a:xfrm>
            <a:custGeom>
              <a:avLst/>
              <a:gdLst/>
              <a:ahLst/>
              <a:cxnLst/>
              <a:rect r="r" b="b" t="t" l="l"/>
              <a:pathLst>
                <a:path h="1638704" w="5836242">
                  <a:moveTo>
                    <a:pt x="6694" y="0"/>
                  </a:moveTo>
                  <a:lnTo>
                    <a:pt x="5829548" y="0"/>
                  </a:lnTo>
                  <a:cubicBezTo>
                    <a:pt x="5833245" y="0"/>
                    <a:pt x="5836242" y="2997"/>
                    <a:pt x="5836242" y="6694"/>
                  </a:cubicBezTo>
                  <a:lnTo>
                    <a:pt x="5836242" y="1632010"/>
                  </a:lnTo>
                  <a:cubicBezTo>
                    <a:pt x="5836242" y="1635707"/>
                    <a:pt x="5833245" y="1638704"/>
                    <a:pt x="5829548" y="1638704"/>
                  </a:cubicBezTo>
                  <a:lnTo>
                    <a:pt x="6694" y="1638704"/>
                  </a:lnTo>
                  <a:cubicBezTo>
                    <a:pt x="2997" y="1638704"/>
                    <a:pt x="0" y="1635707"/>
                    <a:pt x="0" y="1632010"/>
                  </a:cubicBezTo>
                  <a:lnTo>
                    <a:pt x="0" y="6694"/>
                  </a:lnTo>
                  <a:cubicBezTo>
                    <a:pt x="0" y="2997"/>
                    <a:pt x="2997" y="0"/>
                    <a:pt x="6694" y="0"/>
                  </a:cubicBezTo>
                  <a:close/>
                </a:path>
              </a:pathLst>
            </a:custGeom>
            <a:solidFill>
              <a:srgbClr val="F5FFF9"/>
            </a:solidFill>
          </p:spPr>
        </p:sp>
        <p:sp>
          <p:nvSpPr>
            <p:cNvPr name="TextBox 4" id="4"/>
            <p:cNvSpPr txBox="true"/>
            <p:nvPr/>
          </p:nvSpPr>
          <p:spPr>
            <a:xfrm>
              <a:off x="0" y="-47625"/>
              <a:ext cx="5836242" cy="1686329"/>
            </a:xfrm>
            <a:prstGeom prst="rect">
              <a:avLst/>
            </a:prstGeom>
          </p:spPr>
          <p:txBody>
            <a:bodyPr anchor="ctr" rtlCol="false" tIns="50800" lIns="50800" bIns="50800" rIns="50800"/>
            <a:lstStyle/>
            <a:p>
              <a:pPr algn="ctr">
                <a:lnSpc>
                  <a:spcPts val="2936"/>
                </a:lnSpc>
              </a:pPr>
            </a:p>
          </p:txBody>
        </p:sp>
      </p:grpSp>
      <p:sp>
        <p:nvSpPr>
          <p:cNvPr name="TextBox 5" id="5"/>
          <p:cNvSpPr txBox="true"/>
          <p:nvPr/>
        </p:nvSpPr>
        <p:spPr>
          <a:xfrm rot="0">
            <a:off x="3060598" y="4033474"/>
            <a:ext cx="12166804" cy="1991386"/>
          </a:xfrm>
          <a:prstGeom prst="rect">
            <a:avLst/>
          </a:prstGeom>
        </p:spPr>
        <p:txBody>
          <a:bodyPr anchor="t" rtlCol="false" tIns="0" lIns="0" bIns="0" rIns="0">
            <a:spAutoFit/>
          </a:bodyPr>
          <a:lstStyle/>
          <a:p>
            <a:pPr algn="ctr">
              <a:lnSpc>
                <a:spcPts val="16238"/>
              </a:lnSpc>
            </a:pPr>
            <a:r>
              <a:rPr lang="en-US" b="true" sz="11598">
                <a:solidFill>
                  <a:srgbClr val="457C5B"/>
                </a:solidFill>
                <a:latin typeface="Manifold Ultra-Bold"/>
                <a:ea typeface="Manifold Ultra-Bold"/>
                <a:cs typeface="Manifold Ultra-Bold"/>
                <a:sym typeface="Manifold Ultra-Bold"/>
              </a:rPr>
              <a:t>THANK YOU</a:t>
            </a:r>
          </a:p>
        </p:txBody>
      </p:sp>
      <p:sp>
        <p:nvSpPr>
          <p:cNvPr name="Freeform 6" id="6"/>
          <p:cNvSpPr/>
          <p:nvPr/>
        </p:nvSpPr>
        <p:spPr>
          <a:xfrm flipH="false" flipV="false" rot="0">
            <a:off x="-1366088" y="-1038481"/>
            <a:ext cx="2992899" cy="2992899"/>
          </a:xfrm>
          <a:custGeom>
            <a:avLst/>
            <a:gdLst/>
            <a:ahLst/>
            <a:cxnLst/>
            <a:rect r="r" b="b" t="t" l="l"/>
            <a:pathLst>
              <a:path h="2992899" w="2992899">
                <a:moveTo>
                  <a:pt x="0" y="0"/>
                </a:moveTo>
                <a:lnTo>
                  <a:pt x="2992899" y="0"/>
                </a:lnTo>
                <a:lnTo>
                  <a:pt x="2992899"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true" flipV="false" rot="0">
            <a:off x="16791551" y="-1038481"/>
            <a:ext cx="2992899" cy="2992899"/>
          </a:xfrm>
          <a:custGeom>
            <a:avLst/>
            <a:gdLst/>
            <a:ahLst/>
            <a:cxnLst/>
            <a:rect r="r" b="b" t="t" l="l"/>
            <a:pathLst>
              <a:path h="2992899" w="2992899">
                <a:moveTo>
                  <a:pt x="2992898" y="0"/>
                </a:moveTo>
                <a:lnTo>
                  <a:pt x="0" y="0"/>
                </a:lnTo>
                <a:lnTo>
                  <a:pt x="0" y="2992899"/>
                </a:lnTo>
                <a:lnTo>
                  <a:pt x="2992898" y="2992899"/>
                </a:lnTo>
                <a:lnTo>
                  <a:pt x="2992898"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10800000">
            <a:off x="16560505" y="8332959"/>
            <a:ext cx="2992899" cy="2992899"/>
          </a:xfrm>
          <a:custGeom>
            <a:avLst/>
            <a:gdLst/>
            <a:ahLst/>
            <a:cxnLst/>
            <a:rect r="r" b="b" t="t" l="l"/>
            <a:pathLst>
              <a:path h="2992899" w="2992899">
                <a:moveTo>
                  <a:pt x="0" y="0"/>
                </a:moveTo>
                <a:lnTo>
                  <a:pt x="2992899" y="0"/>
                </a:lnTo>
                <a:lnTo>
                  <a:pt x="2992899" y="2992899"/>
                </a:lnTo>
                <a:lnTo>
                  <a:pt x="0" y="299289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true" flipV="false" rot="-10800000">
            <a:off x="-1597133" y="8332959"/>
            <a:ext cx="2992899" cy="2992899"/>
          </a:xfrm>
          <a:custGeom>
            <a:avLst/>
            <a:gdLst/>
            <a:ahLst/>
            <a:cxnLst/>
            <a:rect r="r" b="b" t="t" l="l"/>
            <a:pathLst>
              <a:path h="2992899" w="2992899">
                <a:moveTo>
                  <a:pt x="2992899" y="0"/>
                </a:moveTo>
                <a:lnTo>
                  <a:pt x="0" y="0"/>
                </a:lnTo>
                <a:lnTo>
                  <a:pt x="0" y="2992899"/>
                </a:lnTo>
                <a:lnTo>
                  <a:pt x="2992899" y="2992899"/>
                </a:lnTo>
                <a:lnTo>
                  <a:pt x="299289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0" id="10"/>
          <p:cNvSpPr/>
          <p:nvPr/>
        </p:nvSpPr>
        <p:spPr>
          <a:xfrm flipH="true" flipV="false" rot="-10800000">
            <a:off x="10580266" y="5932520"/>
            <a:ext cx="4647136" cy="778395"/>
          </a:xfrm>
          <a:custGeom>
            <a:avLst/>
            <a:gdLst/>
            <a:ahLst/>
            <a:cxnLst/>
            <a:rect r="r" b="b" t="t" l="l"/>
            <a:pathLst>
              <a:path h="778395" w="4647136">
                <a:moveTo>
                  <a:pt x="4647136" y="0"/>
                </a:moveTo>
                <a:lnTo>
                  <a:pt x="0" y="0"/>
                </a:lnTo>
                <a:lnTo>
                  <a:pt x="0" y="778395"/>
                </a:lnTo>
                <a:lnTo>
                  <a:pt x="4647136" y="778395"/>
                </a:lnTo>
                <a:lnTo>
                  <a:pt x="4647136"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1" id="11"/>
          <p:cNvSpPr/>
          <p:nvPr/>
        </p:nvSpPr>
        <p:spPr>
          <a:xfrm flipH="false" flipV="true" rot="-10800000">
            <a:off x="3060598" y="3603980"/>
            <a:ext cx="4647136" cy="778395"/>
          </a:xfrm>
          <a:custGeom>
            <a:avLst/>
            <a:gdLst/>
            <a:ahLst/>
            <a:cxnLst/>
            <a:rect r="r" b="b" t="t" l="l"/>
            <a:pathLst>
              <a:path h="778395" w="4647136">
                <a:moveTo>
                  <a:pt x="0" y="778395"/>
                </a:moveTo>
                <a:lnTo>
                  <a:pt x="4647136" y="778395"/>
                </a:lnTo>
                <a:lnTo>
                  <a:pt x="4647136" y="0"/>
                </a:lnTo>
                <a:lnTo>
                  <a:pt x="0" y="0"/>
                </a:lnTo>
                <a:lnTo>
                  <a:pt x="0" y="778395"/>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0">
            <a:off x="185225" y="296308"/>
            <a:ext cx="1686949" cy="1283956"/>
          </a:xfrm>
          <a:custGeom>
            <a:avLst/>
            <a:gdLst/>
            <a:ahLst/>
            <a:cxnLst/>
            <a:rect r="r" b="b" t="t" l="l"/>
            <a:pathLst>
              <a:path h="1283956" w="1686949">
                <a:moveTo>
                  <a:pt x="0" y="0"/>
                </a:moveTo>
                <a:lnTo>
                  <a:pt x="1686950" y="0"/>
                </a:lnTo>
                <a:lnTo>
                  <a:pt x="1686950" y="1283956"/>
                </a:lnTo>
                <a:lnTo>
                  <a:pt x="0" y="1283956"/>
                </a:lnTo>
                <a:lnTo>
                  <a:pt x="0" y="0"/>
                </a:lnTo>
                <a:close/>
              </a:path>
            </a:pathLst>
          </a:custGeom>
          <a:blipFill>
            <a:blip r:embed="rId6"/>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DAHS6CkWnXE</dc:identifier>
  <dcterms:modified xsi:type="dcterms:W3CDTF">2011-08-01T06:04:30Z</dcterms:modified>
  <cp:revision>1</cp:revision>
  <dc:title>PromptOpt_PPT</dc:title>
</cp:coreProperties>
</file>