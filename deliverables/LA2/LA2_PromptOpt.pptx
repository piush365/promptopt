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charts/chart1.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charts/chart2.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charts/chart3.xml" ContentType="application/vnd.openxmlformats-officedocument.drawingml.chart+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09b05d56-bb7d-9940-5a22-57edc00f212a}">
          <p14:sldIdLst>
            <p14:sldId id="256"/>
            <p14:sldId id="257"/>
          </p14:sldIdLst>
        </p14:section>
        <p14:section name="Core modules" id="{ef330e86-c31e-12f5-4a0c-c3b2383e096e}">
          <p14:sldIdLst>
            <p14:sldId id="258"/>
            <p14:sldId id="259"/>
            <p14:sldId id="260"/>
            <p14:sldId id="261"/>
            <p14:sldId id="262"/>
          </p14:sldIdLst>
        </p14:section>
        <p14:section name="Transactions" id="{5cb29201-64af-e485-2fc5-373427873866}">
          <p14:sldIdLst>
            <p14:sldId id="263"/>
            <p14:sldId id="264"/>
          </p14:sldIdLst>
        </p14:section>
        <p14:section name="Testing" id="{2f1f28c7-7c87-d42e-a083-d0162a92e03a}">
          <p14:sldIdLst>
            <p14:sldId id="265"/>
            <p14:sldId id="266"/>
            <p14:sldId id="267"/>
          </p14:sldIdLst>
        </p14:section>
        <p14:section name="Results" id="{f7dd6208-89fd-7f40-6fb3-5cb03fffad50}">
          <p14:sldIdLst>
            <p14:sldId id="268"/>
            <p14:sldId id="269"/>
          </p14:sldIdLst>
        </p14:section>
        <p14:section name="Process" id="{626b6318-43cb-4402-4ed1-50f3285add9c}">
          <p14:sldIdLst>
            <p14:sldId id="270"/>
            <p14:sldId id="271"/>
            <p14:sldId id="272"/>
            <p14:sldId id="27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2F6B4F"/>
                </a:solidFill>
                <a:latin typeface="+mn-lt"/>
              </a:defRPr>
            </a:pPr>
            <a:r>
              <a:rPr sz="1400" b="0" i="0" u="none" strike="noStrike">
                <a:solidFill>
                  <a:srgbClr val="2F6B4F"/>
                </a:solidFill>
                <a:latin typeface="+mn-lt"/>
              </a:rPr>
              <a:t>pytest tests per module (798)</a:t>
            </a:r>
          </a:p>
        </c:rich>
      </c:tx>
      <c:layout/>
      <c:overlay val="0"/>
    </c:title>
    <c:autoTitleDeleted val="0"/>
    <c:plotArea>
      <c:layout/>
      <c:barChart>
        <c:barDir val="bar"/>
        <c:grouping val="clustered"/>
        <c:varyColors val="0"/>
        <c:ser>
          <c:idx val="0"/>
          <c:order val="0"/>
          <c:tx>
            <c:strRef>
              <c:f>Sheet1!$B$1</c:f>
              <c:strCache>
                <c:ptCount val="1"/>
                <c:pt idx="0">
                  <c:v>tests</c:v>
                </c:pt>
              </c:strCache>
            </c:strRef>
          </c:tx>
          <c:spPr>
            <a:solidFill>
              <a:srgbClr val="2F6B4F"/>
            </a:solidFill>
            <a:effectLst/>
          </c:spPr>
          <c:invertIfNegative val="0"/>
          <c:dLbls>
            <c:numFmt formatCode="#,##0" sourceLinked="0"/>
            <c:txPr>
              <a:bodyPr/>
              <a:lstStyle/>
              <a:p>
                <a:pPr>
                  <a:defRPr b="0" i="0" strike="noStrike" sz="1100" u="none">
                    <a:solidFill>
                      <a:srgbClr val="1B2B22"/>
                    </a:solidFill>
                    <a:latin typeface="+mn-lt"/>
                  </a:defRPr>
                </a:pPr>
              </a:p>
            </c:txPr>
            <c:showLegendKey val="0"/>
            <c:showVal val="1"/>
            <c:showCatName val="0"/>
            <c:showSerName val="0"/>
            <c:showPercent val="0"/>
            <c:showBubbleSize val="0"/>
            <c:showLeaderLines val="0"/>
          </c:dLbls>
          <c:cat>
            <c:multiLvlStrRef>
              <c:f>Sheet1!$A$2:$A$14</c:f>
              <c:multiLvlStrCache>
                <c:ptCount val="13"/>
                <c:lvl>
                  <c:pt idx="0">
                    <c:v>Spelling + demo</c:v>
                  </c:pt>
                  <c:pt idx="1">
                    <c:v>Compare + clients</c:v>
                  </c:pt>
                  <c:pt idx="2">
                    <c:v>Correctness suite</c:v>
                  </c:pt>
                  <c:pt idx="3">
                    <c:v>Coding sandbox</c:v>
                  </c:pt>
                  <c:pt idx="4">
                    <c:v>Database</c:v>
                  </c:pt>
                  <c:pt idx="5">
                    <c:v>Stage C</c:v>
                  </c:pt>
                  <c:pt idx="6">
                    <c:v>API + UI API</c:v>
                  </c:pt>
                  <c:pt idx="7">
                    <c:v>Stage A</c:v>
                  </c:pt>
                  <c:pt idx="8">
                    <c:v>Evaluation harness</c:v>
                  </c:pt>
                  <c:pt idx="9">
                    <c:v>Rendering + pipeline</c:v>
                  </c:pt>
                  <c:pt idx="10">
                    <c:v>Dataset tooling</c:v>
                  </c:pt>
                  <c:pt idx="11">
                    <c:v>Stage B rules</c:v>
                  </c:pt>
                  <c:pt idx="12">
                    <c:v>Image mode</c:v>
                  </c:pt>
                </c:lvl>
              </c:multiLvlStrCache>
            </c:multiLvlStrRef>
          </c:cat>
          <c:val>
            <c:numRef>
              <c:f>Sheet1!$B$2:$B$14</c:f>
              <c:numCache>
                <c:formatCode>General</c:formatCode>
                <c:ptCount val="13"/>
                <c:pt idx="0">
                  <c:v>12</c:v>
                </c:pt>
                <c:pt idx="1">
                  <c:v>16</c:v>
                </c:pt>
                <c:pt idx="2">
                  <c:v>17</c:v>
                </c:pt>
                <c:pt idx="3">
                  <c:v>21</c:v>
                </c:pt>
                <c:pt idx="4">
                  <c:v>22</c:v>
                </c:pt>
                <c:pt idx="5">
                  <c:v>30</c:v>
                </c:pt>
                <c:pt idx="6">
                  <c:v>37</c:v>
                </c:pt>
                <c:pt idx="7">
                  <c:v>47</c:v>
                </c:pt>
                <c:pt idx="8">
                  <c:v>74</c:v>
                </c:pt>
                <c:pt idx="9">
                  <c:v>77</c:v>
                </c:pt>
                <c:pt idx="10">
                  <c:v>107</c:v>
                </c:pt>
                <c:pt idx="11">
                  <c:v>123</c:v>
                </c:pt>
                <c:pt idx="12">
                  <c:v>215</c:v>
                </c:pt>
              </c:numCache>
            </c:numRef>
          </c:val>
        </c:ser>
        <c:dLbls>
          <c:numFmt formatCode="#,##0" sourceLinked="0"/>
          <c:txPr>
            <a:bodyPr/>
            <a:lstStyle/>
            <a:p>
              <a:pPr>
                <a:defRPr b="0" i="0" strike="noStrike" sz="1100" u="none">
                  <a:solidFill>
                    <a:srgbClr val="1B2B22"/>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1B2B22"/>
                </a:solidFill>
                <a:latin typeface="+mn-lt"/>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2F6B4F"/>
                </a:solidFill>
                <a:latin typeface="+mn-lt"/>
              </a:defRPr>
            </a:pPr>
            <a:r>
              <a:rPr sz="1300" b="0" i="0" u="none" strike="noStrike">
                <a:solidFill>
                  <a:srgbClr val="2F6B4F"/>
                </a:solidFill>
                <a:latin typeface="+mn-lt"/>
              </a:rPr>
              <a:t>Correct of 10, per category</a:t>
            </a:r>
          </a:p>
        </c:rich>
      </c:tx>
      <c:layout/>
      <c:overlay val="0"/>
    </c:title>
    <c:autoTitleDeleted val="0"/>
    <c:plotArea>
      <c:layout/>
      <c:barChart>
        <c:barDir val="col"/>
        <c:grouping val="clustered"/>
        <c:varyColors val="0"/>
        <c:ser>
          <c:idx val="0"/>
          <c:order val="0"/>
          <c:tx>
            <c:strRef>
              <c:f>Sheet1!$B$1</c:f>
              <c:strCache>
                <c:ptCount val="1"/>
                <c:pt idx="0">
                  <c:v>Vague</c:v>
                </c:pt>
              </c:strCache>
            </c:strRef>
          </c:tx>
          <c:spPr>
            <a:solidFill>
              <a:srgbClr val="D9822B"/>
            </a:solidFill>
            <a:effectLst/>
          </c:spPr>
          <c:invertIfNegative val="0"/>
          <c:dLbls>
            <c:numFmt formatCode="#,##0" sourceLinked="0"/>
            <c:txPr>
              <a:bodyPr/>
              <a:lstStyle/>
              <a:p>
                <a:pPr>
                  <a:defRPr b="0" i="0" strike="noStrike" sz="1000" u="none">
                    <a:solidFill>
                      <a:srgbClr val="1B2B22"/>
                    </a:solidFill>
                    <a:latin typeface="+mn-lt"/>
                  </a:defRPr>
                </a:pPr>
              </a:p>
            </c:txPr>
            <c:showLegendKey val="0"/>
            <c:showVal val="1"/>
            <c:showCatName val="0"/>
            <c:showSerName val="0"/>
            <c:showPercent val="0"/>
            <c:showBubbleSize val="0"/>
            <c:showLeaderLines val="0"/>
          </c:dLbls>
          <c:cat>
            <c:multiLvlStrRef>
              <c:f>Sheet1!$A$2:$A$6</c:f>
              <c:multiLvlStrCache>
                <c:ptCount val="5"/>
                <c:lvl>
                  <c:pt idx="0">
                    <c:v>QA</c:v>
                  </c:pt>
                  <c:pt idx="1">
                    <c:v>Extract</c:v>
                  </c:pt>
                  <c:pt idx="2">
                    <c:v>Classify</c:v>
                  </c:pt>
                  <c:pt idx="3">
                    <c:v>Summary</c:v>
                  </c:pt>
                  <c:pt idx="4">
                    <c:v>Coding</c:v>
                  </c:pt>
                </c:lvl>
              </c:multiLvlStrCache>
            </c:multiLvlStrRef>
          </c:cat>
          <c:val>
            <c:numRef>
              <c:f>Sheet1!$B$2:$B$6</c:f>
              <c:numCache>
                <c:formatCode>General</c:formatCode>
                <c:ptCount val="5"/>
                <c:pt idx="0">
                  <c:v>8</c:v>
                </c:pt>
                <c:pt idx="1">
                  <c:v>7</c:v>
                </c:pt>
                <c:pt idx="2">
                  <c:v>7</c:v>
                </c:pt>
                <c:pt idx="3">
                  <c:v>7</c:v>
                </c:pt>
                <c:pt idx="4">
                  <c:v>8</c:v>
                </c:pt>
              </c:numCache>
            </c:numRef>
          </c:val>
        </c:ser>
        <c:ser>
          <c:idx val="1"/>
          <c:order val="1"/>
          <c:tx>
            <c:strRef>
              <c:f>Sheet1!$C$1</c:f>
              <c:strCache>
                <c:ptCount val="1"/>
                <c:pt idx="0">
                  <c:v>Optimized</c:v>
                </c:pt>
              </c:strCache>
            </c:strRef>
          </c:tx>
          <c:spPr>
            <a:solidFill>
              <a:srgbClr val="2F6B4F"/>
            </a:solidFill>
            <a:effectLst/>
          </c:spPr>
          <c:invertIfNegative val="0"/>
          <c:dLbls>
            <c:numFmt formatCode="#,##0" sourceLinked="0"/>
            <c:txPr>
              <a:bodyPr/>
              <a:lstStyle/>
              <a:p>
                <a:pPr>
                  <a:defRPr b="0" i="0" strike="noStrike" sz="1000" u="none">
                    <a:solidFill>
                      <a:srgbClr val="1B2B22"/>
                    </a:solidFill>
                    <a:latin typeface="+mn-lt"/>
                  </a:defRPr>
                </a:pPr>
              </a:p>
            </c:txPr>
            <c:showLegendKey val="0"/>
            <c:showVal val="1"/>
            <c:showCatName val="0"/>
            <c:showSerName val="0"/>
            <c:showPercent val="0"/>
            <c:showBubbleSize val="0"/>
            <c:showLeaderLines val="0"/>
          </c:dLbls>
          <c:cat>
            <c:multiLvlStrRef>
              <c:f>Sheet1!$A$2:$A$6</c:f>
              <c:multiLvlStrCache>
                <c:ptCount val="5"/>
                <c:lvl>
                  <c:pt idx="0">
                    <c:v>QA</c:v>
                  </c:pt>
                  <c:pt idx="1">
                    <c:v>Extract</c:v>
                  </c:pt>
                  <c:pt idx="2">
                    <c:v>Classify</c:v>
                  </c:pt>
                  <c:pt idx="3">
                    <c:v>Summary</c:v>
                  </c:pt>
                  <c:pt idx="4">
                    <c:v>Coding</c:v>
                  </c:pt>
                </c:lvl>
              </c:multiLvlStrCache>
            </c:multiLvlStrRef>
          </c:cat>
          <c:val>
            <c:numRef>
              <c:f>Sheet1!$C$2:$C$6</c:f>
              <c:numCache>
                <c:formatCode>General</c:formatCode>
                <c:ptCount val="5"/>
                <c:pt idx="0">
                  <c:v>10</c:v>
                </c:pt>
                <c:pt idx="1">
                  <c:v>10</c:v>
                </c:pt>
                <c:pt idx="2">
                  <c:v>8</c:v>
                </c:pt>
                <c:pt idx="3">
                  <c:v>5</c:v>
                </c:pt>
                <c:pt idx="4">
                  <c:v>9</c:v>
                </c:pt>
              </c:numCache>
            </c:numRef>
          </c:val>
        </c:ser>
        <c:dLbls>
          <c:numFmt formatCode="#,##0" sourceLinked="0"/>
          <c:txPr>
            <a:bodyPr/>
            <a:lstStyle/>
            <a:p>
              <a:pPr>
                <a:defRPr b="0" i="0" strike="noStrike" sz="1000" u="none">
                  <a:solidFill>
                    <a:srgbClr val="1B2B22"/>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1B2B22"/>
                </a:solidFill>
                <a:latin typeface="+mn-lt"/>
              </a:defRPr>
            </a:pPr>
            <a:endParaRPr lang="en-US"/>
          </a:p>
        </c:txPr>
        <c:crossAx val="2094734552"/>
        <c:crosses val="autoZero"/>
        <c:auto val="1"/>
        <c:lblAlgn val="ctr"/>
        <c:noMultiLvlLbl val="1"/>
      </c:catAx>
      <c:valAx>
        <c:axId val="2094734552"/>
        <c:scaling>
          <c:orientation val="minMax"/>
          <c:max val="11"/>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100">
              <a:latin typeface="+mn-lt"/>
              <a:cs typeface="+mn-lt"/>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2F6B4F"/>
                </a:solidFill>
                <a:latin typeface="+mn-lt"/>
              </a:defRPr>
            </a:pPr>
            <a:r>
              <a:rPr sz="1400" b="0" i="0" u="none" strike="noStrike">
                <a:solidFill>
                  <a:srgbClr val="2F6B4F"/>
                </a:solidFill>
                <a:latin typeface="+mn-lt"/>
              </a:rPr>
              <a:t>Mean total tokens per prompt (input + output), gpt-oss-120b</a:t>
            </a:r>
          </a:p>
        </c:rich>
      </c:tx>
      <c:layout/>
      <c:overlay val="0"/>
    </c:title>
    <c:autoTitleDeleted val="0"/>
    <c:plotArea>
      <c:layout/>
      <c:barChart>
        <c:barDir val="col"/>
        <c:grouping val="clustered"/>
        <c:varyColors val="0"/>
        <c:ser>
          <c:idx val="0"/>
          <c:order val="0"/>
          <c:tx>
            <c:strRef>
              <c:f>Sheet1!$B$1</c:f>
              <c:strCache>
                <c:ptCount val="1"/>
                <c:pt idx="0">
                  <c:v>Vague prompt</c:v>
                </c:pt>
              </c:strCache>
            </c:strRef>
          </c:tx>
          <c:spPr>
            <a:solidFill>
              <a:srgbClr val="D9822B"/>
            </a:solidFill>
            <a:effectLst/>
          </c:spPr>
          <c:invertIfNegative val="0"/>
          <c:dLbls>
            <c:numFmt formatCode="#,##0" sourceLinked="0"/>
            <c:txPr>
              <a:bodyPr/>
              <a:lstStyle/>
              <a:p>
                <a:pPr>
                  <a:defRPr b="0" i="0" strike="noStrike" sz="1000" u="none">
                    <a:solidFill>
                      <a:srgbClr val="1B2B22"/>
                    </a:solidFill>
                    <a:latin typeface="+mn-lt"/>
                  </a:defRPr>
                </a:pPr>
              </a:p>
            </c:txPr>
            <c:showLegendKey val="0"/>
            <c:showVal val="1"/>
            <c:showCatName val="0"/>
            <c:showSerName val="0"/>
            <c:showPercent val="0"/>
            <c:showBubbleSize val="0"/>
            <c:showLeaderLines val="0"/>
          </c:dLbls>
          <c:cat>
            <c:multiLvlStrRef>
              <c:f>Sheet1!$A$2:$A$7</c:f>
              <c:multiLvlStrCache>
                <c:ptCount val="6"/>
                <c:lvl>
                  <c:pt idx="0">
                    <c:v>closed_qa</c:v>
                  </c:pt>
                  <c:pt idx="1">
                    <c:v>extraction</c:v>
                  </c:pt>
                  <c:pt idx="2">
                    <c:v>classification</c:v>
                  </c:pt>
                  <c:pt idx="3">
                    <c:v>summarization</c:v>
                  </c:pt>
                  <c:pt idx="4">
                    <c:v>coding</c:v>
                  </c:pt>
                  <c:pt idx="5">
                    <c:v>all</c:v>
                  </c:pt>
                </c:lvl>
              </c:multiLvlStrCache>
            </c:multiLvlStrRef>
          </c:cat>
          <c:val>
            <c:numRef>
              <c:f>Sheet1!$B$2:$B$7</c:f>
              <c:numCache>
                <c:formatCode>General</c:formatCode>
                <c:ptCount val="6"/>
                <c:pt idx="0">
                  <c:v>1115</c:v>
                </c:pt>
                <c:pt idx="1">
                  <c:v>875</c:v>
                </c:pt>
                <c:pt idx="2">
                  <c:v>488</c:v>
                </c:pt>
                <c:pt idx="3">
                  <c:v>1169</c:v>
                </c:pt>
                <c:pt idx="4">
                  <c:v>903</c:v>
                </c:pt>
                <c:pt idx="5">
                  <c:v>909</c:v>
                </c:pt>
              </c:numCache>
            </c:numRef>
          </c:val>
        </c:ser>
        <c:ser>
          <c:idx val="1"/>
          <c:order val="1"/>
          <c:tx>
            <c:strRef>
              <c:f>Sheet1!$C$1</c:f>
              <c:strCache>
                <c:ptCount val="1"/>
                <c:pt idx="0">
                  <c:v>Optimized</c:v>
                </c:pt>
              </c:strCache>
            </c:strRef>
          </c:tx>
          <c:spPr>
            <a:solidFill>
              <a:srgbClr val="2F6B4F"/>
            </a:solidFill>
            <a:effectLst/>
          </c:spPr>
          <c:invertIfNegative val="0"/>
          <c:dLbls>
            <c:numFmt formatCode="#,##0" sourceLinked="0"/>
            <c:txPr>
              <a:bodyPr/>
              <a:lstStyle/>
              <a:p>
                <a:pPr>
                  <a:defRPr b="0" i="0" strike="noStrike" sz="1000" u="none">
                    <a:solidFill>
                      <a:srgbClr val="1B2B22"/>
                    </a:solidFill>
                    <a:latin typeface="+mn-lt"/>
                  </a:defRPr>
                </a:pPr>
              </a:p>
            </c:txPr>
            <c:showLegendKey val="0"/>
            <c:showVal val="1"/>
            <c:showCatName val="0"/>
            <c:showSerName val="0"/>
            <c:showPercent val="0"/>
            <c:showBubbleSize val="0"/>
            <c:showLeaderLines val="0"/>
          </c:dLbls>
          <c:cat>
            <c:multiLvlStrRef>
              <c:f>Sheet1!$A$2:$A$7</c:f>
              <c:multiLvlStrCache>
                <c:ptCount val="6"/>
                <c:lvl>
                  <c:pt idx="0">
                    <c:v>closed_qa</c:v>
                  </c:pt>
                  <c:pt idx="1">
                    <c:v>extraction</c:v>
                  </c:pt>
                  <c:pt idx="2">
                    <c:v>classification</c:v>
                  </c:pt>
                  <c:pt idx="3">
                    <c:v>summarization</c:v>
                  </c:pt>
                  <c:pt idx="4">
                    <c:v>coding</c:v>
                  </c:pt>
                  <c:pt idx="5">
                    <c:v>all</c:v>
                  </c:pt>
                </c:lvl>
              </c:multiLvlStrCache>
            </c:multiLvlStrRef>
          </c:cat>
          <c:val>
            <c:numRef>
              <c:f>Sheet1!$C$2:$C$7</c:f>
              <c:numCache>
                <c:formatCode>General</c:formatCode>
                <c:ptCount val="6"/>
                <c:pt idx="0">
                  <c:v>417</c:v>
                </c:pt>
                <c:pt idx="1">
                  <c:v>466</c:v>
                </c:pt>
                <c:pt idx="2">
                  <c:v>278</c:v>
                </c:pt>
                <c:pt idx="3">
                  <c:v>552</c:v>
                </c:pt>
                <c:pt idx="4">
                  <c:v>324</c:v>
                </c:pt>
                <c:pt idx="5">
                  <c:v>406</c:v>
                </c:pt>
              </c:numCache>
            </c:numRef>
          </c:val>
        </c:ser>
        <c:dLbls>
          <c:numFmt formatCode="#,##0" sourceLinked="0"/>
          <c:txPr>
            <a:bodyPr/>
            <a:lstStyle/>
            <a:p>
              <a:pPr>
                <a:defRPr b="0" i="0" strike="noStrike" sz="1000" u="none">
                  <a:solidFill>
                    <a:srgbClr val="1B2B22"/>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B2B22"/>
                </a:solidFill>
                <a:latin typeface="+mn-lt"/>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200">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Piush. Greet the panel, introduce the team and the guide. One line: PromptOpt rewrites a vague prompt into a clear, model-specific one, shows every change, and we measured that it saves tokens. Today: Release 2 in the order of the LA-2 checklist, then a live 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Piush. Four numbers to remember. -39.2% total tokens on 482 held-out test prompts (95% CI 35.9-42.5%). 95% of optimized prompts state an output format, vs 3.1% before. 798 automated tests plus 13 browser tests, all passing as of yesterday. Correctness: 42 of 50 vs 37 of 50, with 29.6% fewer tokens. Then name the order of the talk: modules, transactions, testing, prototype, Git, challenges, plans, 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Piush. Walk the diagram left to right: the React UI sends prompt, target LLM, category and attachment type. Stage A detects what is missing, Stage B fixes it with rules and builds the IR. Only if the category or a reference is still unresolved (6.4% of test prompts) does Stage C, the LoRA model, run. Renderers write the same IR for Claude, GPT or Gemini. Compare runs both prompts on a real model. Everything is stored through one repository module. Image mode is a separate path the user picks.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Piush. Stage A on the test split: 74.7% category accuracy; coding and classification are near perfect, the closed QA / extraction / summarization group is hard on degraded prompts. Stage B: each rule is a separate unit-tested function. Example: 'write code to get all permutations of a string' gets B07 tidy, B05 'Use Python', B03 'Return only the code, in a single code block'. Result: an output format is stated in 95% of prompts instead of 3.1%. Below 0.6 confidence, B08 handles the text group without guessing the category.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Piush. Stage C is Qwen2.5-0.5B-Instruct with a LoRA adapter, trained on our 4 GB laptop GPU in 51 minutes. It runs only when Stage B leaves the category or an ambiguous reference unresolved. It must answer with JSON containing exactly the requested keys; we check it with Stage A's own detectors and keep Stage B's result if it fails. Without fine-tuning only 5% of answers pass; with LoRA 98.2%. On routed prompts the format is stated in 90.3% instead of 22.6%. Forcing every prompt through Stage C hurts task intent (0.886 to 0.769), so it stays routed-only. Median 0.74 s on GPU.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Nirzara. One intermediate representation, three layouts. Claude gets XML tags with context first, GPT gets ### sections, Gemini gets plain labels with the instruction first; tests parse every rendering back to prove no field is lost. GPT tokens are exact with tiktoken, Claude and Gemini approximate and labelled. Attachments are modifiers: B09-B15, one rule per file type, 30 of 30 hand-made prompts correct. Image mode v2 keeps the user's words and offers missing attributes as suggestions; v1, which inserted defaults, made images worse.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Nirzara. FastAPI back end with a React + TypeScript front end: Optimize, Compare, Test suite, Results, How it works, History, Image mode, Status. The screenshot is a live Compare on gpt-oss-120b: the vague permutations prompt used 768 tokens, the optimized one 248, minus 67.7%, both passing 6 of 6 sandbox tests. Every result says which model actually answered; GPT and Claude themselves need paid keys, so gpt-oss is labelled as a stand-in.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Nirzara. Follow the numbers. The endpoint first purges expired prompts. create_prompt scrubs emails and phone numbers and sets expires_at. Stage A results go to prompt_features, Stage B and C to optimization_results and one transformations row per change, renderings and token_usage per target. All through repository.py: its functions flush but never commit; the endpoint commits once, so a failure half-way stores nothing. Then Compare, History, and retention close the loop.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Nirzara. SQLAlchemy 2.0, SQLite in development, PostgreSQL in deployment. The six tables on the right are written in one optimization transaction. Children cascade on delete, so the retention purge removes everything derived from an expired prompt. evaluation_runs is deliberately not linked to prompts so benchmark results are never purged. Constraints live in the schema: confidence between 0 and 1, a Stage B step must name a rule, one rendering per target.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Siddhi. We ran the full suite yesterday, 14 October: 798 passed in 25 seconds, offline, because providers are faked or replayed from recordings. Biggest groups: image mode 215, Stage B 123, dataset tooling 107, rendering and pipeline 77. Every Stage B rule has its own tests. Example: test_pii_is_scrubbed_before_storage stores 'mail rahul.k@example.com or call 98765 43210' and checks one [EMAIL] and two [PHONE] tags. Command: python -m pytest -q in backend.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Siddhi. Beyond unit tests: the freeze check recomputes Stage A and B on all 482 test prompts and compares a sha256 with the frozen-for-test tag; yesterday it was byte-identical. Thirteen Playwright tests drive the real app in Chrome, 13 of 13 pass. API tests go end to end through FastAPI. The full pipeline ran once on the 482-prompt test split and the 44-prompt benchmark. Coding answers run in a bubblewrap sandbox with no network. And the 50-case correctness suite checks real answers.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Siddhi. The report has 38 test cases; here are six. The correctness suite: 50 new hand-written cases. Vague prompts 37 correct, optimized 42, with 29.6% fewer tokens. Optimization fixed 9 answers and broke 4; McNemar p = 0.267, so not significant at n = 50, and on Cerebras it was 43 vs 41. Be honest about the failures: cls-09, Stage A read an attendance table as code so the model wrote a script; two summaries went 2-3 words over the limit; one Stage C coding case failed 4 of 8 asserts.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Siddhi. The headline: across the 482-prompt test split, total tokens drop 39.2% per prompt, CI 35.9 to 42.5%, Wilcoxon p below 0.001. The optimized prompt is a bit longer, 226 to 241 input tokens, but answers shrink from 682 to 165 because the format and length are stated. Every category saves on average; the limitation is that 87 of 482 short-answer prompts cost more, which is why lean mode is our first next step. On the benchmark with a blind judge, quality went 8.2 to 9.0 and task success 67 to 85%.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Nirzara. Left: Optimize on the permutations example, every stage visible, rules with before and after text, the rendered prompt and validated tests. Right: a prompt with an ambiguous reference, 'summarize this article', routed to Stage C; Stage C's answer failed validation, so the app kept Stage B's result and says so. This honesty is on purpose. The app runs on the laptop as a service and is reachable on the 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Nirzara. All numbers are from git. 92 commits between 13 August and 10 October, on three branches: main, ui-v2 and correctness-suite. Tags were our evaluation checkpoints: frozen-for-test marks the code for the final numbers, final-for-test the one-time test run, v1.0 the release with the Stage C adapter attached. We did not use GitHub Issues or Projects; we tracked work with the roadmap and phase tables in the repository and with tags. Many commits were written with an AI coding assistant credited as co-author.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Piush. Seven problems, seven fixes. LLM-written targets dropped data, so we built a deterministic repair with a log. Raters agreed on 90% of rows but kappa was near zero: the kappa paradox, so we report Gwet's AC1 too. Free API quotas: a rolling usage ledger and a 70% budget rule. Stage C invented fields zero-shot, so we fine-tuned and validate every answer. Image v1 made pictures worse; v2 suggests instead of inserting. Regex edge cases got their own tests. And the model trained on a 4 GB GPU with gradient accumulation.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Siddhi. In priority order. Lean mode, because 87 short-answer prompts cost more. Route label-set and typo prompts to Stage C, and let users confirm spelling fixes. Blind tests with prompts written by people outside the team. Compare on real GPT, Claude and Gemini once we have paid keys. A larger correctness suite so the gain can reach significance. Then deployment with PostgreSQL, HTTPS and login.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Piush drives the laptop; Nirzara narrates Optimize and Compare, Siddhi narrates Test suite and Results. Follow DEMO_LA2.md. If the network fails, Compare shows the cached past comparisons table; if the GPU fails, the app falls back to Stage A + B and says Stage C is unavailable. End with thanks and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EAF4EE"/>
        </a:solidFill>
      </p:bgPr>
    </p:bg>
    <p:spTree>
      <p:nvGrpSpPr>
        <p:cNvPr id="1" name=""/>
        <p:cNvGrpSpPr/>
        <p:nvPr/>
      </p:nvGrpSpPr>
      <p:grpSpPr>
        <a:xfrm>
          <a:off x="0" y="0"/>
          <a:ext cx="0" cy="0"/>
          <a:chOff x="0" y="0"/>
          <a:chExt cx="0" cy="0"/>
        </a:xfrm>
      </p:grpSpPr>
      <p:pic>
        <p:nvPicPr>
          <p:cNvPr id="2" name="Image 0" descr="/tmp/claude-1000/-mnt-SharedDrive-Projects-PromptOpt/a85f5363-f7d7-4f63-8a3a-b7b1874853cc/scratchpad/fig/wce_logo.png">    </p:cNvPr>
          <p:cNvPicPr>
            <a:picLocks noChangeAspect="1"/>
          </p:cNvPicPr>
          <p:nvPr/>
        </p:nvPicPr>
        <p:blipFill>
          <a:blip r:embed="rId1"/>
          <a:stretch>
            <a:fillRect/>
          </a:stretch>
        </p:blipFill>
        <p:spPr>
          <a:xfrm>
            <a:off x="320040" y="201168"/>
            <a:ext cx="713232" cy="713232"/>
          </a:xfrm>
          <a:prstGeom prst="rect">
            <a:avLst/>
          </a:prstGeom>
        </p:spPr>
      </p:pic>
      <p:sp>
        <p:nvSpPr>
          <p:cNvPr id="3" name="Text 0"/>
          <p:cNvSpPr/>
          <p:nvPr>
            <p:ph idx="101" type="title" hasCustomPrompt="1"/>
          </p:nvPr>
        </p:nvSpPr>
        <p:spPr>
          <a:xfrm>
            <a:off x="1188720" y="228600"/>
            <a:ext cx="9966960" cy="731520"/>
          </a:xfrm>
          <a:prstGeom prst="rect">
            <a:avLst/>
          </a:prstGeom>
          <a:noFill/>
          <a:ln/>
        </p:spPr>
        <p:txBody>
          <a:bodyPr wrap="square" rtlCol="0"/>
          <a:lstStyle>
            <a:lvl1pPr algn="l" indent="0" marL="0">
              <a:buNone/>
              <a:defRPr lang="en-US" sz="3000" b="1" dirty="0">
                <a:solidFill>
                  <a:schemeClr val="tx2"/>
                </a:solidFill>
                <a:latin typeface="Arial" pitchFamily="34" charset="0"/>
                <a:ea typeface="Arial" pitchFamily="34" charset="-122"/>
                <a:cs typeface="Arial" pitchFamily="34" charset="-120"/>
              </a:defRPr>
            </a:lvl1pPr>
          </a:lstStyle>
          <a:p>
            <a:pPr algn="l" indent="0" marL="0">
              <a:buNone/>
            </a:pPr>
            <a:endParaRPr lang="en-US" sz="3000" dirty="0"/>
          </a:p>
        </p:txBody>
      </p:sp>
      <p:sp>
        <p:nvSpPr>
          <p:cNvPr id="4" name="Text 0"/>
          <p:cNvSpPr/>
          <p:nvPr/>
        </p:nvSpPr>
        <p:spPr>
          <a:xfrm>
            <a:off x="411480" y="6446520"/>
            <a:ext cx="5486400" cy="274320"/>
          </a:xfrm>
          <a:prstGeom prst="rect">
            <a:avLst/>
          </a:prstGeom>
          <a:noFill/>
          <a:ln/>
        </p:spPr>
        <p:txBody>
          <a:bodyPr wrap="square" lIns="0" tIns="0" rIns="0" bIns="0" rtlCol="0" anchor="ctr"/>
          <a:lstStyle/>
          <a:p>
            <a:pPr indent="0" marL="0">
              <a:buNone/>
            </a:pPr>
            <a:r>
              <a:rPr lang="en-US" sz="1000" dirty="0">
                <a:solidFill>
                  <a:schemeClr val="accent6"/>
                </a:solidFill>
              </a:rPr>
              <a:t>PromptOpt · Mini Project-I (7CS345) · LA-2</a:t>
            </a:r>
            <a:endParaRPr lang="en-US" sz="1000" dirty="0"/>
          </a:p>
        </p:txBody>
      </p:sp>
      <p:sp>
        <p:nvSpPr>
          <p:cNvPr id="25" name="Slide Number Placeholder 0"/>
          <p:cNvSpPr>
            <a:spLocks noGrp="1"/>
          </p:cNvSpPr>
          <p:nvPr>
            <p:ph type="sldNum" sz="quarter" idx="4294967295"/>
          </p:nvPr>
        </p:nvSpPr>
        <p:spPr>
          <a:xfrm>
            <a:off x="1133856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580"/>
                </a:solidFill>
              </a:defRPr>
            </a:lvl1pPr>
          </a:lstStyle>
          <a:p>
            <a:pPr algn="l"/>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2F6B4F"/>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33856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580"/>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3.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2.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3.xml"/><Relationship Id="rId3"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502920" y="411480"/>
            <a:ext cx="1371600" cy="1371600"/>
          </a:xfrm>
          <a:prstGeom prst="ellipse">
            <a:avLst/>
          </a:prstGeom>
          <a:solidFill>
            <a:schemeClr val="bg1"/>
          </a:solidFill>
          <a:ln w="12700">
            <a:solidFill>
              <a:schemeClr val="bg1"/>
            </a:solidFill>
            <a:prstDash val="solid"/>
          </a:ln>
        </p:spPr>
      </p:sp>
      <p:pic>
        <p:nvPicPr>
          <p:cNvPr id="3" name="Image 0" descr="/tmp/claude-1000/-mnt-SharedDrive-Projects-PromptOpt/a85f5363-f7d7-4f63-8a3a-b7b1874853cc/scratchpad/fig/wce_logo.png">    </p:cNvPr>
          <p:cNvPicPr>
            <a:picLocks noChangeAspect="1"/>
          </p:cNvPicPr>
          <p:nvPr/>
        </p:nvPicPr>
        <p:blipFill>
          <a:blip r:embed="rId1"/>
          <a:stretch>
            <a:fillRect/>
          </a:stretch>
        </p:blipFill>
        <p:spPr>
          <a:xfrm>
            <a:off x="612648" y="521208"/>
            <a:ext cx="1152144" cy="1152144"/>
          </a:xfrm>
          <a:prstGeom prst="rect">
            <a:avLst/>
          </a:prstGeom>
        </p:spPr>
      </p:pic>
      <p:sp>
        <p:nvSpPr>
          <p:cNvPr id="4" name="Text 1"/>
          <p:cNvSpPr txBox="1"/>
          <p:nvPr/>
        </p:nvSpPr>
        <p:spPr>
          <a:xfrm>
            <a:off x="2103120" y="502920"/>
            <a:ext cx="9509760" cy="502920"/>
          </a:xfrm>
          <a:prstGeom prst="rect">
            <a:avLst/>
          </a:prstGeom>
          <a:noFill/>
          <a:ln/>
        </p:spPr>
        <p:txBody>
          <a:bodyPr wrap="square" lIns="635" tIns="635" rIns="635" bIns="635" rtlCol="0" anchor="t"/>
          <a:lstStyle/>
          <a:p>
            <a:pPr indent="0" marL="0">
              <a:buNone/>
            </a:pPr>
            <a:r>
              <a:rPr lang="en-US" sz="2600" b="1" dirty="0">
                <a:solidFill>
                  <a:schemeClr val="bg1"/>
                </a:solidFill>
                <a:latin typeface="Arial" pitchFamily="34" charset="0"/>
                <a:ea typeface="Arial" pitchFamily="34" charset="-122"/>
                <a:cs typeface="Arial" pitchFamily="34" charset="-120"/>
              </a:rPr>
              <a:t>Walchand College of Engineering, Sangli</a:t>
            </a:r>
            <a:endParaRPr lang="en-US" sz="2600" dirty="0"/>
          </a:p>
        </p:txBody>
      </p:sp>
      <p:sp>
        <p:nvSpPr>
          <p:cNvPr id="5" name="Text 2"/>
          <p:cNvSpPr txBox="1"/>
          <p:nvPr/>
        </p:nvSpPr>
        <p:spPr>
          <a:xfrm>
            <a:off x="2103120" y="1005840"/>
            <a:ext cx="9509760" cy="777240"/>
          </a:xfrm>
          <a:prstGeom prst="rect">
            <a:avLst/>
          </a:prstGeom>
          <a:noFill/>
          <a:ln/>
        </p:spPr>
        <p:txBody>
          <a:bodyPr wrap="square" lIns="635" tIns="635" rIns="635" bIns="635" rtlCol="0" anchor="t"/>
          <a:lstStyle/>
          <a:p>
            <a:pPr indent="0" marL="0">
              <a:buNone/>
            </a:pPr>
            <a:r>
              <a:rPr lang="en-US" sz="1500" dirty="0">
                <a:solidFill>
                  <a:srgbClr val="D5E8DC"/>
                </a:solidFill>
              </a:rPr>
              <a:t>(Government Aided Autonomous Institute) · Department of Computer Science and Engineering</a:t>
            </a:r>
            <a:endParaRPr lang="en-US" sz="1500" dirty="0"/>
          </a:p>
          <a:p>
            <a:pPr indent="0" marL="0">
              <a:buNone/>
            </a:pPr>
            <a:r>
              <a:rPr lang="en-US" sz="1500" dirty="0">
                <a:solidFill>
                  <a:srgbClr val="D5E8DC"/>
                </a:solidFill>
              </a:rPr>
              <a:t>TY CSE · Mini Project-I (7CS345) · LA-2 Evaluation (Release 2), 2026-27</a:t>
            </a:r>
            <a:endParaRPr lang="en-US" sz="1500" dirty="0"/>
          </a:p>
        </p:txBody>
      </p:sp>
      <p:sp>
        <p:nvSpPr>
          <p:cNvPr id="6" name="Text 3"/>
          <p:cNvSpPr txBox="1"/>
          <p:nvPr/>
        </p:nvSpPr>
        <p:spPr>
          <a:xfrm>
            <a:off x="548640" y="2240280"/>
            <a:ext cx="10972800" cy="914400"/>
          </a:xfrm>
          <a:prstGeom prst="rect">
            <a:avLst/>
          </a:prstGeom>
          <a:noFill/>
          <a:ln/>
        </p:spPr>
        <p:txBody>
          <a:bodyPr wrap="square" lIns="635" tIns="635" rIns="635" bIns="635" rtlCol="0" anchor="t"/>
          <a:lstStyle/>
          <a:p>
            <a:pPr indent="0" marL="0">
              <a:buNone/>
            </a:pPr>
            <a:r>
              <a:rPr lang="en-US" sz="5400" b="1" dirty="0">
                <a:solidFill>
                  <a:schemeClr val="bg1"/>
                </a:solidFill>
                <a:latin typeface="Arial" pitchFamily="34" charset="0"/>
                <a:ea typeface="Arial" pitchFamily="34" charset="-122"/>
                <a:cs typeface="Arial" pitchFamily="34" charset="-120"/>
              </a:rPr>
              <a:t>PromptOpt</a:t>
            </a:r>
            <a:endParaRPr lang="en-US" sz="5400" dirty="0"/>
          </a:p>
        </p:txBody>
      </p:sp>
      <p:sp>
        <p:nvSpPr>
          <p:cNvPr id="7" name="Text 4"/>
          <p:cNvSpPr txBox="1"/>
          <p:nvPr/>
        </p:nvSpPr>
        <p:spPr>
          <a:xfrm>
            <a:off x="548640" y="3154680"/>
            <a:ext cx="10515600" cy="822960"/>
          </a:xfrm>
          <a:prstGeom prst="rect">
            <a:avLst/>
          </a:prstGeom>
          <a:noFill/>
          <a:ln/>
        </p:spPr>
        <p:txBody>
          <a:bodyPr wrap="square" lIns="635" tIns="635" rIns="635" bIns="635" rtlCol="0" anchor="t"/>
          <a:lstStyle/>
          <a:p>
            <a:pPr indent="0" marL="0">
              <a:buNone/>
            </a:pPr>
            <a:r>
              <a:rPr lang="en-US" sz="2000" dirty="0">
                <a:solidFill>
                  <a:srgbClr val="D5E8DC"/>
                </a:solidFill>
              </a:rPr>
              <a:t>Token-efficient prompt optimization for LLMs: rewrite vague prompts, explain every change, and measure that it helps</a:t>
            </a:r>
            <a:endParaRPr lang="en-US" sz="2000" dirty="0"/>
          </a:p>
        </p:txBody>
      </p:sp>
      <p:sp>
        <p:nvSpPr>
          <p:cNvPr id="8" name="Shape 5"/>
          <p:cNvSpPr/>
          <p:nvPr/>
        </p:nvSpPr>
        <p:spPr>
          <a:xfrm>
            <a:off x="548640" y="4343400"/>
            <a:ext cx="5760720" cy="1783080"/>
          </a:xfrm>
          <a:prstGeom prst="roundRect">
            <a:avLst>
              <a:gd name="adj" fmla="val 6154"/>
            </a:avLst>
          </a:prstGeom>
          <a:solidFill>
            <a:srgbClr val="3A7A5C"/>
          </a:solidFill>
          <a:ln w="9525">
            <a:solidFill>
              <a:srgbClr val="6FA287"/>
            </a:solidFill>
            <a:prstDash val="solid"/>
          </a:ln>
          <a:effectLst>
            <a:outerShdw sx="100000" sy="100000" kx="0" ky="0" algn="bl" rotWithShape="0" blurRad="50800" dist="25400" dir="5400000">
              <a:srgbClr val="9DB8A8">
                <a:alpha val="35000"/>
              </a:srgbClr>
            </a:outerShdw>
          </a:effectLst>
        </p:spPr>
      </p:sp>
      <p:sp>
        <p:nvSpPr>
          <p:cNvPr id="9" name="Text 6"/>
          <p:cNvSpPr txBox="1"/>
          <p:nvPr/>
        </p:nvSpPr>
        <p:spPr>
          <a:xfrm>
            <a:off x="777240" y="4480560"/>
            <a:ext cx="2743200" cy="365760"/>
          </a:xfrm>
          <a:prstGeom prst="rect">
            <a:avLst/>
          </a:prstGeom>
          <a:noFill/>
          <a:ln/>
        </p:spPr>
        <p:txBody>
          <a:bodyPr wrap="square" lIns="635" tIns="635" rIns="635" bIns="635" rtlCol="0" anchor="t"/>
          <a:lstStyle/>
          <a:p>
            <a:pPr indent="0" marL="0">
              <a:buNone/>
            </a:pPr>
            <a:r>
              <a:rPr lang="en-US" sz="1400" b="1" dirty="0">
                <a:solidFill>
                  <a:srgbClr val="F2C894"/>
                </a:solidFill>
              </a:rPr>
              <a:t>Team</a:t>
            </a:r>
            <a:endParaRPr lang="en-US" sz="1400" dirty="0"/>
          </a:p>
        </p:txBody>
      </p:sp>
      <p:sp>
        <p:nvSpPr>
          <p:cNvPr id="10" name="Text 7"/>
          <p:cNvSpPr txBox="1"/>
          <p:nvPr/>
        </p:nvSpPr>
        <p:spPr>
          <a:xfrm>
            <a:off x="777240" y="4846320"/>
            <a:ext cx="5394960" cy="1188720"/>
          </a:xfrm>
          <a:prstGeom prst="rect">
            <a:avLst/>
          </a:prstGeom>
          <a:noFill/>
          <a:ln/>
        </p:spPr>
        <p:txBody>
          <a:bodyPr wrap="square" lIns="635" tIns="635" rIns="635" bIns="635" rtlCol="0" anchor="t"/>
          <a:lstStyle/>
          <a:p>
            <a:pPr indent="0" marL="0">
              <a:spcAft>
                <a:spcPts val="400"/>
              </a:spcAft>
              <a:buNone/>
            </a:pPr>
            <a:r>
              <a:rPr lang="en-US" sz="1700" dirty="0">
                <a:solidFill>
                  <a:schemeClr val="bg1"/>
                </a:solidFill>
              </a:rPr>
              <a:t>Piush U. Gogi · 255200005</a:t>
            </a:r>
            <a:endParaRPr lang="en-US" sz="1700" dirty="0"/>
          </a:p>
          <a:p>
            <a:pPr indent="0" marL="0">
              <a:spcAft>
                <a:spcPts val="400"/>
              </a:spcAft>
              <a:buNone/>
            </a:pPr>
            <a:r>
              <a:rPr lang="en-US" sz="1700" dirty="0">
                <a:solidFill>
                  <a:schemeClr val="bg1"/>
                </a:solidFill>
              </a:rPr>
              <a:t>Nirzara A. Manade · 255200006</a:t>
            </a:r>
            <a:endParaRPr lang="en-US" sz="1700" dirty="0"/>
          </a:p>
          <a:p>
            <a:pPr indent="0" marL="0">
              <a:spcAft>
                <a:spcPts val="400"/>
              </a:spcAft>
              <a:buNone/>
            </a:pPr>
            <a:r>
              <a:rPr lang="en-US" sz="1700" dirty="0">
                <a:solidFill>
                  <a:schemeClr val="bg1"/>
                </a:solidFill>
              </a:rPr>
              <a:t>Siddhi S. Bolaikar · 255200008</a:t>
            </a:r>
            <a:endParaRPr lang="en-US" sz="1700" dirty="0"/>
          </a:p>
        </p:txBody>
      </p:sp>
      <p:sp>
        <p:nvSpPr>
          <p:cNvPr id="11" name="Shape 8"/>
          <p:cNvSpPr/>
          <p:nvPr/>
        </p:nvSpPr>
        <p:spPr>
          <a:xfrm>
            <a:off x="6583680" y="4343400"/>
            <a:ext cx="5029200" cy="1783080"/>
          </a:xfrm>
          <a:prstGeom prst="roundRect">
            <a:avLst>
              <a:gd name="adj" fmla="val 6154"/>
            </a:avLst>
          </a:prstGeom>
          <a:solidFill>
            <a:srgbClr val="3A7A5C"/>
          </a:solidFill>
          <a:ln w="9525">
            <a:solidFill>
              <a:srgbClr val="6FA287"/>
            </a:solidFill>
            <a:prstDash val="solid"/>
          </a:ln>
          <a:effectLst>
            <a:outerShdw sx="100000" sy="100000" kx="0" ky="0" algn="bl" rotWithShape="0" blurRad="50800" dist="25400" dir="5400000">
              <a:srgbClr val="9DB8A8">
                <a:alpha val="35000"/>
              </a:srgbClr>
            </a:outerShdw>
          </a:effectLst>
        </p:spPr>
      </p:sp>
      <p:sp>
        <p:nvSpPr>
          <p:cNvPr id="12" name="Text 9"/>
          <p:cNvSpPr txBox="1"/>
          <p:nvPr/>
        </p:nvSpPr>
        <p:spPr>
          <a:xfrm>
            <a:off x="6812280" y="4480560"/>
            <a:ext cx="2743200" cy="365760"/>
          </a:xfrm>
          <a:prstGeom prst="rect">
            <a:avLst/>
          </a:prstGeom>
          <a:noFill/>
          <a:ln/>
        </p:spPr>
        <p:txBody>
          <a:bodyPr wrap="square" lIns="635" tIns="635" rIns="635" bIns="635" rtlCol="0" anchor="t"/>
          <a:lstStyle/>
          <a:p>
            <a:pPr indent="0" marL="0">
              <a:buNone/>
            </a:pPr>
            <a:r>
              <a:rPr lang="en-US" sz="1400" b="1" dirty="0">
                <a:solidFill>
                  <a:srgbClr val="F2C894"/>
                </a:solidFill>
              </a:rPr>
              <a:t>Guide</a:t>
            </a:r>
            <a:endParaRPr lang="en-US" sz="1400" dirty="0"/>
          </a:p>
        </p:txBody>
      </p:sp>
      <p:sp>
        <p:nvSpPr>
          <p:cNvPr id="13" name="Text 10"/>
          <p:cNvSpPr txBox="1"/>
          <p:nvPr/>
        </p:nvSpPr>
        <p:spPr>
          <a:xfrm>
            <a:off x="6812280" y="4846320"/>
            <a:ext cx="4572000" cy="457200"/>
          </a:xfrm>
          <a:prstGeom prst="rect">
            <a:avLst/>
          </a:prstGeom>
          <a:noFill/>
          <a:ln/>
        </p:spPr>
        <p:txBody>
          <a:bodyPr wrap="square" lIns="635" tIns="635" rIns="635" bIns="635" rtlCol="0" anchor="t"/>
          <a:lstStyle/>
          <a:p>
            <a:pPr indent="0" marL="0">
              <a:buNone/>
            </a:pPr>
            <a:r>
              <a:rPr lang="en-US" sz="2000" b="1" dirty="0">
                <a:solidFill>
                  <a:schemeClr val="bg1"/>
                </a:solidFill>
              </a:rPr>
              <a:t>Prof. A. S. Pawar</a:t>
            </a:r>
            <a:endParaRPr lang="en-US" sz="2000" dirty="0"/>
          </a:p>
        </p:txBody>
      </p:sp>
      <p:sp>
        <p:nvSpPr>
          <p:cNvPr id="14" name="Text 11"/>
          <p:cNvSpPr txBox="1"/>
          <p:nvPr/>
        </p:nvSpPr>
        <p:spPr>
          <a:xfrm>
            <a:off x="6812280" y="5349240"/>
            <a:ext cx="4572000" cy="365760"/>
          </a:xfrm>
          <a:prstGeom prst="rect">
            <a:avLst/>
          </a:prstGeom>
          <a:noFill/>
          <a:ln/>
        </p:spPr>
        <p:txBody>
          <a:bodyPr wrap="square" lIns="635" tIns="635" rIns="635" bIns="635" rtlCol="0" anchor="t"/>
          <a:lstStyle/>
          <a:p>
            <a:pPr indent="0" marL="0">
              <a:buNone/>
            </a:pPr>
            <a:r>
              <a:rPr lang="en-US" sz="1500" dirty="0">
                <a:solidFill>
                  <a:srgbClr val="D5E8DC"/>
                </a:solidFill>
              </a:rPr>
              <a:t>15 October 2026</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1" type="title" hasCustomPrompt="1"/>
          </p:nvPr>
        </p:nvSpPr>
        <p:spPr>
          <a:xfrm>
            <a:off x="1188720" y="228600"/>
            <a:ext cx="9966960" cy="731520"/>
          </a:xfrm>
          <a:prstGeom prst="rect">
            <a:avLst/>
          </a:prstGeom>
          <a:noFill/>
          <a:ln/>
        </p:spPr>
        <p:txBody>
          <a:bodyPr wrap="square" lIns="0" tIns="0" rIns="0" bIns="0" rtlCol="0" anchor="ctr"/>
          <a:lstStyle/>
          <a:p>
            <a:pPr algn="l" indent="0" marL="0">
              <a:buNone/>
            </a:pPr>
            <a:r>
              <a:rPr lang="en-US" sz="3000" b="1" dirty="0">
                <a:solidFill>
                  <a:schemeClr val="tx2"/>
                </a:solidFill>
                <a:latin typeface="Arial" pitchFamily="34" charset="0"/>
                <a:ea typeface="Arial" pitchFamily="34" charset="-122"/>
                <a:cs typeface="Arial" pitchFamily="34" charset="-120"/>
              </a:rPr>
              <a:t>Release 2 at a glance</a:t>
            </a:r>
            <a:endParaRPr lang="en-US" sz="3000" dirty="0"/>
          </a:p>
        </p:txBody>
      </p:sp>
      <p:sp>
        <p:nvSpPr>
          <p:cNvPr id="4" name="Shape 1"/>
          <p:cNvSpPr/>
          <p:nvPr/>
        </p:nvSpPr>
        <p:spPr>
          <a:xfrm>
            <a:off x="548640" y="1280160"/>
            <a:ext cx="2651760" cy="1600200"/>
          </a:xfrm>
          <a:prstGeom prst="roundRect">
            <a:avLst>
              <a:gd name="adj" fmla="val 6857"/>
            </a:avLst>
          </a:prstGeom>
          <a:solidFill>
            <a:schemeClr val="bg1"/>
          </a:solidFill>
          <a:ln w="9525">
            <a:solidFill>
              <a:srgbClr val="6FA287"/>
            </a:solidFill>
            <a:prstDash val="solid"/>
          </a:ln>
          <a:effectLst>
            <a:outerShdw sx="100000" sy="100000" kx="0" ky="0" algn="bl" rotWithShape="0" blurRad="50800" dist="25400" dir="5400000">
              <a:srgbClr val="9DB8A8">
                <a:alpha val="35000"/>
              </a:srgbClr>
            </a:outerShdw>
          </a:effectLst>
        </p:spPr>
      </p:sp>
      <p:sp>
        <p:nvSpPr>
          <p:cNvPr id="5" name="Text 2"/>
          <p:cNvSpPr txBox="1"/>
          <p:nvPr/>
        </p:nvSpPr>
        <p:spPr>
          <a:xfrm>
            <a:off x="685800" y="1417320"/>
            <a:ext cx="2377440" cy="868680"/>
          </a:xfrm>
          <a:prstGeom prst="rect">
            <a:avLst/>
          </a:prstGeom>
          <a:noFill/>
          <a:ln/>
        </p:spPr>
        <p:txBody>
          <a:bodyPr wrap="square" lIns="635" tIns="635" rIns="635" bIns="635" rtlCol="0" anchor="ctr"/>
          <a:lstStyle/>
          <a:p>
            <a:pPr algn="ctr" indent="0" marL="0">
              <a:buNone/>
            </a:pPr>
            <a:r>
              <a:rPr lang="en-US" sz="4000" b="1" dirty="0">
                <a:solidFill>
                  <a:schemeClr val="tx2"/>
                </a:solidFill>
                <a:latin typeface="Arial" pitchFamily="34" charset="0"/>
                <a:ea typeface="Arial" pitchFamily="34" charset="-122"/>
                <a:cs typeface="Arial" pitchFamily="34" charset="-120"/>
              </a:rPr>
              <a:t>-39.2%</a:t>
            </a:r>
            <a:endParaRPr lang="en-US" sz="4000" dirty="0"/>
          </a:p>
        </p:txBody>
      </p:sp>
      <p:sp>
        <p:nvSpPr>
          <p:cNvPr id="6" name="Text 3"/>
          <p:cNvSpPr txBox="1"/>
          <p:nvPr/>
        </p:nvSpPr>
        <p:spPr>
          <a:xfrm>
            <a:off x="685800" y="2267712"/>
            <a:ext cx="2377440" cy="548640"/>
          </a:xfrm>
          <a:prstGeom prst="rect">
            <a:avLst/>
          </a:prstGeom>
          <a:noFill/>
          <a:ln/>
        </p:spPr>
        <p:txBody>
          <a:bodyPr wrap="square" lIns="635" tIns="635" rIns="635" bIns="635" rtlCol="0" anchor="t"/>
          <a:lstStyle/>
          <a:p>
            <a:pPr algn="ctr" indent="0" marL="0">
              <a:buNone/>
            </a:pPr>
            <a:r>
              <a:rPr lang="en-US" sz="1300" dirty="0">
                <a:solidFill>
                  <a:schemeClr val="tx1"/>
                </a:solidFill>
              </a:rPr>
              <a:t>total tokens, 482 test prompts</a:t>
            </a:r>
            <a:endParaRPr lang="en-US" sz="1300" dirty="0"/>
          </a:p>
        </p:txBody>
      </p:sp>
      <p:sp>
        <p:nvSpPr>
          <p:cNvPr id="7" name="Shape 4"/>
          <p:cNvSpPr/>
          <p:nvPr/>
        </p:nvSpPr>
        <p:spPr>
          <a:xfrm>
            <a:off x="3429000" y="1280160"/>
            <a:ext cx="2651760" cy="1600200"/>
          </a:xfrm>
          <a:prstGeom prst="roundRect">
            <a:avLst>
              <a:gd name="adj" fmla="val 6857"/>
            </a:avLst>
          </a:prstGeom>
          <a:solidFill>
            <a:schemeClr val="bg1"/>
          </a:solidFill>
          <a:ln w="9525">
            <a:solidFill>
              <a:srgbClr val="6FA287"/>
            </a:solidFill>
            <a:prstDash val="solid"/>
          </a:ln>
          <a:effectLst>
            <a:outerShdw sx="100000" sy="100000" kx="0" ky="0" algn="bl" rotWithShape="0" blurRad="50800" dist="25400" dir="5400000">
              <a:srgbClr val="9DB8A8">
                <a:alpha val="35000"/>
              </a:srgbClr>
            </a:outerShdw>
          </a:effectLst>
        </p:spPr>
      </p:sp>
      <p:sp>
        <p:nvSpPr>
          <p:cNvPr id="8" name="Text 5"/>
          <p:cNvSpPr txBox="1"/>
          <p:nvPr/>
        </p:nvSpPr>
        <p:spPr>
          <a:xfrm>
            <a:off x="3566160" y="1417320"/>
            <a:ext cx="2377440" cy="868680"/>
          </a:xfrm>
          <a:prstGeom prst="rect">
            <a:avLst/>
          </a:prstGeom>
          <a:noFill/>
          <a:ln/>
        </p:spPr>
        <p:txBody>
          <a:bodyPr wrap="square" lIns="635" tIns="635" rIns="635" bIns="635" rtlCol="0" anchor="ctr"/>
          <a:lstStyle/>
          <a:p>
            <a:pPr algn="ctr" indent="0" marL="0">
              <a:buNone/>
            </a:pPr>
            <a:r>
              <a:rPr lang="en-US" sz="4000" b="1" dirty="0">
                <a:solidFill>
                  <a:schemeClr val="tx2"/>
                </a:solidFill>
                <a:latin typeface="Arial" pitchFamily="34" charset="0"/>
                <a:ea typeface="Arial" pitchFamily="34" charset="-122"/>
                <a:cs typeface="Arial" pitchFamily="34" charset="-120"/>
              </a:rPr>
              <a:t>95.0%</a:t>
            </a:r>
            <a:endParaRPr lang="en-US" sz="4000" dirty="0"/>
          </a:p>
        </p:txBody>
      </p:sp>
      <p:sp>
        <p:nvSpPr>
          <p:cNvPr id="9" name="Text 6"/>
          <p:cNvSpPr txBox="1"/>
          <p:nvPr/>
        </p:nvSpPr>
        <p:spPr>
          <a:xfrm>
            <a:off x="3566160" y="2267712"/>
            <a:ext cx="2377440" cy="548640"/>
          </a:xfrm>
          <a:prstGeom prst="rect">
            <a:avLst/>
          </a:prstGeom>
          <a:noFill/>
          <a:ln/>
        </p:spPr>
        <p:txBody>
          <a:bodyPr wrap="square" lIns="635" tIns="635" rIns="635" bIns="635" rtlCol="0" anchor="t"/>
          <a:lstStyle/>
          <a:p>
            <a:pPr algn="ctr" indent="0" marL="0">
              <a:buNone/>
            </a:pPr>
            <a:r>
              <a:rPr lang="en-US" sz="1300" dirty="0">
                <a:solidFill>
                  <a:schemeClr val="tx1"/>
                </a:solidFill>
              </a:rPr>
              <a:t>state an output format (was 3.1%)</a:t>
            </a:r>
            <a:endParaRPr lang="en-US" sz="1300" dirty="0"/>
          </a:p>
        </p:txBody>
      </p:sp>
      <p:sp>
        <p:nvSpPr>
          <p:cNvPr id="10" name="Shape 7"/>
          <p:cNvSpPr/>
          <p:nvPr/>
        </p:nvSpPr>
        <p:spPr>
          <a:xfrm>
            <a:off x="6309360" y="1280160"/>
            <a:ext cx="2651760" cy="1600200"/>
          </a:xfrm>
          <a:prstGeom prst="roundRect">
            <a:avLst>
              <a:gd name="adj" fmla="val 6857"/>
            </a:avLst>
          </a:prstGeom>
          <a:solidFill>
            <a:schemeClr val="bg1"/>
          </a:solidFill>
          <a:ln w="9525">
            <a:solidFill>
              <a:srgbClr val="6FA287"/>
            </a:solidFill>
            <a:prstDash val="solid"/>
          </a:ln>
          <a:effectLst>
            <a:outerShdw sx="100000" sy="100000" kx="0" ky="0" algn="bl" rotWithShape="0" blurRad="50800" dist="25400" dir="5400000">
              <a:srgbClr val="9DB8A8">
                <a:alpha val="35000"/>
              </a:srgbClr>
            </a:outerShdw>
          </a:effectLst>
        </p:spPr>
      </p:sp>
      <p:sp>
        <p:nvSpPr>
          <p:cNvPr id="11" name="Text 8"/>
          <p:cNvSpPr txBox="1"/>
          <p:nvPr/>
        </p:nvSpPr>
        <p:spPr>
          <a:xfrm>
            <a:off x="6446520" y="1417320"/>
            <a:ext cx="2377440" cy="868680"/>
          </a:xfrm>
          <a:prstGeom prst="rect">
            <a:avLst/>
          </a:prstGeom>
          <a:noFill/>
          <a:ln/>
        </p:spPr>
        <p:txBody>
          <a:bodyPr wrap="square" lIns="635" tIns="635" rIns="635" bIns="635" rtlCol="0" anchor="ctr"/>
          <a:lstStyle/>
          <a:p>
            <a:pPr algn="ctr" indent="0" marL="0">
              <a:buNone/>
            </a:pPr>
            <a:r>
              <a:rPr lang="en-US" sz="4000" b="1" dirty="0">
                <a:solidFill>
                  <a:schemeClr val="tx2"/>
                </a:solidFill>
                <a:latin typeface="Arial" pitchFamily="34" charset="0"/>
                <a:ea typeface="Arial" pitchFamily="34" charset="-122"/>
                <a:cs typeface="Arial" pitchFamily="34" charset="-120"/>
              </a:rPr>
              <a:t>798</a:t>
            </a:r>
            <a:endParaRPr lang="en-US" sz="4000" dirty="0"/>
          </a:p>
        </p:txBody>
      </p:sp>
      <p:sp>
        <p:nvSpPr>
          <p:cNvPr id="12" name="Text 9"/>
          <p:cNvSpPr txBox="1"/>
          <p:nvPr/>
        </p:nvSpPr>
        <p:spPr>
          <a:xfrm>
            <a:off x="6446520" y="2267712"/>
            <a:ext cx="2377440" cy="548640"/>
          </a:xfrm>
          <a:prstGeom prst="rect">
            <a:avLst/>
          </a:prstGeom>
          <a:noFill/>
          <a:ln/>
        </p:spPr>
        <p:txBody>
          <a:bodyPr wrap="square" lIns="635" tIns="635" rIns="635" bIns="635" rtlCol="0" anchor="t"/>
          <a:lstStyle/>
          <a:p>
            <a:pPr algn="ctr" indent="0" marL="0">
              <a:buNone/>
            </a:pPr>
            <a:r>
              <a:rPr lang="en-US" sz="1300" dirty="0">
                <a:solidFill>
                  <a:schemeClr val="tx1"/>
                </a:solidFill>
              </a:rPr>
              <a:t>pytest tests passing + 13/13 UI tests</a:t>
            </a:r>
            <a:endParaRPr lang="en-US" sz="1300" dirty="0"/>
          </a:p>
        </p:txBody>
      </p:sp>
      <p:sp>
        <p:nvSpPr>
          <p:cNvPr id="13" name="Shape 10"/>
          <p:cNvSpPr/>
          <p:nvPr/>
        </p:nvSpPr>
        <p:spPr>
          <a:xfrm>
            <a:off x="9189720" y="1280160"/>
            <a:ext cx="2468880" cy="1600200"/>
          </a:xfrm>
          <a:prstGeom prst="roundRect">
            <a:avLst>
              <a:gd name="adj" fmla="val 6857"/>
            </a:avLst>
          </a:prstGeom>
          <a:solidFill>
            <a:schemeClr val="bg1"/>
          </a:solidFill>
          <a:ln w="9525">
            <a:solidFill>
              <a:srgbClr val="6FA287"/>
            </a:solidFill>
            <a:prstDash val="solid"/>
          </a:ln>
          <a:effectLst>
            <a:outerShdw sx="100000" sy="100000" kx="0" ky="0" algn="bl" rotWithShape="0" blurRad="50800" dist="25400" dir="5400000">
              <a:srgbClr val="9DB8A8">
                <a:alpha val="35000"/>
              </a:srgbClr>
            </a:outerShdw>
          </a:effectLst>
        </p:spPr>
      </p:sp>
      <p:sp>
        <p:nvSpPr>
          <p:cNvPr id="14" name="Text 11"/>
          <p:cNvSpPr txBox="1"/>
          <p:nvPr/>
        </p:nvSpPr>
        <p:spPr>
          <a:xfrm>
            <a:off x="9326880" y="1417320"/>
            <a:ext cx="2194560" cy="868680"/>
          </a:xfrm>
          <a:prstGeom prst="rect">
            <a:avLst/>
          </a:prstGeom>
          <a:noFill/>
          <a:ln/>
        </p:spPr>
        <p:txBody>
          <a:bodyPr wrap="square" lIns="635" tIns="635" rIns="635" bIns="635" rtlCol="0" anchor="ctr"/>
          <a:lstStyle/>
          <a:p>
            <a:pPr algn="ctr" indent="0" marL="0">
              <a:buNone/>
            </a:pPr>
            <a:r>
              <a:rPr lang="en-US" sz="4000" b="1" dirty="0">
                <a:solidFill>
                  <a:schemeClr val="tx2"/>
                </a:solidFill>
                <a:latin typeface="Arial" pitchFamily="34" charset="0"/>
                <a:ea typeface="Arial" pitchFamily="34" charset="-122"/>
                <a:cs typeface="Arial" pitchFamily="34" charset="-120"/>
              </a:rPr>
              <a:t>42/50</a:t>
            </a:r>
            <a:endParaRPr lang="en-US" sz="4000" dirty="0"/>
          </a:p>
        </p:txBody>
      </p:sp>
      <p:sp>
        <p:nvSpPr>
          <p:cNvPr id="15" name="Text 12"/>
          <p:cNvSpPr txBox="1"/>
          <p:nvPr/>
        </p:nvSpPr>
        <p:spPr>
          <a:xfrm>
            <a:off x="9326880" y="2267712"/>
            <a:ext cx="2194560" cy="548640"/>
          </a:xfrm>
          <a:prstGeom prst="rect">
            <a:avLst/>
          </a:prstGeom>
          <a:noFill/>
          <a:ln/>
        </p:spPr>
        <p:txBody>
          <a:bodyPr wrap="square" lIns="635" tIns="635" rIns="635" bIns="635" rtlCol="0" anchor="t"/>
          <a:lstStyle/>
          <a:p>
            <a:pPr algn="ctr" indent="0" marL="0">
              <a:buNone/>
            </a:pPr>
            <a:r>
              <a:rPr lang="en-US" sz="1300" dirty="0">
                <a:solidFill>
                  <a:schemeClr val="tx1"/>
                </a:solidFill>
              </a:rPr>
              <a:t>correct vs 37/50 vague (correctness suite)</a:t>
            </a:r>
            <a:endParaRPr lang="en-US" sz="1300" dirty="0"/>
          </a:p>
        </p:txBody>
      </p:sp>
      <p:sp>
        <p:nvSpPr>
          <p:cNvPr id="16" name="Shape 13"/>
          <p:cNvSpPr/>
          <p:nvPr/>
        </p:nvSpPr>
        <p:spPr>
          <a:xfrm>
            <a:off x="548640" y="3200400"/>
            <a:ext cx="11109960" cy="2971800"/>
          </a:xfrm>
          <a:prstGeom prst="roundRect">
            <a:avLst>
              <a:gd name="adj" fmla="val 3692"/>
            </a:avLst>
          </a:prstGeom>
          <a:solidFill>
            <a:schemeClr val="bg1"/>
          </a:solidFill>
          <a:ln w="9525">
            <a:solidFill>
              <a:srgbClr val="6FA287"/>
            </a:solidFill>
            <a:prstDash val="solid"/>
          </a:ln>
          <a:effectLst>
            <a:outerShdw sx="100000" sy="100000" kx="0" ky="0" algn="bl" rotWithShape="0" blurRad="50800" dist="25400" dir="5400000">
              <a:srgbClr val="9DB8A8">
                <a:alpha val="35000"/>
              </a:srgbClr>
            </a:outerShdw>
          </a:effectLst>
        </p:spPr>
      </p:sp>
      <p:sp>
        <p:nvSpPr>
          <p:cNvPr id="17" name="Text 14"/>
          <p:cNvSpPr txBox="1"/>
          <p:nvPr/>
        </p:nvSpPr>
        <p:spPr>
          <a:xfrm>
            <a:off x="777240" y="3337560"/>
            <a:ext cx="5486400" cy="411480"/>
          </a:xfrm>
          <a:prstGeom prst="rect">
            <a:avLst/>
          </a:prstGeom>
          <a:noFill/>
          <a:ln/>
        </p:spPr>
        <p:txBody>
          <a:bodyPr wrap="square" lIns="635" tIns="635" rIns="635" bIns="635" rtlCol="0" anchor="t"/>
          <a:lstStyle/>
          <a:p>
            <a:pPr indent="0" marL="0">
              <a:buNone/>
            </a:pPr>
            <a:r>
              <a:rPr lang="en-US" sz="1800" b="1" dirty="0">
                <a:solidFill>
                  <a:schemeClr val="tx2"/>
                </a:solidFill>
              </a:rPr>
              <a:t>What this review covers</a:t>
            </a:r>
            <a:endParaRPr lang="en-US" sz="1800" dirty="0"/>
          </a:p>
        </p:txBody>
      </p:sp>
      <p:sp>
        <p:nvSpPr>
          <p:cNvPr id="18" name="Text 15"/>
          <p:cNvSpPr txBox="1"/>
          <p:nvPr/>
        </p:nvSpPr>
        <p:spPr>
          <a:xfrm>
            <a:off x="777240" y="3794760"/>
            <a:ext cx="10607040" cy="2286000"/>
          </a:xfrm>
          <a:prstGeom prst="rect">
            <a:avLst/>
          </a:prstGeom>
          <a:noFill/>
          <a:ln/>
        </p:spPr>
        <p:txBody>
          <a:bodyPr wrap="square" lIns="635" tIns="635" rIns="635" bIns="635" rtlCol="0" anchor="t"/>
          <a:lstStyle/>
          <a:p>
            <a:pPr indent="0" marL="0">
              <a:spcAft>
                <a:spcPts val="600"/>
              </a:spcAft>
              <a:buNone/>
            </a:pPr>
            <a:r>
              <a:rPr lang="en-US" sz="1600" dirty="0">
                <a:solidFill>
                  <a:schemeClr val="tx1"/>
                </a:solidFill>
              </a:rPr>
              <a:t>1  Core modules: Stage A, B, C, IR + renderers, image mode, attachments, Compare, web app, database</a:t>
            </a:r>
            <a:endParaRPr lang="en-US" sz="1600" dirty="0"/>
          </a:p>
          <a:p>
            <a:pPr indent="0" marL="0">
              <a:spcAft>
                <a:spcPts val="600"/>
              </a:spcAft>
              <a:buNone/>
            </a:pPr>
            <a:r>
              <a:rPr lang="en-US" sz="1600" dirty="0">
                <a:solidFill>
                  <a:schemeClr val="tx1"/>
                </a:solidFill>
              </a:rPr>
              <a:t>2  Transaction flow: submit → optimize → store (one commit) → Compare → History → retention</a:t>
            </a:r>
            <a:endParaRPr lang="en-US" sz="1600" dirty="0"/>
          </a:p>
          <a:p>
            <a:pPr indent="0" marL="0">
              <a:spcAft>
                <a:spcPts val="600"/>
              </a:spcAft>
              <a:buNone/>
            </a:pPr>
            <a:r>
              <a:rPr lang="en-US" sz="1600" dirty="0">
                <a:solidFill>
                  <a:schemeClr val="tx1"/>
                </a:solidFill>
              </a:rPr>
              <a:t>3  Unit testing · 4  Integration &amp; system testing · 5  Working prototype</a:t>
            </a:r>
            <a:endParaRPr lang="en-US" sz="1600" dirty="0"/>
          </a:p>
          <a:p>
            <a:pPr indent="0" marL="0">
              <a:spcAft>
                <a:spcPts val="600"/>
              </a:spcAft>
              <a:buNone/>
            </a:pPr>
            <a:r>
              <a:rPr lang="en-US" sz="1600" dirty="0">
                <a:solidFill>
                  <a:schemeClr val="tx1"/>
                </a:solidFill>
              </a:rPr>
              <a:t>6  Test cases with real results, including honest failures</a:t>
            </a:r>
            <a:endParaRPr lang="en-US" sz="1600" dirty="0"/>
          </a:p>
          <a:p>
            <a:pPr indent="0" marL="0">
              <a:spcAft>
                <a:spcPts val="600"/>
              </a:spcAft>
              <a:buNone/>
            </a:pPr>
            <a:r>
              <a:rPr lang="en-US" sz="1600" dirty="0">
                <a:solidFill>
                  <a:schemeClr val="tx1"/>
                </a:solidFill>
              </a:rPr>
              <a:t>7  Git / GitHub · 8  Challenges and fixes · 9  Plans · Live demo</a:t>
            </a:r>
            <a:endParaRPr lang="en-US" sz="1600" dirty="0"/>
          </a:p>
        </p:txBody>
      </p:sp>
      <p:sp>
        <p:nvSpPr>
          <p:cNvPr id="25" name="Slide Number Placeholder 0"/>
          <p:cNvSpPr>
            <a:spLocks noGrp="1"/>
          </p:cNvSpPr>
          <p:nvPr>
            <p:ph type="sldNum" sz="quarter" idx="4294967295"/>
          </p:nvPr>
        </p:nvSpPr>
        <p:spPr>
          <a:xfrm>
            <a:off x="1133856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580"/>
                </a:solidFil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1" type="title" hasCustomPrompt="1"/>
          </p:nvPr>
        </p:nvSpPr>
        <p:spPr>
          <a:xfrm>
            <a:off x="1188720" y="228600"/>
            <a:ext cx="9966960" cy="731520"/>
          </a:xfrm>
          <a:prstGeom prst="rect">
            <a:avLst/>
          </a:prstGeom>
          <a:noFill/>
          <a:ln/>
        </p:spPr>
        <p:txBody>
          <a:bodyPr wrap="square" lIns="0" tIns="0" rIns="0" bIns="0" rtlCol="0" anchor="ctr"/>
          <a:lstStyle/>
          <a:p>
            <a:pPr algn="l" indent="0" marL="0">
              <a:buNone/>
            </a:pPr>
            <a:r>
              <a:rPr lang="en-US" sz="3000" b="1" dirty="0">
                <a:solidFill>
                  <a:schemeClr val="tx2"/>
                </a:solidFill>
                <a:latin typeface="Arial" pitchFamily="34" charset="0"/>
                <a:ea typeface="Arial" pitchFamily="34" charset="-122"/>
                <a:cs typeface="Arial" pitchFamily="34" charset="-120"/>
              </a:rPr>
              <a:t>System architecture</a:t>
            </a:r>
            <a:endParaRPr lang="en-US" sz="3000" dirty="0"/>
          </a:p>
        </p:txBody>
      </p:sp>
      <p:pic>
        <p:nvPicPr>
          <p:cNvPr id="4" name="Image 0" descr="/tmp/claude-1000/-mnt-SharedDrive-Projects-PromptOpt/a85f5363-f7d7-4f63-8a3a-b7b1874853cc/scratchpad/fig/01_system_architecture.png">    </p:cNvPr>
          <p:cNvPicPr>
            <a:picLocks noChangeAspect="1"/>
          </p:cNvPicPr>
          <p:nvPr/>
        </p:nvPicPr>
        <p:blipFill>
          <a:blip r:embed="rId1"/>
          <a:stretch>
            <a:fillRect/>
          </a:stretch>
        </p:blipFill>
        <p:spPr>
          <a:xfrm>
            <a:off x="457200" y="1325880"/>
            <a:ext cx="11247120" cy="2424443"/>
          </a:xfrm>
          <a:prstGeom prst="rect">
            <a:avLst/>
          </a:prstGeom>
        </p:spPr>
      </p:pic>
      <p:sp>
        <p:nvSpPr>
          <p:cNvPr id="5" name="Shape 1"/>
          <p:cNvSpPr/>
          <p:nvPr/>
        </p:nvSpPr>
        <p:spPr>
          <a:xfrm>
            <a:off x="457200" y="4069080"/>
            <a:ext cx="2697480" cy="2103120"/>
          </a:xfrm>
          <a:prstGeom prst="roundRect">
            <a:avLst>
              <a:gd name="adj" fmla="val 5217"/>
            </a:avLst>
          </a:prstGeom>
          <a:solidFill>
            <a:schemeClr val="bg1"/>
          </a:solidFill>
          <a:ln w="9525">
            <a:solidFill>
              <a:srgbClr val="6FA287"/>
            </a:solidFill>
            <a:prstDash val="solid"/>
          </a:ln>
          <a:effectLst>
            <a:outerShdw sx="100000" sy="100000" kx="0" ky="0" algn="bl" rotWithShape="0" blurRad="50800" dist="25400" dir="5400000">
              <a:srgbClr val="9DB8A8">
                <a:alpha val="35000"/>
              </a:srgbClr>
            </a:outerShdw>
          </a:effectLst>
        </p:spPr>
      </p:sp>
      <p:sp>
        <p:nvSpPr>
          <p:cNvPr id="6" name="Text 2"/>
          <p:cNvSpPr txBox="1"/>
          <p:nvPr/>
        </p:nvSpPr>
        <p:spPr>
          <a:xfrm>
            <a:off x="594360" y="4160520"/>
            <a:ext cx="2423160" cy="411480"/>
          </a:xfrm>
          <a:prstGeom prst="rect">
            <a:avLst/>
          </a:prstGeom>
          <a:noFill/>
          <a:ln/>
        </p:spPr>
        <p:txBody>
          <a:bodyPr wrap="square" lIns="635" tIns="635" rIns="635" bIns="635" rtlCol="0" anchor="t"/>
          <a:lstStyle/>
          <a:p>
            <a:pPr indent="0" marL="0">
              <a:buNone/>
            </a:pPr>
            <a:r>
              <a:rPr lang="en-US" sz="1800" b="1" dirty="0">
                <a:solidFill>
                  <a:schemeClr val="tx2"/>
                </a:solidFill>
              </a:rPr>
              <a:t>Stage A</a:t>
            </a:r>
            <a:endParaRPr lang="en-US" sz="1800" dirty="0"/>
          </a:p>
        </p:txBody>
      </p:sp>
      <p:sp>
        <p:nvSpPr>
          <p:cNvPr id="7" name="Text 3"/>
          <p:cNvSpPr txBox="1"/>
          <p:nvPr/>
        </p:nvSpPr>
        <p:spPr>
          <a:xfrm>
            <a:off x="594360" y="4572000"/>
            <a:ext cx="2423160" cy="1554480"/>
          </a:xfrm>
          <a:prstGeom prst="rect">
            <a:avLst/>
          </a:prstGeom>
          <a:noFill/>
          <a:ln/>
        </p:spPr>
        <p:txBody>
          <a:bodyPr wrap="square" lIns="635" tIns="635" rIns="635" bIns="635" rtlCol="0" anchor="t"/>
          <a:lstStyle/>
          <a:p>
            <a:pPr indent="0" marL="0">
              <a:buNone/>
            </a:pPr>
            <a:r>
              <a:rPr lang="en-US" sz="1400" dirty="0">
                <a:solidFill>
                  <a:schemeClr val="tx1"/>
                </a:solidFill>
              </a:rPr>
              <a:t>spaCy + regex + sentence-embedding classifier: category, missing format/constraints, filler, ambiguous refs</a:t>
            </a:r>
            <a:endParaRPr lang="en-US" sz="1400" dirty="0"/>
          </a:p>
        </p:txBody>
      </p:sp>
      <p:sp>
        <p:nvSpPr>
          <p:cNvPr id="8" name="Shape 4"/>
          <p:cNvSpPr/>
          <p:nvPr/>
        </p:nvSpPr>
        <p:spPr>
          <a:xfrm>
            <a:off x="3291840" y="4069080"/>
            <a:ext cx="2697480" cy="2103120"/>
          </a:xfrm>
          <a:prstGeom prst="roundRect">
            <a:avLst>
              <a:gd name="adj" fmla="val 5217"/>
            </a:avLst>
          </a:prstGeom>
          <a:solidFill>
            <a:schemeClr val="bg1"/>
          </a:solidFill>
          <a:ln w="9525">
            <a:solidFill>
              <a:srgbClr val="6FA287"/>
            </a:solidFill>
            <a:prstDash val="solid"/>
          </a:ln>
          <a:effectLst>
            <a:outerShdw sx="100000" sy="100000" kx="0" ky="0" algn="bl" rotWithShape="0" blurRad="50800" dist="25400" dir="5400000">
              <a:srgbClr val="9DB8A8">
                <a:alpha val="35000"/>
              </a:srgbClr>
            </a:outerShdw>
          </a:effectLst>
        </p:spPr>
      </p:sp>
      <p:sp>
        <p:nvSpPr>
          <p:cNvPr id="9" name="Text 5"/>
          <p:cNvSpPr txBox="1"/>
          <p:nvPr/>
        </p:nvSpPr>
        <p:spPr>
          <a:xfrm>
            <a:off x="3429000" y="4160520"/>
            <a:ext cx="2423160" cy="411480"/>
          </a:xfrm>
          <a:prstGeom prst="rect">
            <a:avLst/>
          </a:prstGeom>
          <a:noFill/>
          <a:ln/>
        </p:spPr>
        <p:txBody>
          <a:bodyPr wrap="square" lIns="635" tIns="635" rIns="635" bIns="635" rtlCol="0" anchor="t"/>
          <a:lstStyle/>
          <a:p>
            <a:pPr indent="0" marL="0">
              <a:buNone/>
            </a:pPr>
            <a:r>
              <a:rPr lang="en-US" sz="1800" b="1" dirty="0">
                <a:solidFill>
                  <a:schemeClr val="tx2"/>
                </a:solidFill>
              </a:rPr>
              <a:t>Stage B</a:t>
            </a:r>
            <a:endParaRPr lang="en-US" sz="1800" dirty="0"/>
          </a:p>
        </p:txBody>
      </p:sp>
      <p:sp>
        <p:nvSpPr>
          <p:cNvPr id="10" name="Text 6"/>
          <p:cNvSpPr txBox="1"/>
          <p:nvPr/>
        </p:nvSpPr>
        <p:spPr>
          <a:xfrm>
            <a:off x="3429000" y="4572000"/>
            <a:ext cx="2423160" cy="1554480"/>
          </a:xfrm>
          <a:prstGeom prst="rect">
            <a:avLst/>
          </a:prstGeom>
          <a:noFill/>
          <a:ln/>
        </p:spPr>
        <p:txBody>
          <a:bodyPr wrap="square" lIns="635" tIns="635" rIns="635" bIns="635" rtlCol="0" anchor="t"/>
          <a:lstStyle/>
          <a:p>
            <a:pPr indent="0" marL="0">
              <a:buNone/>
            </a:pPr>
            <a:r>
              <a:rPr lang="en-US" sz="1400" dirty="0">
                <a:solidFill>
                  <a:schemeClr val="tx1"/>
                </a:solidFill>
              </a:rPr>
              <a:t>15 deterministic rules B01-B15, every change logged; category rules only at confidence ≥ 0.6</a:t>
            </a:r>
            <a:endParaRPr lang="en-US" sz="1400" dirty="0"/>
          </a:p>
        </p:txBody>
      </p:sp>
      <p:sp>
        <p:nvSpPr>
          <p:cNvPr id="11" name="Shape 7"/>
          <p:cNvSpPr/>
          <p:nvPr/>
        </p:nvSpPr>
        <p:spPr>
          <a:xfrm>
            <a:off x="6126480" y="4069080"/>
            <a:ext cx="2697480" cy="2103120"/>
          </a:xfrm>
          <a:prstGeom prst="roundRect">
            <a:avLst>
              <a:gd name="adj" fmla="val 5217"/>
            </a:avLst>
          </a:prstGeom>
          <a:solidFill>
            <a:schemeClr val="bg1"/>
          </a:solidFill>
          <a:ln w="9525">
            <a:solidFill>
              <a:srgbClr val="6FA287"/>
            </a:solidFill>
            <a:prstDash val="solid"/>
          </a:ln>
          <a:effectLst>
            <a:outerShdw sx="100000" sy="100000" kx="0" ky="0" algn="bl" rotWithShape="0" blurRad="50800" dist="25400" dir="5400000">
              <a:srgbClr val="9DB8A8">
                <a:alpha val="35000"/>
              </a:srgbClr>
            </a:outerShdw>
          </a:effectLst>
        </p:spPr>
      </p:sp>
      <p:sp>
        <p:nvSpPr>
          <p:cNvPr id="12" name="Text 8"/>
          <p:cNvSpPr txBox="1"/>
          <p:nvPr/>
        </p:nvSpPr>
        <p:spPr>
          <a:xfrm>
            <a:off x="6263640" y="4160520"/>
            <a:ext cx="2423160" cy="411480"/>
          </a:xfrm>
          <a:prstGeom prst="rect">
            <a:avLst/>
          </a:prstGeom>
          <a:noFill/>
          <a:ln/>
        </p:spPr>
        <p:txBody>
          <a:bodyPr wrap="square" lIns="635" tIns="635" rIns="635" bIns="635" rtlCol="0" anchor="t"/>
          <a:lstStyle/>
          <a:p>
            <a:pPr indent="0" marL="0">
              <a:buNone/>
            </a:pPr>
            <a:r>
              <a:rPr lang="en-US" sz="1800" b="1" dirty="0">
                <a:solidFill>
                  <a:schemeClr val="tx2"/>
                </a:solidFill>
              </a:rPr>
              <a:t>Stage C</a:t>
            </a:r>
            <a:endParaRPr lang="en-US" sz="1800" dirty="0"/>
          </a:p>
        </p:txBody>
      </p:sp>
      <p:sp>
        <p:nvSpPr>
          <p:cNvPr id="13" name="Text 9"/>
          <p:cNvSpPr txBox="1"/>
          <p:nvPr/>
        </p:nvSpPr>
        <p:spPr>
          <a:xfrm>
            <a:off x="6263640" y="4572000"/>
            <a:ext cx="2423160" cy="1554480"/>
          </a:xfrm>
          <a:prstGeom prst="rect">
            <a:avLst/>
          </a:prstGeom>
          <a:noFill/>
          <a:ln/>
        </p:spPr>
        <p:txBody>
          <a:bodyPr wrap="square" lIns="635" tIns="635" rIns="635" bIns="635" rtlCol="0" anchor="t"/>
          <a:lstStyle/>
          <a:p>
            <a:pPr indent="0" marL="0">
              <a:buNone/>
            </a:pPr>
            <a:r>
              <a:rPr lang="en-US" sz="1400" dirty="0">
                <a:solidFill>
                  <a:schemeClr val="tx1"/>
                </a:solidFill>
              </a:rPr>
              <a:t>Qwen2.5-0.5B + LoRA, called only for unresolved fields; validated, else Stage B kept</a:t>
            </a:r>
            <a:endParaRPr lang="en-US" sz="1400" dirty="0"/>
          </a:p>
        </p:txBody>
      </p:sp>
      <p:sp>
        <p:nvSpPr>
          <p:cNvPr id="14" name="Shape 10"/>
          <p:cNvSpPr/>
          <p:nvPr/>
        </p:nvSpPr>
        <p:spPr>
          <a:xfrm>
            <a:off x="8961120" y="4069080"/>
            <a:ext cx="2697480" cy="2103120"/>
          </a:xfrm>
          <a:prstGeom prst="roundRect">
            <a:avLst>
              <a:gd name="adj" fmla="val 5217"/>
            </a:avLst>
          </a:prstGeom>
          <a:solidFill>
            <a:schemeClr val="bg1"/>
          </a:solidFill>
          <a:ln w="9525">
            <a:solidFill>
              <a:srgbClr val="6FA287"/>
            </a:solidFill>
            <a:prstDash val="solid"/>
          </a:ln>
          <a:effectLst>
            <a:outerShdw sx="100000" sy="100000" kx="0" ky="0" algn="bl" rotWithShape="0" blurRad="50800" dist="25400" dir="5400000">
              <a:srgbClr val="9DB8A8">
                <a:alpha val="35000"/>
              </a:srgbClr>
            </a:outerShdw>
          </a:effectLst>
        </p:spPr>
      </p:sp>
      <p:sp>
        <p:nvSpPr>
          <p:cNvPr id="15" name="Text 11"/>
          <p:cNvSpPr txBox="1"/>
          <p:nvPr/>
        </p:nvSpPr>
        <p:spPr>
          <a:xfrm>
            <a:off x="9098280" y="4160520"/>
            <a:ext cx="2423160" cy="411480"/>
          </a:xfrm>
          <a:prstGeom prst="rect">
            <a:avLst/>
          </a:prstGeom>
          <a:noFill/>
          <a:ln/>
        </p:spPr>
        <p:txBody>
          <a:bodyPr wrap="square" lIns="635" tIns="635" rIns="635" bIns="635" rtlCol="0" anchor="t"/>
          <a:lstStyle/>
          <a:p>
            <a:pPr indent="0" marL="0">
              <a:buNone/>
            </a:pPr>
            <a:r>
              <a:rPr lang="en-US" sz="1800" b="1" dirty="0">
                <a:solidFill>
                  <a:schemeClr val="tx2"/>
                </a:solidFill>
              </a:rPr>
              <a:t>Output</a:t>
            </a:r>
            <a:endParaRPr lang="en-US" sz="1800" dirty="0"/>
          </a:p>
        </p:txBody>
      </p:sp>
      <p:sp>
        <p:nvSpPr>
          <p:cNvPr id="16" name="Text 12"/>
          <p:cNvSpPr txBox="1"/>
          <p:nvPr/>
        </p:nvSpPr>
        <p:spPr>
          <a:xfrm>
            <a:off x="9098280" y="4572000"/>
            <a:ext cx="2423160" cy="1554480"/>
          </a:xfrm>
          <a:prstGeom prst="rect">
            <a:avLst/>
          </a:prstGeom>
          <a:noFill/>
          <a:ln/>
        </p:spPr>
        <p:txBody>
          <a:bodyPr wrap="square" lIns="635" tIns="635" rIns="635" bIns="635" rtlCol="0" anchor="t"/>
          <a:lstStyle/>
          <a:p>
            <a:pPr indent="0" marL="0">
              <a:buNone/>
            </a:pPr>
            <a:r>
              <a:rPr lang="en-US" sz="1400" dirty="0">
                <a:solidFill>
                  <a:schemeClr val="tx1"/>
                </a:solidFill>
              </a:rPr>
              <a:t>IR rendered per target LLM with token counts; Compare, History, 30-day retention</a:t>
            </a:r>
            <a:endParaRPr lang="en-US" sz="1400" dirty="0"/>
          </a:p>
        </p:txBody>
      </p:sp>
      <p:sp>
        <p:nvSpPr>
          <p:cNvPr id="25" name="Slide Number Placeholder 0"/>
          <p:cNvSpPr>
            <a:spLocks noGrp="1"/>
          </p:cNvSpPr>
          <p:nvPr>
            <p:ph type="sldNum" sz="quarter" idx="4294967295"/>
          </p:nvPr>
        </p:nvSpPr>
        <p:spPr>
          <a:xfrm>
            <a:off x="1133856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580"/>
                </a:solidFil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1" type="title" hasCustomPrompt="1"/>
          </p:nvPr>
        </p:nvSpPr>
        <p:spPr>
          <a:xfrm>
            <a:off x="1188720" y="228600"/>
            <a:ext cx="9966960" cy="731520"/>
          </a:xfrm>
          <a:prstGeom prst="rect">
            <a:avLst/>
          </a:prstGeom>
          <a:noFill/>
          <a:ln/>
        </p:spPr>
        <p:txBody>
          <a:bodyPr wrap="square" lIns="0" tIns="0" rIns="0" bIns="0" rtlCol="0" anchor="ctr"/>
          <a:lstStyle/>
          <a:p>
            <a:pPr algn="l" indent="0" marL="0">
              <a:buNone/>
            </a:pPr>
            <a:r>
              <a:rPr lang="en-US" sz="3000" b="1" dirty="0">
                <a:solidFill>
                  <a:schemeClr val="tx2"/>
                </a:solidFill>
                <a:latin typeface="Arial" pitchFamily="34" charset="0"/>
                <a:ea typeface="Arial" pitchFamily="34" charset="-122"/>
                <a:cs typeface="Arial" pitchFamily="34" charset="-120"/>
              </a:rPr>
              <a:t>Stage A detects, Stage B fixes with 15 rules</a:t>
            </a:r>
            <a:endParaRPr lang="en-US" sz="3000" dirty="0"/>
          </a:p>
        </p:txBody>
      </p:sp>
      <p:sp>
        <p:nvSpPr>
          <p:cNvPr id="4" name="Shape 1"/>
          <p:cNvSpPr/>
          <p:nvPr/>
        </p:nvSpPr>
        <p:spPr>
          <a:xfrm>
            <a:off x="457200" y="1280160"/>
            <a:ext cx="4754880" cy="4937760"/>
          </a:xfrm>
          <a:prstGeom prst="roundRect">
            <a:avLst>
              <a:gd name="adj" fmla="val 2308"/>
            </a:avLst>
          </a:prstGeom>
          <a:solidFill>
            <a:schemeClr val="bg1"/>
          </a:solidFill>
          <a:ln w="9525">
            <a:solidFill>
              <a:srgbClr val="6FA287"/>
            </a:solidFill>
            <a:prstDash val="solid"/>
          </a:ln>
          <a:effectLst>
            <a:outerShdw sx="100000" sy="100000" kx="0" ky="0" algn="bl" rotWithShape="0" blurRad="50800" dist="25400" dir="5400000">
              <a:srgbClr val="9DB8A8">
                <a:alpha val="35000"/>
              </a:srgbClr>
            </a:outerShdw>
          </a:effectLst>
        </p:spPr>
      </p:sp>
      <p:sp>
        <p:nvSpPr>
          <p:cNvPr id="5" name="Text 2"/>
          <p:cNvSpPr txBox="1"/>
          <p:nvPr/>
        </p:nvSpPr>
        <p:spPr>
          <a:xfrm>
            <a:off x="640080" y="1371600"/>
            <a:ext cx="4389120" cy="411480"/>
          </a:xfrm>
          <a:prstGeom prst="rect">
            <a:avLst/>
          </a:prstGeom>
          <a:noFill/>
          <a:ln/>
        </p:spPr>
        <p:txBody>
          <a:bodyPr wrap="square" lIns="635" tIns="635" rIns="635" bIns="635" rtlCol="0" anchor="t"/>
          <a:lstStyle/>
          <a:p>
            <a:pPr indent="0" marL="0">
              <a:buNone/>
            </a:pPr>
            <a:r>
              <a:rPr lang="en-US" sz="1800" b="1" dirty="0">
                <a:solidFill>
                  <a:schemeClr val="tx2"/>
                </a:solidFill>
              </a:rPr>
              <a:t>Stage A · feature detection</a:t>
            </a:r>
            <a:endParaRPr lang="en-US" sz="1800" dirty="0"/>
          </a:p>
        </p:txBody>
      </p:sp>
      <p:sp>
        <p:nvSpPr>
          <p:cNvPr id="6" name="Text 3"/>
          <p:cNvSpPr txBox="1"/>
          <p:nvPr/>
        </p:nvSpPr>
        <p:spPr>
          <a:xfrm>
            <a:off x="640080" y="1828800"/>
            <a:ext cx="4389120" cy="2651760"/>
          </a:xfrm>
          <a:prstGeom prst="rect">
            <a:avLst/>
          </a:prstGeom>
          <a:noFill/>
          <a:ln/>
        </p:spPr>
        <p:txBody>
          <a:bodyPr wrap="square" lIns="1016" tIns="1016" rIns="1016" bIns="1016" rtlCol="0" anchor="t"/>
          <a:lstStyle/>
          <a:p>
            <a:pPr marL="342900" indent="-342900">
              <a:spcAft>
                <a:spcPts val="800"/>
              </a:spcAft>
              <a:buSzPct val="100000"/>
              <a:buChar char="•"/>
            </a:pPr>
            <a:r>
              <a:rPr lang="en-US" sz="1500" dirty="0">
                <a:solidFill>
                  <a:schemeClr val="tx1"/>
                </a:solidFill>
              </a:rPr>
              <a:t>Task category + confidence (embedding classifier, keyword fallback)</a:t>
            </a:r>
            <a:endParaRPr lang="en-US" sz="1500" dirty="0"/>
          </a:p>
          <a:p>
            <a:pPr marL="342900" indent="-342900">
              <a:spcAft>
                <a:spcPts val="800"/>
              </a:spcAft>
              <a:buSzPct val="100000"/>
              <a:buChar char="•"/>
            </a:pPr>
            <a:r>
              <a:rPr lang="en-US" sz="1500" dirty="0">
                <a:solidFill>
                  <a:schemeClr val="tx1"/>
                </a:solidFill>
              </a:rPr>
              <a:t>A02 missing output format</a:t>
            </a:r>
            <a:endParaRPr lang="en-US" sz="1500" dirty="0"/>
          </a:p>
          <a:p>
            <a:pPr marL="342900" indent="-342900">
              <a:spcAft>
                <a:spcPts val="800"/>
              </a:spcAft>
              <a:buSzPct val="100000"/>
              <a:buChar char="•"/>
            </a:pPr>
            <a:r>
              <a:rPr lang="en-US" sz="1500" dirty="0">
                <a:solidFill>
                  <a:schemeClr val="tx1"/>
                </a:solidFill>
              </a:rPr>
              <a:t>A03 missing length / tone / audience / language</a:t>
            </a:r>
            <a:endParaRPr lang="en-US" sz="1500" dirty="0"/>
          </a:p>
          <a:p>
            <a:pPr marL="342900" indent="-342900">
              <a:spcAft>
                <a:spcPts val="800"/>
              </a:spcAft>
              <a:buSzPct val="100000"/>
              <a:buChar char="•"/>
            </a:pPr>
            <a:r>
              <a:rPr lang="en-US" sz="1500" dirty="0">
                <a:solidFill>
                  <a:schemeClr val="tx1"/>
                </a:solidFill>
              </a:rPr>
              <a:t>A04 filler and repetition</a:t>
            </a:r>
            <a:endParaRPr lang="en-US" sz="1500" dirty="0"/>
          </a:p>
          <a:p>
            <a:pPr marL="342900" indent="-342900">
              <a:spcAft>
                <a:spcPts val="800"/>
              </a:spcAft>
              <a:buSzPct val="100000"/>
              <a:buChar char="•"/>
            </a:pPr>
            <a:r>
              <a:rPr lang="en-US" sz="1500" dirty="0">
                <a:solidFill>
                  <a:schemeClr val="tx1"/>
                </a:solidFill>
              </a:rPr>
              <a:t>A05 ambiguous reference ("summarize this")</a:t>
            </a:r>
            <a:endParaRPr lang="en-US" sz="1500" dirty="0"/>
          </a:p>
        </p:txBody>
      </p:sp>
      <p:sp>
        <p:nvSpPr>
          <p:cNvPr id="7" name="Text 4"/>
          <p:cNvSpPr txBox="1"/>
          <p:nvPr/>
        </p:nvSpPr>
        <p:spPr>
          <a:xfrm>
            <a:off x="640080" y="4572000"/>
            <a:ext cx="2011680" cy="822960"/>
          </a:xfrm>
          <a:prstGeom prst="rect">
            <a:avLst/>
          </a:prstGeom>
          <a:noFill/>
          <a:ln/>
        </p:spPr>
        <p:txBody>
          <a:bodyPr wrap="square" lIns="635" tIns="635" rIns="635" bIns="635" rtlCol="0" anchor="t"/>
          <a:lstStyle/>
          <a:p>
            <a:pPr indent="0" marL="0">
              <a:buNone/>
            </a:pPr>
            <a:r>
              <a:rPr lang="en-US" sz="4000" b="1" dirty="0">
                <a:solidFill>
                  <a:schemeClr val="tx2"/>
                </a:solidFill>
                <a:latin typeface="Arial" pitchFamily="34" charset="0"/>
                <a:ea typeface="Arial" pitchFamily="34" charset="-122"/>
                <a:cs typeface="Arial" pitchFamily="34" charset="-120"/>
              </a:rPr>
              <a:t>74.7%</a:t>
            </a:r>
            <a:endParaRPr lang="en-US" sz="4000" dirty="0"/>
          </a:p>
        </p:txBody>
      </p:sp>
      <p:sp>
        <p:nvSpPr>
          <p:cNvPr id="8" name="Text 5"/>
          <p:cNvSpPr txBox="1"/>
          <p:nvPr/>
        </p:nvSpPr>
        <p:spPr>
          <a:xfrm>
            <a:off x="2651760" y="4617720"/>
            <a:ext cx="2468880" cy="1280160"/>
          </a:xfrm>
          <a:prstGeom prst="rect">
            <a:avLst/>
          </a:prstGeom>
          <a:noFill/>
          <a:ln/>
        </p:spPr>
        <p:txBody>
          <a:bodyPr wrap="square" lIns="635" tIns="635" rIns="635" bIns="635" rtlCol="0" anchor="t"/>
          <a:lstStyle/>
          <a:p>
            <a:pPr indent="0" marL="0">
              <a:buNone/>
            </a:pPr>
            <a:r>
              <a:rPr lang="en-US" sz="1300" dirty="0">
                <a:solidFill>
                  <a:schemeClr val="tx1"/>
                </a:solidFill>
              </a:rPr>
              <a:t>category accuracy on 482 test prompts (coding F1 0.98, classification 0.94)</a:t>
            </a:r>
            <a:endParaRPr lang="en-US" sz="1300" dirty="0"/>
          </a:p>
        </p:txBody>
      </p:sp>
      <p:sp>
        <p:nvSpPr>
          <p:cNvPr id="9" name="Text 6"/>
          <p:cNvSpPr txBox="1"/>
          <p:nvPr/>
        </p:nvSpPr>
        <p:spPr>
          <a:xfrm>
            <a:off x="5486400" y="1325880"/>
            <a:ext cx="6217920" cy="411480"/>
          </a:xfrm>
          <a:prstGeom prst="rect">
            <a:avLst/>
          </a:prstGeom>
          <a:noFill/>
          <a:ln/>
        </p:spPr>
        <p:txBody>
          <a:bodyPr wrap="square" lIns="635" tIns="635" rIns="635" bIns="635" rtlCol="0" anchor="t"/>
          <a:lstStyle/>
          <a:p>
            <a:pPr indent="0" marL="0">
              <a:buNone/>
            </a:pPr>
            <a:r>
              <a:rPr lang="en-US" sz="1800" b="1" dirty="0">
                <a:solidFill>
                  <a:schemeClr val="tx2"/>
                </a:solidFill>
              </a:rPr>
              <a:t>Stage B · rules (each a unit-tested function)</a:t>
            </a:r>
            <a:endParaRPr lang="en-US" sz="1800" dirty="0"/>
          </a:p>
        </p:txBody>
      </p:sp>
      <p:sp>
        <p:nvSpPr>
          <p:cNvPr id="10" name="Shape 7"/>
          <p:cNvSpPr/>
          <p:nvPr/>
        </p:nvSpPr>
        <p:spPr>
          <a:xfrm>
            <a:off x="5486400" y="1828800"/>
            <a:ext cx="1965960" cy="731520"/>
          </a:xfrm>
          <a:prstGeom prst="roundRect">
            <a:avLst>
              <a:gd name="adj" fmla="val 15000"/>
            </a:avLst>
          </a:prstGeom>
          <a:solidFill>
            <a:schemeClr val="bg1"/>
          </a:solidFill>
          <a:ln w="9525">
            <a:solidFill>
              <a:srgbClr val="6FA287"/>
            </a:solidFill>
            <a:prstDash val="solid"/>
          </a:ln>
          <a:effectLst>
            <a:outerShdw sx="100000" sy="100000" kx="0" ky="0" algn="bl" rotWithShape="0" blurRad="50800" dist="25400" dir="5400000">
              <a:srgbClr val="9DB8A8">
                <a:alpha val="35000"/>
              </a:srgbClr>
            </a:outerShdw>
          </a:effectLst>
        </p:spPr>
      </p:sp>
      <p:sp>
        <p:nvSpPr>
          <p:cNvPr id="11" name="Text 8"/>
          <p:cNvSpPr txBox="1"/>
          <p:nvPr/>
        </p:nvSpPr>
        <p:spPr>
          <a:xfrm>
            <a:off x="5577840" y="1901952"/>
            <a:ext cx="1783080" cy="594360"/>
          </a:xfrm>
          <a:prstGeom prst="rect">
            <a:avLst/>
          </a:prstGeom>
          <a:noFill/>
          <a:ln/>
        </p:spPr>
        <p:txBody>
          <a:bodyPr wrap="square" lIns="635" tIns="635" rIns="635" bIns="635" rtlCol="0" anchor="ctr"/>
          <a:lstStyle/>
          <a:p>
            <a:pPr indent="0" marL="0">
              <a:buNone/>
            </a:pPr>
            <a:r>
              <a:rPr lang="en-US" sz="1300" b="1" dirty="0">
                <a:solidFill>
                  <a:schemeClr val="tx2"/>
                </a:solidFill>
              </a:rPr>
              <a:t>B01  </a:t>
            </a:r>
            <a:pPr indent="0" marL="0">
              <a:buNone/>
            </a:pPr>
            <a:r>
              <a:rPr lang="en-US" sz="1300" dirty="0">
                <a:solidFill>
                  <a:schemeClr val="tx1"/>
                </a:solidFill>
              </a:rPr>
              <a:t>Remove filler</a:t>
            </a:r>
            <a:endParaRPr lang="en-US" sz="1300" dirty="0"/>
          </a:p>
        </p:txBody>
      </p:sp>
      <p:sp>
        <p:nvSpPr>
          <p:cNvPr id="12" name="Shape 9"/>
          <p:cNvSpPr/>
          <p:nvPr/>
        </p:nvSpPr>
        <p:spPr>
          <a:xfrm>
            <a:off x="7589520" y="1828800"/>
            <a:ext cx="1965960" cy="731520"/>
          </a:xfrm>
          <a:prstGeom prst="roundRect">
            <a:avLst>
              <a:gd name="adj" fmla="val 15000"/>
            </a:avLst>
          </a:prstGeom>
          <a:solidFill>
            <a:schemeClr val="bg1"/>
          </a:solidFill>
          <a:ln w="9525">
            <a:solidFill>
              <a:srgbClr val="6FA287"/>
            </a:solidFill>
            <a:prstDash val="solid"/>
          </a:ln>
          <a:effectLst>
            <a:outerShdw sx="100000" sy="100000" kx="0" ky="0" algn="bl" rotWithShape="0" blurRad="50800" dist="25400" dir="5400000">
              <a:srgbClr val="9DB8A8">
                <a:alpha val="35000"/>
              </a:srgbClr>
            </a:outerShdw>
          </a:effectLst>
        </p:spPr>
      </p:sp>
      <p:sp>
        <p:nvSpPr>
          <p:cNvPr id="13" name="Text 10"/>
          <p:cNvSpPr txBox="1"/>
          <p:nvPr/>
        </p:nvSpPr>
        <p:spPr>
          <a:xfrm>
            <a:off x="7680960" y="1901952"/>
            <a:ext cx="1783080" cy="594360"/>
          </a:xfrm>
          <a:prstGeom prst="rect">
            <a:avLst/>
          </a:prstGeom>
          <a:noFill/>
          <a:ln/>
        </p:spPr>
        <p:txBody>
          <a:bodyPr wrap="square" lIns="635" tIns="635" rIns="635" bIns="635" rtlCol="0" anchor="ctr"/>
          <a:lstStyle/>
          <a:p>
            <a:pPr indent="0" marL="0">
              <a:buNone/>
            </a:pPr>
            <a:r>
              <a:rPr lang="en-US" sz="1300" b="1" dirty="0">
                <a:solidFill>
                  <a:schemeClr val="tx2"/>
                </a:solidFill>
              </a:rPr>
              <a:t>B02  </a:t>
            </a:r>
            <a:pPr indent="0" marL="0">
              <a:buNone/>
            </a:pPr>
            <a:r>
              <a:rPr lang="en-US" sz="1300" dirty="0">
                <a:solidFill>
                  <a:schemeClr val="tx1"/>
                </a:solidFill>
              </a:rPr>
              <a:t>Remove duplicates</a:t>
            </a:r>
            <a:endParaRPr lang="en-US" sz="1300" dirty="0"/>
          </a:p>
        </p:txBody>
      </p:sp>
      <p:sp>
        <p:nvSpPr>
          <p:cNvPr id="14" name="Shape 11"/>
          <p:cNvSpPr/>
          <p:nvPr/>
        </p:nvSpPr>
        <p:spPr>
          <a:xfrm>
            <a:off x="9692640" y="1828800"/>
            <a:ext cx="1965960" cy="731520"/>
          </a:xfrm>
          <a:prstGeom prst="roundRect">
            <a:avLst>
              <a:gd name="adj" fmla="val 15000"/>
            </a:avLst>
          </a:prstGeom>
          <a:solidFill>
            <a:schemeClr val="bg1"/>
          </a:solidFill>
          <a:ln w="9525">
            <a:solidFill>
              <a:srgbClr val="6FA287"/>
            </a:solidFill>
            <a:prstDash val="solid"/>
          </a:ln>
          <a:effectLst>
            <a:outerShdw sx="100000" sy="100000" kx="0" ky="0" algn="bl" rotWithShape="0" blurRad="50800" dist="25400" dir="5400000">
              <a:srgbClr val="9DB8A8">
                <a:alpha val="35000"/>
              </a:srgbClr>
            </a:outerShdw>
          </a:effectLst>
        </p:spPr>
      </p:sp>
      <p:sp>
        <p:nvSpPr>
          <p:cNvPr id="15" name="Text 12"/>
          <p:cNvSpPr txBox="1"/>
          <p:nvPr/>
        </p:nvSpPr>
        <p:spPr>
          <a:xfrm>
            <a:off x="9784080" y="1901952"/>
            <a:ext cx="1783080" cy="594360"/>
          </a:xfrm>
          <a:prstGeom prst="rect">
            <a:avLst/>
          </a:prstGeom>
          <a:noFill/>
          <a:ln/>
        </p:spPr>
        <p:txBody>
          <a:bodyPr wrap="square" lIns="635" tIns="635" rIns="635" bIns="635" rtlCol="0" anchor="ctr"/>
          <a:lstStyle/>
          <a:p>
            <a:pPr indent="0" marL="0">
              <a:buNone/>
            </a:pPr>
            <a:r>
              <a:rPr lang="en-US" sz="1300" b="1" dirty="0">
                <a:solidFill>
                  <a:schemeClr val="tx2"/>
                </a:solidFill>
              </a:rPr>
              <a:t>B03  </a:t>
            </a:r>
            <a:pPr indent="0" marL="0">
              <a:buNone/>
            </a:pPr>
            <a:r>
              <a:rPr lang="en-US" sz="1300" dirty="0">
                <a:solidFill>
                  <a:schemeClr val="tx1"/>
                </a:solidFill>
              </a:rPr>
              <a:t>Output format</a:t>
            </a:r>
            <a:endParaRPr lang="en-US" sz="1300" dirty="0"/>
          </a:p>
        </p:txBody>
      </p:sp>
      <p:sp>
        <p:nvSpPr>
          <p:cNvPr id="16" name="Shape 13"/>
          <p:cNvSpPr/>
          <p:nvPr/>
        </p:nvSpPr>
        <p:spPr>
          <a:xfrm>
            <a:off x="5486400" y="2697480"/>
            <a:ext cx="1965960" cy="731520"/>
          </a:xfrm>
          <a:prstGeom prst="roundRect">
            <a:avLst>
              <a:gd name="adj" fmla="val 15000"/>
            </a:avLst>
          </a:prstGeom>
          <a:solidFill>
            <a:schemeClr val="bg1"/>
          </a:solidFill>
          <a:ln w="9525">
            <a:solidFill>
              <a:srgbClr val="6FA287"/>
            </a:solidFill>
            <a:prstDash val="solid"/>
          </a:ln>
          <a:effectLst>
            <a:outerShdw sx="100000" sy="100000" kx="0" ky="0" algn="bl" rotWithShape="0" blurRad="50800" dist="25400" dir="5400000">
              <a:srgbClr val="9DB8A8">
                <a:alpha val="35000"/>
              </a:srgbClr>
            </a:outerShdw>
          </a:effectLst>
        </p:spPr>
      </p:sp>
      <p:sp>
        <p:nvSpPr>
          <p:cNvPr id="17" name="Text 14"/>
          <p:cNvSpPr txBox="1"/>
          <p:nvPr/>
        </p:nvSpPr>
        <p:spPr>
          <a:xfrm>
            <a:off x="5577840" y="2770632"/>
            <a:ext cx="1783080" cy="594360"/>
          </a:xfrm>
          <a:prstGeom prst="rect">
            <a:avLst/>
          </a:prstGeom>
          <a:noFill/>
          <a:ln/>
        </p:spPr>
        <p:txBody>
          <a:bodyPr wrap="square" lIns="635" tIns="635" rIns="635" bIns="635" rtlCol="0" anchor="ctr"/>
          <a:lstStyle/>
          <a:p>
            <a:pPr indent="0" marL="0">
              <a:buNone/>
            </a:pPr>
            <a:r>
              <a:rPr lang="en-US" sz="1300" b="1" dirty="0">
                <a:solidFill>
                  <a:schemeClr val="tx2"/>
                </a:solidFill>
              </a:rPr>
              <a:t>B04  </a:t>
            </a:r>
            <a:pPr indent="0" marL="0">
              <a:buNone/>
            </a:pPr>
            <a:r>
              <a:rPr lang="en-US" sz="1300" dirty="0">
                <a:solidFill>
                  <a:schemeClr val="tx1"/>
                </a:solidFill>
              </a:rPr>
              <a:t>Length limit</a:t>
            </a:r>
            <a:endParaRPr lang="en-US" sz="1300" dirty="0"/>
          </a:p>
        </p:txBody>
      </p:sp>
      <p:sp>
        <p:nvSpPr>
          <p:cNvPr id="18" name="Shape 15"/>
          <p:cNvSpPr/>
          <p:nvPr/>
        </p:nvSpPr>
        <p:spPr>
          <a:xfrm>
            <a:off x="7589520" y="2697480"/>
            <a:ext cx="1965960" cy="731520"/>
          </a:xfrm>
          <a:prstGeom prst="roundRect">
            <a:avLst>
              <a:gd name="adj" fmla="val 15000"/>
            </a:avLst>
          </a:prstGeom>
          <a:solidFill>
            <a:schemeClr val="bg1"/>
          </a:solidFill>
          <a:ln w="9525">
            <a:solidFill>
              <a:srgbClr val="6FA287"/>
            </a:solidFill>
            <a:prstDash val="solid"/>
          </a:ln>
          <a:effectLst>
            <a:outerShdw sx="100000" sy="100000" kx="0" ky="0" algn="bl" rotWithShape="0" blurRad="50800" dist="25400" dir="5400000">
              <a:srgbClr val="9DB8A8">
                <a:alpha val="35000"/>
              </a:srgbClr>
            </a:outerShdw>
          </a:effectLst>
        </p:spPr>
      </p:sp>
      <p:sp>
        <p:nvSpPr>
          <p:cNvPr id="19" name="Text 16"/>
          <p:cNvSpPr txBox="1"/>
          <p:nvPr/>
        </p:nvSpPr>
        <p:spPr>
          <a:xfrm>
            <a:off x="7680960" y="2770632"/>
            <a:ext cx="1783080" cy="594360"/>
          </a:xfrm>
          <a:prstGeom prst="rect">
            <a:avLst/>
          </a:prstGeom>
          <a:noFill/>
          <a:ln/>
        </p:spPr>
        <p:txBody>
          <a:bodyPr wrap="square" lIns="635" tIns="635" rIns="635" bIns="635" rtlCol="0" anchor="ctr"/>
          <a:lstStyle/>
          <a:p>
            <a:pPr indent="0" marL="0">
              <a:buNone/>
            </a:pPr>
            <a:r>
              <a:rPr lang="en-US" sz="1300" b="1" dirty="0">
                <a:solidFill>
                  <a:schemeClr val="tx2"/>
                </a:solidFill>
              </a:rPr>
              <a:t>B05  </a:t>
            </a:r>
            <a:pPr indent="0" marL="0">
              <a:buNone/>
            </a:pPr>
            <a:r>
              <a:rPr lang="en-US" sz="1300" dirty="0">
                <a:solidFill>
                  <a:schemeClr val="tx1"/>
                </a:solidFill>
              </a:rPr>
              <a:t>Programming language</a:t>
            </a:r>
            <a:endParaRPr lang="en-US" sz="1300" dirty="0"/>
          </a:p>
        </p:txBody>
      </p:sp>
      <p:sp>
        <p:nvSpPr>
          <p:cNvPr id="20" name="Shape 17"/>
          <p:cNvSpPr/>
          <p:nvPr/>
        </p:nvSpPr>
        <p:spPr>
          <a:xfrm>
            <a:off x="9692640" y="2697480"/>
            <a:ext cx="1965960" cy="731520"/>
          </a:xfrm>
          <a:prstGeom prst="roundRect">
            <a:avLst>
              <a:gd name="adj" fmla="val 15000"/>
            </a:avLst>
          </a:prstGeom>
          <a:solidFill>
            <a:schemeClr val="bg1"/>
          </a:solidFill>
          <a:ln w="9525">
            <a:solidFill>
              <a:srgbClr val="6FA287"/>
            </a:solidFill>
            <a:prstDash val="solid"/>
          </a:ln>
          <a:effectLst>
            <a:outerShdw sx="100000" sy="100000" kx="0" ky="0" algn="bl" rotWithShape="0" blurRad="50800" dist="25400" dir="5400000">
              <a:srgbClr val="9DB8A8">
                <a:alpha val="35000"/>
              </a:srgbClr>
            </a:outerShdw>
          </a:effectLst>
        </p:spPr>
      </p:sp>
      <p:sp>
        <p:nvSpPr>
          <p:cNvPr id="21" name="Text 18"/>
          <p:cNvSpPr txBox="1"/>
          <p:nvPr/>
        </p:nvSpPr>
        <p:spPr>
          <a:xfrm>
            <a:off x="9784080" y="2770632"/>
            <a:ext cx="1783080" cy="594360"/>
          </a:xfrm>
          <a:prstGeom prst="rect">
            <a:avLst/>
          </a:prstGeom>
          <a:noFill/>
          <a:ln/>
        </p:spPr>
        <p:txBody>
          <a:bodyPr wrap="square" lIns="635" tIns="635" rIns="635" bIns="635" rtlCol="0" anchor="ctr"/>
          <a:lstStyle/>
          <a:p>
            <a:pPr indent="0" marL="0">
              <a:buNone/>
            </a:pPr>
            <a:r>
              <a:rPr lang="en-US" sz="1300" b="1" dirty="0">
                <a:solidFill>
                  <a:schemeClr val="tx2"/>
                </a:solidFill>
              </a:rPr>
              <a:t>B06  </a:t>
            </a:r>
            <a:pPr indent="0" marL="0">
              <a:buNone/>
            </a:pPr>
            <a:r>
              <a:rPr lang="en-US" sz="1300" dirty="0">
                <a:solidFill>
                  <a:schemeClr val="tx1"/>
                </a:solidFill>
              </a:rPr>
              <a:t>Label set</a:t>
            </a:r>
            <a:endParaRPr lang="en-US" sz="1300" dirty="0"/>
          </a:p>
        </p:txBody>
      </p:sp>
      <p:sp>
        <p:nvSpPr>
          <p:cNvPr id="22" name="Shape 19"/>
          <p:cNvSpPr/>
          <p:nvPr/>
        </p:nvSpPr>
        <p:spPr>
          <a:xfrm>
            <a:off x="5486400" y="3566160"/>
            <a:ext cx="1965960" cy="731520"/>
          </a:xfrm>
          <a:prstGeom prst="roundRect">
            <a:avLst>
              <a:gd name="adj" fmla="val 15000"/>
            </a:avLst>
          </a:prstGeom>
          <a:solidFill>
            <a:schemeClr val="bg1"/>
          </a:solidFill>
          <a:ln w="9525">
            <a:solidFill>
              <a:srgbClr val="6FA287"/>
            </a:solidFill>
            <a:prstDash val="solid"/>
          </a:ln>
          <a:effectLst>
            <a:outerShdw sx="100000" sy="100000" kx="0" ky="0" algn="bl" rotWithShape="0" blurRad="50800" dist="25400" dir="5400000">
              <a:srgbClr val="9DB8A8">
                <a:alpha val="35000"/>
              </a:srgbClr>
            </a:outerShdw>
          </a:effectLst>
        </p:spPr>
      </p:sp>
      <p:sp>
        <p:nvSpPr>
          <p:cNvPr id="23" name="Text 20"/>
          <p:cNvSpPr txBox="1"/>
          <p:nvPr/>
        </p:nvSpPr>
        <p:spPr>
          <a:xfrm>
            <a:off x="5577840" y="3639312"/>
            <a:ext cx="1783080" cy="594360"/>
          </a:xfrm>
          <a:prstGeom prst="rect">
            <a:avLst/>
          </a:prstGeom>
          <a:noFill/>
          <a:ln/>
        </p:spPr>
        <p:txBody>
          <a:bodyPr wrap="square" lIns="635" tIns="635" rIns="635" bIns="635" rtlCol="0" anchor="ctr"/>
          <a:lstStyle/>
          <a:p>
            <a:pPr indent="0" marL="0">
              <a:buNone/>
            </a:pPr>
            <a:r>
              <a:rPr lang="en-US" sz="1300" b="1" dirty="0">
                <a:solidFill>
                  <a:schemeClr val="tx2"/>
                </a:solidFill>
              </a:rPr>
              <a:t>B07  </a:t>
            </a:r>
            <a:pPr indent="0" marL="0">
              <a:buNone/>
            </a:pPr>
            <a:r>
              <a:rPr lang="en-US" sz="1300" dirty="0">
                <a:solidFill>
                  <a:schemeClr val="tx1"/>
                </a:solidFill>
              </a:rPr>
              <a:t>Structure / data block</a:t>
            </a:r>
            <a:endParaRPr lang="en-US" sz="1300" dirty="0"/>
          </a:p>
        </p:txBody>
      </p:sp>
      <p:sp>
        <p:nvSpPr>
          <p:cNvPr id="24" name="Shape 21"/>
          <p:cNvSpPr/>
          <p:nvPr/>
        </p:nvSpPr>
        <p:spPr>
          <a:xfrm>
            <a:off x="7589520" y="3566160"/>
            <a:ext cx="1965960" cy="731520"/>
          </a:xfrm>
          <a:prstGeom prst="roundRect">
            <a:avLst>
              <a:gd name="adj" fmla="val 15000"/>
            </a:avLst>
          </a:prstGeom>
          <a:solidFill>
            <a:schemeClr val="bg1"/>
          </a:solidFill>
          <a:ln w="9525">
            <a:solidFill>
              <a:srgbClr val="6FA287"/>
            </a:solidFill>
            <a:prstDash val="solid"/>
          </a:ln>
          <a:effectLst>
            <a:outerShdw sx="100000" sy="100000" kx="0" ky="0" algn="bl" rotWithShape="0" blurRad="50800" dist="25400" dir="5400000">
              <a:srgbClr val="9DB8A8">
                <a:alpha val="35000"/>
              </a:srgbClr>
            </a:outerShdw>
          </a:effectLst>
        </p:spPr>
      </p:sp>
      <p:sp>
        <p:nvSpPr>
          <p:cNvPr id="25" name="Text 22"/>
          <p:cNvSpPr txBox="1"/>
          <p:nvPr/>
        </p:nvSpPr>
        <p:spPr>
          <a:xfrm>
            <a:off x="7680960" y="3639312"/>
            <a:ext cx="1783080" cy="594360"/>
          </a:xfrm>
          <a:prstGeom prst="rect">
            <a:avLst/>
          </a:prstGeom>
          <a:noFill/>
          <a:ln/>
        </p:spPr>
        <p:txBody>
          <a:bodyPr wrap="square" lIns="635" tIns="635" rIns="635" bIns="635" rtlCol="0" anchor="ctr"/>
          <a:lstStyle/>
          <a:p>
            <a:pPr indent="0" marL="0">
              <a:buNone/>
            </a:pPr>
            <a:r>
              <a:rPr lang="en-US" sz="1300" b="1" dirty="0">
                <a:solidFill>
                  <a:schemeClr val="tx2"/>
                </a:solidFill>
              </a:rPr>
              <a:t>B08  </a:t>
            </a:r>
            <a:pPr indent="0" marL="0">
              <a:buNone/>
            </a:pPr>
            <a:r>
              <a:rPr lang="en-US" sz="1300" dirty="0">
                <a:solidFill>
                  <a:schemeClr val="tx1"/>
                </a:solidFill>
              </a:rPr>
              <a:t>Group fallback</a:t>
            </a:r>
            <a:endParaRPr lang="en-US" sz="1300" dirty="0"/>
          </a:p>
        </p:txBody>
      </p:sp>
      <p:sp>
        <p:nvSpPr>
          <p:cNvPr id="26" name="Shape 23"/>
          <p:cNvSpPr/>
          <p:nvPr/>
        </p:nvSpPr>
        <p:spPr>
          <a:xfrm>
            <a:off x="9692640" y="3566160"/>
            <a:ext cx="1965960" cy="731520"/>
          </a:xfrm>
          <a:prstGeom prst="roundRect">
            <a:avLst>
              <a:gd name="adj" fmla="val 15000"/>
            </a:avLst>
          </a:prstGeom>
          <a:solidFill>
            <a:schemeClr val="bg1"/>
          </a:solidFill>
          <a:ln w="9525">
            <a:solidFill>
              <a:srgbClr val="6FA287"/>
            </a:solidFill>
            <a:prstDash val="solid"/>
          </a:ln>
          <a:effectLst>
            <a:outerShdw sx="100000" sy="100000" kx="0" ky="0" algn="bl" rotWithShape="0" blurRad="50800" dist="25400" dir="5400000">
              <a:srgbClr val="9DB8A8">
                <a:alpha val="35000"/>
              </a:srgbClr>
            </a:outerShdw>
          </a:effectLst>
        </p:spPr>
      </p:sp>
      <p:sp>
        <p:nvSpPr>
          <p:cNvPr id="27" name="Text 24"/>
          <p:cNvSpPr txBox="1"/>
          <p:nvPr/>
        </p:nvSpPr>
        <p:spPr>
          <a:xfrm>
            <a:off x="9784080" y="3639312"/>
            <a:ext cx="1783080" cy="594360"/>
          </a:xfrm>
          <a:prstGeom prst="rect">
            <a:avLst/>
          </a:prstGeom>
          <a:noFill/>
          <a:ln/>
        </p:spPr>
        <p:txBody>
          <a:bodyPr wrap="square" lIns="635" tIns="635" rIns="635" bIns="635" rtlCol="0" anchor="ctr"/>
          <a:lstStyle/>
          <a:p>
            <a:pPr indent="0" marL="0">
              <a:buNone/>
            </a:pPr>
            <a:r>
              <a:rPr lang="en-US" sz="1300" b="1" dirty="0">
                <a:solidFill>
                  <a:schemeClr val="tx2"/>
                </a:solidFill>
              </a:rPr>
              <a:t>B09-B15  </a:t>
            </a:r>
            <a:pPr indent="0" marL="0">
              <a:buNone/>
            </a:pPr>
            <a:r>
              <a:rPr lang="en-US" sz="1300" dirty="0">
                <a:solidFill>
                  <a:schemeClr val="tx1"/>
                </a:solidFill>
              </a:rPr>
              <a:t>Attachment modifiers</a:t>
            </a:r>
            <a:endParaRPr lang="en-US" sz="1300" dirty="0"/>
          </a:p>
        </p:txBody>
      </p:sp>
      <p:sp>
        <p:nvSpPr>
          <p:cNvPr id="28" name="Shape 25"/>
          <p:cNvSpPr/>
          <p:nvPr/>
        </p:nvSpPr>
        <p:spPr>
          <a:xfrm>
            <a:off x="5486400" y="4526280"/>
            <a:ext cx="6172200" cy="1691640"/>
          </a:xfrm>
          <a:prstGeom prst="roundRect">
            <a:avLst>
              <a:gd name="adj" fmla="val 6486"/>
            </a:avLst>
          </a:prstGeom>
          <a:solidFill>
            <a:schemeClr val="bg1"/>
          </a:solidFill>
          <a:ln w="9525">
            <a:solidFill>
              <a:srgbClr val="6FA287"/>
            </a:solidFill>
            <a:prstDash val="solid"/>
          </a:ln>
          <a:effectLst>
            <a:outerShdw sx="100000" sy="100000" kx="0" ky="0" algn="bl" rotWithShape="0" blurRad="50800" dist="25400" dir="5400000">
              <a:srgbClr val="9DB8A8">
                <a:alpha val="35000"/>
              </a:srgbClr>
            </a:outerShdw>
          </a:effectLst>
        </p:spPr>
      </p:sp>
      <p:sp>
        <p:nvSpPr>
          <p:cNvPr id="29" name="Text 26"/>
          <p:cNvSpPr txBox="1"/>
          <p:nvPr/>
        </p:nvSpPr>
        <p:spPr>
          <a:xfrm>
            <a:off x="5669280" y="4617720"/>
            <a:ext cx="3291840" cy="822960"/>
          </a:xfrm>
          <a:prstGeom prst="rect">
            <a:avLst/>
          </a:prstGeom>
          <a:noFill/>
          <a:ln/>
        </p:spPr>
        <p:txBody>
          <a:bodyPr wrap="square" lIns="635" tIns="635" rIns="635" bIns="635" rtlCol="0" anchor="t"/>
          <a:lstStyle/>
          <a:p>
            <a:pPr indent="0" marL="0">
              <a:buNone/>
            </a:pPr>
            <a:r>
              <a:rPr lang="en-US" sz="3600" b="1" dirty="0">
                <a:solidFill>
                  <a:schemeClr val="accent2"/>
                </a:solidFill>
                <a:latin typeface="Arial" pitchFamily="34" charset="0"/>
                <a:ea typeface="Arial" pitchFamily="34" charset="-122"/>
                <a:cs typeface="Arial" pitchFamily="34" charset="-120"/>
              </a:rPr>
              <a:t>3.1% → 95.0%</a:t>
            </a:r>
            <a:endParaRPr lang="en-US" sz="3600" dirty="0"/>
          </a:p>
        </p:txBody>
      </p:sp>
      <p:sp>
        <p:nvSpPr>
          <p:cNvPr id="30" name="Text 27"/>
          <p:cNvSpPr txBox="1"/>
          <p:nvPr/>
        </p:nvSpPr>
        <p:spPr>
          <a:xfrm>
            <a:off x="8915400" y="4663440"/>
            <a:ext cx="2651760" cy="1463040"/>
          </a:xfrm>
          <a:prstGeom prst="rect">
            <a:avLst/>
          </a:prstGeom>
          <a:noFill/>
          <a:ln/>
        </p:spPr>
        <p:txBody>
          <a:bodyPr wrap="square" lIns="635" tIns="635" rIns="635" bIns="635" rtlCol="0" anchor="t"/>
          <a:lstStyle/>
          <a:p>
            <a:pPr indent="0" marL="0">
              <a:buNone/>
            </a:pPr>
            <a:r>
              <a:rPr lang="en-US" sz="1300" dirty="0">
                <a:solidFill>
                  <a:schemeClr val="tx1"/>
                </a:solidFill>
              </a:rPr>
              <a:t>of test prompts state an output format after Stage B; 6.4% (31 of 482) are routed to Stage C</a:t>
            </a:r>
            <a:endParaRPr lang="en-US" sz="1300" dirty="0"/>
          </a:p>
        </p:txBody>
      </p:sp>
      <p:sp>
        <p:nvSpPr>
          <p:cNvPr id="25" name="Slide Number Placeholder 0"/>
          <p:cNvSpPr>
            <a:spLocks noGrp="1"/>
          </p:cNvSpPr>
          <p:nvPr>
            <p:ph type="sldNum" sz="quarter" idx="4294967295"/>
          </p:nvPr>
        </p:nvSpPr>
        <p:spPr>
          <a:xfrm>
            <a:off x="1133856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580"/>
                </a:solidFil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1" type="title" hasCustomPrompt="1"/>
          </p:nvPr>
        </p:nvSpPr>
        <p:spPr>
          <a:xfrm>
            <a:off x="1188720" y="228600"/>
            <a:ext cx="9966960" cy="731520"/>
          </a:xfrm>
          <a:prstGeom prst="rect">
            <a:avLst/>
          </a:prstGeom>
          <a:noFill/>
          <a:ln/>
        </p:spPr>
        <p:txBody>
          <a:bodyPr wrap="square" lIns="0" tIns="0" rIns="0" bIns="0" rtlCol="0" anchor="ctr"/>
          <a:lstStyle/>
          <a:p>
            <a:pPr algn="l" indent="0" marL="0">
              <a:buNone/>
            </a:pPr>
            <a:r>
              <a:rPr lang="en-US" sz="3000" b="1" dirty="0">
                <a:solidFill>
                  <a:schemeClr val="tx2"/>
                </a:solidFill>
                <a:latin typeface="Arial" pitchFamily="34" charset="0"/>
                <a:ea typeface="Arial" pitchFamily="34" charset="-122"/>
                <a:cs typeface="Arial" pitchFamily="34" charset="-120"/>
              </a:rPr>
              <a:t>Stage C: a small LoRA model, only where rules stop</a:t>
            </a:r>
            <a:endParaRPr lang="en-US" sz="3000" dirty="0"/>
          </a:p>
        </p:txBody>
      </p:sp>
      <p:pic>
        <p:nvPicPr>
          <p:cNvPr id="4" name="Image 0" descr="/tmp/claude-1000/-mnt-SharedDrive-Projects-PromptOpt/a85f5363-f7d7-4f63-8a3a-b7b1874853cc/scratchpad/fig/04_b_to_c_contract.png">    </p:cNvPr>
          <p:cNvPicPr>
            <a:picLocks noChangeAspect="1"/>
          </p:cNvPicPr>
          <p:nvPr/>
        </p:nvPicPr>
        <p:blipFill>
          <a:blip r:embed="rId1"/>
          <a:stretch>
            <a:fillRect/>
          </a:stretch>
        </p:blipFill>
        <p:spPr>
          <a:xfrm>
            <a:off x="457200" y="1234440"/>
            <a:ext cx="5577840" cy="3301171"/>
          </a:xfrm>
          <a:prstGeom prst="rect">
            <a:avLst/>
          </a:prstGeom>
        </p:spPr>
      </p:pic>
      <p:sp>
        <p:nvSpPr>
          <p:cNvPr id="5" name="Shape 1"/>
          <p:cNvSpPr/>
          <p:nvPr/>
        </p:nvSpPr>
        <p:spPr>
          <a:xfrm>
            <a:off x="6355080" y="1280160"/>
            <a:ext cx="2560320" cy="1600200"/>
          </a:xfrm>
          <a:prstGeom prst="roundRect">
            <a:avLst>
              <a:gd name="adj" fmla="val 6857"/>
            </a:avLst>
          </a:prstGeom>
          <a:solidFill>
            <a:schemeClr val="bg1"/>
          </a:solidFill>
          <a:ln w="9525">
            <a:solidFill>
              <a:srgbClr val="6FA287"/>
            </a:solidFill>
            <a:prstDash val="solid"/>
          </a:ln>
          <a:effectLst>
            <a:outerShdw sx="100000" sy="100000" kx="0" ky="0" algn="bl" rotWithShape="0" blurRad="50800" dist="25400" dir="5400000">
              <a:srgbClr val="9DB8A8">
                <a:alpha val="35000"/>
              </a:srgbClr>
            </a:outerShdw>
          </a:effectLst>
        </p:spPr>
      </p:sp>
      <p:sp>
        <p:nvSpPr>
          <p:cNvPr id="6" name="Text 2"/>
          <p:cNvSpPr txBox="1"/>
          <p:nvPr/>
        </p:nvSpPr>
        <p:spPr>
          <a:xfrm>
            <a:off x="6492240" y="1417320"/>
            <a:ext cx="2286000" cy="868680"/>
          </a:xfrm>
          <a:prstGeom prst="rect">
            <a:avLst/>
          </a:prstGeom>
          <a:noFill/>
          <a:ln/>
        </p:spPr>
        <p:txBody>
          <a:bodyPr wrap="square" lIns="635" tIns="635" rIns="635" bIns="635" rtlCol="0" anchor="ctr"/>
          <a:lstStyle/>
          <a:p>
            <a:pPr algn="ctr" indent="0" marL="0">
              <a:buNone/>
            </a:pPr>
            <a:r>
              <a:rPr lang="en-US" sz="3000" b="1" dirty="0">
                <a:solidFill>
                  <a:schemeClr val="tx2"/>
                </a:solidFill>
                <a:latin typeface="Arial" pitchFamily="34" charset="0"/>
                <a:ea typeface="Arial" pitchFamily="34" charset="-122"/>
                <a:cs typeface="Arial" pitchFamily="34" charset="-120"/>
              </a:rPr>
              <a:t>5% → 98%</a:t>
            </a:r>
            <a:endParaRPr lang="en-US" sz="3000" dirty="0"/>
          </a:p>
        </p:txBody>
      </p:sp>
      <p:sp>
        <p:nvSpPr>
          <p:cNvPr id="7" name="Text 3"/>
          <p:cNvSpPr txBox="1"/>
          <p:nvPr/>
        </p:nvSpPr>
        <p:spPr>
          <a:xfrm>
            <a:off x="6492240" y="2267712"/>
            <a:ext cx="2286000" cy="548640"/>
          </a:xfrm>
          <a:prstGeom prst="rect">
            <a:avLst/>
          </a:prstGeom>
          <a:noFill/>
          <a:ln/>
        </p:spPr>
        <p:txBody>
          <a:bodyPr wrap="square" lIns="635" tIns="635" rIns="635" bIns="635" rtlCol="0" anchor="t"/>
          <a:lstStyle/>
          <a:p>
            <a:pPr algn="ctr" indent="0" marL="0">
              <a:buNone/>
            </a:pPr>
            <a:r>
              <a:rPr lang="en-US" sz="1300" dirty="0">
                <a:solidFill>
                  <a:schemeClr val="tx1"/>
                </a:solidFill>
              </a:rPr>
              <a:t>answers pass validation: base vs LoRA</a:t>
            </a:r>
            <a:endParaRPr lang="en-US" sz="1300" dirty="0"/>
          </a:p>
        </p:txBody>
      </p:sp>
      <p:sp>
        <p:nvSpPr>
          <p:cNvPr id="8" name="Shape 4"/>
          <p:cNvSpPr/>
          <p:nvPr/>
        </p:nvSpPr>
        <p:spPr>
          <a:xfrm>
            <a:off x="9098280" y="1280160"/>
            <a:ext cx="2560320" cy="1600200"/>
          </a:xfrm>
          <a:prstGeom prst="roundRect">
            <a:avLst>
              <a:gd name="adj" fmla="val 6857"/>
            </a:avLst>
          </a:prstGeom>
          <a:solidFill>
            <a:schemeClr val="bg1"/>
          </a:solidFill>
          <a:ln w="9525">
            <a:solidFill>
              <a:srgbClr val="6FA287"/>
            </a:solidFill>
            <a:prstDash val="solid"/>
          </a:ln>
          <a:effectLst>
            <a:outerShdw sx="100000" sy="100000" kx="0" ky="0" algn="bl" rotWithShape="0" blurRad="50800" dist="25400" dir="5400000">
              <a:srgbClr val="9DB8A8">
                <a:alpha val="35000"/>
              </a:srgbClr>
            </a:outerShdw>
          </a:effectLst>
        </p:spPr>
      </p:sp>
      <p:sp>
        <p:nvSpPr>
          <p:cNvPr id="9" name="Text 5"/>
          <p:cNvSpPr txBox="1"/>
          <p:nvPr/>
        </p:nvSpPr>
        <p:spPr>
          <a:xfrm>
            <a:off x="9235440" y="1417320"/>
            <a:ext cx="2286000" cy="868680"/>
          </a:xfrm>
          <a:prstGeom prst="rect">
            <a:avLst/>
          </a:prstGeom>
          <a:noFill/>
          <a:ln/>
        </p:spPr>
        <p:txBody>
          <a:bodyPr wrap="square" lIns="635" tIns="635" rIns="635" bIns="635" rtlCol="0" anchor="ctr"/>
          <a:lstStyle/>
          <a:p>
            <a:pPr algn="ctr" indent="0" marL="0">
              <a:buNone/>
            </a:pPr>
            <a:r>
              <a:rPr lang="en-US" sz="2800" b="1" dirty="0">
                <a:solidFill>
                  <a:schemeClr val="tx2"/>
                </a:solidFill>
                <a:latin typeface="Arial" pitchFamily="34" charset="0"/>
                <a:ea typeface="Arial" pitchFamily="34" charset="-122"/>
                <a:cs typeface="Arial" pitchFamily="34" charset="-120"/>
              </a:rPr>
              <a:t>22.6 → 90.3%</a:t>
            </a:r>
            <a:endParaRPr lang="en-US" sz="2800" dirty="0"/>
          </a:p>
        </p:txBody>
      </p:sp>
      <p:sp>
        <p:nvSpPr>
          <p:cNvPr id="10" name="Text 6"/>
          <p:cNvSpPr txBox="1"/>
          <p:nvPr/>
        </p:nvSpPr>
        <p:spPr>
          <a:xfrm>
            <a:off x="9235440" y="2267712"/>
            <a:ext cx="2286000" cy="548640"/>
          </a:xfrm>
          <a:prstGeom prst="rect">
            <a:avLst/>
          </a:prstGeom>
          <a:noFill/>
          <a:ln/>
        </p:spPr>
        <p:txBody>
          <a:bodyPr wrap="square" lIns="635" tIns="635" rIns="635" bIns="635" rtlCol="0" anchor="t"/>
          <a:lstStyle/>
          <a:p>
            <a:pPr algn="ctr" indent="0" marL="0">
              <a:buNone/>
            </a:pPr>
            <a:r>
              <a:rPr lang="en-US" sz="1300" dirty="0">
                <a:solidFill>
                  <a:schemeClr val="tx1"/>
                </a:solidFill>
              </a:rPr>
              <a:t>format stated on routed prompts</a:t>
            </a:r>
            <a:endParaRPr lang="en-US" sz="1300" dirty="0"/>
          </a:p>
        </p:txBody>
      </p:sp>
      <p:sp>
        <p:nvSpPr>
          <p:cNvPr id="11" name="Shape 7"/>
          <p:cNvSpPr/>
          <p:nvPr/>
        </p:nvSpPr>
        <p:spPr>
          <a:xfrm>
            <a:off x="6355080" y="3063240"/>
            <a:ext cx="2560320" cy="1600200"/>
          </a:xfrm>
          <a:prstGeom prst="roundRect">
            <a:avLst>
              <a:gd name="adj" fmla="val 6857"/>
            </a:avLst>
          </a:prstGeom>
          <a:solidFill>
            <a:schemeClr val="bg1"/>
          </a:solidFill>
          <a:ln w="9525">
            <a:solidFill>
              <a:srgbClr val="6FA287"/>
            </a:solidFill>
            <a:prstDash val="solid"/>
          </a:ln>
          <a:effectLst>
            <a:outerShdw sx="100000" sy="100000" kx="0" ky="0" algn="bl" rotWithShape="0" blurRad="50800" dist="25400" dir="5400000">
              <a:srgbClr val="9DB8A8">
                <a:alpha val="35000"/>
              </a:srgbClr>
            </a:outerShdw>
          </a:effectLst>
        </p:spPr>
      </p:sp>
      <p:sp>
        <p:nvSpPr>
          <p:cNvPr id="12" name="Text 8"/>
          <p:cNvSpPr txBox="1"/>
          <p:nvPr/>
        </p:nvSpPr>
        <p:spPr>
          <a:xfrm>
            <a:off x="6492240" y="3200400"/>
            <a:ext cx="2286000" cy="868680"/>
          </a:xfrm>
          <a:prstGeom prst="rect">
            <a:avLst/>
          </a:prstGeom>
          <a:noFill/>
          <a:ln/>
        </p:spPr>
        <p:txBody>
          <a:bodyPr wrap="square" lIns="635" tIns="635" rIns="635" bIns="635" rtlCol="0" anchor="ctr"/>
          <a:lstStyle/>
          <a:p>
            <a:pPr algn="ctr" indent="0" marL="0">
              <a:buNone/>
            </a:pPr>
            <a:r>
              <a:rPr lang="en-US" sz="4000" b="1" dirty="0">
                <a:solidFill>
                  <a:schemeClr val="tx2"/>
                </a:solidFill>
                <a:latin typeface="Arial" pitchFamily="34" charset="0"/>
                <a:ea typeface="Arial" pitchFamily="34" charset="-122"/>
                <a:cs typeface="Arial" pitchFamily="34" charset="-120"/>
              </a:rPr>
              <a:t>0.74 s</a:t>
            </a:r>
            <a:endParaRPr lang="en-US" sz="4000" dirty="0"/>
          </a:p>
        </p:txBody>
      </p:sp>
      <p:sp>
        <p:nvSpPr>
          <p:cNvPr id="13" name="Text 9"/>
          <p:cNvSpPr txBox="1"/>
          <p:nvPr/>
        </p:nvSpPr>
        <p:spPr>
          <a:xfrm>
            <a:off x="6492240" y="4050792"/>
            <a:ext cx="2286000" cy="548640"/>
          </a:xfrm>
          <a:prstGeom prst="rect">
            <a:avLst/>
          </a:prstGeom>
          <a:noFill/>
          <a:ln/>
        </p:spPr>
        <p:txBody>
          <a:bodyPr wrap="square" lIns="635" tIns="635" rIns="635" bIns="635" rtlCol="0" anchor="t"/>
          <a:lstStyle/>
          <a:p>
            <a:pPr algn="ctr" indent="0" marL="0">
              <a:buNone/>
            </a:pPr>
            <a:r>
              <a:rPr lang="en-US" sz="1300" dirty="0">
                <a:solidFill>
                  <a:schemeClr val="tx1"/>
                </a:solidFill>
              </a:rPr>
              <a:t>median per call, RTX 3050 (CPU 4.55 s)</a:t>
            </a:r>
            <a:endParaRPr lang="en-US" sz="1300" dirty="0"/>
          </a:p>
        </p:txBody>
      </p:sp>
      <p:sp>
        <p:nvSpPr>
          <p:cNvPr id="14" name="Shape 10"/>
          <p:cNvSpPr/>
          <p:nvPr/>
        </p:nvSpPr>
        <p:spPr>
          <a:xfrm>
            <a:off x="9098280" y="3063240"/>
            <a:ext cx="2560320" cy="1600200"/>
          </a:xfrm>
          <a:prstGeom prst="roundRect">
            <a:avLst>
              <a:gd name="adj" fmla="val 6857"/>
            </a:avLst>
          </a:prstGeom>
          <a:solidFill>
            <a:schemeClr val="bg1"/>
          </a:solidFill>
          <a:ln w="9525">
            <a:solidFill>
              <a:srgbClr val="6FA287"/>
            </a:solidFill>
            <a:prstDash val="solid"/>
          </a:ln>
          <a:effectLst>
            <a:outerShdw sx="100000" sy="100000" kx="0" ky="0" algn="bl" rotWithShape="0" blurRad="50800" dist="25400" dir="5400000">
              <a:srgbClr val="9DB8A8">
                <a:alpha val="35000"/>
              </a:srgbClr>
            </a:outerShdw>
          </a:effectLst>
        </p:spPr>
      </p:sp>
      <p:sp>
        <p:nvSpPr>
          <p:cNvPr id="15" name="Text 11"/>
          <p:cNvSpPr txBox="1"/>
          <p:nvPr/>
        </p:nvSpPr>
        <p:spPr>
          <a:xfrm>
            <a:off x="9235440" y="3200400"/>
            <a:ext cx="2286000" cy="868680"/>
          </a:xfrm>
          <a:prstGeom prst="rect">
            <a:avLst/>
          </a:prstGeom>
          <a:noFill/>
          <a:ln/>
        </p:spPr>
        <p:txBody>
          <a:bodyPr wrap="square" lIns="635" tIns="635" rIns="635" bIns="635" rtlCol="0" anchor="ctr"/>
          <a:lstStyle/>
          <a:p>
            <a:pPr algn="ctr" indent="0" marL="0">
              <a:buNone/>
            </a:pPr>
            <a:r>
              <a:rPr lang="en-US" sz="4000" b="1" dirty="0">
                <a:solidFill>
                  <a:schemeClr val="tx2"/>
                </a:solidFill>
                <a:latin typeface="Arial" pitchFamily="34" charset="0"/>
                <a:ea typeface="Arial" pitchFamily="34" charset="-122"/>
                <a:cs typeface="Arial" pitchFamily="34" charset="-120"/>
              </a:rPr>
              <a:t>6.4%</a:t>
            </a:r>
            <a:endParaRPr lang="en-US" sz="4000" dirty="0"/>
          </a:p>
        </p:txBody>
      </p:sp>
      <p:sp>
        <p:nvSpPr>
          <p:cNvPr id="16" name="Text 12"/>
          <p:cNvSpPr txBox="1"/>
          <p:nvPr/>
        </p:nvSpPr>
        <p:spPr>
          <a:xfrm>
            <a:off x="9235440" y="4050792"/>
            <a:ext cx="2286000" cy="548640"/>
          </a:xfrm>
          <a:prstGeom prst="rect">
            <a:avLst/>
          </a:prstGeom>
          <a:noFill/>
          <a:ln/>
        </p:spPr>
        <p:txBody>
          <a:bodyPr wrap="square" lIns="635" tIns="635" rIns="635" bIns="635" rtlCol="0" anchor="t"/>
          <a:lstStyle/>
          <a:p>
            <a:pPr algn="ctr" indent="0" marL="0">
              <a:buNone/>
            </a:pPr>
            <a:r>
              <a:rPr lang="en-US" sz="1300" dirty="0">
                <a:solidFill>
                  <a:schemeClr val="tx1"/>
                </a:solidFill>
              </a:rPr>
              <a:t>of test prompts routed to Stage C</a:t>
            </a:r>
            <a:endParaRPr lang="en-US" sz="1300" dirty="0"/>
          </a:p>
        </p:txBody>
      </p:sp>
      <p:sp>
        <p:nvSpPr>
          <p:cNvPr id="17" name="Shape 13"/>
          <p:cNvSpPr/>
          <p:nvPr/>
        </p:nvSpPr>
        <p:spPr>
          <a:xfrm>
            <a:off x="6355080" y="4846320"/>
            <a:ext cx="5303520" cy="1371600"/>
          </a:xfrm>
          <a:prstGeom prst="roundRect">
            <a:avLst>
              <a:gd name="adj" fmla="val 8000"/>
            </a:avLst>
          </a:prstGeom>
          <a:solidFill>
            <a:schemeClr val="bg1"/>
          </a:solidFill>
          <a:ln w="9525">
            <a:solidFill>
              <a:srgbClr val="6FA287"/>
            </a:solidFill>
            <a:prstDash val="solid"/>
          </a:ln>
          <a:effectLst>
            <a:outerShdw sx="100000" sy="100000" kx="0" ky="0" algn="bl" rotWithShape="0" blurRad="50800" dist="25400" dir="5400000">
              <a:srgbClr val="9DB8A8">
                <a:alpha val="35000"/>
              </a:srgbClr>
            </a:outerShdw>
          </a:effectLst>
        </p:spPr>
      </p:sp>
      <p:sp>
        <p:nvSpPr>
          <p:cNvPr id="18" name="Text 14"/>
          <p:cNvSpPr txBox="1"/>
          <p:nvPr/>
        </p:nvSpPr>
        <p:spPr>
          <a:xfrm>
            <a:off x="6492240" y="4919472"/>
            <a:ext cx="5029200" cy="1234440"/>
          </a:xfrm>
          <a:prstGeom prst="rect">
            <a:avLst/>
          </a:prstGeom>
          <a:noFill/>
          <a:ln/>
        </p:spPr>
        <p:txBody>
          <a:bodyPr wrap="square" lIns="635" tIns="635" rIns="635" bIns="635" rtlCol="0" anchor="t"/>
          <a:lstStyle/>
          <a:p>
            <a:pPr indent="0" marL="0">
              <a:buNone/>
            </a:pPr>
            <a:r>
              <a:rPr lang="en-US" sz="1400" dirty="0">
                <a:solidFill>
                  <a:schemeClr val="tx1"/>
                </a:solidFill>
              </a:rPr>
              <a:t>Forced on every prompt, Stage C lowers task intent (0.886 → 0.769), so it stays a fallback. Its category is only a suggestion: the UI asks the user.</a:t>
            </a:r>
            <a:endParaRPr lang="en-US" sz="1400" dirty="0"/>
          </a:p>
        </p:txBody>
      </p:sp>
      <p:sp>
        <p:nvSpPr>
          <p:cNvPr id="25" name="Slide Number Placeholder 0"/>
          <p:cNvSpPr>
            <a:spLocks noGrp="1"/>
          </p:cNvSpPr>
          <p:nvPr>
            <p:ph type="sldNum" sz="quarter" idx="4294967295"/>
          </p:nvPr>
        </p:nvSpPr>
        <p:spPr>
          <a:xfrm>
            <a:off x="1133856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580"/>
                </a:solidFil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1" type="title" hasCustomPrompt="1"/>
          </p:nvPr>
        </p:nvSpPr>
        <p:spPr>
          <a:xfrm>
            <a:off x="1188720" y="228600"/>
            <a:ext cx="9966960" cy="731520"/>
          </a:xfrm>
          <a:prstGeom prst="rect">
            <a:avLst/>
          </a:prstGeom>
          <a:noFill/>
          <a:ln/>
        </p:spPr>
        <p:txBody>
          <a:bodyPr wrap="square" lIns="0" tIns="0" rIns="0" bIns="0" rtlCol="0" anchor="ctr"/>
          <a:lstStyle/>
          <a:p>
            <a:pPr algn="l" indent="0" marL="0">
              <a:buNone/>
            </a:pPr>
            <a:r>
              <a:rPr lang="en-US" sz="3000" b="1" dirty="0">
                <a:solidFill>
                  <a:schemeClr val="tx2"/>
                </a:solidFill>
                <a:latin typeface="Arial" pitchFamily="34" charset="0"/>
                <a:ea typeface="Arial" pitchFamily="34" charset="-122"/>
                <a:cs typeface="Arial" pitchFamily="34" charset="-120"/>
              </a:rPr>
              <a:t>IR, renderers, attachments and image mode</a:t>
            </a:r>
            <a:endParaRPr lang="en-US" sz="3000" dirty="0"/>
          </a:p>
        </p:txBody>
      </p:sp>
      <p:sp>
        <p:nvSpPr>
          <p:cNvPr id="4" name="Shape 1"/>
          <p:cNvSpPr/>
          <p:nvPr/>
        </p:nvSpPr>
        <p:spPr>
          <a:xfrm>
            <a:off x="457200" y="1280160"/>
            <a:ext cx="2377440" cy="3108960"/>
          </a:xfrm>
          <a:prstGeom prst="roundRect">
            <a:avLst>
              <a:gd name="adj" fmla="val 4615"/>
            </a:avLst>
          </a:prstGeom>
          <a:solidFill>
            <a:schemeClr val="bg1"/>
          </a:solidFill>
          <a:ln w="9525">
            <a:solidFill>
              <a:srgbClr val="6FA287"/>
            </a:solidFill>
            <a:prstDash val="solid"/>
          </a:ln>
          <a:effectLst>
            <a:outerShdw sx="100000" sy="100000" kx="0" ky="0" algn="bl" rotWithShape="0" blurRad="50800" dist="25400" dir="5400000">
              <a:srgbClr val="9DB8A8">
                <a:alpha val="35000"/>
              </a:srgbClr>
            </a:outerShdw>
          </a:effectLst>
        </p:spPr>
      </p:sp>
      <p:sp>
        <p:nvSpPr>
          <p:cNvPr id="5" name="Text 2"/>
          <p:cNvSpPr txBox="1"/>
          <p:nvPr/>
        </p:nvSpPr>
        <p:spPr>
          <a:xfrm>
            <a:off x="566928" y="1353312"/>
            <a:ext cx="2103120" cy="365760"/>
          </a:xfrm>
          <a:prstGeom prst="rect">
            <a:avLst/>
          </a:prstGeom>
          <a:noFill/>
          <a:ln/>
        </p:spPr>
        <p:txBody>
          <a:bodyPr wrap="square" lIns="635" tIns="635" rIns="635" bIns="635" rtlCol="0" anchor="t"/>
          <a:lstStyle/>
          <a:p>
            <a:pPr indent="0" marL="0">
              <a:buNone/>
            </a:pPr>
            <a:r>
              <a:rPr lang="en-US" sz="1700" b="1" dirty="0">
                <a:solidFill>
                  <a:schemeClr val="tx2"/>
                </a:solidFill>
              </a:rPr>
              <a:t>Claude</a:t>
            </a:r>
            <a:endParaRPr lang="en-US" sz="1700" dirty="0"/>
          </a:p>
        </p:txBody>
      </p:sp>
      <p:sp>
        <p:nvSpPr>
          <p:cNvPr id="6" name="Text 3"/>
          <p:cNvSpPr txBox="1"/>
          <p:nvPr/>
        </p:nvSpPr>
        <p:spPr>
          <a:xfrm>
            <a:off x="566928" y="1755648"/>
            <a:ext cx="2176272" cy="2560320"/>
          </a:xfrm>
          <a:prstGeom prst="rect">
            <a:avLst/>
          </a:prstGeom>
          <a:noFill/>
          <a:ln/>
        </p:spPr>
        <p:txBody>
          <a:bodyPr wrap="square" lIns="635" tIns="635" rIns="635" bIns="635" rtlCol="0" anchor="t"/>
          <a:lstStyle/>
          <a:p>
            <a:pPr indent="0" marL="0">
              <a:buNone/>
            </a:pPr>
            <a:r>
              <a:rPr lang="en-US" sz="1100" dirty="0">
                <a:solidFill>
                  <a:schemeClr val="tx1"/>
                </a:solidFill>
                <a:latin typeface="Courier New" pitchFamily="34" charset="0"/>
                <a:ea typeface="Courier New" pitchFamily="34" charset="-122"/>
                <a:cs typeface="Courier New" pitchFamily="34" charset="-120"/>
              </a:rPr>
              <a:t>&lt;task&gt;Write code to get all</a:t>
            </a:r>
            <a:endParaRPr lang="en-US" sz="1100" dirty="0"/>
          </a:p>
          <a:p>
            <a:pPr indent="0" marL="0">
              <a:buNone/>
            </a:pPr>
            <a:r>
              <a:rPr lang="en-US" sz="1100" dirty="0">
                <a:solidFill>
                  <a:schemeClr val="tx1"/>
                </a:solidFill>
                <a:latin typeface="Courier New" pitchFamily="34" charset="0"/>
                <a:ea typeface="Courier New" pitchFamily="34" charset="-122"/>
                <a:cs typeface="Courier New" pitchFamily="34" charset="-120"/>
              </a:rPr>
              <a:t>permutations of a string.&lt;/task&gt;</a:t>
            </a:r>
            <a:endParaRPr lang="en-US" sz="1100" dirty="0"/>
          </a:p>
          <a:p>
            <a:pPr indent="0" marL="0">
              <a:buNone/>
            </a:pPr>
            <a:r>
              <a:rPr lang="en-US" sz="1100" dirty="0">
                <a:solidFill>
                  <a:schemeClr val="tx1"/>
                </a:solidFill>
                <a:latin typeface="Courier New" pitchFamily="34" charset="0"/>
                <a:ea typeface="Courier New" pitchFamily="34" charset="-122"/>
                <a:cs typeface="Courier New" pitchFamily="34" charset="-120"/>
              </a:rPr>
              <a:t>&lt;constraints&gt;- Use Python.</a:t>
            </a:r>
            <a:endParaRPr lang="en-US" sz="1100" dirty="0"/>
          </a:p>
          <a:p>
            <a:pPr indent="0" marL="0">
              <a:buNone/>
            </a:pPr>
            <a:r>
              <a:rPr lang="en-US" sz="1100" dirty="0">
                <a:solidFill>
                  <a:schemeClr val="tx1"/>
                </a:solidFill>
                <a:latin typeface="Courier New" pitchFamily="34" charset="0"/>
                <a:ea typeface="Courier New" pitchFamily="34" charset="-122"/>
                <a:cs typeface="Courier New" pitchFamily="34" charset="-120"/>
              </a:rPr>
              <a:t>&lt;/constraints&gt;</a:t>
            </a:r>
            <a:endParaRPr lang="en-US" sz="1100" dirty="0"/>
          </a:p>
          <a:p>
            <a:pPr indent="0" marL="0">
              <a:buNone/>
            </a:pPr>
            <a:r>
              <a:rPr lang="en-US" sz="1100" dirty="0">
                <a:solidFill>
                  <a:schemeClr val="tx1"/>
                </a:solidFill>
                <a:latin typeface="Courier New" pitchFamily="34" charset="0"/>
                <a:ea typeface="Courier New" pitchFamily="34" charset="-122"/>
                <a:cs typeface="Courier New" pitchFamily="34" charset="-120"/>
              </a:rPr>
              <a:t>&lt;output_format&gt;Return only</a:t>
            </a:r>
            <a:endParaRPr lang="en-US" sz="1100" dirty="0"/>
          </a:p>
          <a:p>
            <a:pPr indent="0" marL="0">
              <a:buNone/>
            </a:pPr>
            <a:r>
              <a:rPr lang="en-US" sz="1100" dirty="0">
                <a:solidFill>
                  <a:schemeClr val="tx1"/>
                </a:solidFill>
                <a:latin typeface="Courier New" pitchFamily="34" charset="0"/>
                <a:ea typeface="Courier New" pitchFamily="34" charset="-122"/>
                <a:cs typeface="Courier New" pitchFamily="34" charset="-120"/>
              </a:rPr>
              <a:t>the code ...&lt;/output_format&gt;</a:t>
            </a:r>
            <a:endParaRPr lang="en-US" sz="1100" dirty="0"/>
          </a:p>
        </p:txBody>
      </p:sp>
      <p:sp>
        <p:nvSpPr>
          <p:cNvPr id="7" name="Shape 4"/>
          <p:cNvSpPr/>
          <p:nvPr/>
        </p:nvSpPr>
        <p:spPr>
          <a:xfrm>
            <a:off x="2971800" y="1280160"/>
            <a:ext cx="2377440" cy="3108960"/>
          </a:xfrm>
          <a:prstGeom prst="roundRect">
            <a:avLst>
              <a:gd name="adj" fmla="val 4615"/>
            </a:avLst>
          </a:prstGeom>
          <a:solidFill>
            <a:schemeClr val="bg1"/>
          </a:solidFill>
          <a:ln w="9525">
            <a:solidFill>
              <a:srgbClr val="6FA287"/>
            </a:solidFill>
            <a:prstDash val="solid"/>
          </a:ln>
          <a:effectLst>
            <a:outerShdw sx="100000" sy="100000" kx="0" ky="0" algn="bl" rotWithShape="0" blurRad="50800" dist="25400" dir="5400000">
              <a:srgbClr val="9DB8A8">
                <a:alpha val="35000"/>
              </a:srgbClr>
            </a:outerShdw>
          </a:effectLst>
        </p:spPr>
      </p:sp>
      <p:sp>
        <p:nvSpPr>
          <p:cNvPr id="8" name="Text 5"/>
          <p:cNvSpPr txBox="1"/>
          <p:nvPr/>
        </p:nvSpPr>
        <p:spPr>
          <a:xfrm>
            <a:off x="3081528" y="1353312"/>
            <a:ext cx="2103120" cy="365760"/>
          </a:xfrm>
          <a:prstGeom prst="rect">
            <a:avLst/>
          </a:prstGeom>
          <a:noFill/>
          <a:ln/>
        </p:spPr>
        <p:txBody>
          <a:bodyPr wrap="square" lIns="635" tIns="635" rIns="635" bIns="635" rtlCol="0" anchor="t"/>
          <a:lstStyle/>
          <a:p>
            <a:pPr indent="0" marL="0">
              <a:buNone/>
            </a:pPr>
            <a:r>
              <a:rPr lang="en-US" sz="1700" b="1" dirty="0">
                <a:solidFill>
                  <a:schemeClr val="tx2"/>
                </a:solidFill>
              </a:rPr>
              <a:t>GPT</a:t>
            </a:r>
            <a:endParaRPr lang="en-US" sz="1700" dirty="0"/>
          </a:p>
        </p:txBody>
      </p:sp>
      <p:sp>
        <p:nvSpPr>
          <p:cNvPr id="9" name="Text 6"/>
          <p:cNvSpPr txBox="1"/>
          <p:nvPr/>
        </p:nvSpPr>
        <p:spPr>
          <a:xfrm>
            <a:off x="3081528" y="1755648"/>
            <a:ext cx="2176272" cy="2560320"/>
          </a:xfrm>
          <a:prstGeom prst="rect">
            <a:avLst/>
          </a:prstGeom>
          <a:noFill/>
          <a:ln/>
        </p:spPr>
        <p:txBody>
          <a:bodyPr wrap="square" lIns="635" tIns="635" rIns="635" bIns="635" rtlCol="0" anchor="t"/>
          <a:lstStyle/>
          <a:p>
            <a:pPr indent="0" marL="0">
              <a:buNone/>
            </a:pPr>
            <a:r>
              <a:rPr lang="en-US" sz="1100" dirty="0">
                <a:solidFill>
                  <a:schemeClr val="tx1"/>
                </a:solidFill>
                <a:latin typeface="Courier New" pitchFamily="34" charset="0"/>
                <a:ea typeface="Courier New" pitchFamily="34" charset="-122"/>
                <a:cs typeface="Courier New" pitchFamily="34" charset="-120"/>
              </a:rPr>
              <a:t>### Task</a:t>
            </a:r>
            <a:endParaRPr lang="en-US" sz="1100" dirty="0"/>
          </a:p>
          <a:p>
            <a:pPr indent="0" marL="0">
              <a:buNone/>
            </a:pPr>
            <a:r>
              <a:rPr lang="en-US" sz="1100" dirty="0">
                <a:solidFill>
                  <a:schemeClr val="tx1"/>
                </a:solidFill>
                <a:latin typeface="Courier New" pitchFamily="34" charset="0"/>
                <a:ea typeface="Courier New" pitchFamily="34" charset="-122"/>
                <a:cs typeface="Courier New" pitchFamily="34" charset="-120"/>
              </a:rPr>
              <a:t>Write code to get all</a:t>
            </a:r>
            <a:endParaRPr lang="en-US" sz="1100" dirty="0"/>
          </a:p>
          <a:p>
            <a:pPr indent="0" marL="0">
              <a:buNone/>
            </a:pPr>
            <a:r>
              <a:rPr lang="en-US" sz="1100" dirty="0">
                <a:solidFill>
                  <a:schemeClr val="tx1"/>
                </a:solidFill>
                <a:latin typeface="Courier New" pitchFamily="34" charset="0"/>
                <a:ea typeface="Courier New" pitchFamily="34" charset="-122"/>
                <a:cs typeface="Courier New" pitchFamily="34" charset="-120"/>
              </a:rPr>
              <a:t>permutations of a string.</a:t>
            </a:r>
            <a:endParaRPr lang="en-US" sz="1100" dirty="0"/>
          </a:p>
          <a:p>
            <a:pPr indent="0" marL="0">
              <a:buNone/>
            </a:pPr>
            <a:r>
              <a:rPr lang="en-US" sz="1100" dirty="0">
                <a:solidFill>
                  <a:schemeClr val="tx1"/>
                </a:solidFill>
                <a:latin typeface="Courier New" pitchFamily="34" charset="0"/>
                <a:ea typeface="Courier New" pitchFamily="34" charset="-122"/>
                <a:cs typeface="Courier New" pitchFamily="34" charset="-120"/>
              </a:rPr>
              <a:t>### Constraints</a:t>
            </a:r>
            <a:endParaRPr lang="en-US" sz="1100" dirty="0"/>
          </a:p>
          <a:p>
            <a:pPr indent="0" marL="0">
              <a:buNone/>
            </a:pPr>
            <a:r>
              <a:rPr lang="en-US" sz="1100" dirty="0">
                <a:solidFill>
                  <a:schemeClr val="tx1"/>
                </a:solidFill>
                <a:latin typeface="Courier New" pitchFamily="34" charset="0"/>
                <a:ea typeface="Courier New" pitchFamily="34" charset="-122"/>
                <a:cs typeface="Courier New" pitchFamily="34" charset="-120"/>
              </a:rPr>
              <a:t>- Use Python.</a:t>
            </a:r>
            <a:endParaRPr lang="en-US" sz="1100" dirty="0"/>
          </a:p>
          <a:p>
            <a:pPr indent="0" marL="0">
              <a:buNone/>
            </a:pPr>
            <a:r>
              <a:rPr lang="en-US" sz="1100" dirty="0">
                <a:solidFill>
                  <a:schemeClr val="tx1"/>
                </a:solidFill>
                <a:latin typeface="Courier New" pitchFamily="34" charset="0"/>
                <a:ea typeface="Courier New" pitchFamily="34" charset="-122"/>
                <a:cs typeface="Courier New" pitchFamily="34" charset="-120"/>
              </a:rPr>
              <a:t>### Output format</a:t>
            </a:r>
            <a:endParaRPr lang="en-US" sz="1100" dirty="0"/>
          </a:p>
          <a:p>
            <a:pPr indent="0" marL="0">
              <a:buNone/>
            </a:pPr>
            <a:r>
              <a:rPr lang="en-US" sz="1100" dirty="0">
                <a:solidFill>
                  <a:schemeClr val="tx1"/>
                </a:solidFill>
                <a:latin typeface="Courier New" pitchFamily="34" charset="0"/>
                <a:ea typeface="Courier New" pitchFamily="34" charset="-122"/>
                <a:cs typeface="Courier New" pitchFamily="34" charset="-120"/>
              </a:rPr>
              <a:t>Return only the code ...</a:t>
            </a:r>
            <a:endParaRPr lang="en-US" sz="1100" dirty="0"/>
          </a:p>
        </p:txBody>
      </p:sp>
      <p:sp>
        <p:nvSpPr>
          <p:cNvPr id="10" name="Shape 7"/>
          <p:cNvSpPr/>
          <p:nvPr/>
        </p:nvSpPr>
        <p:spPr>
          <a:xfrm>
            <a:off x="5486400" y="1280160"/>
            <a:ext cx="2377440" cy="3108960"/>
          </a:xfrm>
          <a:prstGeom prst="roundRect">
            <a:avLst>
              <a:gd name="adj" fmla="val 4615"/>
            </a:avLst>
          </a:prstGeom>
          <a:solidFill>
            <a:schemeClr val="bg1"/>
          </a:solidFill>
          <a:ln w="9525">
            <a:solidFill>
              <a:srgbClr val="6FA287"/>
            </a:solidFill>
            <a:prstDash val="solid"/>
          </a:ln>
          <a:effectLst>
            <a:outerShdw sx="100000" sy="100000" kx="0" ky="0" algn="bl" rotWithShape="0" blurRad="50800" dist="25400" dir="5400000">
              <a:srgbClr val="9DB8A8">
                <a:alpha val="35000"/>
              </a:srgbClr>
            </a:outerShdw>
          </a:effectLst>
        </p:spPr>
      </p:sp>
      <p:sp>
        <p:nvSpPr>
          <p:cNvPr id="11" name="Text 8"/>
          <p:cNvSpPr txBox="1"/>
          <p:nvPr/>
        </p:nvSpPr>
        <p:spPr>
          <a:xfrm>
            <a:off x="5596128" y="1353312"/>
            <a:ext cx="2103120" cy="365760"/>
          </a:xfrm>
          <a:prstGeom prst="rect">
            <a:avLst/>
          </a:prstGeom>
          <a:noFill/>
          <a:ln/>
        </p:spPr>
        <p:txBody>
          <a:bodyPr wrap="square" lIns="635" tIns="635" rIns="635" bIns="635" rtlCol="0" anchor="t"/>
          <a:lstStyle/>
          <a:p>
            <a:pPr indent="0" marL="0">
              <a:buNone/>
            </a:pPr>
            <a:r>
              <a:rPr lang="en-US" sz="1700" b="1" dirty="0">
                <a:solidFill>
                  <a:schemeClr val="tx2"/>
                </a:solidFill>
              </a:rPr>
              <a:t>Gemini</a:t>
            </a:r>
            <a:endParaRPr lang="en-US" sz="1700" dirty="0"/>
          </a:p>
        </p:txBody>
      </p:sp>
      <p:sp>
        <p:nvSpPr>
          <p:cNvPr id="12" name="Text 9"/>
          <p:cNvSpPr txBox="1"/>
          <p:nvPr/>
        </p:nvSpPr>
        <p:spPr>
          <a:xfrm>
            <a:off x="5596128" y="1755648"/>
            <a:ext cx="2176272" cy="2560320"/>
          </a:xfrm>
          <a:prstGeom prst="rect">
            <a:avLst/>
          </a:prstGeom>
          <a:noFill/>
          <a:ln/>
        </p:spPr>
        <p:txBody>
          <a:bodyPr wrap="square" lIns="635" tIns="635" rIns="635" bIns="635" rtlCol="0" anchor="t"/>
          <a:lstStyle/>
          <a:p>
            <a:pPr indent="0" marL="0">
              <a:buNone/>
            </a:pPr>
            <a:r>
              <a:rPr lang="en-US" sz="1100" dirty="0">
                <a:solidFill>
                  <a:schemeClr val="tx1"/>
                </a:solidFill>
                <a:latin typeface="Courier New" pitchFamily="34" charset="0"/>
                <a:ea typeface="Courier New" pitchFamily="34" charset="-122"/>
                <a:cs typeface="Courier New" pitchFamily="34" charset="-120"/>
              </a:rPr>
              <a:t>Task: Write code to get all</a:t>
            </a:r>
            <a:endParaRPr lang="en-US" sz="1100" dirty="0"/>
          </a:p>
          <a:p>
            <a:pPr indent="0" marL="0">
              <a:buNone/>
            </a:pPr>
            <a:r>
              <a:rPr lang="en-US" sz="1100" dirty="0">
                <a:solidFill>
                  <a:schemeClr val="tx1"/>
                </a:solidFill>
                <a:latin typeface="Courier New" pitchFamily="34" charset="0"/>
                <a:ea typeface="Courier New" pitchFamily="34" charset="-122"/>
                <a:cs typeface="Courier New" pitchFamily="34" charset="-120"/>
              </a:rPr>
              <a:t>permutations of a string.</a:t>
            </a:r>
            <a:endParaRPr lang="en-US" sz="1100" dirty="0"/>
          </a:p>
          <a:p>
            <a:pPr indent="0" marL="0">
              <a:buNone/>
            </a:pPr>
            <a:r>
              <a:rPr lang="en-US" sz="1100" dirty="0">
                <a:solidFill>
                  <a:schemeClr val="tx1"/>
                </a:solidFill>
                <a:latin typeface="Courier New" pitchFamily="34" charset="0"/>
                <a:ea typeface="Courier New" pitchFamily="34" charset="-122"/>
                <a:cs typeface="Courier New" pitchFamily="34" charset="-120"/>
              </a:rPr>
              <a:t>Constraints: Use Python.</a:t>
            </a:r>
            <a:endParaRPr lang="en-US" sz="1100" dirty="0"/>
          </a:p>
          <a:p>
            <a:pPr indent="0" marL="0">
              <a:buNone/>
            </a:pPr>
            <a:r>
              <a:rPr lang="en-US" sz="1100" dirty="0">
                <a:solidFill>
                  <a:schemeClr val="tx1"/>
                </a:solidFill>
                <a:latin typeface="Courier New" pitchFamily="34" charset="0"/>
                <a:ea typeface="Courier New" pitchFamily="34" charset="-122"/>
                <a:cs typeface="Courier New" pitchFamily="34" charset="-120"/>
              </a:rPr>
              <a:t>Output format: Return only</a:t>
            </a:r>
            <a:endParaRPr lang="en-US" sz="1100" dirty="0"/>
          </a:p>
          <a:p>
            <a:pPr indent="0" marL="0">
              <a:buNone/>
            </a:pPr>
            <a:r>
              <a:rPr lang="en-US" sz="1100" dirty="0">
                <a:solidFill>
                  <a:schemeClr val="tx1"/>
                </a:solidFill>
                <a:latin typeface="Courier New" pitchFamily="34" charset="0"/>
                <a:ea typeface="Courier New" pitchFamily="34" charset="-122"/>
                <a:cs typeface="Courier New" pitchFamily="34" charset="-120"/>
              </a:rPr>
              <a:t>the code ...</a:t>
            </a:r>
            <a:endParaRPr lang="en-US" sz="1100" dirty="0"/>
          </a:p>
        </p:txBody>
      </p:sp>
      <p:sp>
        <p:nvSpPr>
          <p:cNvPr id="13" name="Text 10"/>
          <p:cNvSpPr txBox="1"/>
          <p:nvPr/>
        </p:nvSpPr>
        <p:spPr>
          <a:xfrm>
            <a:off x="457200" y="4480560"/>
            <a:ext cx="7406640" cy="365760"/>
          </a:xfrm>
          <a:prstGeom prst="rect">
            <a:avLst/>
          </a:prstGeom>
          <a:noFill/>
          <a:ln/>
        </p:spPr>
        <p:txBody>
          <a:bodyPr wrap="square" lIns="635" tIns="635" rIns="635" bIns="635" rtlCol="0" anchor="t"/>
          <a:lstStyle/>
          <a:p>
            <a:pPr indent="0" marL="0">
              <a:buNone/>
            </a:pPr>
            <a:r>
              <a:rPr lang="en-US" sz="1400" i="1" dirty="0">
                <a:solidFill>
                  <a:schemeClr val="tx2"/>
                </a:solidFill>
              </a:rPr>
              <a:t>Same content, layout per model · every rendering parsed back in the tests</a:t>
            </a:r>
            <a:endParaRPr lang="en-US" sz="1400" dirty="0"/>
          </a:p>
        </p:txBody>
      </p:sp>
      <p:sp>
        <p:nvSpPr>
          <p:cNvPr id="14" name="Shape 11"/>
          <p:cNvSpPr/>
          <p:nvPr/>
        </p:nvSpPr>
        <p:spPr>
          <a:xfrm>
            <a:off x="457200" y="4937760"/>
            <a:ext cx="7406640" cy="1280160"/>
          </a:xfrm>
          <a:prstGeom prst="roundRect">
            <a:avLst>
              <a:gd name="adj" fmla="val 8571"/>
            </a:avLst>
          </a:prstGeom>
          <a:solidFill>
            <a:schemeClr val="bg1"/>
          </a:solidFill>
          <a:ln w="9525">
            <a:solidFill>
              <a:srgbClr val="6FA287"/>
            </a:solidFill>
            <a:prstDash val="solid"/>
          </a:ln>
          <a:effectLst>
            <a:outerShdw sx="100000" sy="100000" kx="0" ky="0" algn="bl" rotWithShape="0" blurRad="50800" dist="25400" dir="5400000">
              <a:srgbClr val="9DB8A8">
                <a:alpha val="35000"/>
              </a:srgbClr>
            </a:outerShdw>
          </a:effectLst>
        </p:spPr>
      </p:sp>
      <p:sp>
        <p:nvSpPr>
          <p:cNvPr id="15" name="Text 12"/>
          <p:cNvSpPr txBox="1"/>
          <p:nvPr/>
        </p:nvSpPr>
        <p:spPr>
          <a:xfrm>
            <a:off x="594360" y="5029200"/>
            <a:ext cx="7132320" cy="1097280"/>
          </a:xfrm>
          <a:prstGeom prst="rect">
            <a:avLst/>
          </a:prstGeom>
          <a:noFill/>
          <a:ln/>
        </p:spPr>
        <p:txBody>
          <a:bodyPr wrap="square" lIns="635" tIns="635" rIns="635" bIns="635" rtlCol="0" anchor="ctr"/>
          <a:lstStyle/>
          <a:p>
            <a:pPr indent="0" marL="0">
              <a:buNone/>
            </a:pPr>
            <a:r>
              <a:rPr lang="en-US" sz="1500" b="1" dirty="0">
                <a:solidFill>
                  <a:schemeClr val="tx2"/>
                </a:solidFill>
              </a:rPr>
              <a:t>Attachments  </a:t>
            </a:r>
            <a:pPr indent="0" marL="0">
              <a:buNone/>
            </a:pPr>
            <a:r>
              <a:rPr lang="en-US" sz="1500" dirty="0">
                <a:solidFill>
                  <a:schemeClr val="tx1"/>
                </a:solidFill>
              </a:rPr>
              <a:t>B09-B15: image, PDF, PPTX, DOCX, spreadsheet, code, other; fire only with an attachment · </a:t>
            </a:r>
            <a:pPr indent="0" marL="0">
              <a:buNone/>
            </a:pPr>
            <a:r>
              <a:rPr lang="en-US" sz="1500" b="1" dirty="0">
                <a:solidFill>
                  <a:schemeClr val="accent2"/>
                </a:solidFill>
              </a:rPr>
              <a:t>30/30</a:t>
            </a:r>
            <a:pPr indent="0" marL="0">
              <a:buNone/>
            </a:pPr>
            <a:r>
              <a:rPr lang="en-US" sz="1500" dirty="0">
                <a:solidFill>
                  <a:schemeClr val="tx1"/>
                </a:solidFill>
              </a:rPr>
              <a:t> hand-made prompts correct</a:t>
            </a:r>
            <a:endParaRPr lang="en-US" sz="1500" dirty="0"/>
          </a:p>
        </p:txBody>
      </p:sp>
      <p:sp>
        <p:nvSpPr>
          <p:cNvPr id="16" name="Shape 13"/>
          <p:cNvSpPr/>
          <p:nvPr/>
        </p:nvSpPr>
        <p:spPr>
          <a:xfrm>
            <a:off x="8138160" y="1280160"/>
            <a:ext cx="3566160" cy="4937760"/>
          </a:xfrm>
          <a:prstGeom prst="roundRect">
            <a:avLst>
              <a:gd name="adj" fmla="val 3077"/>
            </a:avLst>
          </a:prstGeom>
          <a:solidFill>
            <a:schemeClr val="bg1"/>
          </a:solidFill>
          <a:ln w="9525">
            <a:solidFill>
              <a:srgbClr val="6FA287"/>
            </a:solidFill>
            <a:prstDash val="solid"/>
          </a:ln>
          <a:effectLst>
            <a:outerShdw sx="100000" sy="100000" kx="0" ky="0" algn="bl" rotWithShape="0" blurRad="50800" dist="25400" dir="5400000">
              <a:srgbClr val="9DB8A8">
                <a:alpha val="35000"/>
              </a:srgbClr>
            </a:outerShdw>
          </a:effectLst>
        </p:spPr>
      </p:sp>
      <p:sp>
        <p:nvSpPr>
          <p:cNvPr id="17" name="Text 14"/>
          <p:cNvSpPr txBox="1"/>
          <p:nvPr/>
        </p:nvSpPr>
        <p:spPr>
          <a:xfrm>
            <a:off x="8275320" y="1371600"/>
            <a:ext cx="3291840" cy="685800"/>
          </a:xfrm>
          <a:prstGeom prst="rect">
            <a:avLst/>
          </a:prstGeom>
          <a:noFill/>
          <a:ln/>
        </p:spPr>
        <p:txBody>
          <a:bodyPr wrap="square" lIns="635" tIns="635" rIns="635" bIns="635" rtlCol="0" anchor="t"/>
          <a:lstStyle/>
          <a:p>
            <a:pPr indent="0" marL="0">
              <a:buNone/>
            </a:pPr>
            <a:r>
              <a:rPr lang="en-US" sz="1700" b="1" dirty="0">
                <a:solidFill>
                  <a:schemeClr val="tx2"/>
                </a:solidFill>
              </a:rPr>
              <a:t>Image mode (separate, user-selected)</a:t>
            </a:r>
            <a:endParaRPr lang="en-US" sz="1700" dirty="0"/>
          </a:p>
        </p:txBody>
      </p:sp>
      <p:sp>
        <p:nvSpPr>
          <p:cNvPr id="18" name="Text 15"/>
          <p:cNvSpPr txBox="1"/>
          <p:nvPr/>
        </p:nvSpPr>
        <p:spPr>
          <a:xfrm>
            <a:off x="8275320" y="2103120"/>
            <a:ext cx="3291840" cy="548640"/>
          </a:xfrm>
          <a:prstGeom prst="rect">
            <a:avLst/>
          </a:prstGeom>
          <a:noFill/>
          <a:ln/>
        </p:spPr>
        <p:txBody>
          <a:bodyPr wrap="square" lIns="635" tIns="635" rIns="635" bIns="635" rtlCol="0" anchor="t"/>
          <a:lstStyle/>
          <a:p>
            <a:pPr indent="0" marL="0">
              <a:buNone/>
            </a:pPr>
            <a:r>
              <a:rPr lang="en-US" sz="1300" dirty="0">
                <a:solidFill>
                  <a:schemeClr val="tx1"/>
                </a:solidFill>
              </a:rPr>
              <a:t>Held-out CLIP vs the user's prompt (30 prompts)</a:t>
            </a:r>
            <a:endParaRPr lang="en-US" sz="1300" dirty="0"/>
          </a:p>
        </p:txBody>
      </p:sp>
      <p:sp>
        <p:nvSpPr>
          <p:cNvPr id="19" name="Text 16"/>
          <p:cNvSpPr txBox="1"/>
          <p:nvPr/>
        </p:nvSpPr>
        <p:spPr>
          <a:xfrm>
            <a:off x="8275320" y="2697480"/>
            <a:ext cx="3291840" cy="822960"/>
          </a:xfrm>
          <a:prstGeom prst="rect">
            <a:avLst/>
          </a:prstGeom>
          <a:noFill/>
          <a:ln/>
        </p:spPr>
        <p:txBody>
          <a:bodyPr wrap="square" lIns="635" tIns="635" rIns="635" bIns="635" rtlCol="0" anchor="t"/>
          <a:lstStyle/>
          <a:p>
            <a:pPr indent="0" marL="0">
              <a:buNone/>
            </a:pPr>
            <a:r>
              <a:rPr lang="en-US" sz="1400" b="1" dirty="0">
                <a:solidFill>
                  <a:schemeClr val="tx1"/>
                </a:solidFill>
              </a:rPr>
              <a:t>original
</a:t>
            </a:r>
            <a:pPr indent="0" marL="0">
              <a:buNone/>
            </a:pPr>
            <a:r>
              <a:rPr lang="en-US" sz="1400" dirty="0">
                <a:solidFill>
                  <a:schemeClr val="tx1"/>
                </a:solidFill>
              </a:rPr>
              <a:t>33.08</a:t>
            </a:r>
            <a:endParaRPr lang="en-US" sz="1400" dirty="0"/>
          </a:p>
        </p:txBody>
      </p:sp>
      <p:sp>
        <p:nvSpPr>
          <p:cNvPr id="20" name="Text 17"/>
          <p:cNvSpPr txBox="1"/>
          <p:nvPr/>
        </p:nvSpPr>
        <p:spPr>
          <a:xfrm>
            <a:off x="8275320" y="3566160"/>
            <a:ext cx="3291840" cy="822960"/>
          </a:xfrm>
          <a:prstGeom prst="rect">
            <a:avLst/>
          </a:prstGeom>
          <a:noFill/>
          <a:ln/>
        </p:spPr>
        <p:txBody>
          <a:bodyPr wrap="square" lIns="635" tIns="635" rIns="635" bIns="635" rtlCol="0" anchor="t"/>
          <a:lstStyle/>
          <a:p>
            <a:pPr indent="0" marL="0">
              <a:buNone/>
            </a:pPr>
            <a:r>
              <a:rPr lang="en-US" sz="1400" b="1" dirty="0">
                <a:solidFill>
                  <a:schemeClr val="tx1"/>
                </a:solidFill>
              </a:rPr>
              <a:t>v1 defaults
</a:t>
            </a:r>
            <a:pPr indent="0" marL="0">
              <a:buNone/>
            </a:pPr>
            <a:r>
              <a:rPr lang="en-US" sz="1400" dirty="0">
                <a:solidFill>
                  <a:schemeClr val="tx1"/>
                </a:solidFill>
              </a:rPr>
              <a:t>30.78 (worse, p=0.043)</a:t>
            </a:r>
            <a:endParaRPr lang="en-US" sz="1400" dirty="0"/>
          </a:p>
        </p:txBody>
      </p:sp>
      <p:sp>
        <p:nvSpPr>
          <p:cNvPr id="21" name="Text 18"/>
          <p:cNvSpPr txBox="1"/>
          <p:nvPr/>
        </p:nvSpPr>
        <p:spPr>
          <a:xfrm>
            <a:off x="8275320" y="4434840"/>
            <a:ext cx="3291840" cy="822960"/>
          </a:xfrm>
          <a:prstGeom prst="rect">
            <a:avLst/>
          </a:prstGeom>
          <a:noFill/>
          <a:ln/>
        </p:spPr>
        <p:txBody>
          <a:bodyPr wrap="square" lIns="635" tIns="635" rIns="635" bIns="635" rtlCol="0" anchor="t"/>
          <a:lstStyle/>
          <a:p>
            <a:pPr indent="0" marL="0">
              <a:buNone/>
            </a:pPr>
            <a:r>
              <a:rPr lang="en-US" sz="1400" b="1" dirty="0">
                <a:solidFill>
                  <a:schemeClr val="tx1"/>
                </a:solidFill>
              </a:rPr>
              <a:t>v2 suggestions
</a:t>
            </a:r>
            <a:pPr indent="0" marL="0">
              <a:buNone/>
            </a:pPr>
            <a:r>
              <a:rPr lang="en-US" sz="1400" dirty="0">
                <a:solidFill>
                  <a:schemeClr val="tx1"/>
                </a:solidFill>
              </a:rPr>
              <a:t>32.77 (no sig. harm)</a:t>
            </a:r>
            <a:endParaRPr lang="en-US" sz="1400" dirty="0"/>
          </a:p>
        </p:txBody>
      </p:sp>
      <p:sp>
        <p:nvSpPr>
          <p:cNvPr id="22" name="Text 19"/>
          <p:cNvSpPr txBox="1"/>
          <p:nvPr/>
        </p:nvSpPr>
        <p:spPr>
          <a:xfrm>
            <a:off x="8275320" y="5394960"/>
            <a:ext cx="3291840" cy="640080"/>
          </a:xfrm>
          <a:prstGeom prst="rect">
            <a:avLst/>
          </a:prstGeom>
          <a:noFill/>
          <a:ln/>
        </p:spPr>
        <p:txBody>
          <a:bodyPr wrap="square" lIns="635" tIns="635" rIns="635" bIns="635" rtlCol="0" anchor="t"/>
          <a:lstStyle/>
          <a:p>
            <a:pPr indent="0" marL="0">
              <a:buNone/>
            </a:pPr>
            <a:r>
              <a:rPr lang="en-US" sz="1300" i="1" dirty="0">
                <a:solidFill>
                  <a:schemeClr val="tx1"/>
                </a:solidFill>
              </a:rPr>
              <a:t>Style kept in 12/12 styled prompts with v2</a:t>
            </a:r>
            <a:endParaRPr lang="en-US" sz="1300" dirty="0"/>
          </a:p>
        </p:txBody>
      </p:sp>
      <p:sp>
        <p:nvSpPr>
          <p:cNvPr id="25" name="Slide Number Placeholder 0"/>
          <p:cNvSpPr>
            <a:spLocks noGrp="1"/>
          </p:cNvSpPr>
          <p:nvPr>
            <p:ph type="sldNum" sz="quarter" idx="4294967295"/>
          </p:nvPr>
        </p:nvSpPr>
        <p:spPr>
          <a:xfrm>
            <a:off x="1133856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580"/>
                </a:solidFil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1" type="title" hasCustomPrompt="1"/>
          </p:nvPr>
        </p:nvSpPr>
        <p:spPr>
          <a:xfrm>
            <a:off x="1188720" y="228600"/>
            <a:ext cx="9966960" cy="731520"/>
          </a:xfrm>
          <a:prstGeom prst="rect">
            <a:avLst/>
          </a:prstGeom>
          <a:noFill/>
          <a:ln/>
        </p:spPr>
        <p:txBody>
          <a:bodyPr wrap="square" lIns="0" tIns="0" rIns="0" bIns="0" rtlCol="0" anchor="ctr"/>
          <a:lstStyle/>
          <a:p>
            <a:pPr algn="l" indent="0" marL="0">
              <a:buNone/>
            </a:pPr>
            <a:r>
              <a:rPr lang="en-US" sz="3000" b="1" dirty="0">
                <a:solidFill>
                  <a:schemeClr val="tx2"/>
                </a:solidFill>
                <a:latin typeface="Arial" pitchFamily="34" charset="0"/>
                <a:ea typeface="Arial" pitchFamily="34" charset="-122"/>
                <a:cs typeface="Arial" pitchFamily="34" charset="-120"/>
              </a:rPr>
              <a:t>Web app and Compare on a real model</a:t>
            </a:r>
            <a:endParaRPr lang="en-US" sz="3000" dirty="0"/>
          </a:p>
        </p:txBody>
      </p:sp>
      <p:pic>
        <p:nvPicPr>
          <p:cNvPr id="4" name="Image 0" descr="/tmp/claude-1000/-mnt-SharedDrive-Projects-PromptOpt/a85f5363-f7d7-4f63-8a3a-b7b1874853cc/scratchpad/fig/ui_compare-result.png">    </p:cNvPr>
          <p:cNvPicPr>
            <a:picLocks noChangeAspect="1"/>
          </p:cNvPicPr>
          <p:nvPr/>
        </p:nvPicPr>
        <p:blipFill>
          <a:blip r:embed="rId1"/>
          <a:srcRect l="0" r="0" t="0" b="2703"/>
          <a:stretch/>
        </p:blipFill>
        <p:spPr>
          <a:xfrm>
            <a:off x="457200" y="1188720"/>
            <a:ext cx="5120640" cy="5120640"/>
          </a:xfrm>
          <a:prstGeom prst="rect">
            <a:avLst/>
          </a:prstGeom>
        </p:spPr>
      </p:pic>
      <p:sp>
        <p:nvSpPr>
          <p:cNvPr id="5" name="Shape 1"/>
          <p:cNvSpPr/>
          <p:nvPr/>
        </p:nvSpPr>
        <p:spPr>
          <a:xfrm>
            <a:off x="5943600" y="1280160"/>
            <a:ext cx="2743200" cy="1600200"/>
          </a:xfrm>
          <a:prstGeom prst="roundRect">
            <a:avLst>
              <a:gd name="adj" fmla="val 6857"/>
            </a:avLst>
          </a:prstGeom>
          <a:solidFill>
            <a:schemeClr val="bg1"/>
          </a:solidFill>
          <a:ln w="9525">
            <a:solidFill>
              <a:srgbClr val="6FA287"/>
            </a:solidFill>
            <a:prstDash val="solid"/>
          </a:ln>
          <a:effectLst>
            <a:outerShdw sx="100000" sy="100000" kx="0" ky="0" algn="bl" rotWithShape="0" blurRad="50800" dist="25400" dir="5400000">
              <a:srgbClr val="9DB8A8">
                <a:alpha val="35000"/>
              </a:srgbClr>
            </a:outerShdw>
          </a:effectLst>
        </p:spPr>
      </p:sp>
      <p:sp>
        <p:nvSpPr>
          <p:cNvPr id="6" name="Text 2"/>
          <p:cNvSpPr txBox="1"/>
          <p:nvPr/>
        </p:nvSpPr>
        <p:spPr>
          <a:xfrm>
            <a:off x="6080760" y="1417320"/>
            <a:ext cx="2468880" cy="868680"/>
          </a:xfrm>
          <a:prstGeom prst="rect">
            <a:avLst/>
          </a:prstGeom>
          <a:noFill/>
          <a:ln/>
        </p:spPr>
        <p:txBody>
          <a:bodyPr wrap="square" lIns="635" tIns="635" rIns="635" bIns="635" rtlCol="0" anchor="ctr"/>
          <a:lstStyle/>
          <a:p>
            <a:pPr algn="ctr" indent="0" marL="0">
              <a:buNone/>
            </a:pPr>
            <a:r>
              <a:rPr lang="en-US" sz="4000" b="1" dirty="0">
                <a:solidFill>
                  <a:schemeClr val="tx2"/>
                </a:solidFill>
                <a:latin typeface="Arial" pitchFamily="34" charset="0"/>
                <a:ea typeface="Arial" pitchFamily="34" charset="-122"/>
                <a:cs typeface="Arial" pitchFamily="34" charset="-120"/>
              </a:rPr>
              <a:t>-67.7%</a:t>
            </a:r>
            <a:endParaRPr lang="en-US" sz="4000" dirty="0"/>
          </a:p>
        </p:txBody>
      </p:sp>
      <p:sp>
        <p:nvSpPr>
          <p:cNvPr id="7" name="Text 3"/>
          <p:cNvSpPr txBox="1"/>
          <p:nvPr/>
        </p:nvSpPr>
        <p:spPr>
          <a:xfrm>
            <a:off x="6080760" y="2267712"/>
            <a:ext cx="2468880" cy="548640"/>
          </a:xfrm>
          <a:prstGeom prst="rect">
            <a:avLst/>
          </a:prstGeom>
          <a:noFill/>
          <a:ln/>
        </p:spPr>
        <p:txBody>
          <a:bodyPr wrap="square" lIns="635" tIns="635" rIns="635" bIns="635" rtlCol="0" anchor="t"/>
          <a:lstStyle/>
          <a:p>
            <a:pPr algn="ctr" indent="0" marL="0">
              <a:buNone/>
            </a:pPr>
            <a:r>
              <a:rPr lang="en-US" sz="1300" dirty="0">
                <a:solidFill>
                  <a:schemeClr val="tx1"/>
                </a:solidFill>
              </a:rPr>
              <a:t>total tokens: 768 → 248 (live, gpt-oss-120b)</a:t>
            </a:r>
            <a:endParaRPr lang="en-US" sz="1300" dirty="0"/>
          </a:p>
        </p:txBody>
      </p:sp>
      <p:sp>
        <p:nvSpPr>
          <p:cNvPr id="8" name="Shape 4"/>
          <p:cNvSpPr/>
          <p:nvPr/>
        </p:nvSpPr>
        <p:spPr>
          <a:xfrm>
            <a:off x="8915400" y="1280160"/>
            <a:ext cx="2743200" cy="1600200"/>
          </a:xfrm>
          <a:prstGeom prst="roundRect">
            <a:avLst>
              <a:gd name="adj" fmla="val 6857"/>
            </a:avLst>
          </a:prstGeom>
          <a:solidFill>
            <a:schemeClr val="bg1"/>
          </a:solidFill>
          <a:ln w="9525">
            <a:solidFill>
              <a:srgbClr val="6FA287"/>
            </a:solidFill>
            <a:prstDash val="solid"/>
          </a:ln>
          <a:effectLst>
            <a:outerShdw sx="100000" sy="100000" kx="0" ky="0" algn="bl" rotWithShape="0" blurRad="50800" dist="25400" dir="5400000">
              <a:srgbClr val="9DB8A8">
                <a:alpha val="35000"/>
              </a:srgbClr>
            </a:outerShdw>
          </a:effectLst>
        </p:spPr>
      </p:sp>
      <p:sp>
        <p:nvSpPr>
          <p:cNvPr id="9" name="Text 5"/>
          <p:cNvSpPr txBox="1"/>
          <p:nvPr/>
        </p:nvSpPr>
        <p:spPr>
          <a:xfrm>
            <a:off x="9052560" y="1417320"/>
            <a:ext cx="2468880" cy="868680"/>
          </a:xfrm>
          <a:prstGeom prst="rect">
            <a:avLst/>
          </a:prstGeom>
          <a:noFill/>
          <a:ln/>
        </p:spPr>
        <p:txBody>
          <a:bodyPr wrap="square" lIns="635" tIns="635" rIns="635" bIns="635" rtlCol="0" anchor="ctr"/>
          <a:lstStyle/>
          <a:p>
            <a:pPr algn="ctr" indent="0" marL="0">
              <a:buNone/>
            </a:pPr>
            <a:r>
              <a:rPr lang="en-US" sz="4000" b="1" dirty="0">
                <a:solidFill>
                  <a:schemeClr val="tx2"/>
                </a:solidFill>
                <a:latin typeface="Arial" pitchFamily="34" charset="0"/>
                <a:ea typeface="Arial" pitchFamily="34" charset="-122"/>
                <a:cs typeface="Arial" pitchFamily="34" charset="-120"/>
              </a:rPr>
              <a:t>6/6 = 6/6</a:t>
            </a:r>
            <a:endParaRPr lang="en-US" sz="4000" dirty="0"/>
          </a:p>
        </p:txBody>
      </p:sp>
      <p:sp>
        <p:nvSpPr>
          <p:cNvPr id="10" name="Text 6"/>
          <p:cNvSpPr txBox="1"/>
          <p:nvPr/>
        </p:nvSpPr>
        <p:spPr>
          <a:xfrm>
            <a:off x="9052560" y="2267712"/>
            <a:ext cx="2468880" cy="548640"/>
          </a:xfrm>
          <a:prstGeom prst="rect">
            <a:avLst/>
          </a:prstGeom>
          <a:noFill/>
          <a:ln/>
        </p:spPr>
        <p:txBody>
          <a:bodyPr wrap="square" lIns="635" tIns="635" rIns="635" bIns="635" rtlCol="0" anchor="t"/>
          <a:lstStyle/>
          <a:p>
            <a:pPr algn="ctr" indent="0" marL="0">
              <a:buNone/>
            </a:pPr>
            <a:r>
              <a:rPr lang="en-US" sz="1300" dirty="0">
                <a:solidFill>
                  <a:schemeClr val="tx1"/>
                </a:solidFill>
              </a:rPr>
              <a:t>sandbox tests pass for both answers</a:t>
            </a:r>
            <a:endParaRPr lang="en-US" sz="1300" dirty="0"/>
          </a:p>
        </p:txBody>
      </p:sp>
      <p:sp>
        <p:nvSpPr>
          <p:cNvPr id="11" name="Shape 7"/>
          <p:cNvSpPr/>
          <p:nvPr/>
        </p:nvSpPr>
        <p:spPr>
          <a:xfrm>
            <a:off x="5943600" y="3108960"/>
            <a:ext cx="5715000" cy="3108960"/>
          </a:xfrm>
          <a:prstGeom prst="roundRect">
            <a:avLst>
              <a:gd name="adj" fmla="val 3529"/>
            </a:avLst>
          </a:prstGeom>
          <a:solidFill>
            <a:schemeClr val="bg1"/>
          </a:solidFill>
          <a:ln w="9525">
            <a:solidFill>
              <a:srgbClr val="6FA287"/>
            </a:solidFill>
            <a:prstDash val="solid"/>
          </a:ln>
          <a:effectLst>
            <a:outerShdw sx="100000" sy="100000" kx="0" ky="0" algn="bl" rotWithShape="0" blurRad="50800" dist="25400" dir="5400000">
              <a:srgbClr val="9DB8A8">
                <a:alpha val="35000"/>
              </a:srgbClr>
            </a:outerShdw>
          </a:effectLst>
        </p:spPr>
      </p:sp>
      <p:sp>
        <p:nvSpPr>
          <p:cNvPr id="12" name="Text 8"/>
          <p:cNvSpPr txBox="1"/>
          <p:nvPr/>
        </p:nvSpPr>
        <p:spPr>
          <a:xfrm>
            <a:off x="6126480" y="3200400"/>
            <a:ext cx="5303520" cy="411480"/>
          </a:xfrm>
          <a:prstGeom prst="rect">
            <a:avLst/>
          </a:prstGeom>
          <a:noFill/>
          <a:ln/>
        </p:spPr>
        <p:txBody>
          <a:bodyPr wrap="square" lIns="635" tIns="635" rIns="635" bIns="635" rtlCol="0" anchor="t"/>
          <a:lstStyle/>
          <a:p>
            <a:pPr indent="0" marL="0">
              <a:buNone/>
            </a:pPr>
            <a:r>
              <a:rPr lang="en-US" sz="1800" b="1" dirty="0">
                <a:solidFill>
                  <a:schemeClr val="tx2"/>
                </a:solidFill>
              </a:rPr>
              <a:t>What the app does</a:t>
            </a:r>
            <a:endParaRPr lang="en-US" sz="1800" dirty="0"/>
          </a:p>
        </p:txBody>
      </p:sp>
      <p:sp>
        <p:nvSpPr>
          <p:cNvPr id="13" name="Text 9"/>
          <p:cNvSpPr txBox="1"/>
          <p:nvPr/>
        </p:nvSpPr>
        <p:spPr>
          <a:xfrm>
            <a:off x="6126480" y="3657600"/>
            <a:ext cx="5394960" cy="2514600"/>
          </a:xfrm>
          <a:prstGeom prst="rect">
            <a:avLst/>
          </a:prstGeom>
          <a:noFill/>
          <a:ln/>
        </p:spPr>
        <p:txBody>
          <a:bodyPr wrap="square" lIns="1016" tIns="1016" rIns="1016" bIns="1016" rtlCol="0" anchor="t"/>
          <a:lstStyle/>
          <a:p>
            <a:pPr marL="342900" indent="-342900">
              <a:spcAft>
                <a:spcPts val="800"/>
              </a:spcAft>
              <a:buSzPct val="100000"/>
              <a:buChar char="•"/>
            </a:pPr>
            <a:r>
              <a:rPr lang="en-US" sz="1500" dirty="0">
                <a:solidFill>
                  <a:schemeClr val="tx1"/>
                </a:solidFill>
              </a:rPr>
              <a:t>Optimize: every stage shown, rule by rule, with before/after text</a:t>
            </a:r>
            <a:endParaRPr lang="en-US" sz="1500" dirty="0"/>
          </a:p>
          <a:p>
            <a:pPr marL="342900" indent="-342900">
              <a:spcAft>
                <a:spcPts val="800"/>
              </a:spcAft>
              <a:buSzPct val="100000"/>
              <a:buChar char="•"/>
            </a:pPr>
            <a:r>
              <a:rPr lang="en-US" sz="1500" dirty="0">
                <a:solidFill>
                  <a:schemeClr val="tx1"/>
                </a:solidFill>
              </a:rPr>
              <a:t>Compare: same model, temperature 0, tokens, latency, tests, optional blind judge</a:t>
            </a:r>
            <a:endParaRPr lang="en-US" sz="1500" dirty="0"/>
          </a:p>
          <a:p>
            <a:pPr marL="342900" indent="-342900">
              <a:spcAft>
                <a:spcPts val="800"/>
              </a:spcAft>
              <a:buSzPct val="100000"/>
              <a:buChar char="•"/>
            </a:pPr>
            <a:r>
              <a:rPr lang="en-US" sz="1500" dirty="0">
                <a:solidFill>
                  <a:schemeClr val="tx1"/>
                </a:solidFill>
              </a:rPr>
              <a:t>History: search, view, delete; prompts expire after 30 days</a:t>
            </a:r>
            <a:endParaRPr lang="en-US" sz="1500" dirty="0"/>
          </a:p>
          <a:p>
            <a:pPr marL="342900" indent="-342900">
              <a:spcAft>
                <a:spcPts val="800"/>
              </a:spcAft>
              <a:buSzPct val="100000"/>
              <a:buChar char="•"/>
            </a:pPr>
            <a:r>
              <a:rPr lang="en-US" sz="1500" dirty="0">
                <a:solidFill>
                  <a:schemeClr val="tx1"/>
                </a:solidFill>
              </a:rPr>
              <a:t>Status: providers' 24-hour usage, Stage C on CUDA, sandbox</a:t>
            </a:r>
            <a:endParaRPr lang="en-US" sz="1500" dirty="0"/>
          </a:p>
        </p:txBody>
      </p:sp>
      <p:sp>
        <p:nvSpPr>
          <p:cNvPr id="25" name="Slide Number Placeholder 0"/>
          <p:cNvSpPr>
            <a:spLocks noGrp="1"/>
          </p:cNvSpPr>
          <p:nvPr>
            <p:ph type="sldNum" sz="quarter" idx="4294967295"/>
          </p:nvPr>
        </p:nvSpPr>
        <p:spPr>
          <a:xfrm>
            <a:off x="1133856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580"/>
                </a:solidFill>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1" type="title" hasCustomPrompt="1"/>
          </p:nvPr>
        </p:nvSpPr>
        <p:spPr>
          <a:xfrm>
            <a:off x="1188720" y="228600"/>
            <a:ext cx="9966960" cy="731520"/>
          </a:xfrm>
          <a:prstGeom prst="rect">
            <a:avLst/>
          </a:prstGeom>
          <a:noFill/>
          <a:ln/>
        </p:spPr>
        <p:txBody>
          <a:bodyPr wrap="square" lIns="0" tIns="0" rIns="0" bIns="0" rtlCol="0" anchor="ctr"/>
          <a:lstStyle/>
          <a:p>
            <a:pPr algn="l" indent="0" marL="0">
              <a:buNone/>
            </a:pPr>
            <a:r>
              <a:rPr lang="en-US" sz="3000" b="1" dirty="0">
                <a:solidFill>
                  <a:schemeClr val="tx2"/>
                </a:solidFill>
                <a:latin typeface="Arial" pitchFamily="34" charset="0"/>
                <a:ea typeface="Arial" pitchFamily="34" charset="-122"/>
                <a:cs typeface="Arial" pitchFamily="34" charset="-120"/>
              </a:rPr>
              <a:t>Transaction flow: one request, one commit</a:t>
            </a:r>
            <a:endParaRPr lang="en-US" sz="3000" dirty="0"/>
          </a:p>
        </p:txBody>
      </p:sp>
      <p:pic>
        <p:nvPicPr>
          <p:cNvPr id="4" name="Image 0" descr="/tmp/claude-1000/-mnt-SharedDrive-Projects-PromptOpt/a85f5363-f7d7-4f63-8a3a-b7b1874853cc/scratchpad/fig/diag_transaction.png">    </p:cNvPr>
          <p:cNvPicPr>
            <a:picLocks noChangeAspect="1"/>
          </p:cNvPicPr>
          <p:nvPr/>
        </p:nvPicPr>
        <p:blipFill>
          <a:blip r:embed="rId1"/>
          <a:stretch>
            <a:fillRect/>
          </a:stretch>
        </p:blipFill>
        <p:spPr>
          <a:xfrm>
            <a:off x="1325880" y="1097280"/>
            <a:ext cx="9509760" cy="5266944"/>
          </a:xfrm>
          <a:prstGeom prst="rect">
            <a:avLst/>
          </a:prstGeom>
        </p:spPr>
      </p:pic>
      <p:sp>
        <p:nvSpPr>
          <p:cNvPr id="25" name="Slide Number Placeholder 0"/>
          <p:cNvSpPr>
            <a:spLocks noGrp="1"/>
          </p:cNvSpPr>
          <p:nvPr>
            <p:ph type="sldNum" sz="quarter" idx="4294967295"/>
          </p:nvPr>
        </p:nvSpPr>
        <p:spPr>
          <a:xfrm>
            <a:off x="1133856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580"/>
                </a:solidFill>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1" type="title" hasCustomPrompt="1"/>
          </p:nvPr>
        </p:nvSpPr>
        <p:spPr>
          <a:xfrm>
            <a:off x="1188720" y="228600"/>
            <a:ext cx="9966960" cy="731520"/>
          </a:xfrm>
          <a:prstGeom prst="rect">
            <a:avLst/>
          </a:prstGeom>
          <a:noFill/>
          <a:ln/>
        </p:spPr>
        <p:txBody>
          <a:bodyPr wrap="square" lIns="0" tIns="0" rIns="0" bIns="0" rtlCol="0" anchor="ctr"/>
          <a:lstStyle/>
          <a:p>
            <a:pPr algn="l" indent="0" marL="0">
              <a:buNone/>
            </a:pPr>
            <a:r>
              <a:rPr lang="en-US" sz="3000" b="1" dirty="0">
                <a:solidFill>
                  <a:schemeClr val="tx2"/>
                </a:solidFill>
                <a:latin typeface="Arial" pitchFamily="34" charset="0"/>
                <a:ea typeface="Arial" pitchFamily="34" charset="-122"/>
                <a:cs typeface="Arial" pitchFamily="34" charset="-120"/>
              </a:rPr>
              <a:t>Database layer: 10 tables, repository only</a:t>
            </a:r>
            <a:endParaRPr lang="en-US" sz="3000" dirty="0"/>
          </a:p>
        </p:txBody>
      </p:sp>
      <p:pic>
        <p:nvPicPr>
          <p:cNvPr id="4" name="Image 0" descr="/tmp/claude-1000/-mnt-SharedDrive-Projects-PromptOpt/a85f5363-f7d7-4f63-8a3a-b7b1874853cc/scratchpad/fig/08_database_er.png">    </p:cNvPr>
          <p:cNvPicPr>
            <a:picLocks noChangeAspect="1"/>
          </p:cNvPicPr>
          <p:nvPr/>
        </p:nvPicPr>
        <p:blipFill>
          <a:blip r:embed="rId1"/>
          <a:stretch>
            <a:fillRect/>
          </a:stretch>
        </p:blipFill>
        <p:spPr>
          <a:xfrm>
            <a:off x="457200" y="1188720"/>
            <a:ext cx="4434840" cy="5051419"/>
          </a:xfrm>
          <a:prstGeom prst="rect">
            <a:avLst/>
          </a:prstGeom>
        </p:spPr>
      </p:pic>
      <p:sp>
        <p:nvSpPr>
          <p:cNvPr id="5" name="Shape 1"/>
          <p:cNvSpPr/>
          <p:nvPr/>
        </p:nvSpPr>
        <p:spPr>
          <a:xfrm>
            <a:off x="5212080" y="1280160"/>
            <a:ext cx="6446520" cy="4937760"/>
          </a:xfrm>
          <a:prstGeom prst="roundRect">
            <a:avLst>
              <a:gd name="adj" fmla="val 2222"/>
            </a:avLst>
          </a:prstGeom>
          <a:solidFill>
            <a:schemeClr val="bg1"/>
          </a:solidFill>
          <a:ln w="9525">
            <a:solidFill>
              <a:srgbClr val="6FA287"/>
            </a:solidFill>
            <a:prstDash val="solid"/>
          </a:ln>
          <a:effectLst>
            <a:outerShdw sx="100000" sy="100000" kx="0" ky="0" algn="bl" rotWithShape="0" blurRad="50800" dist="25400" dir="5400000">
              <a:srgbClr val="9DB8A8">
                <a:alpha val="35000"/>
              </a:srgbClr>
            </a:outerShdw>
          </a:effectLst>
        </p:spPr>
      </p:sp>
      <p:sp>
        <p:nvSpPr>
          <p:cNvPr id="6" name="Text 2"/>
          <p:cNvSpPr txBox="1"/>
          <p:nvPr/>
        </p:nvSpPr>
        <p:spPr>
          <a:xfrm>
            <a:off x="5394960" y="1371600"/>
            <a:ext cx="6035040" cy="411480"/>
          </a:xfrm>
          <a:prstGeom prst="rect">
            <a:avLst/>
          </a:prstGeom>
          <a:noFill/>
          <a:ln/>
        </p:spPr>
        <p:txBody>
          <a:bodyPr wrap="square" lIns="635" tIns="635" rIns="635" bIns="635" rtlCol="0" anchor="t"/>
          <a:lstStyle/>
          <a:p>
            <a:pPr indent="0" marL="0">
              <a:buNone/>
            </a:pPr>
            <a:r>
              <a:rPr lang="en-US" sz="1800" b="1" dirty="0">
                <a:solidFill>
                  <a:schemeClr val="tx2"/>
                </a:solidFill>
              </a:rPr>
              <a:t>Written in one optimize transaction</a:t>
            </a:r>
            <a:endParaRPr lang="en-US" sz="18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394960" y="1874520"/>
          <a:ext cx="6080760" cy="914400"/>
        </p:xfrm>
        <a:graphic>
          <a:graphicData uri="http://schemas.openxmlformats.org/drawingml/2006/table">
            <a:tbl>
              <a:tblPr/>
              <a:tblGrid>
                <a:gridCol w="1920240"/>
                <a:gridCol w="1874520"/>
                <a:gridCol w="2286000"/>
              </a:tblGrid>
              <a:tr h="411480">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Table</a:t>
                      </a:r>
                      <a:endParaRPr lang="en-US" sz="1300" dirty="0">
                        <a:latin typeface="Calibri" charset="0"/>
                        <a:ea typeface="Calibri" charset="0"/>
                        <a:cs typeface="Calibri" charset="0"/>
                      </a:endParaRPr>
                    </a:p>
                  </a:txBody>
                  <a:tcPr marL="91440" marR="91440" marT="45720" marB="45720">
                    <a:lnL w="9525" cap="flat" cmpd="sng" algn="ctr">
                      <a:solidFill>
                        <a:srgbClr val="B9CFC2"/>
                      </a:solidFill>
                      <a:prstDash val="solid"/>
                      <a:round/>
                      <a:headEnd type="none" w="med" len="med"/>
                      <a:tailEnd type="none" w="med" len="med"/>
                    </a:lnL>
                    <a:lnR w="9525" cap="flat" cmpd="sng" algn="ctr">
                      <a:solidFill>
                        <a:srgbClr val="B9CFC2"/>
                      </a:solidFill>
                      <a:prstDash val="solid"/>
                      <a:round/>
                      <a:headEnd type="none" w="med" len="med"/>
                      <a:tailEnd type="none" w="med" len="med"/>
                    </a:lnR>
                    <a:lnT w="9525" cap="flat" cmpd="sng" algn="ctr">
                      <a:solidFill>
                        <a:srgbClr val="B9CFC2"/>
                      </a:solidFill>
                      <a:prstDash val="solid"/>
                      <a:round/>
                      <a:headEnd type="none" w="med" len="med"/>
                      <a:tailEnd type="none" w="med" len="med"/>
                    </a:lnT>
                    <a:lnB w="9525" cap="flat" cmpd="sng" algn="ctr">
                      <a:solidFill>
                        <a:srgbClr val="B9CFC2"/>
                      </a:solidFill>
                      <a:prstDash val="solid"/>
                      <a:round/>
                      <a:headEnd type="none" w="med" len="med"/>
                      <a:tailEnd type="none" w="med" len="med"/>
                    </a:lnB>
                    <a:solidFill>
                      <a:srgbClr val="2F6B4F"/>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Repository call</a:t>
                      </a:r>
                      <a:endParaRPr lang="en-US" sz="1300" dirty="0">
                        <a:latin typeface="Calibri" charset="0"/>
                        <a:ea typeface="Calibri" charset="0"/>
                        <a:cs typeface="Calibri" charset="0"/>
                      </a:endParaRPr>
                    </a:p>
                  </a:txBody>
                  <a:tcPr marL="91440" marR="91440" marT="45720" marB="45720">
                    <a:lnL w="9525" cap="flat" cmpd="sng" algn="ctr">
                      <a:solidFill>
                        <a:srgbClr val="B9CFC2"/>
                      </a:solidFill>
                      <a:prstDash val="solid"/>
                      <a:round/>
                      <a:headEnd type="none" w="med" len="med"/>
                      <a:tailEnd type="none" w="med" len="med"/>
                    </a:lnL>
                    <a:lnR w="9525" cap="flat" cmpd="sng" algn="ctr">
                      <a:solidFill>
                        <a:srgbClr val="B9CFC2"/>
                      </a:solidFill>
                      <a:prstDash val="solid"/>
                      <a:round/>
                      <a:headEnd type="none" w="med" len="med"/>
                      <a:tailEnd type="none" w="med" len="med"/>
                    </a:lnR>
                    <a:lnT w="9525" cap="flat" cmpd="sng" algn="ctr">
                      <a:solidFill>
                        <a:srgbClr val="B9CFC2"/>
                      </a:solidFill>
                      <a:prstDash val="solid"/>
                      <a:round/>
                      <a:headEnd type="none" w="med" len="med"/>
                      <a:tailEnd type="none" w="med" len="med"/>
                    </a:lnT>
                    <a:lnB w="9525" cap="flat" cmpd="sng" algn="ctr">
                      <a:solidFill>
                        <a:srgbClr val="B9CFC2"/>
                      </a:solidFill>
                      <a:prstDash val="solid"/>
                      <a:round/>
                      <a:headEnd type="none" w="med" len="med"/>
                      <a:tailEnd type="none" w="med" len="med"/>
                    </a:lnB>
                    <a:solidFill>
                      <a:srgbClr val="2F6B4F"/>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Stores</a:t>
                      </a:r>
                      <a:endParaRPr lang="en-US" sz="1300" dirty="0">
                        <a:latin typeface="Calibri" charset="0"/>
                        <a:ea typeface="Calibri" charset="0"/>
                        <a:cs typeface="Calibri" charset="0"/>
                      </a:endParaRPr>
                    </a:p>
                  </a:txBody>
                  <a:tcPr marL="91440" marR="91440" marT="45720" marB="45720">
                    <a:lnL w="9525" cap="flat" cmpd="sng" algn="ctr">
                      <a:solidFill>
                        <a:srgbClr val="B9CFC2"/>
                      </a:solidFill>
                      <a:prstDash val="solid"/>
                      <a:round/>
                      <a:headEnd type="none" w="med" len="med"/>
                      <a:tailEnd type="none" w="med" len="med"/>
                    </a:lnL>
                    <a:lnR w="9525" cap="flat" cmpd="sng" algn="ctr">
                      <a:solidFill>
                        <a:srgbClr val="B9CFC2"/>
                      </a:solidFill>
                      <a:prstDash val="solid"/>
                      <a:round/>
                      <a:headEnd type="none" w="med" len="med"/>
                      <a:tailEnd type="none" w="med" len="med"/>
                    </a:lnR>
                    <a:lnT w="9525" cap="flat" cmpd="sng" algn="ctr">
                      <a:solidFill>
                        <a:srgbClr val="B9CFC2"/>
                      </a:solidFill>
                      <a:prstDash val="solid"/>
                      <a:round/>
                      <a:headEnd type="none" w="med" len="med"/>
                      <a:tailEnd type="none" w="med" len="med"/>
                    </a:lnT>
                    <a:lnB w="9525" cap="flat" cmpd="sng" algn="ctr">
                      <a:solidFill>
                        <a:srgbClr val="B9CFC2"/>
                      </a:solidFill>
                      <a:prstDash val="solid"/>
                      <a:round/>
                      <a:headEnd type="none" w="med" len="med"/>
                      <a:tailEnd type="none" w="med" len="med"/>
                    </a:lnB>
                    <a:solidFill>
                      <a:srgbClr val="2F6B4F"/>
                    </a:solidFill>
                  </a:tcPr>
                </a:tc>
              </a:tr>
              <a:tr h="411480">
                <a:tc>
                  <a:txBody>
                    <a:bodyPr/>
                    <a:lstStyle/>
                    <a:p>
                      <a:pPr indent="0" marL="0">
                        <a:buNone/>
                      </a:pPr>
                      <a:r>
                        <a:rPr lang="en-US" sz="1300" dirty="0">
                          <a:solidFill>
                            <a:srgbClr val="1B2B22"/>
                          </a:solidFill>
                          <a:latin typeface="Calibri" pitchFamily="34" charset="0"/>
                          <a:ea typeface="Calibri" pitchFamily="34" charset="-122"/>
                          <a:cs typeface="Calibri" pitchFamily="34" charset="-120"/>
                        </a:rPr>
                        <a:t>prompts</a:t>
                      </a:r>
                      <a:endParaRPr lang="en-US" sz="1300" dirty="0">
                        <a:latin typeface="Calibri" charset="0"/>
                        <a:ea typeface="Calibri" charset="0"/>
                        <a:cs typeface="Calibri" charset="0"/>
                      </a:endParaRPr>
                    </a:p>
                  </a:txBody>
                  <a:tcPr marL="91440" marR="91440" marT="45720" marB="45720">
                    <a:lnL w="9525" cap="flat" cmpd="sng" algn="ctr">
                      <a:solidFill>
                        <a:srgbClr val="B9CFC2"/>
                      </a:solidFill>
                      <a:prstDash val="solid"/>
                      <a:round/>
                      <a:headEnd type="none" w="med" len="med"/>
                      <a:tailEnd type="none" w="med" len="med"/>
                    </a:lnL>
                    <a:lnR w="9525" cap="flat" cmpd="sng" algn="ctr">
                      <a:solidFill>
                        <a:srgbClr val="B9CFC2"/>
                      </a:solidFill>
                      <a:prstDash val="solid"/>
                      <a:round/>
                      <a:headEnd type="none" w="med" len="med"/>
                      <a:tailEnd type="none" w="med" len="med"/>
                    </a:lnR>
                    <a:lnT w="9525" cap="flat" cmpd="sng" algn="ctr">
                      <a:solidFill>
                        <a:srgbClr val="B9CFC2"/>
                      </a:solidFill>
                      <a:prstDash val="solid"/>
                      <a:round/>
                      <a:headEnd type="none" w="med" len="med"/>
                      <a:tailEnd type="none" w="med" len="med"/>
                    </a:lnT>
                    <a:lnB w="9525" cap="flat" cmpd="sng" algn="ctr">
                      <a:solidFill>
                        <a:srgbClr val="B9CFC2"/>
                      </a:solidFill>
                      <a:prstDash val="solid"/>
                      <a:round/>
                      <a:headEnd type="none" w="med" len="med"/>
                      <a:tailEnd type="none" w="med" len="med"/>
                    </a:lnB>
                    <a:solidFill>
                      <a:srgbClr val="FFFFFF"/>
                    </a:solidFill>
                  </a:tcPr>
                </a:tc>
                <a:tc>
                  <a:txBody>
                    <a:bodyPr/>
                    <a:lstStyle/>
                    <a:p>
                      <a:pPr indent="0" marL="0">
                        <a:buNone/>
                      </a:pPr>
                      <a:r>
                        <a:rPr lang="en-US" sz="1300" dirty="0">
                          <a:solidFill>
                            <a:srgbClr val="1B2B22"/>
                          </a:solidFill>
                          <a:latin typeface="Calibri" pitchFamily="34" charset="0"/>
                          <a:ea typeface="Calibri" pitchFamily="34" charset="-122"/>
                          <a:cs typeface="Calibri" pitchFamily="34" charset="-120"/>
                        </a:rPr>
                        <a:t>create_prompt</a:t>
                      </a:r>
                      <a:endParaRPr lang="en-US" sz="1300" dirty="0">
                        <a:latin typeface="Calibri" charset="0"/>
                        <a:ea typeface="Calibri" charset="0"/>
                        <a:cs typeface="Calibri" charset="0"/>
                      </a:endParaRPr>
                    </a:p>
                  </a:txBody>
                  <a:tcPr marL="91440" marR="91440" marT="45720" marB="45720">
                    <a:lnL w="9525" cap="flat" cmpd="sng" algn="ctr">
                      <a:solidFill>
                        <a:srgbClr val="B9CFC2"/>
                      </a:solidFill>
                      <a:prstDash val="solid"/>
                      <a:round/>
                      <a:headEnd type="none" w="med" len="med"/>
                      <a:tailEnd type="none" w="med" len="med"/>
                    </a:lnL>
                    <a:lnR w="9525" cap="flat" cmpd="sng" algn="ctr">
                      <a:solidFill>
                        <a:srgbClr val="B9CFC2"/>
                      </a:solidFill>
                      <a:prstDash val="solid"/>
                      <a:round/>
                      <a:headEnd type="none" w="med" len="med"/>
                      <a:tailEnd type="none" w="med" len="med"/>
                    </a:lnR>
                    <a:lnT w="9525" cap="flat" cmpd="sng" algn="ctr">
                      <a:solidFill>
                        <a:srgbClr val="B9CFC2"/>
                      </a:solidFill>
                      <a:prstDash val="solid"/>
                      <a:round/>
                      <a:headEnd type="none" w="med" len="med"/>
                      <a:tailEnd type="none" w="med" len="med"/>
                    </a:lnT>
                    <a:lnB w="9525" cap="flat" cmpd="sng" algn="ctr">
                      <a:solidFill>
                        <a:srgbClr val="B9CFC2"/>
                      </a:solidFill>
                      <a:prstDash val="solid"/>
                      <a:round/>
                      <a:headEnd type="none" w="med" len="med"/>
                      <a:tailEnd type="none" w="med" len="med"/>
                    </a:lnB>
                    <a:solidFill>
                      <a:srgbClr val="FFFFFF"/>
                    </a:solidFill>
                  </a:tcPr>
                </a:tc>
                <a:tc>
                  <a:txBody>
                    <a:bodyPr/>
                    <a:lstStyle/>
                    <a:p>
                      <a:pPr indent="0" marL="0">
                        <a:buNone/>
                      </a:pPr>
                      <a:r>
                        <a:rPr lang="en-US" sz="1300" dirty="0">
                          <a:solidFill>
                            <a:srgbClr val="1B2B22"/>
                          </a:solidFill>
                          <a:latin typeface="Calibri" pitchFamily="34" charset="0"/>
                          <a:ea typeface="Calibri" pitchFamily="34" charset="-122"/>
                          <a:cs typeface="Calibri" pitchFamily="34" charset="-120"/>
                        </a:rPr>
                        <a:t>PII-scrubbed text, expires_at</a:t>
                      </a:r>
                      <a:endParaRPr lang="en-US" sz="1300" dirty="0">
                        <a:latin typeface="Calibri" charset="0"/>
                        <a:ea typeface="Calibri" charset="0"/>
                        <a:cs typeface="Calibri" charset="0"/>
                      </a:endParaRPr>
                    </a:p>
                  </a:txBody>
                  <a:tcPr marL="91440" marR="91440" marT="45720" marB="45720">
                    <a:lnL w="9525" cap="flat" cmpd="sng" algn="ctr">
                      <a:solidFill>
                        <a:srgbClr val="B9CFC2"/>
                      </a:solidFill>
                      <a:prstDash val="solid"/>
                      <a:round/>
                      <a:headEnd type="none" w="med" len="med"/>
                      <a:tailEnd type="none" w="med" len="med"/>
                    </a:lnL>
                    <a:lnR w="9525" cap="flat" cmpd="sng" algn="ctr">
                      <a:solidFill>
                        <a:srgbClr val="B9CFC2"/>
                      </a:solidFill>
                      <a:prstDash val="solid"/>
                      <a:round/>
                      <a:headEnd type="none" w="med" len="med"/>
                      <a:tailEnd type="none" w="med" len="med"/>
                    </a:lnR>
                    <a:lnT w="9525" cap="flat" cmpd="sng" algn="ctr">
                      <a:solidFill>
                        <a:srgbClr val="B9CFC2"/>
                      </a:solidFill>
                      <a:prstDash val="solid"/>
                      <a:round/>
                      <a:headEnd type="none" w="med" len="med"/>
                      <a:tailEnd type="none" w="med" len="med"/>
                    </a:lnT>
                    <a:lnB w="9525" cap="flat" cmpd="sng" algn="ctr">
                      <a:solidFill>
                        <a:srgbClr val="B9CFC2"/>
                      </a:solidFill>
                      <a:prstDash val="solid"/>
                      <a:round/>
                      <a:headEnd type="none" w="med" len="med"/>
                      <a:tailEnd type="none" w="med" len="med"/>
                    </a:lnB>
                    <a:solidFill>
                      <a:srgbClr val="FFFFFF"/>
                    </a:solidFill>
                  </a:tcPr>
                </a:tc>
              </a:tr>
              <a:tr h="411480">
                <a:tc>
                  <a:txBody>
                    <a:bodyPr/>
                    <a:lstStyle/>
                    <a:p>
                      <a:pPr indent="0" marL="0">
                        <a:buNone/>
                      </a:pPr>
                      <a:r>
                        <a:rPr lang="en-US" sz="1300" dirty="0">
                          <a:solidFill>
                            <a:srgbClr val="1B2B22"/>
                          </a:solidFill>
                          <a:latin typeface="Calibri" pitchFamily="34" charset="0"/>
                          <a:ea typeface="Calibri" pitchFamily="34" charset="-122"/>
                          <a:cs typeface="Calibri" pitchFamily="34" charset="-120"/>
                        </a:rPr>
                        <a:t>prompt_features</a:t>
                      </a:r>
                      <a:endParaRPr lang="en-US" sz="1300" dirty="0">
                        <a:latin typeface="Calibri" charset="0"/>
                        <a:ea typeface="Calibri" charset="0"/>
                        <a:cs typeface="Calibri" charset="0"/>
                      </a:endParaRPr>
                    </a:p>
                  </a:txBody>
                  <a:tcPr marL="91440" marR="91440" marT="45720" marB="45720">
                    <a:lnL w="9525" cap="flat" cmpd="sng" algn="ctr">
                      <a:solidFill>
                        <a:srgbClr val="B9CFC2"/>
                      </a:solidFill>
                      <a:prstDash val="solid"/>
                      <a:round/>
                      <a:headEnd type="none" w="med" len="med"/>
                      <a:tailEnd type="none" w="med" len="med"/>
                    </a:lnL>
                    <a:lnR w="9525" cap="flat" cmpd="sng" algn="ctr">
                      <a:solidFill>
                        <a:srgbClr val="B9CFC2"/>
                      </a:solidFill>
                      <a:prstDash val="solid"/>
                      <a:round/>
                      <a:headEnd type="none" w="med" len="med"/>
                      <a:tailEnd type="none" w="med" len="med"/>
                    </a:lnR>
                    <a:lnT w="9525" cap="flat" cmpd="sng" algn="ctr">
                      <a:solidFill>
                        <a:srgbClr val="B9CFC2"/>
                      </a:solidFill>
                      <a:prstDash val="solid"/>
                      <a:round/>
                      <a:headEnd type="none" w="med" len="med"/>
                      <a:tailEnd type="none" w="med" len="med"/>
                    </a:lnT>
                    <a:lnB w="9525" cap="flat" cmpd="sng" algn="ctr">
                      <a:solidFill>
                        <a:srgbClr val="B9CFC2"/>
                      </a:solidFill>
                      <a:prstDash val="solid"/>
                      <a:round/>
                      <a:headEnd type="none" w="med" len="med"/>
                      <a:tailEnd type="none" w="med" len="med"/>
                    </a:lnB>
                    <a:solidFill>
                      <a:srgbClr val="FFFFFF"/>
                    </a:solidFill>
                  </a:tcPr>
                </a:tc>
                <a:tc>
                  <a:txBody>
                    <a:bodyPr/>
                    <a:lstStyle/>
                    <a:p>
                      <a:pPr indent="0" marL="0">
                        <a:buNone/>
                      </a:pPr>
                      <a:r>
                        <a:rPr lang="en-US" sz="1300" dirty="0">
                          <a:solidFill>
                            <a:srgbClr val="1B2B22"/>
                          </a:solidFill>
                          <a:latin typeface="Calibri" pitchFamily="34" charset="0"/>
                          <a:ea typeface="Calibri" pitchFamily="34" charset="-122"/>
                          <a:cs typeface="Calibri" pitchFamily="34" charset="-120"/>
                        </a:rPr>
                        <a:t>save_features</a:t>
                      </a:r>
                      <a:endParaRPr lang="en-US" sz="1300" dirty="0">
                        <a:latin typeface="Calibri" charset="0"/>
                        <a:ea typeface="Calibri" charset="0"/>
                        <a:cs typeface="Calibri" charset="0"/>
                      </a:endParaRPr>
                    </a:p>
                  </a:txBody>
                  <a:tcPr marL="91440" marR="91440" marT="45720" marB="45720">
                    <a:lnL w="9525" cap="flat" cmpd="sng" algn="ctr">
                      <a:solidFill>
                        <a:srgbClr val="B9CFC2"/>
                      </a:solidFill>
                      <a:prstDash val="solid"/>
                      <a:round/>
                      <a:headEnd type="none" w="med" len="med"/>
                      <a:tailEnd type="none" w="med" len="med"/>
                    </a:lnL>
                    <a:lnR w="9525" cap="flat" cmpd="sng" algn="ctr">
                      <a:solidFill>
                        <a:srgbClr val="B9CFC2"/>
                      </a:solidFill>
                      <a:prstDash val="solid"/>
                      <a:round/>
                      <a:headEnd type="none" w="med" len="med"/>
                      <a:tailEnd type="none" w="med" len="med"/>
                    </a:lnR>
                    <a:lnT w="9525" cap="flat" cmpd="sng" algn="ctr">
                      <a:solidFill>
                        <a:srgbClr val="B9CFC2"/>
                      </a:solidFill>
                      <a:prstDash val="solid"/>
                      <a:round/>
                      <a:headEnd type="none" w="med" len="med"/>
                      <a:tailEnd type="none" w="med" len="med"/>
                    </a:lnT>
                    <a:lnB w="9525" cap="flat" cmpd="sng" algn="ctr">
                      <a:solidFill>
                        <a:srgbClr val="B9CFC2"/>
                      </a:solidFill>
                      <a:prstDash val="solid"/>
                      <a:round/>
                      <a:headEnd type="none" w="med" len="med"/>
                      <a:tailEnd type="none" w="med" len="med"/>
                    </a:lnB>
                    <a:solidFill>
                      <a:srgbClr val="FFFFFF"/>
                    </a:solidFill>
                  </a:tcPr>
                </a:tc>
                <a:tc>
                  <a:txBody>
                    <a:bodyPr/>
                    <a:lstStyle/>
                    <a:p>
                      <a:pPr indent="0" marL="0">
                        <a:buNone/>
                      </a:pPr>
                      <a:r>
                        <a:rPr lang="en-US" sz="1300" dirty="0">
                          <a:solidFill>
                            <a:srgbClr val="1B2B22"/>
                          </a:solidFill>
                          <a:latin typeface="Calibri" pitchFamily="34" charset="0"/>
                          <a:ea typeface="Calibri" pitchFamily="34" charset="-122"/>
                          <a:cs typeface="Calibri" pitchFamily="34" charset="-120"/>
                        </a:rPr>
                        <a:t>category, confidence, gaps</a:t>
                      </a:r>
                      <a:endParaRPr lang="en-US" sz="1300" dirty="0">
                        <a:latin typeface="Calibri" charset="0"/>
                        <a:ea typeface="Calibri" charset="0"/>
                        <a:cs typeface="Calibri" charset="0"/>
                      </a:endParaRPr>
                    </a:p>
                  </a:txBody>
                  <a:tcPr marL="91440" marR="91440" marT="45720" marB="45720">
                    <a:lnL w="9525" cap="flat" cmpd="sng" algn="ctr">
                      <a:solidFill>
                        <a:srgbClr val="B9CFC2"/>
                      </a:solidFill>
                      <a:prstDash val="solid"/>
                      <a:round/>
                      <a:headEnd type="none" w="med" len="med"/>
                      <a:tailEnd type="none" w="med" len="med"/>
                    </a:lnL>
                    <a:lnR w="9525" cap="flat" cmpd="sng" algn="ctr">
                      <a:solidFill>
                        <a:srgbClr val="B9CFC2"/>
                      </a:solidFill>
                      <a:prstDash val="solid"/>
                      <a:round/>
                      <a:headEnd type="none" w="med" len="med"/>
                      <a:tailEnd type="none" w="med" len="med"/>
                    </a:lnR>
                    <a:lnT w="9525" cap="flat" cmpd="sng" algn="ctr">
                      <a:solidFill>
                        <a:srgbClr val="B9CFC2"/>
                      </a:solidFill>
                      <a:prstDash val="solid"/>
                      <a:round/>
                      <a:headEnd type="none" w="med" len="med"/>
                      <a:tailEnd type="none" w="med" len="med"/>
                    </a:lnT>
                    <a:lnB w="9525" cap="flat" cmpd="sng" algn="ctr">
                      <a:solidFill>
                        <a:srgbClr val="B9CFC2"/>
                      </a:solidFill>
                      <a:prstDash val="solid"/>
                      <a:round/>
                      <a:headEnd type="none" w="med" len="med"/>
                      <a:tailEnd type="none" w="med" len="med"/>
                    </a:lnB>
                    <a:solidFill>
                      <a:srgbClr val="FFFFFF"/>
                    </a:solidFill>
                  </a:tcPr>
                </a:tc>
              </a:tr>
              <a:tr h="411480">
                <a:tc>
                  <a:txBody>
                    <a:bodyPr/>
                    <a:lstStyle/>
                    <a:p>
                      <a:pPr indent="0" marL="0">
                        <a:buNone/>
                      </a:pPr>
                      <a:r>
                        <a:rPr lang="en-US" sz="1300" dirty="0">
                          <a:solidFill>
                            <a:srgbClr val="1B2B22"/>
                          </a:solidFill>
                          <a:latin typeface="Calibri" pitchFamily="34" charset="0"/>
                          <a:ea typeface="Calibri" pitchFamily="34" charset="-122"/>
                          <a:cs typeface="Calibri" pitchFamily="34" charset="-120"/>
                        </a:rPr>
                        <a:t>optimization_results</a:t>
                      </a:r>
                      <a:endParaRPr lang="en-US" sz="1300" dirty="0">
                        <a:latin typeface="Calibri" charset="0"/>
                        <a:ea typeface="Calibri" charset="0"/>
                        <a:cs typeface="Calibri" charset="0"/>
                      </a:endParaRPr>
                    </a:p>
                  </a:txBody>
                  <a:tcPr marL="91440" marR="91440" marT="45720" marB="45720">
                    <a:lnL w="9525" cap="flat" cmpd="sng" algn="ctr">
                      <a:solidFill>
                        <a:srgbClr val="B9CFC2"/>
                      </a:solidFill>
                      <a:prstDash val="solid"/>
                      <a:round/>
                      <a:headEnd type="none" w="med" len="med"/>
                      <a:tailEnd type="none" w="med" len="med"/>
                    </a:lnL>
                    <a:lnR w="9525" cap="flat" cmpd="sng" algn="ctr">
                      <a:solidFill>
                        <a:srgbClr val="B9CFC2"/>
                      </a:solidFill>
                      <a:prstDash val="solid"/>
                      <a:round/>
                      <a:headEnd type="none" w="med" len="med"/>
                      <a:tailEnd type="none" w="med" len="med"/>
                    </a:lnR>
                    <a:lnT w="9525" cap="flat" cmpd="sng" algn="ctr">
                      <a:solidFill>
                        <a:srgbClr val="B9CFC2"/>
                      </a:solidFill>
                      <a:prstDash val="solid"/>
                      <a:round/>
                      <a:headEnd type="none" w="med" len="med"/>
                      <a:tailEnd type="none" w="med" len="med"/>
                    </a:lnT>
                    <a:lnB w="9525" cap="flat" cmpd="sng" algn="ctr">
                      <a:solidFill>
                        <a:srgbClr val="B9CFC2"/>
                      </a:solidFill>
                      <a:prstDash val="solid"/>
                      <a:round/>
                      <a:headEnd type="none" w="med" len="med"/>
                      <a:tailEnd type="none" w="med" len="med"/>
                    </a:lnB>
                    <a:solidFill>
                      <a:srgbClr val="FFFFFF"/>
                    </a:solidFill>
                  </a:tcPr>
                </a:tc>
                <a:tc>
                  <a:txBody>
                    <a:bodyPr/>
                    <a:lstStyle/>
                    <a:p>
                      <a:pPr indent="0" marL="0">
                        <a:buNone/>
                      </a:pPr>
                      <a:r>
                        <a:rPr lang="en-US" sz="1300" dirty="0">
                          <a:solidFill>
                            <a:srgbClr val="1B2B22"/>
                          </a:solidFill>
                          <a:latin typeface="Calibri" pitchFamily="34" charset="0"/>
                          <a:ea typeface="Calibri" pitchFamily="34" charset="-122"/>
                          <a:cs typeface="Calibri" pitchFamily="34" charset="-120"/>
                        </a:rPr>
                        <a:t>save_optimization</a:t>
                      </a:r>
                      <a:endParaRPr lang="en-US" sz="1300" dirty="0">
                        <a:latin typeface="Calibri" charset="0"/>
                        <a:ea typeface="Calibri" charset="0"/>
                        <a:cs typeface="Calibri" charset="0"/>
                      </a:endParaRPr>
                    </a:p>
                  </a:txBody>
                  <a:tcPr marL="91440" marR="91440" marT="45720" marB="45720">
                    <a:lnL w="9525" cap="flat" cmpd="sng" algn="ctr">
                      <a:solidFill>
                        <a:srgbClr val="B9CFC2"/>
                      </a:solidFill>
                      <a:prstDash val="solid"/>
                      <a:round/>
                      <a:headEnd type="none" w="med" len="med"/>
                      <a:tailEnd type="none" w="med" len="med"/>
                    </a:lnL>
                    <a:lnR w="9525" cap="flat" cmpd="sng" algn="ctr">
                      <a:solidFill>
                        <a:srgbClr val="B9CFC2"/>
                      </a:solidFill>
                      <a:prstDash val="solid"/>
                      <a:round/>
                      <a:headEnd type="none" w="med" len="med"/>
                      <a:tailEnd type="none" w="med" len="med"/>
                    </a:lnR>
                    <a:lnT w="9525" cap="flat" cmpd="sng" algn="ctr">
                      <a:solidFill>
                        <a:srgbClr val="B9CFC2"/>
                      </a:solidFill>
                      <a:prstDash val="solid"/>
                      <a:round/>
                      <a:headEnd type="none" w="med" len="med"/>
                      <a:tailEnd type="none" w="med" len="med"/>
                    </a:lnT>
                    <a:lnB w="9525" cap="flat" cmpd="sng" algn="ctr">
                      <a:solidFill>
                        <a:srgbClr val="B9CFC2"/>
                      </a:solidFill>
                      <a:prstDash val="solid"/>
                      <a:round/>
                      <a:headEnd type="none" w="med" len="med"/>
                      <a:tailEnd type="none" w="med" len="med"/>
                    </a:lnB>
                    <a:solidFill>
                      <a:srgbClr val="FFFFFF"/>
                    </a:solidFill>
                  </a:tcPr>
                </a:tc>
                <a:tc>
                  <a:txBody>
                    <a:bodyPr/>
                    <a:lstStyle/>
                    <a:p>
                      <a:pPr indent="0" marL="0">
                        <a:buNone/>
                      </a:pPr>
                      <a:r>
                        <a:rPr lang="en-US" sz="1300" dirty="0">
                          <a:solidFill>
                            <a:srgbClr val="1B2B22"/>
                          </a:solidFill>
                          <a:latin typeface="Calibri" pitchFamily="34" charset="0"/>
                          <a:ea typeface="Calibri" pitchFamily="34" charset="-122"/>
                          <a:cs typeface="Calibri" pitchFamily="34" charset="-120"/>
                        </a:rPr>
                        <a:t>IR, optimized text, used_lora</a:t>
                      </a:r>
                      <a:endParaRPr lang="en-US" sz="1300" dirty="0">
                        <a:latin typeface="Calibri" charset="0"/>
                        <a:ea typeface="Calibri" charset="0"/>
                        <a:cs typeface="Calibri" charset="0"/>
                      </a:endParaRPr>
                    </a:p>
                  </a:txBody>
                  <a:tcPr marL="91440" marR="91440" marT="45720" marB="45720">
                    <a:lnL w="9525" cap="flat" cmpd="sng" algn="ctr">
                      <a:solidFill>
                        <a:srgbClr val="B9CFC2"/>
                      </a:solidFill>
                      <a:prstDash val="solid"/>
                      <a:round/>
                      <a:headEnd type="none" w="med" len="med"/>
                      <a:tailEnd type="none" w="med" len="med"/>
                    </a:lnL>
                    <a:lnR w="9525" cap="flat" cmpd="sng" algn="ctr">
                      <a:solidFill>
                        <a:srgbClr val="B9CFC2"/>
                      </a:solidFill>
                      <a:prstDash val="solid"/>
                      <a:round/>
                      <a:headEnd type="none" w="med" len="med"/>
                      <a:tailEnd type="none" w="med" len="med"/>
                    </a:lnR>
                    <a:lnT w="9525" cap="flat" cmpd="sng" algn="ctr">
                      <a:solidFill>
                        <a:srgbClr val="B9CFC2"/>
                      </a:solidFill>
                      <a:prstDash val="solid"/>
                      <a:round/>
                      <a:headEnd type="none" w="med" len="med"/>
                      <a:tailEnd type="none" w="med" len="med"/>
                    </a:lnT>
                    <a:lnB w="9525" cap="flat" cmpd="sng" algn="ctr">
                      <a:solidFill>
                        <a:srgbClr val="B9CFC2"/>
                      </a:solidFill>
                      <a:prstDash val="solid"/>
                      <a:round/>
                      <a:headEnd type="none" w="med" len="med"/>
                      <a:tailEnd type="none" w="med" len="med"/>
                    </a:lnB>
                    <a:solidFill>
                      <a:srgbClr val="FFFFFF"/>
                    </a:solidFill>
                  </a:tcPr>
                </a:tc>
              </a:tr>
              <a:tr h="411480">
                <a:tc>
                  <a:txBody>
                    <a:bodyPr/>
                    <a:lstStyle/>
                    <a:p>
                      <a:pPr indent="0" marL="0">
                        <a:buNone/>
                      </a:pPr>
                      <a:r>
                        <a:rPr lang="en-US" sz="1300" dirty="0">
                          <a:solidFill>
                            <a:srgbClr val="1B2B22"/>
                          </a:solidFill>
                          <a:latin typeface="Calibri" pitchFamily="34" charset="0"/>
                          <a:ea typeface="Calibri" pitchFamily="34" charset="-122"/>
                          <a:cs typeface="Calibri" pitchFamily="34" charset="-120"/>
                        </a:rPr>
                        <a:t>transformations</a:t>
                      </a:r>
                      <a:endParaRPr lang="en-US" sz="1300" dirty="0">
                        <a:latin typeface="Calibri" charset="0"/>
                        <a:ea typeface="Calibri" charset="0"/>
                        <a:cs typeface="Calibri" charset="0"/>
                      </a:endParaRPr>
                    </a:p>
                  </a:txBody>
                  <a:tcPr marL="91440" marR="91440" marT="45720" marB="45720">
                    <a:lnL w="9525" cap="flat" cmpd="sng" algn="ctr">
                      <a:solidFill>
                        <a:srgbClr val="B9CFC2"/>
                      </a:solidFill>
                      <a:prstDash val="solid"/>
                      <a:round/>
                      <a:headEnd type="none" w="med" len="med"/>
                      <a:tailEnd type="none" w="med" len="med"/>
                    </a:lnL>
                    <a:lnR w="9525" cap="flat" cmpd="sng" algn="ctr">
                      <a:solidFill>
                        <a:srgbClr val="B9CFC2"/>
                      </a:solidFill>
                      <a:prstDash val="solid"/>
                      <a:round/>
                      <a:headEnd type="none" w="med" len="med"/>
                      <a:tailEnd type="none" w="med" len="med"/>
                    </a:lnR>
                    <a:lnT w="9525" cap="flat" cmpd="sng" algn="ctr">
                      <a:solidFill>
                        <a:srgbClr val="B9CFC2"/>
                      </a:solidFill>
                      <a:prstDash val="solid"/>
                      <a:round/>
                      <a:headEnd type="none" w="med" len="med"/>
                      <a:tailEnd type="none" w="med" len="med"/>
                    </a:lnT>
                    <a:lnB w="9525" cap="flat" cmpd="sng" algn="ctr">
                      <a:solidFill>
                        <a:srgbClr val="B9CFC2"/>
                      </a:solidFill>
                      <a:prstDash val="solid"/>
                      <a:round/>
                      <a:headEnd type="none" w="med" len="med"/>
                      <a:tailEnd type="none" w="med" len="med"/>
                    </a:lnB>
                    <a:solidFill>
                      <a:srgbClr val="FFFFFF"/>
                    </a:solidFill>
                  </a:tcPr>
                </a:tc>
                <a:tc>
                  <a:txBody>
                    <a:bodyPr/>
                    <a:lstStyle/>
                    <a:p>
                      <a:pPr indent="0" marL="0">
                        <a:buNone/>
                      </a:pPr>
                      <a:r>
                        <a:rPr lang="en-US" sz="1300" dirty="0">
                          <a:solidFill>
                            <a:srgbClr val="1B2B22"/>
                          </a:solidFill>
                          <a:latin typeface="Calibri" pitchFamily="34" charset="0"/>
                          <a:ea typeface="Calibri" pitchFamily="34" charset="-122"/>
                          <a:cs typeface="Calibri" pitchFamily="34" charset="-120"/>
                        </a:rPr>
                        <a:t>save_optimization</a:t>
                      </a:r>
                      <a:endParaRPr lang="en-US" sz="1300" dirty="0">
                        <a:latin typeface="Calibri" charset="0"/>
                        <a:ea typeface="Calibri" charset="0"/>
                        <a:cs typeface="Calibri" charset="0"/>
                      </a:endParaRPr>
                    </a:p>
                  </a:txBody>
                  <a:tcPr marL="91440" marR="91440" marT="45720" marB="45720">
                    <a:lnL w="9525" cap="flat" cmpd="sng" algn="ctr">
                      <a:solidFill>
                        <a:srgbClr val="B9CFC2"/>
                      </a:solidFill>
                      <a:prstDash val="solid"/>
                      <a:round/>
                      <a:headEnd type="none" w="med" len="med"/>
                      <a:tailEnd type="none" w="med" len="med"/>
                    </a:lnL>
                    <a:lnR w="9525" cap="flat" cmpd="sng" algn="ctr">
                      <a:solidFill>
                        <a:srgbClr val="B9CFC2"/>
                      </a:solidFill>
                      <a:prstDash val="solid"/>
                      <a:round/>
                      <a:headEnd type="none" w="med" len="med"/>
                      <a:tailEnd type="none" w="med" len="med"/>
                    </a:lnR>
                    <a:lnT w="9525" cap="flat" cmpd="sng" algn="ctr">
                      <a:solidFill>
                        <a:srgbClr val="B9CFC2"/>
                      </a:solidFill>
                      <a:prstDash val="solid"/>
                      <a:round/>
                      <a:headEnd type="none" w="med" len="med"/>
                      <a:tailEnd type="none" w="med" len="med"/>
                    </a:lnT>
                    <a:lnB w="9525" cap="flat" cmpd="sng" algn="ctr">
                      <a:solidFill>
                        <a:srgbClr val="B9CFC2"/>
                      </a:solidFill>
                      <a:prstDash val="solid"/>
                      <a:round/>
                      <a:headEnd type="none" w="med" len="med"/>
                      <a:tailEnd type="none" w="med" len="med"/>
                    </a:lnB>
                    <a:solidFill>
                      <a:srgbClr val="FFFFFF"/>
                    </a:solidFill>
                  </a:tcPr>
                </a:tc>
                <a:tc>
                  <a:txBody>
                    <a:bodyPr/>
                    <a:lstStyle/>
                    <a:p>
                      <a:pPr indent="0" marL="0">
                        <a:buNone/>
                      </a:pPr>
                      <a:r>
                        <a:rPr lang="en-US" sz="1300" dirty="0">
                          <a:solidFill>
                            <a:srgbClr val="1B2B22"/>
                          </a:solidFill>
                          <a:latin typeface="Calibri" pitchFamily="34" charset="0"/>
                          <a:ea typeface="Calibri" pitchFamily="34" charset="-122"/>
                          <a:cs typeface="Calibri" pitchFamily="34" charset="-120"/>
                        </a:rPr>
                        <a:t>one row per change, rule_id</a:t>
                      </a:r>
                      <a:endParaRPr lang="en-US" sz="1300" dirty="0">
                        <a:latin typeface="Calibri" charset="0"/>
                        <a:ea typeface="Calibri" charset="0"/>
                        <a:cs typeface="Calibri" charset="0"/>
                      </a:endParaRPr>
                    </a:p>
                  </a:txBody>
                  <a:tcPr marL="91440" marR="91440" marT="45720" marB="45720">
                    <a:lnL w="9525" cap="flat" cmpd="sng" algn="ctr">
                      <a:solidFill>
                        <a:srgbClr val="B9CFC2"/>
                      </a:solidFill>
                      <a:prstDash val="solid"/>
                      <a:round/>
                      <a:headEnd type="none" w="med" len="med"/>
                      <a:tailEnd type="none" w="med" len="med"/>
                    </a:lnL>
                    <a:lnR w="9525" cap="flat" cmpd="sng" algn="ctr">
                      <a:solidFill>
                        <a:srgbClr val="B9CFC2"/>
                      </a:solidFill>
                      <a:prstDash val="solid"/>
                      <a:round/>
                      <a:headEnd type="none" w="med" len="med"/>
                      <a:tailEnd type="none" w="med" len="med"/>
                    </a:lnR>
                    <a:lnT w="9525" cap="flat" cmpd="sng" algn="ctr">
                      <a:solidFill>
                        <a:srgbClr val="B9CFC2"/>
                      </a:solidFill>
                      <a:prstDash val="solid"/>
                      <a:round/>
                      <a:headEnd type="none" w="med" len="med"/>
                      <a:tailEnd type="none" w="med" len="med"/>
                    </a:lnT>
                    <a:lnB w="9525" cap="flat" cmpd="sng" algn="ctr">
                      <a:solidFill>
                        <a:srgbClr val="B9CFC2"/>
                      </a:solidFill>
                      <a:prstDash val="solid"/>
                      <a:round/>
                      <a:headEnd type="none" w="med" len="med"/>
                      <a:tailEnd type="none" w="med" len="med"/>
                    </a:lnB>
                    <a:solidFill>
                      <a:srgbClr val="FFFFFF"/>
                    </a:solidFill>
                  </a:tcPr>
                </a:tc>
              </a:tr>
              <a:tr h="411480">
                <a:tc>
                  <a:txBody>
                    <a:bodyPr/>
                    <a:lstStyle/>
                    <a:p>
                      <a:pPr indent="0" marL="0">
                        <a:buNone/>
                      </a:pPr>
                      <a:r>
                        <a:rPr lang="en-US" sz="1300" dirty="0">
                          <a:solidFill>
                            <a:srgbClr val="1B2B22"/>
                          </a:solidFill>
                          <a:latin typeface="Calibri" pitchFamily="34" charset="0"/>
                          <a:ea typeface="Calibri" pitchFamily="34" charset="-122"/>
                          <a:cs typeface="Calibri" pitchFamily="34" charset="-120"/>
                        </a:rPr>
                        <a:t>renderings</a:t>
                      </a:r>
                      <a:endParaRPr lang="en-US" sz="1300" dirty="0">
                        <a:latin typeface="Calibri" charset="0"/>
                        <a:ea typeface="Calibri" charset="0"/>
                        <a:cs typeface="Calibri" charset="0"/>
                      </a:endParaRPr>
                    </a:p>
                  </a:txBody>
                  <a:tcPr marL="91440" marR="91440" marT="45720" marB="45720">
                    <a:lnL w="9525" cap="flat" cmpd="sng" algn="ctr">
                      <a:solidFill>
                        <a:srgbClr val="B9CFC2"/>
                      </a:solidFill>
                      <a:prstDash val="solid"/>
                      <a:round/>
                      <a:headEnd type="none" w="med" len="med"/>
                      <a:tailEnd type="none" w="med" len="med"/>
                    </a:lnL>
                    <a:lnR w="9525" cap="flat" cmpd="sng" algn="ctr">
                      <a:solidFill>
                        <a:srgbClr val="B9CFC2"/>
                      </a:solidFill>
                      <a:prstDash val="solid"/>
                      <a:round/>
                      <a:headEnd type="none" w="med" len="med"/>
                      <a:tailEnd type="none" w="med" len="med"/>
                    </a:lnR>
                    <a:lnT w="9525" cap="flat" cmpd="sng" algn="ctr">
                      <a:solidFill>
                        <a:srgbClr val="B9CFC2"/>
                      </a:solidFill>
                      <a:prstDash val="solid"/>
                      <a:round/>
                      <a:headEnd type="none" w="med" len="med"/>
                      <a:tailEnd type="none" w="med" len="med"/>
                    </a:lnT>
                    <a:lnB w="9525" cap="flat" cmpd="sng" algn="ctr">
                      <a:solidFill>
                        <a:srgbClr val="B9CFC2"/>
                      </a:solidFill>
                      <a:prstDash val="solid"/>
                      <a:round/>
                      <a:headEnd type="none" w="med" len="med"/>
                      <a:tailEnd type="none" w="med" len="med"/>
                    </a:lnB>
                    <a:solidFill>
                      <a:srgbClr val="FFFFFF"/>
                    </a:solidFill>
                  </a:tcPr>
                </a:tc>
                <a:tc>
                  <a:txBody>
                    <a:bodyPr/>
                    <a:lstStyle/>
                    <a:p>
                      <a:pPr indent="0" marL="0">
                        <a:buNone/>
                      </a:pPr>
                      <a:r>
                        <a:rPr lang="en-US" sz="1300" dirty="0">
                          <a:solidFill>
                            <a:srgbClr val="1B2B22"/>
                          </a:solidFill>
                          <a:latin typeface="Calibri" pitchFamily="34" charset="0"/>
                          <a:ea typeface="Calibri" pitchFamily="34" charset="-122"/>
                          <a:cs typeface="Calibri" pitchFamily="34" charset="-120"/>
                        </a:rPr>
                        <a:t>save_renderings</a:t>
                      </a:r>
                      <a:endParaRPr lang="en-US" sz="1300" dirty="0">
                        <a:latin typeface="Calibri" charset="0"/>
                        <a:ea typeface="Calibri" charset="0"/>
                        <a:cs typeface="Calibri" charset="0"/>
                      </a:endParaRPr>
                    </a:p>
                  </a:txBody>
                  <a:tcPr marL="91440" marR="91440" marT="45720" marB="45720">
                    <a:lnL w="9525" cap="flat" cmpd="sng" algn="ctr">
                      <a:solidFill>
                        <a:srgbClr val="B9CFC2"/>
                      </a:solidFill>
                      <a:prstDash val="solid"/>
                      <a:round/>
                      <a:headEnd type="none" w="med" len="med"/>
                      <a:tailEnd type="none" w="med" len="med"/>
                    </a:lnL>
                    <a:lnR w="9525" cap="flat" cmpd="sng" algn="ctr">
                      <a:solidFill>
                        <a:srgbClr val="B9CFC2"/>
                      </a:solidFill>
                      <a:prstDash val="solid"/>
                      <a:round/>
                      <a:headEnd type="none" w="med" len="med"/>
                      <a:tailEnd type="none" w="med" len="med"/>
                    </a:lnR>
                    <a:lnT w="9525" cap="flat" cmpd="sng" algn="ctr">
                      <a:solidFill>
                        <a:srgbClr val="B9CFC2"/>
                      </a:solidFill>
                      <a:prstDash val="solid"/>
                      <a:round/>
                      <a:headEnd type="none" w="med" len="med"/>
                      <a:tailEnd type="none" w="med" len="med"/>
                    </a:lnT>
                    <a:lnB w="9525" cap="flat" cmpd="sng" algn="ctr">
                      <a:solidFill>
                        <a:srgbClr val="B9CFC2"/>
                      </a:solidFill>
                      <a:prstDash val="solid"/>
                      <a:round/>
                      <a:headEnd type="none" w="med" len="med"/>
                      <a:tailEnd type="none" w="med" len="med"/>
                    </a:lnB>
                    <a:solidFill>
                      <a:srgbClr val="FFFFFF"/>
                    </a:solidFill>
                  </a:tcPr>
                </a:tc>
                <a:tc>
                  <a:txBody>
                    <a:bodyPr/>
                    <a:lstStyle/>
                    <a:p>
                      <a:pPr indent="0" marL="0">
                        <a:buNone/>
                      </a:pPr>
                      <a:r>
                        <a:rPr lang="en-US" sz="1300" dirty="0">
                          <a:solidFill>
                            <a:srgbClr val="1B2B22"/>
                          </a:solidFill>
                          <a:latin typeface="Calibri" pitchFamily="34" charset="0"/>
                          <a:ea typeface="Calibri" pitchFamily="34" charset="-122"/>
                          <a:cs typeface="Calibri" pitchFamily="34" charset="-120"/>
                        </a:rPr>
                        <a:t>prompt per target LLM</a:t>
                      </a:r>
                      <a:endParaRPr lang="en-US" sz="1300" dirty="0">
                        <a:latin typeface="Calibri" charset="0"/>
                        <a:ea typeface="Calibri" charset="0"/>
                        <a:cs typeface="Calibri" charset="0"/>
                      </a:endParaRPr>
                    </a:p>
                  </a:txBody>
                  <a:tcPr marL="91440" marR="91440" marT="45720" marB="45720">
                    <a:lnL w="9525" cap="flat" cmpd="sng" algn="ctr">
                      <a:solidFill>
                        <a:srgbClr val="B9CFC2"/>
                      </a:solidFill>
                      <a:prstDash val="solid"/>
                      <a:round/>
                      <a:headEnd type="none" w="med" len="med"/>
                      <a:tailEnd type="none" w="med" len="med"/>
                    </a:lnL>
                    <a:lnR w="9525" cap="flat" cmpd="sng" algn="ctr">
                      <a:solidFill>
                        <a:srgbClr val="B9CFC2"/>
                      </a:solidFill>
                      <a:prstDash val="solid"/>
                      <a:round/>
                      <a:headEnd type="none" w="med" len="med"/>
                      <a:tailEnd type="none" w="med" len="med"/>
                    </a:lnR>
                    <a:lnT w="9525" cap="flat" cmpd="sng" algn="ctr">
                      <a:solidFill>
                        <a:srgbClr val="B9CFC2"/>
                      </a:solidFill>
                      <a:prstDash val="solid"/>
                      <a:round/>
                      <a:headEnd type="none" w="med" len="med"/>
                      <a:tailEnd type="none" w="med" len="med"/>
                    </a:lnT>
                    <a:lnB w="9525" cap="flat" cmpd="sng" algn="ctr">
                      <a:solidFill>
                        <a:srgbClr val="B9CFC2"/>
                      </a:solidFill>
                      <a:prstDash val="solid"/>
                      <a:round/>
                      <a:headEnd type="none" w="med" len="med"/>
                      <a:tailEnd type="none" w="med" len="med"/>
                    </a:lnB>
                    <a:solidFill>
                      <a:srgbClr val="FFFFFF"/>
                    </a:solidFill>
                  </a:tcPr>
                </a:tc>
              </a:tr>
              <a:tr h="411480">
                <a:tc>
                  <a:txBody>
                    <a:bodyPr/>
                    <a:lstStyle/>
                    <a:p>
                      <a:pPr indent="0" marL="0">
                        <a:buNone/>
                      </a:pPr>
                      <a:r>
                        <a:rPr lang="en-US" sz="1300" dirty="0">
                          <a:solidFill>
                            <a:srgbClr val="1B2B22"/>
                          </a:solidFill>
                          <a:latin typeface="Calibri" pitchFamily="34" charset="0"/>
                          <a:ea typeface="Calibri" pitchFamily="34" charset="-122"/>
                          <a:cs typeface="Calibri" pitchFamily="34" charset="-120"/>
                        </a:rPr>
                        <a:t>token_usage</a:t>
                      </a:r>
                      <a:endParaRPr lang="en-US" sz="1300" dirty="0">
                        <a:latin typeface="Calibri" charset="0"/>
                        <a:ea typeface="Calibri" charset="0"/>
                        <a:cs typeface="Calibri" charset="0"/>
                      </a:endParaRPr>
                    </a:p>
                  </a:txBody>
                  <a:tcPr marL="91440" marR="91440" marT="45720" marB="45720">
                    <a:lnL w="9525" cap="flat" cmpd="sng" algn="ctr">
                      <a:solidFill>
                        <a:srgbClr val="B9CFC2"/>
                      </a:solidFill>
                      <a:prstDash val="solid"/>
                      <a:round/>
                      <a:headEnd type="none" w="med" len="med"/>
                      <a:tailEnd type="none" w="med" len="med"/>
                    </a:lnL>
                    <a:lnR w="9525" cap="flat" cmpd="sng" algn="ctr">
                      <a:solidFill>
                        <a:srgbClr val="B9CFC2"/>
                      </a:solidFill>
                      <a:prstDash val="solid"/>
                      <a:round/>
                      <a:headEnd type="none" w="med" len="med"/>
                      <a:tailEnd type="none" w="med" len="med"/>
                    </a:lnR>
                    <a:lnT w="9525" cap="flat" cmpd="sng" algn="ctr">
                      <a:solidFill>
                        <a:srgbClr val="B9CFC2"/>
                      </a:solidFill>
                      <a:prstDash val="solid"/>
                      <a:round/>
                      <a:headEnd type="none" w="med" len="med"/>
                      <a:tailEnd type="none" w="med" len="med"/>
                    </a:lnT>
                    <a:lnB w="9525" cap="flat" cmpd="sng" algn="ctr">
                      <a:solidFill>
                        <a:srgbClr val="B9CFC2"/>
                      </a:solidFill>
                      <a:prstDash val="solid"/>
                      <a:round/>
                      <a:headEnd type="none" w="med" len="med"/>
                      <a:tailEnd type="none" w="med" len="med"/>
                    </a:lnB>
                    <a:solidFill>
                      <a:srgbClr val="FFFFFF"/>
                    </a:solidFill>
                  </a:tcPr>
                </a:tc>
                <a:tc>
                  <a:txBody>
                    <a:bodyPr/>
                    <a:lstStyle/>
                    <a:p>
                      <a:pPr indent="0" marL="0">
                        <a:buNone/>
                      </a:pPr>
                      <a:r>
                        <a:rPr lang="en-US" sz="1300" dirty="0">
                          <a:solidFill>
                            <a:srgbClr val="1B2B22"/>
                          </a:solidFill>
                          <a:latin typeface="Calibri" pitchFamily="34" charset="0"/>
                          <a:ea typeface="Calibri" pitchFamily="34" charset="-122"/>
                          <a:cs typeface="Calibri" pitchFamily="34" charset="-120"/>
                        </a:rPr>
                        <a:t>save_token_usage</a:t>
                      </a:r>
                      <a:endParaRPr lang="en-US" sz="1300" dirty="0">
                        <a:latin typeface="Calibri" charset="0"/>
                        <a:ea typeface="Calibri" charset="0"/>
                        <a:cs typeface="Calibri" charset="0"/>
                      </a:endParaRPr>
                    </a:p>
                  </a:txBody>
                  <a:tcPr marL="91440" marR="91440" marT="45720" marB="45720">
                    <a:lnL w="9525" cap="flat" cmpd="sng" algn="ctr">
                      <a:solidFill>
                        <a:srgbClr val="B9CFC2"/>
                      </a:solidFill>
                      <a:prstDash val="solid"/>
                      <a:round/>
                      <a:headEnd type="none" w="med" len="med"/>
                      <a:tailEnd type="none" w="med" len="med"/>
                    </a:lnL>
                    <a:lnR w="9525" cap="flat" cmpd="sng" algn="ctr">
                      <a:solidFill>
                        <a:srgbClr val="B9CFC2"/>
                      </a:solidFill>
                      <a:prstDash val="solid"/>
                      <a:round/>
                      <a:headEnd type="none" w="med" len="med"/>
                      <a:tailEnd type="none" w="med" len="med"/>
                    </a:lnR>
                    <a:lnT w="9525" cap="flat" cmpd="sng" algn="ctr">
                      <a:solidFill>
                        <a:srgbClr val="B9CFC2"/>
                      </a:solidFill>
                      <a:prstDash val="solid"/>
                      <a:round/>
                      <a:headEnd type="none" w="med" len="med"/>
                      <a:tailEnd type="none" w="med" len="med"/>
                    </a:lnT>
                    <a:lnB w="9525" cap="flat" cmpd="sng" algn="ctr">
                      <a:solidFill>
                        <a:srgbClr val="B9CFC2"/>
                      </a:solidFill>
                      <a:prstDash val="solid"/>
                      <a:round/>
                      <a:headEnd type="none" w="med" len="med"/>
                      <a:tailEnd type="none" w="med" len="med"/>
                    </a:lnB>
                    <a:solidFill>
                      <a:srgbClr val="FFFFFF"/>
                    </a:solidFill>
                  </a:tcPr>
                </a:tc>
                <a:tc>
                  <a:txBody>
                    <a:bodyPr/>
                    <a:lstStyle/>
                    <a:p>
                      <a:pPr indent="0" marL="0">
                        <a:buNone/>
                      </a:pPr>
                      <a:r>
                        <a:rPr lang="en-US" sz="1300" dirty="0">
                          <a:solidFill>
                            <a:srgbClr val="1B2B22"/>
                          </a:solidFill>
                          <a:latin typeface="Calibri" pitchFamily="34" charset="0"/>
                          <a:ea typeface="Calibri" pitchFamily="34" charset="-122"/>
                          <a:cs typeface="Calibri" pitchFamily="34" charset="-120"/>
                        </a:rPr>
                        <a:t>tokens per target</a:t>
                      </a:r>
                      <a:endParaRPr lang="en-US" sz="1300" dirty="0">
                        <a:latin typeface="Calibri" charset="0"/>
                        <a:ea typeface="Calibri" charset="0"/>
                        <a:cs typeface="Calibri" charset="0"/>
                      </a:endParaRPr>
                    </a:p>
                  </a:txBody>
                  <a:tcPr marL="91440" marR="91440" marT="45720" marB="45720">
                    <a:lnL w="9525" cap="flat" cmpd="sng" algn="ctr">
                      <a:solidFill>
                        <a:srgbClr val="B9CFC2"/>
                      </a:solidFill>
                      <a:prstDash val="solid"/>
                      <a:round/>
                      <a:headEnd type="none" w="med" len="med"/>
                      <a:tailEnd type="none" w="med" len="med"/>
                    </a:lnL>
                    <a:lnR w="9525" cap="flat" cmpd="sng" algn="ctr">
                      <a:solidFill>
                        <a:srgbClr val="B9CFC2"/>
                      </a:solidFill>
                      <a:prstDash val="solid"/>
                      <a:round/>
                      <a:headEnd type="none" w="med" len="med"/>
                      <a:tailEnd type="none" w="med" len="med"/>
                    </a:lnR>
                    <a:lnT w="9525" cap="flat" cmpd="sng" algn="ctr">
                      <a:solidFill>
                        <a:srgbClr val="B9CFC2"/>
                      </a:solidFill>
                      <a:prstDash val="solid"/>
                      <a:round/>
                      <a:headEnd type="none" w="med" len="med"/>
                      <a:tailEnd type="none" w="med" len="med"/>
                    </a:lnT>
                    <a:lnB w="9525" cap="flat" cmpd="sng" algn="ctr">
                      <a:solidFill>
                        <a:srgbClr val="B9CFC2"/>
                      </a:solidFill>
                      <a:prstDash val="solid"/>
                      <a:round/>
                      <a:headEnd type="none" w="med" len="med"/>
                      <a:tailEnd type="none" w="med" len="med"/>
                    </a:lnB>
                    <a:solidFill>
                      <a:srgbClr val="FFFFFF"/>
                    </a:solidFill>
                  </a:tcPr>
                </a:tc>
              </a:tr>
            </a:tbl>
          </a:graphicData>
        </a:graphic>
      </p:graphicFrame>
      <p:sp>
        <p:nvSpPr>
          <p:cNvPr id="8" name="Text 3"/>
          <p:cNvSpPr txBox="1"/>
          <p:nvPr/>
        </p:nvSpPr>
        <p:spPr>
          <a:xfrm>
            <a:off x="5394960" y="4937760"/>
            <a:ext cx="6035040" cy="1097280"/>
          </a:xfrm>
          <a:prstGeom prst="rect">
            <a:avLst/>
          </a:prstGeom>
          <a:noFill/>
          <a:ln/>
        </p:spPr>
        <p:txBody>
          <a:bodyPr wrap="square" lIns="635" tIns="635" rIns="635" bIns="635" rtlCol="0" anchor="t"/>
          <a:lstStyle/>
          <a:p>
            <a:pPr indent="0" marL="0">
              <a:buNone/>
            </a:pPr>
            <a:r>
              <a:rPr lang="en-US" sz="1500" i="1" dirty="0">
                <a:solidFill>
                  <a:schemeClr val="tx2"/>
                </a:solidFill>
              </a:rPr>
              <a:t>Cascade on delete · PII scrubbed before storing · 30-day retention enforced before every request</a:t>
            </a:r>
            <a:endParaRPr lang="en-US" sz="1500" dirty="0"/>
          </a:p>
        </p:txBody>
      </p:sp>
      <p:sp>
        <p:nvSpPr>
          <p:cNvPr id="25" name="Slide Number Placeholder 0"/>
          <p:cNvSpPr>
            <a:spLocks noGrp="1"/>
          </p:cNvSpPr>
          <p:nvPr>
            <p:ph type="sldNum" sz="quarter" idx="4294967295"/>
          </p:nvPr>
        </p:nvSpPr>
        <p:spPr>
          <a:xfrm>
            <a:off x="1133856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580"/>
                </a:solidFill>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1" type="title" hasCustomPrompt="1"/>
          </p:nvPr>
        </p:nvSpPr>
        <p:spPr>
          <a:xfrm>
            <a:off x="1188720" y="228600"/>
            <a:ext cx="9966960" cy="731520"/>
          </a:xfrm>
          <a:prstGeom prst="rect">
            <a:avLst/>
          </a:prstGeom>
          <a:noFill/>
          <a:ln/>
        </p:spPr>
        <p:txBody>
          <a:bodyPr wrap="square" lIns="0" tIns="0" rIns="0" bIns="0" rtlCol="0" anchor="ctr"/>
          <a:lstStyle/>
          <a:p>
            <a:pPr algn="l" indent="0" marL="0">
              <a:buNone/>
            </a:pPr>
            <a:r>
              <a:rPr lang="en-US" sz="3000" b="1" dirty="0">
                <a:solidFill>
                  <a:schemeClr val="tx2"/>
                </a:solidFill>
                <a:latin typeface="Arial" pitchFamily="34" charset="0"/>
                <a:ea typeface="Arial" pitchFamily="34" charset="-122"/>
                <a:cs typeface="Arial" pitchFamily="34" charset="-120"/>
              </a:rPr>
              <a:t>Unit testing: 798 tests, all passing</a:t>
            </a:r>
            <a:endParaRPr lang="en-US" sz="3000" dirty="0"/>
          </a:p>
        </p:txBody>
      </p:sp>
      <p:graphicFrame>
        <p:nvGraphicFramePr>
          <p:cNvPr id="4" name="Chart 0" descr=""/>
          <p:cNvGraphicFramePr/>
          <p:nvPr/>
        </p:nvGraphicFramePr>
        <p:xfrm>
          <a:off x="457200" y="1188720"/>
          <a:ext cx="6400800" cy="5074920"/>
        </p:xfrm>
        <a:graphic xmlns:a="http://schemas.openxmlformats.org/drawingml/2006/main">
          <a:graphicData uri="http://schemas.openxmlformats.org/drawingml/2006/chart">
            <c:chart xmlns:c="http://schemas.openxmlformats.org/drawingml/2006/chart" r:id="rId1"/>
          </a:graphicData>
        </a:graphic>
      </p:graphicFrame>
      <p:sp>
        <p:nvSpPr>
          <p:cNvPr id="5" name="Shape 1"/>
          <p:cNvSpPr/>
          <p:nvPr/>
        </p:nvSpPr>
        <p:spPr>
          <a:xfrm>
            <a:off x="7178040" y="1280160"/>
            <a:ext cx="4480560" cy="1828800"/>
          </a:xfrm>
          <a:prstGeom prst="roundRect">
            <a:avLst>
              <a:gd name="adj" fmla="val 6000"/>
            </a:avLst>
          </a:prstGeom>
          <a:solidFill>
            <a:schemeClr val="bg1"/>
          </a:solidFill>
          <a:ln w="9525">
            <a:solidFill>
              <a:srgbClr val="6FA287"/>
            </a:solidFill>
            <a:prstDash val="solid"/>
          </a:ln>
          <a:effectLst>
            <a:outerShdw sx="100000" sy="100000" kx="0" ky="0" algn="bl" rotWithShape="0" blurRad="50800" dist="25400" dir="5400000">
              <a:srgbClr val="9DB8A8">
                <a:alpha val="35000"/>
              </a:srgbClr>
            </a:outerShdw>
          </a:effectLst>
        </p:spPr>
      </p:sp>
      <p:sp>
        <p:nvSpPr>
          <p:cNvPr id="6" name="Text 2"/>
          <p:cNvSpPr txBox="1"/>
          <p:nvPr/>
        </p:nvSpPr>
        <p:spPr>
          <a:xfrm>
            <a:off x="7360920" y="1371600"/>
            <a:ext cx="4114800" cy="365760"/>
          </a:xfrm>
          <a:prstGeom prst="rect">
            <a:avLst/>
          </a:prstGeom>
          <a:noFill/>
          <a:ln/>
        </p:spPr>
        <p:txBody>
          <a:bodyPr wrap="square" lIns="635" tIns="635" rIns="635" bIns="635" rtlCol="0" anchor="t"/>
          <a:lstStyle/>
          <a:p>
            <a:pPr indent="0" marL="0">
              <a:buNone/>
            </a:pPr>
            <a:r>
              <a:rPr lang="en-US" sz="1600" b="1" dirty="0">
                <a:solidFill>
                  <a:schemeClr val="tx2"/>
                </a:solidFill>
              </a:rPr>
              <a:t>Run</a:t>
            </a:r>
            <a:endParaRPr lang="en-US" sz="1600" dirty="0"/>
          </a:p>
        </p:txBody>
      </p:sp>
      <p:sp>
        <p:nvSpPr>
          <p:cNvPr id="7" name="Text 3"/>
          <p:cNvSpPr txBox="1"/>
          <p:nvPr/>
        </p:nvSpPr>
        <p:spPr>
          <a:xfrm>
            <a:off x="7360920" y="1755648"/>
            <a:ext cx="4206240" cy="1280160"/>
          </a:xfrm>
          <a:prstGeom prst="rect">
            <a:avLst/>
          </a:prstGeom>
          <a:noFill/>
          <a:ln/>
        </p:spPr>
        <p:txBody>
          <a:bodyPr wrap="square" lIns="635" tIns="635" rIns="635" bIns="635" rtlCol="0" anchor="t"/>
          <a:lstStyle/>
          <a:p>
            <a:pPr indent="0" marL="0">
              <a:buNone/>
            </a:pPr>
            <a:r>
              <a:rPr lang="en-US" sz="1300" dirty="0">
                <a:solidFill>
                  <a:schemeClr val="tx1"/>
                </a:solidFill>
                <a:latin typeface="Courier New" pitchFamily="34" charset="0"/>
                <a:ea typeface="Courier New" pitchFamily="34" charset="-122"/>
                <a:cs typeface="Courier New" pitchFamily="34" charset="-120"/>
              </a:rPr>
              <a:t>cd backend</a:t>
            </a:r>
            <a:endParaRPr lang="en-US" sz="1300" dirty="0"/>
          </a:p>
          <a:p>
            <a:pPr indent="0" marL="0">
              <a:buNone/>
            </a:pPr>
            <a:r>
              <a:rPr lang="en-US" sz="1300" dirty="0">
                <a:solidFill>
                  <a:schemeClr val="tx1"/>
                </a:solidFill>
                <a:latin typeface="Courier New" pitchFamily="34" charset="0"/>
                <a:ea typeface="Courier New" pitchFamily="34" charset="-122"/>
                <a:cs typeface="Courier New" pitchFamily="34" charset="-120"/>
              </a:rPr>
              <a:t>source .venv/bin/activate</a:t>
            </a:r>
            <a:endParaRPr lang="en-US" sz="1300" dirty="0"/>
          </a:p>
          <a:p>
            <a:pPr indent="0" marL="0">
              <a:buNone/>
            </a:pPr>
            <a:r>
              <a:rPr lang="en-US" sz="1300" dirty="0">
                <a:solidFill>
                  <a:schemeClr val="tx1"/>
                </a:solidFill>
                <a:latin typeface="Courier New" pitchFamily="34" charset="0"/>
                <a:ea typeface="Courier New" pitchFamily="34" charset="-122"/>
                <a:cs typeface="Courier New" pitchFamily="34" charset="-120"/>
              </a:rPr>
              <a:t>python -m pytest -q</a:t>
            </a:r>
            <a:endParaRPr lang="en-US" sz="1300" dirty="0"/>
          </a:p>
          <a:p>
            <a:pPr indent="0" marL="0">
              <a:buNone/>
            </a:pPr>
            <a:r>
              <a:rPr lang="en-US" sz="1300" dirty="0">
                <a:solidFill>
                  <a:schemeClr val="tx1"/>
                </a:solidFill>
                <a:latin typeface="Courier New" pitchFamily="34" charset="0"/>
                <a:ea typeface="Courier New" pitchFamily="34" charset="-122"/>
                <a:cs typeface="Courier New" pitchFamily="34" charset="-120"/>
              </a:rPr>
              <a:t>→ 798 passed in 24.6 s</a:t>
            </a:r>
            <a:endParaRPr lang="en-US" sz="1300" dirty="0"/>
          </a:p>
        </p:txBody>
      </p:sp>
      <p:sp>
        <p:nvSpPr>
          <p:cNvPr id="8" name="Shape 4"/>
          <p:cNvSpPr/>
          <p:nvPr/>
        </p:nvSpPr>
        <p:spPr>
          <a:xfrm>
            <a:off x="7178040" y="3337560"/>
            <a:ext cx="4480560" cy="2880360"/>
          </a:xfrm>
          <a:prstGeom prst="roundRect">
            <a:avLst>
              <a:gd name="adj" fmla="val 3810"/>
            </a:avLst>
          </a:prstGeom>
          <a:solidFill>
            <a:schemeClr val="bg1"/>
          </a:solidFill>
          <a:ln w="9525">
            <a:solidFill>
              <a:srgbClr val="6FA287"/>
            </a:solidFill>
            <a:prstDash val="solid"/>
          </a:ln>
          <a:effectLst>
            <a:outerShdw sx="100000" sy="100000" kx="0" ky="0" algn="bl" rotWithShape="0" blurRad="50800" dist="25400" dir="5400000">
              <a:srgbClr val="9DB8A8">
                <a:alpha val="35000"/>
              </a:srgbClr>
            </a:outerShdw>
          </a:effectLst>
        </p:spPr>
      </p:sp>
      <p:sp>
        <p:nvSpPr>
          <p:cNvPr id="9" name="Text 5"/>
          <p:cNvSpPr txBox="1"/>
          <p:nvPr/>
        </p:nvSpPr>
        <p:spPr>
          <a:xfrm>
            <a:off x="7360920" y="3429000"/>
            <a:ext cx="4114800" cy="365760"/>
          </a:xfrm>
          <a:prstGeom prst="rect">
            <a:avLst/>
          </a:prstGeom>
          <a:noFill/>
          <a:ln/>
        </p:spPr>
        <p:txBody>
          <a:bodyPr wrap="square" lIns="635" tIns="635" rIns="635" bIns="635" rtlCol="0" anchor="t"/>
          <a:lstStyle/>
          <a:p>
            <a:pPr indent="0" marL="0">
              <a:buNone/>
            </a:pPr>
            <a:r>
              <a:rPr lang="en-US" sz="1600" b="1" dirty="0">
                <a:solidFill>
                  <a:schemeClr val="tx2"/>
                </a:solidFill>
              </a:rPr>
              <a:t>Real examples</a:t>
            </a:r>
            <a:endParaRPr lang="en-US" sz="1600" dirty="0"/>
          </a:p>
        </p:txBody>
      </p:sp>
      <p:sp>
        <p:nvSpPr>
          <p:cNvPr id="10" name="Text 6"/>
          <p:cNvSpPr txBox="1"/>
          <p:nvPr/>
        </p:nvSpPr>
        <p:spPr>
          <a:xfrm>
            <a:off x="7360920" y="3840480"/>
            <a:ext cx="4206240" cy="2286000"/>
          </a:xfrm>
          <a:prstGeom prst="rect">
            <a:avLst/>
          </a:prstGeom>
          <a:noFill/>
          <a:ln/>
        </p:spPr>
        <p:txBody>
          <a:bodyPr wrap="square" lIns="1016" tIns="1016" rIns="1016" bIns="1016" rtlCol="0" anchor="t"/>
          <a:lstStyle/>
          <a:p>
            <a:pPr marL="342900" indent="-342900">
              <a:spcAft>
                <a:spcPts val="500"/>
              </a:spcAft>
              <a:buSzPct val="100000"/>
              <a:buChar char="•"/>
            </a:pPr>
            <a:r>
              <a:rPr lang="en-US" sz="1300" dirty="0">
                <a:solidFill>
                  <a:schemeClr val="tx1"/>
                </a:solidFill>
                <a:latin typeface="Courier New" pitchFamily="34" charset="0"/>
                <a:ea typeface="Courier New" pitchFamily="34" charset="-122"/>
                <a:cs typeface="Courier New" pitchFamily="34" charset="-120"/>
              </a:rPr>
              <a:t>test_b05_defaults_to_python</a:t>
            </a:r>
            <a:endParaRPr lang="en-US" sz="1300" dirty="0"/>
          </a:p>
          <a:p>
            <a:pPr marL="342900" indent="-342900">
              <a:spcAft>
                <a:spcPts val="500"/>
              </a:spcAft>
              <a:buSzPct val="100000"/>
              <a:buChar char="•"/>
            </a:pPr>
            <a:r>
              <a:rPr lang="en-US" sz="1300" dirty="0">
                <a:solidFill>
                  <a:schemeClr val="tx1"/>
                </a:solidFill>
                <a:latin typeface="Courier New" pitchFamily="34" charset="0"/>
                <a:ea typeface="Courier New" pitchFamily="34" charset="-122"/>
                <a:cs typeface="Courier New" pitchFamily="34" charset="-120"/>
              </a:rPr>
              <a:t>test_pii_is_scrubbed_before_storage</a:t>
            </a:r>
            <a:endParaRPr lang="en-US" sz="1300" dirty="0"/>
          </a:p>
          <a:p>
            <a:pPr marL="342900" indent="-342900">
              <a:spcAft>
                <a:spcPts val="500"/>
              </a:spcAft>
              <a:buSzPct val="100000"/>
              <a:buChar char="•"/>
            </a:pPr>
            <a:r>
              <a:rPr lang="en-US" sz="1300" dirty="0">
                <a:solidFill>
                  <a:schemeClr val="tx1"/>
                </a:solidFill>
                <a:latin typeface="Courier New" pitchFamily="34" charset="0"/>
                <a:ea typeface="Courier New" pitchFamily="34" charset="-122"/>
                <a:cs typeface="Courier New" pitchFamily="34" charset="-120"/>
              </a:rPr>
              <a:t>test_retention_purge_cascades</a:t>
            </a:r>
            <a:endParaRPr lang="en-US" sz="1300" dirty="0"/>
          </a:p>
          <a:p>
            <a:pPr marL="342900" indent="-342900">
              <a:spcAft>
                <a:spcPts val="500"/>
              </a:spcAft>
              <a:buSzPct val="100000"/>
              <a:buChar char="•"/>
            </a:pPr>
            <a:r>
              <a:rPr lang="en-US" sz="1300" dirty="0">
                <a:solidFill>
                  <a:schemeClr val="tx1"/>
                </a:solidFill>
                <a:latin typeface="Courier New" pitchFamily="34" charset="0"/>
                <a:ea typeface="Courier New" pitchFamily="34" charset="-122"/>
                <a:cs typeface="Courier New" pitchFamily="34" charset="-120"/>
              </a:rPr>
              <a:t>test_blank_prompt_is_rejected_with_422_not_500</a:t>
            </a:r>
            <a:endParaRPr lang="en-US" sz="1300" dirty="0"/>
          </a:p>
          <a:p>
            <a:pPr marL="342900" indent="-342900">
              <a:spcAft>
                <a:spcPts val="500"/>
              </a:spcAft>
              <a:buSzPct val="100000"/>
              <a:buChar char="•"/>
            </a:pPr>
            <a:r>
              <a:rPr lang="en-US" sz="1300" dirty="0">
                <a:solidFill>
                  <a:schemeClr val="tx1"/>
                </a:solidFill>
                <a:latin typeface="Courier New" pitchFamily="34" charset="0"/>
                <a:ea typeface="Courier New" pitchFamily="34" charset="-122"/>
                <a:cs typeface="Courier New" pitchFamily="34" charset="-120"/>
              </a:rPr>
              <a:t>test_invalid_answers_fall_back_to_stage_b</a:t>
            </a:r>
            <a:endParaRPr lang="en-US" sz="1300" dirty="0"/>
          </a:p>
        </p:txBody>
      </p:sp>
      <p:sp>
        <p:nvSpPr>
          <p:cNvPr id="25" name="Slide Number Placeholder 0"/>
          <p:cNvSpPr>
            <a:spLocks noGrp="1"/>
          </p:cNvSpPr>
          <p:nvPr>
            <p:ph type="sldNum" sz="quarter" idx="4294967295"/>
          </p:nvPr>
        </p:nvSpPr>
        <p:spPr>
          <a:xfrm>
            <a:off x="1133856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580"/>
                </a:solidFill>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1" type="title" hasCustomPrompt="1"/>
          </p:nvPr>
        </p:nvSpPr>
        <p:spPr>
          <a:xfrm>
            <a:off x="1188720" y="228600"/>
            <a:ext cx="9966960" cy="731520"/>
          </a:xfrm>
          <a:prstGeom prst="rect">
            <a:avLst/>
          </a:prstGeom>
          <a:noFill/>
          <a:ln/>
        </p:spPr>
        <p:txBody>
          <a:bodyPr wrap="square" lIns="0" tIns="0" rIns="0" bIns="0" rtlCol="0" anchor="ctr"/>
          <a:lstStyle/>
          <a:p>
            <a:pPr algn="l" indent="0" marL="0">
              <a:buNone/>
            </a:pPr>
            <a:r>
              <a:rPr lang="en-US" sz="3000" b="1" dirty="0">
                <a:solidFill>
                  <a:schemeClr val="tx2"/>
                </a:solidFill>
                <a:latin typeface="Arial" pitchFamily="34" charset="0"/>
                <a:ea typeface="Arial" pitchFamily="34" charset="-122"/>
                <a:cs typeface="Arial" pitchFamily="34" charset="-120"/>
              </a:rPr>
              <a:t>Integration and system testing</a:t>
            </a:r>
            <a:endParaRPr lang="en-US" sz="3000" dirty="0"/>
          </a:p>
        </p:txBody>
      </p:sp>
      <p:sp>
        <p:nvSpPr>
          <p:cNvPr id="4" name="Shape 1"/>
          <p:cNvSpPr/>
          <p:nvPr/>
        </p:nvSpPr>
        <p:spPr>
          <a:xfrm>
            <a:off x="457200" y="1280160"/>
            <a:ext cx="3611880" cy="2331720"/>
          </a:xfrm>
          <a:prstGeom prst="roundRect">
            <a:avLst>
              <a:gd name="adj" fmla="val 4706"/>
            </a:avLst>
          </a:prstGeom>
          <a:solidFill>
            <a:schemeClr val="bg1"/>
          </a:solidFill>
          <a:ln w="9525">
            <a:solidFill>
              <a:srgbClr val="6FA287"/>
            </a:solidFill>
            <a:prstDash val="solid"/>
          </a:ln>
          <a:effectLst>
            <a:outerShdw sx="100000" sy="100000" kx="0" ky="0" algn="bl" rotWithShape="0" blurRad="50800" dist="25400" dir="5400000">
              <a:srgbClr val="9DB8A8">
                <a:alpha val="35000"/>
              </a:srgbClr>
            </a:outerShdw>
          </a:effectLst>
        </p:spPr>
      </p:sp>
      <p:sp>
        <p:nvSpPr>
          <p:cNvPr id="5" name="Text 2"/>
          <p:cNvSpPr txBox="1"/>
          <p:nvPr/>
        </p:nvSpPr>
        <p:spPr>
          <a:xfrm>
            <a:off x="594360" y="1371600"/>
            <a:ext cx="3337560" cy="365760"/>
          </a:xfrm>
          <a:prstGeom prst="rect">
            <a:avLst/>
          </a:prstGeom>
          <a:noFill/>
          <a:ln/>
        </p:spPr>
        <p:txBody>
          <a:bodyPr wrap="square" lIns="635" tIns="635" rIns="635" bIns="635" rtlCol="0" anchor="t"/>
          <a:lstStyle/>
          <a:p>
            <a:pPr indent="0" marL="0">
              <a:buNone/>
            </a:pPr>
            <a:r>
              <a:rPr lang="en-US" sz="1600" b="1" dirty="0">
                <a:solidFill>
                  <a:schemeClr val="tx2"/>
                </a:solidFill>
              </a:rPr>
              <a:t>Freeze check</a:t>
            </a:r>
            <a:endParaRPr lang="en-US" sz="1600" dirty="0"/>
          </a:p>
        </p:txBody>
      </p:sp>
      <p:sp>
        <p:nvSpPr>
          <p:cNvPr id="6" name="Text 3"/>
          <p:cNvSpPr txBox="1"/>
          <p:nvPr/>
        </p:nvSpPr>
        <p:spPr>
          <a:xfrm>
            <a:off x="594360" y="1737360"/>
            <a:ext cx="3337560" cy="685800"/>
          </a:xfrm>
          <a:prstGeom prst="rect">
            <a:avLst/>
          </a:prstGeom>
          <a:noFill/>
          <a:ln/>
        </p:spPr>
        <p:txBody>
          <a:bodyPr wrap="square" lIns="635" tIns="635" rIns="635" bIns="635" rtlCol="0" anchor="t"/>
          <a:lstStyle/>
          <a:p>
            <a:pPr indent="0" marL="0">
              <a:buNone/>
            </a:pPr>
            <a:r>
              <a:rPr lang="en-US" sz="2800" b="1" dirty="0">
                <a:solidFill>
                  <a:schemeClr val="accent2"/>
                </a:solidFill>
                <a:latin typeface="Arial" pitchFamily="34" charset="0"/>
                <a:ea typeface="Arial" pitchFamily="34" charset="-122"/>
                <a:cs typeface="Arial" pitchFamily="34" charset="-120"/>
              </a:rPr>
              <a:t>BYTE-IDENTICAL</a:t>
            </a:r>
            <a:endParaRPr lang="en-US" sz="2800" dirty="0"/>
          </a:p>
        </p:txBody>
      </p:sp>
      <p:sp>
        <p:nvSpPr>
          <p:cNvPr id="7" name="Text 4"/>
          <p:cNvSpPr txBox="1"/>
          <p:nvPr/>
        </p:nvSpPr>
        <p:spPr>
          <a:xfrm>
            <a:off x="594360" y="2468880"/>
            <a:ext cx="3337560" cy="1051560"/>
          </a:xfrm>
          <a:prstGeom prst="rect">
            <a:avLst/>
          </a:prstGeom>
          <a:noFill/>
          <a:ln/>
        </p:spPr>
        <p:txBody>
          <a:bodyPr wrap="square" lIns="635" tIns="635" rIns="635" bIns="635" rtlCol="0" anchor="t"/>
          <a:lstStyle/>
          <a:p>
            <a:pPr indent="0" marL="0">
              <a:buNone/>
            </a:pPr>
            <a:r>
              <a:rPr lang="en-US" sz="1300" dirty="0">
                <a:solidFill>
                  <a:schemeClr val="tx1"/>
                </a:solidFill>
              </a:rPr>
              <a:t>482 test prompts, Stage A+B vs tag frozen-for-test (sha256 35f7d4dc…)</a:t>
            </a:r>
            <a:endParaRPr lang="en-US" sz="1300" dirty="0"/>
          </a:p>
        </p:txBody>
      </p:sp>
      <p:sp>
        <p:nvSpPr>
          <p:cNvPr id="8" name="Shape 5"/>
          <p:cNvSpPr/>
          <p:nvPr/>
        </p:nvSpPr>
        <p:spPr>
          <a:xfrm>
            <a:off x="4251960" y="1280160"/>
            <a:ext cx="3611880" cy="2331720"/>
          </a:xfrm>
          <a:prstGeom prst="roundRect">
            <a:avLst>
              <a:gd name="adj" fmla="val 4706"/>
            </a:avLst>
          </a:prstGeom>
          <a:solidFill>
            <a:schemeClr val="bg1"/>
          </a:solidFill>
          <a:ln w="9525">
            <a:solidFill>
              <a:srgbClr val="6FA287"/>
            </a:solidFill>
            <a:prstDash val="solid"/>
          </a:ln>
          <a:effectLst>
            <a:outerShdw sx="100000" sy="100000" kx="0" ky="0" algn="bl" rotWithShape="0" blurRad="50800" dist="25400" dir="5400000">
              <a:srgbClr val="9DB8A8">
                <a:alpha val="35000"/>
              </a:srgbClr>
            </a:outerShdw>
          </a:effectLst>
        </p:spPr>
      </p:sp>
      <p:sp>
        <p:nvSpPr>
          <p:cNvPr id="9" name="Text 6"/>
          <p:cNvSpPr txBox="1"/>
          <p:nvPr/>
        </p:nvSpPr>
        <p:spPr>
          <a:xfrm>
            <a:off x="4389120" y="1371600"/>
            <a:ext cx="3337560" cy="365760"/>
          </a:xfrm>
          <a:prstGeom prst="rect">
            <a:avLst/>
          </a:prstGeom>
          <a:noFill/>
          <a:ln/>
        </p:spPr>
        <p:txBody>
          <a:bodyPr wrap="square" lIns="635" tIns="635" rIns="635" bIns="635" rtlCol="0" anchor="t"/>
          <a:lstStyle/>
          <a:p>
            <a:pPr indent="0" marL="0">
              <a:buNone/>
            </a:pPr>
            <a:r>
              <a:rPr lang="en-US" sz="1600" b="1" dirty="0">
                <a:solidFill>
                  <a:schemeClr val="tx2"/>
                </a:solidFill>
              </a:rPr>
              <a:t>UI end-to-end</a:t>
            </a:r>
            <a:endParaRPr lang="en-US" sz="1600" dirty="0"/>
          </a:p>
        </p:txBody>
      </p:sp>
      <p:sp>
        <p:nvSpPr>
          <p:cNvPr id="10" name="Text 7"/>
          <p:cNvSpPr txBox="1"/>
          <p:nvPr/>
        </p:nvSpPr>
        <p:spPr>
          <a:xfrm>
            <a:off x="4389120" y="1737360"/>
            <a:ext cx="3337560" cy="685800"/>
          </a:xfrm>
          <a:prstGeom prst="rect">
            <a:avLst/>
          </a:prstGeom>
          <a:noFill/>
          <a:ln/>
        </p:spPr>
        <p:txBody>
          <a:bodyPr wrap="square" lIns="635" tIns="635" rIns="635" bIns="635" rtlCol="0" anchor="t"/>
          <a:lstStyle/>
          <a:p>
            <a:pPr indent="0" marL="0">
              <a:buNone/>
            </a:pPr>
            <a:r>
              <a:rPr lang="en-US" sz="2800" b="1" dirty="0">
                <a:solidFill>
                  <a:schemeClr val="accent2"/>
                </a:solidFill>
                <a:latin typeface="Arial" pitchFamily="34" charset="0"/>
                <a:ea typeface="Arial" pitchFamily="34" charset="-122"/>
                <a:cs typeface="Arial" pitchFamily="34" charset="-120"/>
              </a:rPr>
              <a:t>13 / 13</a:t>
            </a:r>
            <a:endParaRPr lang="en-US" sz="2800" dirty="0"/>
          </a:p>
        </p:txBody>
      </p:sp>
      <p:sp>
        <p:nvSpPr>
          <p:cNvPr id="11" name="Text 8"/>
          <p:cNvSpPr txBox="1"/>
          <p:nvPr/>
        </p:nvSpPr>
        <p:spPr>
          <a:xfrm>
            <a:off x="4389120" y="2468880"/>
            <a:ext cx="3337560" cy="1051560"/>
          </a:xfrm>
          <a:prstGeom prst="rect">
            <a:avLst/>
          </a:prstGeom>
          <a:noFill/>
          <a:ln/>
        </p:spPr>
        <p:txBody>
          <a:bodyPr wrap="square" lIns="635" tIns="635" rIns="635" bIns="635" rtlCol="0" anchor="t"/>
          <a:lstStyle/>
          <a:p>
            <a:pPr indent="0" marL="0">
              <a:buNone/>
            </a:pPr>
            <a:r>
              <a:rPr lang="en-US" sz="1300" dirty="0">
                <a:solidFill>
                  <a:schemeClr val="tx1"/>
                </a:solidFill>
              </a:rPr>
              <a:t>Playwright + Chrome: optimize, compare, suite, history, image mode, no console errors</a:t>
            </a:r>
            <a:endParaRPr lang="en-US" sz="1300" dirty="0"/>
          </a:p>
        </p:txBody>
      </p:sp>
      <p:sp>
        <p:nvSpPr>
          <p:cNvPr id="12" name="Shape 9"/>
          <p:cNvSpPr/>
          <p:nvPr/>
        </p:nvSpPr>
        <p:spPr>
          <a:xfrm>
            <a:off x="8046720" y="1280160"/>
            <a:ext cx="3611880" cy="2331720"/>
          </a:xfrm>
          <a:prstGeom prst="roundRect">
            <a:avLst>
              <a:gd name="adj" fmla="val 4706"/>
            </a:avLst>
          </a:prstGeom>
          <a:solidFill>
            <a:schemeClr val="bg1"/>
          </a:solidFill>
          <a:ln w="9525">
            <a:solidFill>
              <a:srgbClr val="6FA287"/>
            </a:solidFill>
            <a:prstDash val="solid"/>
          </a:ln>
          <a:effectLst>
            <a:outerShdw sx="100000" sy="100000" kx="0" ky="0" algn="bl" rotWithShape="0" blurRad="50800" dist="25400" dir="5400000">
              <a:srgbClr val="9DB8A8">
                <a:alpha val="35000"/>
              </a:srgbClr>
            </a:outerShdw>
          </a:effectLst>
        </p:spPr>
      </p:sp>
      <p:sp>
        <p:nvSpPr>
          <p:cNvPr id="13" name="Text 10"/>
          <p:cNvSpPr txBox="1"/>
          <p:nvPr/>
        </p:nvSpPr>
        <p:spPr>
          <a:xfrm>
            <a:off x="8183880" y="1371600"/>
            <a:ext cx="3337560" cy="365760"/>
          </a:xfrm>
          <a:prstGeom prst="rect">
            <a:avLst/>
          </a:prstGeom>
          <a:noFill/>
          <a:ln/>
        </p:spPr>
        <p:txBody>
          <a:bodyPr wrap="square" lIns="635" tIns="635" rIns="635" bIns="635" rtlCol="0" anchor="t"/>
          <a:lstStyle/>
          <a:p>
            <a:pPr indent="0" marL="0">
              <a:buNone/>
            </a:pPr>
            <a:r>
              <a:rPr lang="en-US" sz="1600" b="1" dirty="0">
                <a:solidFill>
                  <a:schemeClr val="tx2"/>
                </a:solidFill>
              </a:rPr>
              <a:t>API end-to-end</a:t>
            </a:r>
            <a:endParaRPr lang="en-US" sz="1600" dirty="0"/>
          </a:p>
        </p:txBody>
      </p:sp>
      <p:sp>
        <p:nvSpPr>
          <p:cNvPr id="14" name="Text 11"/>
          <p:cNvSpPr txBox="1"/>
          <p:nvPr/>
        </p:nvSpPr>
        <p:spPr>
          <a:xfrm>
            <a:off x="8183880" y="1737360"/>
            <a:ext cx="3337560" cy="685800"/>
          </a:xfrm>
          <a:prstGeom prst="rect">
            <a:avLst/>
          </a:prstGeom>
          <a:noFill/>
          <a:ln/>
        </p:spPr>
        <p:txBody>
          <a:bodyPr wrap="square" lIns="635" tIns="635" rIns="635" bIns="635" rtlCol="0" anchor="t"/>
          <a:lstStyle/>
          <a:p>
            <a:pPr indent="0" marL="0">
              <a:buNone/>
            </a:pPr>
            <a:r>
              <a:rPr lang="en-US" sz="2800" b="1" dirty="0">
                <a:solidFill>
                  <a:schemeClr val="accent2"/>
                </a:solidFill>
                <a:latin typeface="Arial" pitchFamily="34" charset="0"/>
                <a:ea typeface="Arial" pitchFamily="34" charset="-122"/>
                <a:cs typeface="Arial" pitchFamily="34" charset="-120"/>
              </a:rPr>
              <a:t>pytest</a:t>
            </a:r>
            <a:endParaRPr lang="en-US" sz="2800" dirty="0"/>
          </a:p>
        </p:txBody>
      </p:sp>
      <p:sp>
        <p:nvSpPr>
          <p:cNvPr id="15" name="Text 12"/>
          <p:cNvSpPr txBox="1"/>
          <p:nvPr/>
        </p:nvSpPr>
        <p:spPr>
          <a:xfrm>
            <a:off x="8183880" y="2468880"/>
            <a:ext cx="3337560" cy="1051560"/>
          </a:xfrm>
          <a:prstGeom prst="rect">
            <a:avLst/>
          </a:prstGeom>
          <a:noFill/>
          <a:ln/>
        </p:spPr>
        <p:txBody>
          <a:bodyPr wrap="square" lIns="635" tIns="635" rIns="635" bIns="635" rtlCol="0" anchor="t"/>
          <a:lstStyle/>
          <a:p>
            <a:pPr indent="0" marL="0">
              <a:buNone/>
            </a:pPr>
            <a:r>
              <a:rPr lang="en-US" sz="1300" dirty="0">
                <a:solidFill>
                  <a:schemeClr val="tx1"/>
                </a:solidFill>
              </a:rPr>
              <a:t>FastAPI TestClient: Stage C on/off, 422 errors, retention, PII-scrubbed Compare</a:t>
            </a:r>
            <a:endParaRPr lang="en-US" sz="1300" dirty="0"/>
          </a:p>
        </p:txBody>
      </p:sp>
      <p:sp>
        <p:nvSpPr>
          <p:cNvPr id="16" name="Shape 13"/>
          <p:cNvSpPr/>
          <p:nvPr/>
        </p:nvSpPr>
        <p:spPr>
          <a:xfrm>
            <a:off x="457200" y="3794760"/>
            <a:ext cx="3611880" cy="2331720"/>
          </a:xfrm>
          <a:prstGeom prst="roundRect">
            <a:avLst>
              <a:gd name="adj" fmla="val 4706"/>
            </a:avLst>
          </a:prstGeom>
          <a:solidFill>
            <a:schemeClr val="bg1"/>
          </a:solidFill>
          <a:ln w="9525">
            <a:solidFill>
              <a:srgbClr val="6FA287"/>
            </a:solidFill>
            <a:prstDash val="solid"/>
          </a:ln>
          <a:effectLst>
            <a:outerShdw sx="100000" sy="100000" kx="0" ky="0" algn="bl" rotWithShape="0" blurRad="50800" dist="25400" dir="5400000">
              <a:srgbClr val="9DB8A8">
                <a:alpha val="35000"/>
              </a:srgbClr>
            </a:outerShdw>
          </a:effectLst>
        </p:spPr>
      </p:sp>
      <p:sp>
        <p:nvSpPr>
          <p:cNvPr id="17" name="Text 14"/>
          <p:cNvSpPr txBox="1"/>
          <p:nvPr/>
        </p:nvSpPr>
        <p:spPr>
          <a:xfrm>
            <a:off x="594360" y="3886200"/>
            <a:ext cx="3337560" cy="365760"/>
          </a:xfrm>
          <a:prstGeom prst="rect">
            <a:avLst/>
          </a:prstGeom>
          <a:noFill/>
          <a:ln/>
        </p:spPr>
        <p:txBody>
          <a:bodyPr wrap="square" lIns="635" tIns="635" rIns="635" bIns="635" rtlCol="0" anchor="t"/>
          <a:lstStyle/>
          <a:p>
            <a:pPr indent="0" marL="0">
              <a:buNone/>
            </a:pPr>
            <a:r>
              <a:rPr lang="en-US" sz="1600" b="1" dirty="0">
                <a:solidFill>
                  <a:schemeClr val="tx2"/>
                </a:solidFill>
              </a:rPr>
              <a:t>Full pipeline</a:t>
            </a:r>
            <a:endParaRPr lang="en-US" sz="1600" dirty="0"/>
          </a:p>
        </p:txBody>
      </p:sp>
      <p:sp>
        <p:nvSpPr>
          <p:cNvPr id="18" name="Text 15"/>
          <p:cNvSpPr txBox="1"/>
          <p:nvPr/>
        </p:nvSpPr>
        <p:spPr>
          <a:xfrm>
            <a:off x="594360" y="4251960"/>
            <a:ext cx="3337560" cy="685800"/>
          </a:xfrm>
          <a:prstGeom prst="rect">
            <a:avLst/>
          </a:prstGeom>
          <a:noFill/>
          <a:ln/>
        </p:spPr>
        <p:txBody>
          <a:bodyPr wrap="square" lIns="635" tIns="635" rIns="635" bIns="635" rtlCol="0" anchor="t"/>
          <a:lstStyle/>
          <a:p>
            <a:pPr indent="0" marL="0">
              <a:buNone/>
            </a:pPr>
            <a:r>
              <a:rPr lang="en-US" sz="2800" b="1" dirty="0">
                <a:solidFill>
                  <a:schemeClr val="accent2"/>
                </a:solidFill>
                <a:latin typeface="Arial" pitchFamily="34" charset="0"/>
                <a:ea typeface="Arial" pitchFamily="34" charset="-122"/>
                <a:cs typeface="Arial" pitchFamily="34" charset="-120"/>
              </a:rPr>
              <a:t>482 + 44</a:t>
            </a:r>
            <a:endParaRPr lang="en-US" sz="2800" dirty="0"/>
          </a:p>
        </p:txBody>
      </p:sp>
      <p:sp>
        <p:nvSpPr>
          <p:cNvPr id="19" name="Text 16"/>
          <p:cNvSpPr txBox="1"/>
          <p:nvPr/>
        </p:nvSpPr>
        <p:spPr>
          <a:xfrm>
            <a:off x="594360" y="4983480"/>
            <a:ext cx="3337560" cy="1051560"/>
          </a:xfrm>
          <a:prstGeom prst="rect">
            <a:avLst/>
          </a:prstGeom>
          <a:noFill/>
          <a:ln/>
        </p:spPr>
        <p:txBody>
          <a:bodyPr wrap="square" lIns="635" tIns="635" rIns="635" bIns="635" rtlCol="0" anchor="t"/>
          <a:lstStyle/>
          <a:p>
            <a:pPr indent="0" marL="0">
              <a:buNone/>
            </a:pPr>
            <a:r>
              <a:rPr lang="en-US" sz="1300" dirty="0">
                <a:solidFill>
                  <a:schemeClr val="tx1"/>
                </a:solidFill>
              </a:rPr>
              <a:t>test split run once (2 Oct) · benchmark with real LLM + blind judge</a:t>
            </a:r>
            <a:endParaRPr lang="en-US" sz="1300" dirty="0"/>
          </a:p>
        </p:txBody>
      </p:sp>
      <p:sp>
        <p:nvSpPr>
          <p:cNvPr id="20" name="Shape 17"/>
          <p:cNvSpPr/>
          <p:nvPr/>
        </p:nvSpPr>
        <p:spPr>
          <a:xfrm>
            <a:off x="4251960" y="3794760"/>
            <a:ext cx="3611880" cy="2331720"/>
          </a:xfrm>
          <a:prstGeom prst="roundRect">
            <a:avLst>
              <a:gd name="adj" fmla="val 4706"/>
            </a:avLst>
          </a:prstGeom>
          <a:solidFill>
            <a:schemeClr val="bg1"/>
          </a:solidFill>
          <a:ln w="9525">
            <a:solidFill>
              <a:srgbClr val="6FA287"/>
            </a:solidFill>
            <a:prstDash val="solid"/>
          </a:ln>
          <a:effectLst>
            <a:outerShdw sx="100000" sy="100000" kx="0" ky="0" algn="bl" rotWithShape="0" blurRad="50800" dist="25400" dir="5400000">
              <a:srgbClr val="9DB8A8">
                <a:alpha val="35000"/>
              </a:srgbClr>
            </a:outerShdw>
          </a:effectLst>
        </p:spPr>
      </p:sp>
      <p:sp>
        <p:nvSpPr>
          <p:cNvPr id="21" name="Text 18"/>
          <p:cNvSpPr txBox="1"/>
          <p:nvPr/>
        </p:nvSpPr>
        <p:spPr>
          <a:xfrm>
            <a:off x="4389120" y="3886200"/>
            <a:ext cx="3337560" cy="365760"/>
          </a:xfrm>
          <a:prstGeom prst="rect">
            <a:avLst/>
          </a:prstGeom>
          <a:noFill/>
          <a:ln/>
        </p:spPr>
        <p:txBody>
          <a:bodyPr wrap="square" lIns="635" tIns="635" rIns="635" bIns="635" rtlCol="0" anchor="t"/>
          <a:lstStyle/>
          <a:p>
            <a:pPr indent="0" marL="0">
              <a:buNone/>
            </a:pPr>
            <a:r>
              <a:rPr lang="en-US" sz="1600" b="1" dirty="0">
                <a:solidFill>
                  <a:schemeClr val="tx2"/>
                </a:solidFill>
              </a:rPr>
              <a:t>Coding sandbox</a:t>
            </a:r>
            <a:endParaRPr lang="en-US" sz="1600" dirty="0"/>
          </a:p>
        </p:txBody>
      </p:sp>
      <p:sp>
        <p:nvSpPr>
          <p:cNvPr id="22" name="Text 19"/>
          <p:cNvSpPr txBox="1"/>
          <p:nvPr/>
        </p:nvSpPr>
        <p:spPr>
          <a:xfrm>
            <a:off x="4389120" y="4251960"/>
            <a:ext cx="3337560" cy="685800"/>
          </a:xfrm>
          <a:prstGeom prst="rect">
            <a:avLst/>
          </a:prstGeom>
          <a:noFill/>
          <a:ln/>
        </p:spPr>
        <p:txBody>
          <a:bodyPr wrap="square" lIns="635" tIns="635" rIns="635" bIns="635" rtlCol="0" anchor="t"/>
          <a:lstStyle/>
          <a:p>
            <a:pPr indent="0" marL="0">
              <a:buNone/>
            </a:pPr>
            <a:r>
              <a:rPr lang="en-US" sz="2800" b="1" dirty="0">
                <a:solidFill>
                  <a:schemeClr val="accent2"/>
                </a:solidFill>
                <a:latin typeface="Arial" pitchFamily="34" charset="0"/>
                <a:ea typeface="Arial" pitchFamily="34" charset="-122"/>
                <a:cs typeface="Arial" pitchFamily="34" charset="-120"/>
              </a:rPr>
              <a:t>20.7 → 34.5%</a:t>
            </a:r>
            <a:endParaRPr lang="en-US" sz="2800" dirty="0"/>
          </a:p>
        </p:txBody>
      </p:sp>
      <p:sp>
        <p:nvSpPr>
          <p:cNvPr id="23" name="Text 20"/>
          <p:cNvSpPr txBox="1"/>
          <p:nvPr/>
        </p:nvSpPr>
        <p:spPr>
          <a:xfrm>
            <a:off x="4389120" y="4983480"/>
            <a:ext cx="3337560" cy="1051560"/>
          </a:xfrm>
          <a:prstGeom prst="rect">
            <a:avLst/>
          </a:prstGeom>
          <a:noFill/>
          <a:ln/>
        </p:spPr>
        <p:txBody>
          <a:bodyPr wrap="square" lIns="635" tIns="635" rIns="635" bIns="635" rtlCol="0" anchor="t"/>
          <a:lstStyle/>
          <a:p>
            <a:pPr indent="0" marL="0">
              <a:buNone/>
            </a:pPr>
            <a:r>
              <a:rPr lang="en-US" sz="1300" dirty="0">
                <a:solidFill>
                  <a:schemeClr val="tx1"/>
                </a:solidFill>
              </a:rPr>
              <a:t>pass@1 strict, 29 Python items; bubblewrap: no network, read-only</a:t>
            </a:r>
            <a:endParaRPr lang="en-US" sz="1300" dirty="0"/>
          </a:p>
        </p:txBody>
      </p:sp>
      <p:sp>
        <p:nvSpPr>
          <p:cNvPr id="24" name="Shape 21"/>
          <p:cNvSpPr/>
          <p:nvPr/>
        </p:nvSpPr>
        <p:spPr>
          <a:xfrm>
            <a:off x="8046720" y="3794760"/>
            <a:ext cx="3611880" cy="2331720"/>
          </a:xfrm>
          <a:prstGeom prst="roundRect">
            <a:avLst>
              <a:gd name="adj" fmla="val 4706"/>
            </a:avLst>
          </a:prstGeom>
          <a:solidFill>
            <a:schemeClr val="bg1"/>
          </a:solidFill>
          <a:ln w="9525">
            <a:solidFill>
              <a:srgbClr val="6FA287"/>
            </a:solidFill>
            <a:prstDash val="solid"/>
          </a:ln>
          <a:effectLst>
            <a:outerShdw sx="100000" sy="100000" kx="0" ky="0" algn="bl" rotWithShape="0" blurRad="50800" dist="25400" dir="5400000">
              <a:srgbClr val="9DB8A8">
                <a:alpha val="35000"/>
              </a:srgbClr>
            </a:outerShdw>
          </a:effectLst>
        </p:spPr>
      </p:sp>
      <p:sp>
        <p:nvSpPr>
          <p:cNvPr id="25" name="Text 22"/>
          <p:cNvSpPr txBox="1"/>
          <p:nvPr/>
        </p:nvSpPr>
        <p:spPr>
          <a:xfrm>
            <a:off x="8183880" y="3886200"/>
            <a:ext cx="3337560" cy="365760"/>
          </a:xfrm>
          <a:prstGeom prst="rect">
            <a:avLst/>
          </a:prstGeom>
          <a:noFill/>
          <a:ln/>
        </p:spPr>
        <p:txBody>
          <a:bodyPr wrap="square" lIns="635" tIns="635" rIns="635" bIns="635" rtlCol="0" anchor="t"/>
          <a:lstStyle/>
          <a:p>
            <a:pPr indent="0" marL="0">
              <a:buNone/>
            </a:pPr>
            <a:r>
              <a:rPr lang="en-US" sz="1600" b="1" dirty="0">
                <a:solidFill>
                  <a:schemeClr val="tx2"/>
                </a:solidFill>
              </a:rPr>
              <a:t>Correctness suite</a:t>
            </a:r>
            <a:endParaRPr lang="en-US" sz="1600" dirty="0"/>
          </a:p>
        </p:txBody>
      </p:sp>
      <p:sp>
        <p:nvSpPr>
          <p:cNvPr id="26" name="Text 23"/>
          <p:cNvSpPr txBox="1"/>
          <p:nvPr/>
        </p:nvSpPr>
        <p:spPr>
          <a:xfrm>
            <a:off x="8183880" y="4251960"/>
            <a:ext cx="3337560" cy="685800"/>
          </a:xfrm>
          <a:prstGeom prst="rect">
            <a:avLst/>
          </a:prstGeom>
          <a:noFill/>
          <a:ln/>
        </p:spPr>
        <p:txBody>
          <a:bodyPr wrap="square" lIns="635" tIns="635" rIns="635" bIns="635" rtlCol="0" anchor="t"/>
          <a:lstStyle/>
          <a:p>
            <a:pPr indent="0" marL="0">
              <a:buNone/>
            </a:pPr>
            <a:r>
              <a:rPr lang="en-US" sz="2800" b="1" dirty="0">
                <a:solidFill>
                  <a:schemeClr val="accent2"/>
                </a:solidFill>
                <a:latin typeface="Arial" pitchFamily="34" charset="0"/>
                <a:ea typeface="Arial" pitchFamily="34" charset="-122"/>
                <a:cs typeface="Arial" pitchFamily="34" charset="-120"/>
              </a:rPr>
              <a:t>37 → 42 / 50</a:t>
            </a:r>
            <a:endParaRPr lang="en-US" sz="2800" dirty="0"/>
          </a:p>
        </p:txBody>
      </p:sp>
      <p:sp>
        <p:nvSpPr>
          <p:cNvPr id="27" name="Text 24"/>
          <p:cNvSpPr txBox="1"/>
          <p:nvPr/>
        </p:nvSpPr>
        <p:spPr>
          <a:xfrm>
            <a:off x="8183880" y="4983480"/>
            <a:ext cx="3337560" cy="1051560"/>
          </a:xfrm>
          <a:prstGeom prst="rect">
            <a:avLst/>
          </a:prstGeom>
          <a:noFill/>
          <a:ln/>
        </p:spPr>
        <p:txBody>
          <a:bodyPr wrap="square" lIns="635" tIns="635" rIns="635" bIns="635" rtlCol="0" anchor="t"/>
          <a:lstStyle/>
          <a:p>
            <a:pPr indent="0" marL="0">
              <a:buNone/>
            </a:pPr>
            <a:r>
              <a:rPr lang="en-US" sz="1300" dirty="0">
                <a:solidFill>
                  <a:schemeClr val="tx1"/>
                </a:solidFill>
              </a:rPr>
              <a:t>hand-written cases with verifiable answers, gold human-reviewed</a:t>
            </a:r>
            <a:endParaRPr lang="en-US" sz="1300" dirty="0"/>
          </a:p>
        </p:txBody>
      </p:sp>
      <p:sp>
        <p:nvSpPr>
          <p:cNvPr id="25" name="Slide Number Placeholder 0"/>
          <p:cNvSpPr>
            <a:spLocks noGrp="1"/>
          </p:cNvSpPr>
          <p:nvPr>
            <p:ph type="sldNum" sz="quarter" idx="4294967295"/>
          </p:nvPr>
        </p:nvSpPr>
        <p:spPr>
          <a:xfrm>
            <a:off x="1133856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580"/>
                </a:solidFill>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1" type="title" hasCustomPrompt="1"/>
          </p:nvPr>
        </p:nvSpPr>
        <p:spPr>
          <a:xfrm>
            <a:off x="1188720" y="228600"/>
            <a:ext cx="9966960" cy="731520"/>
          </a:xfrm>
          <a:prstGeom prst="rect">
            <a:avLst/>
          </a:prstGeom>
          <a:noFill/>
          <a:ln/>
        </p:spPr>
        <p:txBody>
          <a:bodyPr wrap="square" lIns="0" tIns="0" rIns="0" bIns="0" rtlCol="0" anchor="ctr"/>
          <a:lstStyle/>
          <a:p>
            <a:pPr algn="l" indent="0" marL="0">
              <a:buNone/>
            </a:pPr>
            <a:r>
              <a:rPr lang="en-US" sz="3000" b="1" dirty="0">
                <a:solidFill>
                  <a:schemeClr val="tx2"/>
                </a:solidFill>
                <a:latin typeface="Arial" pitchFamily="34" charset="0"/>
                <a:ea typeface="Arial" pitchFamily="34" charset="-122"/>
                <a:cs typeface="Arial" pitchFamily="34" charset="-120"/>
              </a:rPr>
              <a:t>Test cases and correctness, including failures</a:t>
            </a:r>
            <a:endParaRPr lang="en-US" sz="30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7223760" cy="914400"/>
        </p:xfrm>
        <a:graphic>
          <a:graphicData uri="http://schemas.openxmlformats.org/drawingml/2006/table">
            <a:tbl>
              <a:tblPr/>
              <a:tblGrid>
                <a:gridCol w="640080"/>
                <a:gridCol w="1600200"/>
                <a:gridCol w="2606040"/>
                <a:gridCol w="1691640"/>
                <a:gridCol w="685800"/>
              </a:tblGrid>
              <a:tr h="502920">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ID</a:t>
                      </a:r>
                      <a:endParaRPr lang="en-US" sz="1200" dirty="0">
                        <a:latin typeface="Calibri" charset="0"/>
                        <a:ea typeface="Calibri" charset="0"/>
                        <a:cs typeface="Calibri" charset="0"/>
                      </a:endParaRPr>
                    </a:p>
                  </a:txBody>
                  <a:tcPr marL="91440" marR="91440" marT="45720" marB="45720">
                    <a:lnL w="9525" cap="flat" cmpd="sng" algn="ctr">
                      <a:solidFill>
                        <a:srgbClr val="B9CFC2"/>
                      </a:solidFill>
                      <a:prstDash val="solid"/>
                      <a:round/>
                      <a:headEnd type="none" w="med" len="med"/>
                      <a:tailEnd type="none" w="med" len="med"/>
                    </a:lnL>
                    <a:lnR w="9525" cap="flat" cmpd="sng" algn="ctr">
                      <a:solidFill>
                        <a:srgbClr val="B9CFC2"/>
                      </a:solidFill>
                      <a:prstDash val="solid"/>
                      <a:round/>
                      <a:headEnd type="none" w="med" len="med"/>
                      <a:tailEnd type="none" w="med" len="med"/>
                    </a:lnR>
                    <a:lnT w="9525" cap="flat" cmpd="sng" algn="ctr">
                      <a:solidFill>
                        <a:srgbClr val="B9CFC2"/>
                      </a:solidFill>
                      <a:prstDash val="solid"/>
                      <a:round/>
                      <a:headEnd type="none" w="med" len="med"/>
                      <a:tailEnd type="none" w="med" len="med"/>
                    </a:lnT>
                    <a:lnB w="9525" cap="flat" cmpd="sng" algn="ctr">
                      <a:solidFill>
                        <a:srgbClr val="B9CFC2"/>
                      </a:solidFill>
                      <a:prstDash val="solid"/>
                      <a:round/>
                      <a:headEnd type="none" w="med" len="med"/>
                      <a:tailEnd type="none" w="med" len="med"/>
                    </a:lnB>
                    <a:solidFill>
                      <a:srgbClr val="2F6B4F"/>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Case</a:t>
                      </a:r>
                      <a:endParaRPr lang="en-US" sz="1200" dirty="0">
                        <a:latin typeface="Calibri" charset="0"/>
                        <a:ea typeface="Calibri" charset="0"/>
                        <a:cs typeface="Calibri" charset="0"/>
                      </a:endParaRPr>
                    </a:p>
                  </a:txBody>
                  <a:tcPr marL="91440" marR="91440" marT="45720" marB="45720">
                    <a:lnL w="9525" cap="flat" cmpd="sng" algn="ctr">
                      <a:solidFill>
                        <a:srgbClr val="B9CFC2"/>
                      </a:solidFill>
                      <a:prstDash val="solid"/>
                      <a:round/>
                      <a:headEnd type="none" w="med" len="med"/>
                      <a:tailEnd type="none" w="med" len="med"/>
                    </a:lnL>
                    <a:lnR w="9525" cap="flat" cmpd="sng" algn="ctr">
                      <a:solidFill>
                        <a:srgbClr val="B9CFC2"/>
                      </a:solidFill>
                      <a:prstDash val="solid"/>
                      <a:round/>
                      <a:headEnd type="none" w="med" len="med"/>
                      <a:tailEnd type="none" w="med" len="med"/>
                    </a:lnR>
                    <a:lnT w="9525" cap="flat" cmpd="sng" algn="ctr">
                      <a:solidFill>
                        <a:srgbClr val="B9CFC2"/>
                      </a:solidFill>
                      <a:prstDash val="solid"/>
                      <a:round/>
                      <a:headEnd type="none" w="med" len="med"/>
                      <a:tailEnd type="none" w="med" len="med"/>
                    </a:lnT>
                    <a:lnB w="9525" cap="flat" cmpd="sng" algn="ctr">
                      <a:solidFill>
                        <a:srgbClr val="B9CFC2"/>
                      </a:solidFill>
                      <a:prstDash val="solid"/>
                      <a:round/>
                      <a:headEnd type="none" w="med" len="med"/>
                      <a:tailEnd type="none" w="med" len="med"/>
                    </a:lnB>
                    <a:solidFill>
                      <a:srgbClr val="2F6B4F"/>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Input</a:t>
                      </a:r>
                      <a:endParaRPr lang="en-US" sz="1200" dirty="0">
                        <a:latin typeface="Calibri" charset="0"/>
                        <a:ea typeface="Calibri" charset="0"/>
                        <a:cs typeface="Calibri" charset="0"/>
                      </a:endParaRPr>
                    </a:p>
                  </a:txBody>
                  <a:tcPr marL="91440" marR="91440" marT="45720" marB="45720">
                    <a:lnL w="9525" cap="flat" cmpd="sng" algn="ctr">
                      <a:solidFill>
                        <a:srgbClr val="B9CFC2"/>
                      </a:solidFill>
                      <a:prstDash val="solid"/>
                      <a:round/>
                      <a:headEnd type="none" w="med" len="med"/>
                      <a:tailEnd type="none" w="med" len="med"/>
                    </a:lnL>
                    <a:lnR w="9525" cap="flat" cmpd="sng" algn="ctr">
                      <a:solidFill>
                        <a:srgbClr val="B9CFC2"/>
                      </a:solidFill>
                      <a:prstDash val="solid"/>
                      <a:round/>
                      <a:headEnd type="none" w="med" len="med"/>
                      <a:tailEnd type="none" w="med" len="med"/>
                    </a:lnR>
                    <a:lnT w="9525" cap="flat" cmpd="sng" algn="ctr">
                      <a:solidFill>
                        <a:srgbClr val="B9CFC2"/>
                      </a:solidFill>
                      <a:prstDash val="solid"/>
                      <a:round/>
                      <a:headEnd type="none" w="med" len="med"/>
                      <a:tailEnd type="none" w="med" len="med"/>
                    </a:lnT>
                    <a:lnB w="9525" cap="flat" cmpd="sng" algn="ctr">
                      <a:solidFill>
                        <a:srgbClr val="B9CFC2"/>
                      </a:solidFill>
                      <a:prstDash val="solid"/>
                      <a:round/>
                      <a:headEnd type="none" w="med" len="med"/>
                      <a:tailEnd type="none" w="med" len="med"/>
                    </a:lnB>
                    <a:solidFill>
                      <a:srgbClr val="2F6B4F"/>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Result</a:t>
                      </a:r>
                      <a:endParaRPr lang="en-US" sz="1200" dirty="0">
                        <a:latin typeface="Calibri" charset="0"/>
                        <a:ea typeface="Calibri" charset="0"/>
                        <a:cs typeface="Calibri" charset="0"/>
                      </a:endParaRPr>
                    </a:p>
                  </a:txBody>
                  <a:tcPr marL="91440" marR="91440" marT="45720" marB="45720">
                    <a:lnL w="9525" cap="flat" cmpd="sng" algn="ctr">
                      <a:solidFill>
                        <a:srgbClr val="B9CFC2"/>
                      </a:solidFill>
                      <a:prstDash val="solid"/>
                      <a:round/>
                      <a:headEnd type="none" w="med" len="med"/>
                      <a:tailEnd type="none" w="med" len="med"/>
                    </a:lnL>
                    <a:lnR w="9525" cap="flat" cmpd="sng" algn="ctr">
                      <a:solidFill>
                        <a:srgbClr val="B9CFC2"/>
                      </a:solidFill>
                      <a:prstDash val="solid"/>
                      <a:round/>
                      <a:headEnd type="none" w="med" len="med"/>
                      <a:tailEnd type="none" w="med" len="med"/>
                    </a:lnR>
                    <a:lnT w="9525" cap="flat" cmpd="sng" algn="ctr">
                      <a:solidFill>
                        <a:srgbClr val="B9CFC2"/>
                      </a:solidFill>
                      <a:prstDash val="solid"/>
                      <a:round/>
                      <a:headEnd type="none" w="med" len="med"/>
                      <a:tailEnd type="none" w="med" len="med"/>
                    </a:lnT>
                    <a:lnB w="9525" cap="flat" cmpd="sng" algn="ctr">
                      <a:solidFill>
                        <a:srgbClr val="B9CFC2"/>
                      </a:solidFill>
                      <a:prstDash val="solid"/>
                      <a:round/>
                      <a:headEnd type="none" w="med" len="med"/>
                      <a:tailEnd type="none" w="med" len="med"/>
                    </a:lnB>
                    <a:solidFill>
                      <a:srgbClr val="2F6B4F"/>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Status</a:t>
                      </a:r>
                      <a:endParaRPr lang="en-US" sz="1200" dirty="0">
                        <a:latin typeface="Calibri" charset="0"/>
                        <a:ea typeface="Calibri" charset="0"/>
                        <a:cs typeface="Calibri" charset="0"/>
                      </a:endParaRPr>
                    </a:p>
                  </a:txBody>
                  <a:tcPr marL="91440" marR="91440" marT="45720" marB="45720">
                    <a:lnL w="9525" cap="flat" cmpd="sng" algn="ctr">
                      <a:solidFill>
                        <a:srgbClr val="B9CFC2"/>
                      </a:solidFill>
                      <a:prstDash val="solid"/>
                      <a:round/>
                      <a:headEnd type="none" w="med" len="med"/>
                      <a:tailEnd type="none" w="med" len="med"/>
                    </a:lnL>
                    <a:lnR w="9525" cap="flat" cmpd="sng" algn="ctr">
                      <a:solidFill>
                        <a:srgbClr val="B9CFC2"/>
                      </a:solidFill>
                      <a:prstDash val="solid"/>
                      <a:round/>
                      <a:headEnd type="none" w="med" len="med"/>
                      <a:tailEnd type="none" w="med" len="med"/>
                    </a:lnR>
                    <a:lnT w="9525" cap="flat" cmpd="sng" algn="ctr">
                      <a:solidFill>
                        <a:srgbClr val="B9CFC2"/>
                      </a:solidFill>
                      <a:prstDash val="solid"/>
                      <a:round/>
                      <a:headEnd type="none" w="med" len="med"/>
                      <a:tailEnd type="none" w="med" len="med"/>
                    </a:lnT>
                    <a:lnB w="9525" cap="flat" cmpd="sng" algn="ctr">
                      <a:solidFill>
                        <a:srgbClr val="B9CFC2"/>
                      </a:solidFill>
                      <a:prstDash val="solid"/>
                      <a:round/>
                      <a:headEnd type="none" w="med" len="med"/>
                      <a:tailEnd type="none" w="med" len="med"/>
                    </a:lnB>
                    <a:solidFill>
                      <a:srgbClr val="2F6B4F"/>
                    </a:solidFill>
                  </a:tcPr>
                </a:tc>
              </a:tr>
              <a:tr h="502920">
                <a:tc>
                  <a:txBody>
                    <a:bodyPr/>
                    <a:lstStyle/>
                    <a:p>
                      <a:pPr indent="0" marL="0">
                        <a:buNone/>
                      </a:pPr>
                      <a:r>
                        <a:rPr lang="en-US" sz="1200" dirty="0">
                          <a:solidFill>
                            <a:srgbClr val="1B2B22"/>
                          </a:solidFill>
                          <a:latin typeface="Calibri" pitchFamily="34" charset="0"/>
                          <a:ea typeface="Calibri" pitchFamily="34" charset="-122"/>
                          <a:cs typeface="Calibri" pitchFamily="34" charset="-120"/>
                        </a:rPr>
                        <a:t>TC04</a:t>
                      </a:r>
                      <a:endParaRPr lang="en-US" sz="1200" dirty="0">
                        <a:latin typeface="Calibri" charset="0"/>
                        <a:ea typeface="Calibri" charset="0"/>
                        <a:cs typeface="Calibri" charset="0"/>
                      </a:endParaRPr>
                    </a:p>
                  </a:txBody>
                  <a:tcPr marL="91440" marR="91440" marT="45720" marB="45720">
                    <a:lnL w="9525" cap="flat" cmpd="sng" algn="ctr">
                      <a:solidFill>
                        <a:srgbClr val="B9CFC2"/>
                      </a:solidFill>
                      <a:prstDash val="solid"/>
                      <a:round/>
                      <a:headEnd type="none" w="med" len="med"/>
                      <a:tailEnd type="none" w="med" len="med"/>
                    </a:lnL>
                    <a:lnR w="9525" cap="flat" cmpd="sng" algn="ctr">
                      <a:solidFill>
                        <a:srgbClr val="B9CFC2"/>
                      </a:solidFill>
                      <a:prstDash val="solid"/>
                      <a:round/>
                      <a:headEnd type="none" w="med" len="med"/>
                      <a:tailEnd type="none" w="med" len="med"/>
                    </a:lnR>
                    <a:lnT w="9525" cap="flat" cmpd="sng" algn="ctr">
                      <a:solidFill>
                        <a:srgbClr val="B9CFC2"/>
                      </a:solidFill>
                      <a:prstDash val="solid"/>
                      <a:round/>
                      <a:headEnd type="none" w="med" len="med"/>
                      <a:tailEnd type="none" w="med" len="med"/>
                    </a:lnT>
                    <a:lnB w="9525" cap="flat" cmpd="sng" algn="ctr">
                      <a:solidFill>
                        <a:srgbClr val="B9CFC2"/>
                      </a:solidFill>
                      <a:prstDash val="solid"/>
                      <a:round/>
                      <a:headEnd type="none" w="med" len="med"/>
                      <a:tailEnd type="none" w="med" len="med"/>
                    </a:lnB>
                    <a:solidFill>
                      <a:srgbClr val="FFFFFF"/>
                    </a:solidFill>
                  </a:tcPr>
                </a:tc>
                <a:tc>
                  <a:txBody>
                    <a:bodyPr/>
                    <a:lstStyle/>
                    <a:p>
                      <a:pPr indent="0" marL="0">
                        <a:buNone/>
                      </a:pPr>
                      <a:r>
                        <a:rPr lang="en-US" sz="1200" dirty="0">
                          <a:solidFill>
                            <a:srgbClr val="1B2B22"/>
                          </a:solidFill>
                          <a:latin typeface="Calibri" pitchFamily="34" charset="0"/>
                          <a:ea typeface="Calibri" pitchFamily="34" charset="-122"/>
                          <a:cs typeface="Calibri" pitchFamily="34" charset="-120"/>
                        </a:rPr>
                        <a:t>B01 removes filler</a:t>
                      </a:r>
                      <a:endParaRPr lang="en-US" sz="1200" dirty="0">
                        <a:latin typeface="Calibri" charset="0"/>
                        <a:ea typeface="Calibri" charset="0"/>
                        <a:cs typeface="Calibri" charset="0"/>
                      </a:endParaRPr>
                    </a:p>
                  </a:txBody>
                  <a:tcPr marL="91440" marR="91440" marT="45720" marB="45720">
                    <a:lnL w="9525" cap="flat" cmpd="sng" algn="ctr">
                      <a:solidFill>
                        <a:srgbClr val="B9CFC2"/>
                      </a:solidFill>
                      <a:prstDash val="solid"/>
                      <a:round/>
                      <a:headEnd type="none" w="med" len="med"/>
                      <a:tailEnd type="none" w="med" len="med"/>
                    </a:lnL>
                    <a:lnR w="9525" cap="flat" cmpd="sng" algn="ctr">
                      <a:solidFill>
                        <a:srgbClr val="B9CFC2"/>
                      </a:solidFill>
                      <a:prstDash val="solid"/>
                      <a:round/>
                      <a:headEnd type="none" w="med" len="med"/>
                      <a:tailEnd type="none" w="med" len="med"/>
                    </a:lnR>
                    <a:lnT w="9525" cap="flat" cmpd="sng" algn="ctr">
                      <a:solidFill>
                        <a:srgbClr val="B9CFC2"/>
                      </a:solidFill>
                      <a:prstDash val="solid"/>
                      <a:round/>
                      <a:headEnd type="none" w="med" len="med"/>
                      <a:tailEnd type="none" w="med" len="med"/>
                    </a:lnT>
                    <a:lnB w="9525" cap="flat" cmpd="sng" algn="ctr">
                      <a:solidFill>
                        <a:srgbClr val="B9CFC2"/>
                      </a:solidFill>
                      <a:prstDash val="solid"/>
                      <a:round/>
                      <a:headEnd type="none" w="med" len="med"/>
                      <a:tailEnd type="none" w="med" len="med"/>
                    </a:lnB>
                    <a:solidFill>
                      <a:srgbClr val="FFFFFF"/>
                    </a:solidFill>
                  </a:tcPr>
                </a:tc>
                <a:tc>
                  <a:txBody>
                    <a:bodyPr/>
                    <a:lstStyle/>
                    <a:p>
                      <a:pPr indent="0" marL="0">
                        <a:buNone/>
                      </a:pPr>
                      <a:r>
                        <a:rPr lang="en-US" sz="1200" dirty="0">
                          <a:solidFill>
                            <a:srgbClr val="1B2B22"/>
                          </a:solidFill>
                          <a:latin typeface="Calibri" pitchFamily="34" charset="0"/>
                          <a:ea typeface="Calibri" pitchFamily="34" charset="-122"/>
                          <a:cs typeface="Calibri" pitchFamily="34" charset="-120"/>
                        </a:rPr>
                        <a:t>"hey can you please summarize the text for me?"</a:t>
                      </a:r>
                      <a:endParaRPr lang="en-US" sz="1200" dirty="0">
                        <a:latin typeface="Calibri" charset="0"/>
                        <a:ea typeface="Calibri" charset="0"/>
                        <a:cs typeface="Calibri" charset="0"/>
                      </a:endParaRPr>
                    </a:p>
                  </a:txBody>
                  <a:tcPr marL="91440" marR="91440" marT="45720" marB="45720">
                    <a:lnL w="9525" cap="flat" cmpd="sng" algn="ctr">
                      <a:solidFill>
                        <a:srgbClr val="B9CFC2"/>
                      </a:solidFill>
                      <a:prstDash val="solid"/>
                      <a:round/>
                      <a:headEnd type="none" w="med" len="med"/>
                      <a:tailEnd type="none" w="med" len="med"/>
                    </a:lnL>
                    <a:lnR w="9525" cap="flat" cmpd="sng" algn="ctr">
                      <a:solidFill>
                        <a:srgbClr val="B9CFC2"/>
                      </a:solidFill>
                      <a:prstDash val="solid"/>
                      <a:round/>
                      <a:headEnd type="none" w="med" len="med"/>
                      <a:tailEnd type="none" w="med" len="med"/>
                    </a:lnR>
                    <a:lnT w="9525" cap="flat" cmpd="sng" algn="ctr">
                      <a:solidFill>
                        <a:srgbClr val="B9CFC2"/>
                      </a:solidFill>
                      <a:prstDash val="solid"/>
                      <a:round/>
                      <a:headEnd type="none" w="med" len="med"/>
                      <a:tailEnd type="none" w="med" len="med"/>
                    </a:lnT>
                    <a:lnB w="9525" cap="flat" cmpd="sng" algn="ctr">
                      <a:solidFill>
                        <a:srgbClr val="B9CFC2"/>
                      </a:solidFill>
                      <a:prstDash val="solid"/>
                      <a:round/>
                      <a:headEnd type="none" w="med" len="med"/>
                      <a:tailEnd type="none" w="med" len="med"/>
                    </a:lnB>
                    <a:solidFill>
                      <a:srgbClr val="FFFFFF"/>
                    </a:solidFill>
                  </a:tcPr>
                </a:tc>
                <a:tc>
                  <a:txBody>
                    <a:bodyPr/>
                    <a:lstStyle/>
                    <a:p>
                      <a:pPr indent="0" marL="0">
                        <a:buNone/>
                      </a:pPr>
                      <a:r>
                        <a:rPr lang="en-US" sz="1200" dirty="0">
                          <a:solidFill>
                            <a:srgbClr val="1B2B22"/>
                          </a:solidFill>
                          <a:latin typeface="Calibri" pitchFamily="34" charset="0"/>
                          <a:ea typeface="Calibri" pitchFamily="34" charset="-122"/>
                          <a:cs typeface="Calibri" pitchFamily="34" charset="-120"/>
                        </a:rPr>
                        <a:t>"Summarize the text."</a:t>
                      </a:r>
                      <a:endParaRPr lang="en-US" sz="1200" dirty="0">
                        <a:latin typeface="Calibri" charset="0"/>
                        <a:ea typeface="Calibri" charset="0"/>
                        <a:cs typeface="Calibri" charset="0"/>
                      </a:endParaRPr>
                    </a:p>
                  </a:txBody>
                  <a:tcPr marL="91440" marR="91440" marT="45720" marB="45720">
                    <a:lnL w="9525" cap="flat" cmpd="sng" algn="ctr">
                      <a:solidFill>
                        <a:srgbClr val="B9CFC2"/>
                      </a:solidFill>
                      <a:prstDash val="solid"/>
                      <a:round/>
                      <a:headEnd type="none" w="med" len="med"/>
                      <a:tailEnd type="none" w="med" len="med"/>
                    </a:lnL>
                    <a:lnR w="9525" cap="flat" cmpd="sng" algn="ctr">
                      <a:solidFill>
                        <a:srgbClr val="B9CFC2"/>
                      </a:solidFill>
                      <a:prstDash val="solid"/>
                      <a:round/>
                      <a:headEnd type="none" w="med" len="med"/>
                      <a:tailEnd type="none" w="med" len="med"/>
                    </a:lnR>
                    <a:lnT w="9525" cap="flat" cmpd="sng" algn="ctr">
                      <a:solidFill>
                        <a:srgbClr val="B9CFC2"/>
                      </a:solidFill>
                      <a:prstDash val="solid"/>
                      <a:round/>
                      <a:headEnd type="none" w="med" len="med"/>
                      <a:tailEnd type="none" w="med" len="med"/>
                    </a:lnT>
                    <a:lnB w="9525" cap="flat" cmpd="sng" algn="ctr">
                      <a:solidFill>
                        <a:srgbClr val="B9CFC2"/>
                      </a:solidFill>
                      <a:prstDash val="solid"/>
                      <a:round/>
                      <a:headEnd type="none" w="med" len="med"/>
                      <a:tailEnd type="none" w="med" len="med"/>
                    </a:lnB>
                    <a:solidFill>
                      <a:srgbClr val="FFFFFF"/>
                    </a:solidFill>
                  </a:tcPr>
                </a:tc>
                <a:tc>
                  <a:txBody>
                    <a:bodyPr/>
                    <a:lstStyle/>
                    <a:p>
                      <a:pPr indent="0" marL="0">
                        <a:buNone/>
                      </a:pPr>
                      <a:r>
                        <a:rPr lang="en-US" sz="1200" b="1" dirty="0">
                          <a:solidFill>
                            <a:srgbClr val="1E7B34"/>
                          </a:solidFill>
                          <a:latin typeface="Calibri" pitchFamily="34" charset="0"/>
                          <a:ea typeface="Calibri" pitchFamily="34" charset="-122"/>
                          <a:cs typeface="Calibri" pitchFamily="34" charset="-120"/>
                        </a:rPr>
                        <a:t>PASS</a:t>
                      </a:r>
                      <a:endParaRPr lang="en-US" sz="1200" dirty="0">
                        <a:latin typeface="Calibri" charset="0"/>
                        <a:ea typeface="Calibri" charset="0"/>
                        <a:cs typeface="Calibri" charset="0"/>
                      </a:endParaRPr>
                    </a:p>
                  </a:txBody>
                  <a:tcPr marL="91440" marR="91440" marT="45720" marB="45720">
                    <a:lnL w="9525" cap="flat" cmpd="sng" algn="ctr">
                      <a:solidFill>
                        <a:srgbClr val="B9CFC2"/>
                      </a:solidFill>
                      <a:prstDash val="solid"/>
                      <a:round/>
                      <a:headEnd type="none" w="med" len="med"/>
                      <a:tailEnd type="none" w="med" len="med"/>
                    </a:lnL>
                    <a:lnR w="9525" cap="flat" cmpd="sng" algn="ctr">
                      <a:solidFill>
                        <a:srgbClr val="B9CFC2"/>
                      </a:solidFill>
                      <a:prstDash val="solid"/>
                      <a:round/>
                      <a:headEnd type="none" w="med" len="med"/>
                      <a:tailEnd type="none" w="med" len="med"/>
                    </a:lnR>
                    <a:lnT w="9525" cap="flat" cmpd="sng" algn="ctr">
                      <a:solidFill>
                        <a:srgbClr val="B9CFC2"/>
                      </a:solidFill>
                      <a:prstDash val="solid"/>
                      <a:round/>
                      <a:headEnd type="none" w="med" len="med"/>
                      <a:tailEnd type="none" w="med" len="med"/>
                    </a:lnT>
                    <a:lnB w="9525" cap="flat" cmpd="sng" algn="ctr">
                      <a:solidFill>
                        <a:srgbClr val="B9CFC2"/>
                      </a:solidFill>
                      <a:prstDash val="solid"/>
                      <a:round/>
                      <a:headEnd type="none" w="med" len="med"/>
                      <a:tailEnd type="none" w="med" len="med"/>
                    </a:lnB>
                    <a:solidFill>
                      <a:srgbClr val="FFFFFF"/>
                    </a:solidFill>
                  </a:tcPr>
                </a:tc>
              </a:tr>
              <a:tr h="502920">
                <a:tc>
                  <a:txBody>
                    <a:bodyPr/>
                    <a:lstStyle/>
                    <a:p>
                      <a:pPr indent="0" marL="0">
                        <a:buNone/>
                      </a:pPr>
                      <a:r>
                        <a:rPr lang="en-US" sz="1200" dirty="0">
                          <a:solidFill>
                            <a:srgbClr val="1B2B22"/>
                          </a:solidFill>
                          <a:latin typeface="Calibri" pitchFamily="34" charset="0"/>
                          <a:ea typeface="Calibri" pitchFamily="34" charset="-122"/>
                          <a:cs typeface="Calibri" pitchFamily="34" charset="-120"/>
                        </a:rPr>
                        <a:t>TC16</a:t>
                      </a:r>
                      <a:endParaRPr lang="en-US" sz="1200" dirty="0">
                        <a:latin typeface="Calibri" charset="0"/>
                        <a:ea typeface="Calibri" charset="0"/>
                        <a:cs typeface="Calibri" charset="0"/>
                      </a:endParaRPr>
                    </a:p>
                  </a:txBody>
                  <a:tcPr marL="91440" marR="91440" marT="45720" marB="45720">
                    <a:lnL w="9525" cap="flat" cmpd="sng" algn="ctr">
                      <a:solidFill>
                        <a:srgbClr val="B9CFC2"/>
                      </a:solidFill>
                      <a:prstDash val="solid"/>
                      <a:round/>
                      <a:headEnd type="none" w="med" len="med"/>
                      <a:tailEnd type="none" w="med" len="med"/>
                    </a:lnL>
                    <a:lnR w="9525" cap="flat" cmpd="sng" algn="ctr">
                      <a:solidFill>
                        <a:srgbClr val="B9CFC2"/>
                      </a:solidFill>
                      <a:prstDash val="solid"/>
                      <a:round/>
                      <a:headEnd type="none" w="med" len="med"/>
                      <a:tailEnd type="none" w="med" len="med"/>
                    </a:lnR>
                    <a:lnT w="9525" cap="flat" cmpd="sng" algn="ctr">
                      <a:solidFill>
                        <a:srgbClr val="B9CFC2"/>
                      </a:solidFill>
                      <a:prstDash val="solid"/>
                      <a:round/>
                      <a:headEnd type="none" w="med" len="med"/>
                      <a:tailEnd type="none" w="med" len="med"/>
                    </a:lnT>
                    <a:lnB w="9525" cap="flat" cmpd="sng" algn="ctr">
                      <a:solidFill>
                        <a:srgbClr val="B9CFC2"/>
                      </a:solidFill>
                      <a:prstDash val="solid"/>
                      <a:round/>
                      <a:headEnd type="none" w="med" len="med"/>
                      <a:tailEnd type="none" w="med" len="med"/>
                    </a:lnB>
                    <a:solidFill>
                      <a:srgbClr val="FFFFFF"/>
                    </a:solidFill>
                  </a:tcPr>
                </a:tc>
                <a:tc>
                  <a:txBody>
                    <a:bodyPr/>
                    <a:lstStyle/>
                    <a:p>
                      <a:pPr indent="0" marL="0">
                        <a:buNone/>
                      </a:pPr>
                      <a:r>
                        <a:rPr lang="en-US" sz="1200" dirty="0">
                          <a:solidFill>
                            <a:srgbClr val="1B2B22"/>
                          </a:solidFill>
                          <a:latin typeface="Calibri" pitchFamily="34" charset="0"/>
                          <a:ea typeface="Calibri" pitchFamily="34" charset="-122"/>
                          <a:cs typeface="Calibri" pitchFamily="34" charset="-120"/>
                        </a:rPr>
                        <a:t>PII scrubbed</a:t>
                      </a:r>
                      <a:endParaRPr lang="en-US" sz="1200" dirty="0">
                        <a:latin typeface="Calibri" charset="0"/>
                        <a:ea typeface="Calibri" charset="0"/>
                        <a:cs typeface="Calibri" charset="0"/>
                      </a:endParaRPr>
                    </a:p>
                  </a:txBody>
                  <a:tcPr marL="91440" marR="91440" marT="45720" marB="45720">
                    <a:lnL w="9525" cap="flat" cmpd="sng" algn="ctr">
                      <a:solidFill>
                        <a:srgbClr val="B9CFC2"/>
                      </a:solidFill>
                      <a:prstDash val="solid"/>
                      <a:round/>
                      <a:headEnd type="none" w="med" len="med"/>
                      <a:tailEnd type="none" w="med" len="med"/>
                    </a:lnL>
                    <a:lnR w="9525" cap="flat" cmpd="sng" algn="ctr">
                      <a:solidFill>
                        <a:srgbClr val="B9CFC2"/>
                      </a:solidFill>
                      <a:prstDash val="solid"/>
                      <a:round/>
                      <a:headEnd type="none" w="med" len="med"/>
                      <a:tailEnd type="none" w="med" len="med"/>
                    </a:lnR>
                    <a:lnT w="9525" cap="flat" cmpd="sng" algn="ctr">
                      <a:solidFill>
                        <a:srgbClr val="B9CFC2"/>
                      </a:solidFill>
                      <a:prstDash val="solid"/>
                      <a:round/>
                      <a:headEnd type="none" w="med" len="med"/>
                      <a:tailEnd type="none" w="med" len="med"/>
                    </a:lnT>
                    <a:lnB w="9525" cap="flat" cmpd="sng" algn="ctr">
                      <a:solidFill>
                        <a:srgbClr val="B9CFC2"/>
                      </a:solidFill>
                      <a:prstDash val="solid"/>
                      <a:round/>
                      <a:headEnd type="none" w="med" len="med"/>
                      <a:tailEnd type="none" w="med" len="med"/>
                    </a:lnB>
                    <a:solidFill>
                      <a:srgbClr val="FFFFFF"/>
                    </a:solidFill>
                  </a:tcPr>
                </a:tc>
                <a:tc>
                  <a:txBody>
                    <a:bodyPr/>
                    <a:lstStyle/>
                    <a:p>
                      <a:pPr indent="0" marL="0">
                        <a:buNone/>
                      </a:pPr>
                      <a:r>
                        <a:rPr lang="en-US" sz="1200" dirty="0">
                          <a:solidFill>
                            <a:srgbClr val="1B2B22"/>
                          </a:solidFill>
                          <a:latin typeface="Calibri" pitchFamily="34" charset="0"/>
                          <a:ea typeface="Calibri" pitchFamily="34" charset="-122"/>
                          <a:cs typeface="Calibri" pitchFamily="34" charset="-120"/>
                        </a:rPr>
                        <a:t>mail rahul.k@example.com … 98765 43210</a:t>
                      </a:r>
                      <a:endParaRPr lang="en-US" sz="1200" dirty="0">
                        <a:latin typeface="Calibri" charset="0"/>
                        <a:ea typeface="Calibri" charset="0"/>
                        <a:cs typeface="Calibri" charset="0"/>
                      </a:endParaRPr>
                    </a:p>
                  </a:txBody>
                  <a:tcPr marL="91440" marR="91440" marT="45720" marB="45720">
                    <a:lnL w="9525" cap="flat" cmpd="sng" algn="ctr">
                      <a:solidFill>
                        <a:srgbClr val="B9CFC2"/>
                      </a:solidFill>
                      <a:prstDash val="solid"/>
                      <a:round/>
                      <a:headEnd type="none" w="med" len="med"/>
                      <a:tailEnd type="none" w="med" len="med"/>
                    </a:lnL>
                    <a:lnR w="9525" cap="flat" cmpd="sng" algn="ctr">
                      <a:solidFill>
                        <a:srgbClr val="B9CFC2"/>
                      </a:solidFill>
                      <a:prstDash val="solid"/>
                      <a:round/>
                      <a:headEnd type="none" w="med" len="med"/>
                      <a:tailEnd type="none" w="med" len="med"/>
                    </a:lnR>
                    <a:lnT w="9525" cap="flat" cmpd="sng" algn="ctr">
                      <a:solidFill>
                        <a:srgbClr val="B9CFC2"/>
                      </a:solidFill>
                      <a:prstDash val="solid"/>
                      <a:round/>
                      <a:headEnd type="none" w="med" len="med"/>
                      <a:tailEnd type="none" w="med" len="med"/>
                    </a:lnT>
                    <a:lnB w="9525" cap="flat" cmpd="sng" algn="ctr">
                      <a:solidFill>
                        <a:srgbClr val="B9CFC2"/>
                      </a:solidFill>
                      <a:prstDash val="solid"/>
                      <a:round/>
                      <a:headEnd type="none" w="med" len="med"/>
                      <a:tailEnd type="none" w="med" len="med"/>
                    </a:lnB>
                    <a:solidFill>
                      <a:srgbClr val="FFFFFF"/>
                    </a:solidFill>
                  </a:tcPr>
                </a:tc>
                <a:tc>
                  <a:txBody>
                    <a:bodyPr/>
                    <a:lstStyle/>
                    <a:p>
                      <a:pPr indent="0" marL="0">
                        <a:buNone/>
                      </a:pPr>
                      <a:r>
                        <a:rPr lang="en-US" sz="1200" dirty="0">
                          <a:solidFill>
                            <a:srgbClr val="1B2B22"/>
                          </a:solidFill>
                          <a:latin typeface="Calibri" pitchFamily="34" charset="0"/>
                          <a:ea typeface="Calibri" pitchFamily="34" charset="-122"/>
                          <a:cs typeface="Calibri" pitchFamily="34" charset="-120"/>
                        </a:rPr>
                        <a:t>1 [EMAIL], 2 [PHONE]</a:t>
                      </a:r>
                      <a:endParaRPr lang="en-US" sz="1200" dirty="0">
                        <a:latin typeface="Calibri" charset="0"/>
                        <a:ea typeface="Calibri" charset="0"/>
                        <a:cs typeface="Calibri" charset="0"/>
                      </a:endParaRPr>
                    </a:p>
                  </a:txBody>
                  <a:tcPr marL="91440" marR="91440" marT="45720" marB="45720">
                    <a:lnL w="9525" cap="flat" cmpd="sng" algn="ctr">
                      <a:solidFill>
                        <a:srgbClr val="B9CFC2"/>
                      </a:solidFill>
                      <a:prstDash val="solid"/>
                      <a:round/>
                      <a:headEnd type="none" w="med" len="med"/>
                      <a:tailEnd type="none" w="med" len="med"/>
                    </a:lnL>
                    <a:lnR w="9525" cap="flat" cmpd="sng" algn="ctr">
                      <a:solidFill>
                        <a:srgbClr val="B9CFC2"/>
                      </a:solidFill>
                      <a:prstDash val="solid"/>
                      <a:round/>
                      <a:headEnd type="none" w="med" len="med"/>
                      <a:tailEnd type="none" w="med" len="med"/>
                    </a:lnR>
                    <a:lnT w="9525" cap="flat" cmpd="sng" algn="ctr">
                      <a:solidFill>
                        <a:srgbClr val="B9CFC2"/>
                      </a:solidFill>
                      <a:prstDash val="solid"/>
                      <a:round/>
                      <a:headEnd type="none" w="med" len="med"/>
                      <a:tailEnd type="none" w="med" len="med"/>
                    </a:lnT>
                    <a:lnB w="9525" cap="flat" cmpd="sng" algn="ctr">
                      <a:solidFill>
                        <a:srgbClr val="B9CFC2"/>
                      </a:solidFill>
                      <a:prstDash val="solid"/>
                      <a:round/>
                      <a:headEnd type="none" w="med" len="med"/>
                      <a:tailEnd type="none" w="med" len="med"/>
                    </a:lnB>
                    <a:solidFill>
                      <a:srgbClr val="FFFFFF"/>
                    </a:solidFill>
                  </a:tcPr>
                </a:tc>
                <a:tc>
                  <a:txBody>
                    <a:bodyPr/>
                    <a:lstStyle/>
                    <a:p>
                      <a:pPr indent="0" marL="0">
                        <a:buNone/>
                      </a:pPr>
                      <a:r>
                        <a:rPr lang="en-US" sz="1200" b="1" dirty="0">
                          <a:solidFill>
                            <a:srgbClr val="1E7B34"/>
                          </a:solidFill>
                          <a:latin typeface="Calibri" pitchFamily="34" charset="0"/>
                          <a:ea typeface="Calibri" pitchFamily="34" charset="-122"/>
                          <a:cs typeface="Calibri" pitchFamily="34" charset="-120"/>
                        </a:rPr>
                        <a:t>PASS</a:t>
                      </a:r>
                      <a:endParaRPr lang="en-US" sz="1200" dirty="0">
                        <a:latin typeface="Calibri" charset="0"/>
                        <a:ea typeface="Calibri" charset="0"/>
                        <a:cs typeface="Calibri" charset="0"/>
                      </a:endParaRPr>
                    </a:p>
                  </a:txBody>
                  <a:tcPr marL="91440" marR="91440" marT="45720" marB="45720">
                    <a:lnL w="9525" cap="flat" cmpd="sng" algn="ctr">
                      <a:solidFill>
                        <a:srgbClr val="B9CFC2"/>
                      </a:solidFill>
                      <a:prstDash val="solid"/>
                      <a:round/>
                      <a:headEnd type="none" w="med" len="med"/>
                      <a:tailEnd type="none" w="med" len="med"/>
                    </a:lnL>
                    <a:lnR w="9525" cap="flat" cmpd="sng" algn="ctr">
                      <a:solidFill>
                        <a:srgbClr val="B9CFC2"/>
                      </a:solidFill>
                      <a:prstDash val="solid"/>
                      <a:round/>
                      <a:headEnd type="none" w="med" len="med"/>
                      <a:tailEnd type="none" w="med" len="med"/>
                    </a:lnR>
                    <a:lnT w="9525" cap="flat" cmpd="sng" algn="ctr">
                      <a:solidFill>
                        <a:srgbClr val="B9CFC2"/>
                      </a:solidFill>
                      <a:prstDash val="solid"/>
                      <a:round/>
                      <a:headEnd type="none" w="med" len="med"/>
                      <a:tailEnd type="none" w="med" len="med"/>
                    </a:lnT>
                    <a:lnB w="9525" cap="flat" cmpd="sng" algn="ctr">
                      <a:solidFill>
                        <a:srgbClr val="B9CFC2"/>
                      </a:solidFill>
                      <a:prstDash val="solid"/>
                      <a:round/>
                      <a:headEnd type="none" w="med" len="med"/>
                      <a:tailEnd type="none" w="med" len="med"/>
                    </a:lnB>
                    <a:solidFill>
                      <a:srgbClr val="FFFFFF"/>
                    </a:solidFill>
                  </a:tcPr>
                </a:tc>
              </a:tr>
              <a:tr h="502920">
                <a:tc>
                  <a:txBody>
                    <a:bodyPr/>
                    <a:lstStyle/>
                    <a:p>
                      <a:pPr indent="0" marL="0">
                        <a:buNone/>
                      </a:pPr>
                      <a:r>
                        <a:rPr lang="en-US" sz="1200" dirty="0">
                          <a:solidFill>
                            <a:srgbClr val="1B2B22"/>
                          </a:solidFill>
                          <a:latin typeface="Calibri" pitchFamily="34" charset="0"/>
                          <a:ea typeface="Calibri" pitchFamily="34" charset="-122"/>
                          <a:cs typeface="Calibri" pitchFamily="34" charset="-120"/>
                        </a:rPr>
                        <a:t>TC26</a:t>
                      </a:r>
                      <a:endParaRPr lang="en-US" sz="1200" dirty="0">
                        <a:latin typeface="Calibri" charset="0"/>
                        <a:ea typeface="Calibri" charset="0"/>
                        <a:cs typeface="Calibri" charset="0"/>
                      </a:endParaRPr>
                    </a:p>
                  </a:txBody>
                  <a:tcPr marL="91440" marR="91440" marT="45720" marB="45720">
                    <a:lnL w="9525" cap="flat" cmpd="sng" algn="ctr">
                      <a:solidFill>
                        <a:srgbClr val="B9CFC2"/>
                      </a:solidFill>
                      <a:prstDash val="solid"/>
                      <a:round/>
                      <a:headEnd type="none" w="med" len="med"/>
                      <a:tailEnd type="none" w="med" len="med"/>
                    </a:lnL>
                    <a:lnR w="9525" cap="flat" cmpd="sng" algn="ctr">
                      <a:solidFill>
                        <a:srgbClr val="B9CFC2"/>
                      </a:solidFill>
                      <a:prstDash val="solid"/>
                      <a:round/>
                      <a:headEnd type="none" w="med" len="med"/>
                      <a:tailEnd type="none" w="med" len="med"/>
                    </a:lnR>
                    <a:lnT w="9525" cap="flat" cmpd="sng" algn="ctr">
                      <a:solidFill>
                        <a:srgbClr val="B9CFC2"/>
                      </a:solidFill>
                      <a:prstDash val="solid"/>
                      <a:round/>
                      <a:headEnd type="none" w="med" len="med"/>
                      <a:tailEnd type="none" w="med" len="med"/>
                    </a:lnT>
                    <a:lnB w="9525" cap="flat" cmpd="sng" algn="ctr">
                      <a:solidFill>
                        <a:srgbClr val="B9CFC2"/>
                      </a:solidFill>
                      <a:prstDash val="solid"/>
                      <a:round/>
                      <a:headEnd type="none" w="med" len="med"/>
                      <a:tailEnd type="none" w="med" len="med"/>
                    </a:lnB>
                    <a:solidFill>
                      <a:srgbClr val="FFFFFF"/>
                    </a:solidFill>
                  </a:tcPr>
                </a:tc>
                <a:tc>
                  <a:txBody>
                    <a:bodyPr/>
                    <a:lstStyle/>
                    <a:p>
                      <a:pPr indent="0" marL="0">
                        <a:buNone/>
                      </a:pPr>
                      <a:r>
                        <a:rPr lang="en-US" sz="1200" dirty="0">
                          <a:solidFill>
                            <a:srgbClr val="1B2B22"/>
                          </a:solidFill>
                          <a:latin typeface="Calibri" pitchFamily="34" charset="0"/>
                          <a:ea typeface="Calibri" pitchFamily="34" charset="-122"/>
                          <a:cs typeface="Calibri" pitchFamily="34" charset="-120"/>
                        </a:rPr>
                        <a:t>Freeze check</a:t>
                      </a:r>
                      <a:endParaRPr lang="en-US" sz="1200" dirty="0">
                        <a:latin typeface="Calibri" charset="0"/>
                        <a:ea typeface="Calibri" charset="0"/>
                        <a:cs typeface="Calibri" charset="0"/>
                      </a:endParaRPr>
                    </a:p>
                  </a:txBody>
                  <a:tcPr marL="91440" marR="91440" marT="45720" marB="45720">
                    <a:lnL w="9525" cap="flat" cmpd="sng" algn="ctr">
                      <a:solidFill>
                        <a:srgbClr val="B9CFC2"/>
                      </a:solidFill>
                      <a:prstDash val="solid"/>
                      <a:round/>
                      <a:headEnd type="none" w="med" len="med"/>
                      <a:tailEnd type="none" w="med" len="med"/>
                    </a:lnL>
                    <a:lnR w="9525" cap="flat" cmpd="sng" algn="ctr">
                      <a:solidFill>
                        <a:srgbClr val="B9CFC2"/>
                      </a:solidFill>
                      <a:prstDash val="solid"/>
                      <a:round/>
                      <a:headEnd type="none" w="med" len="med"/>
                      <a:tailEnd type="none" w="med" len="med"/>
                    </a:lnR>
                    <a:lnT w="9525" cap="flat" cmpd="sng" algn="ctr">
                      <a:solidFill>
                        <a:srgbClr val="B9CFC2"/>
                      </a:solidFill>
                      <a:prstDash val="solid"/>
                      <a:round/>
                      <a:headEnd type="none" w="med" len="med"/>
                      <a:tailEnd type="none" w="med" len="med"/>
                    </a:lnT>
                    <a:lnB w="9525" cap="flat" cmpd="sng" algn="ctr">
                      <a:solidFill>
                        <a:srgbClr val="B9CFC2"/>
                      </a:solidFill>
                      <a:prstDash val="solid"/>
                      <a:round/>
                      <a:headEnd type="none" w="med" len="med"/>
                      <a:tailEnd type="none" w="med" len="med"/>
                    </a:lnB>
                    <a:solidFill>
                      <a:srgbClr val="FFFFFF"/>
                    </a:solidFill>
                  </a:tcPr>
                </a:tc>
                <a:tc>
                  <a:txBody>
                    <a:bodyPr/>
                    <a:lstStyle/>
                    <a:p>
                      <a:pPr indent="0" marL="0">
                        <a:buNone/>
                      </a:pPr>
                      <a:r>
                        <a:rPr lang="en-US" sz="1200" dirty="0">
                          <a:solidFill>
                            <a:srgbClr val="1B2B22"/>
                          </a:solidFill>
                          <a:latin typeface="Calibri" pitchFamily="34" charset="0"/>
                          <a:ea typeface="Calibri" pitchFamily="34" charset="-122"/>
                          <a:cs typeface="Calibri" pitchFamily="34" charset="-120"/>
                        </a:rPr>
                        <a:t>482 test prompts</a:t>
                      </a:r>
                      <a:endParaRPr lang="en-US" sz="1200" dirty="0">
                        <a:latin typeface="Calibri" charset="0"/>
                        <a:ea typeface="Calibri" charset="0"/>
                        <a:cs typeface="Calibri" charset="0"/>
                      </a:endParaRPr>
                    </a:p>
                  </a:txBody>
                  <a:tcPr marL="91440" marR="91440" marT="45720" marB="45720">
                    <a:lnL w="9525" cap="flat" cmpd="sng" algn="ctr">
                      <a:solidFill>
                        <a:srgbClr val="B9CFC2"/>
                      </a:solidFill>
                      <a:prstDash val="solid"/>
                      <a:round/>
                      <a:headEnd type="none" w="med" len="med"/>
                      <a:tailEnd type="none" w="med" len="med"/>
                    </a:lnL>
                    <a:lnR w="9525" cap="flat" cmpd="sng" algn="ctr">
                      <a:solidFill>
                        <a:srgbClr val="B9CFC2"/>
                      </a:solidFill>
                      <a:prstDash val="solid"/>
                      <a:round/>
                      <a:headEnd type="none" w="med" len="med"/>
                      <a:tailEnd type="none" w="med" len="med"/>
                    </a:lnR>
                    <a:lnT w="9525" cap="flat" cmpd="sng" algn="ctr">
                      <a:solidFill>
                        <a:srgbClr val="B9CFC2"/>
                      </a:solidFill>
                      <a:prstDash val="solid"/>
                      <a:round/>
                      <a:headEnd type="none" w="med" len="med"/>
                      <a:tailEnd type="none" w="med" len="med"/>
                    </a:lnT>
                    <a:lnB w="9525" cap="flat" cmpd="sng" algn="ctr">
                      <a:solidFill>
                        <a:srgbClr val="B9CFC2"/>
                      </a:solidFill>
                      <a:prstDash val="solid"/>
                      <a:round/>
                      <a:headEnd type="none" w="med" len="med"/>
                      <a:tailEnd type="none" w="med" len="med"/>
                    </a:lnB>
                    <a:solidFill>
                      <a:srgbClr val="FFFFFF"/>
                    </a:solidFill>
                  </a:tcPr>
                </a:tc>
                <a:tc>
                  <a:txBody>
                    <a:bodyPr/>
                    <a:lstStyle/>
                    <a:p>
                      <a:pPr indent="0" marL="0">
                        <a:buNone/>
                      </a:pPr>
                      <a:r>
                        <a:rPr lang="en-US" sz="1200" dirty="0">
                          <a:solidFill>
                            <a:srgbClr val="1B2B22"/>
                          </a:solidFill>
                          <a:latin typeface="Calibri" pitchFamily="34" charset="0"/>
                          <a:ea typeface="Calibri" pitchFamily="34" charset="-122"/>
                          <a:cs typeface="Calibri" pitchFamily="34" charset="-120"/>
                        </a:rPr>
                        <a:t>byte-identical</a:t>
                      </a:r>
                      <a:endParaRPr lang="en-US" sz="1200" dirty="0">
                        <a:latin typeface="Calibri" charset="0"/>
                        <a:ea typeface="Calibri" charset="0"/>
                        <a:cs typeface="Calibri" charset="0"/>
                      </a:endParaRPr>
                    </a:p>
                  </a:txBody>
                  <a:tcPr marL="91440" marR="91440" marT="45720" marB="45720">
                    <a:lnL w="9525" cap="flat" cmpd="sng" algn="ctr">
                      <a:solidFill>
                        <a:srgbClr val="B9CFC2"/>
                      </a:solidFill>
                      <a:prstDash val="solid"/>
                      <a:round/>
                      <a:headEnd type="none" w="med" len="med"/>
                      <a:tailEnd type="none" w="med" len="med"/>
                    </a:lnL>
                    <a:lnR w="9525" cap="flat" cmpd="sng" algn="ctr">
                      <a:solidFill>
                        <a:srgbClr val="B9CFC2"/>
                      </a:solidFill>
                      <a:prstDash val="solid"/>
                      <a:round/>
                      <a:headEnd type="none" w="med" len="med"/>
                      <a:tailEnd type="none" w="med" len="med"/>
                    </a:lnR>
                    <a:lnT w="9525" cap="flat" cmpd="sng" algn="ctr">
                      <a:solidFill>
                        <a:srgbClr val="B9CFC2"/>
                      </a:solidFill>
                      <a:prstDash val="solid"/>
                      <a:round/>
                      <a:headEnd type="none" w="med" len="med"/>
                      <a:tailEnd type="none" w="med" len="med"/>
                    </a:lnT>
                    <a:lnB w="9525" cap="flat" cmpd="sng" algn="ctr">
                      <a:solidFill>
                        <a:srgbClr val="B9CFC2"/>
                      </a:solidFill>
                      <a:prstDash val="solid"/>
                      <a:round/>
                      <a:headEnd type="none" w="med" len="med"/>
                      <a:tailEnd type="none" w="med" len="med"/>
                    </a:lnB>
                    <a:solidFill>
                      <a:srgbClr val="FFFFFF"/>
                    </a:solidFill>
                  </a:tcPr>
                </a:tc>
                <a:tc>
                  <a:txBody>
                    <a:bodyPr/>
                    <a:lstStyle/>
                    <a:p>
                      <a:pPr indent="0" marL="0">
                        <a:buNone/>
                      </a:pPr>
                      <a:r>
                        <a:rPr lang="en-US" sz="1200" b="1" dirty="0">
                          <a:solidFill>
                            <a:srgbClr val="1E7B34"/>
                          </a:solidFill>
                          <a:latin typeface="Calibri" pitchFamily="34" charset="0"/>
                          <a:ea typeface="Calibri" pitchFamily="34" charset="-122"/>
                          <a:cs typeface="Calibri" pitchFamily="34" charset="-120"/>
                        </a:rPr>
                        <a:t>PASS</a:t>
                      </a:r>
                      <a:endParaRPr lang="en-US" sz="1200" dirty="0">
                        <a:latin typeface="Calibri" charset="0"/>
                        <a:ea typeface="Calibri" charset="0"/>
                        <a:cs typeface="Calibri" charset="0"/>
                      </a:endParaRPr>
                    </a:p>
                  </a:txBody>
                  <a:tcPr marL="91440" marR="91440" marT="45720" marB="45720">
                    <a:lnL w="9525" cap="flat" cmpd="sng" algn="ctr">
                      <a:solidFill>
                        <a:srgbClr val="B9CFC2"/>
                      </a:solidFill>
                      <a:prstDash val="solid"/>
                      <a:round/>
                      <a:headEnd type="none" w="med" len="med"/>
                      <a:tailEnd type="none" w="med" len="med"/>
                    </a:lnL>
                    <a:lnR w="9525" cap="flat" cmpd="sng" algn="ctr">
                      <a:solidFill>
                        <a:srgbClr val="B9CFC2"/>
                      </a:solidFill>
                      <a:prstDash val="solid"/>
                      <a:round/>
                      <a:headEnd type="none" w="med" len="med"/>
                      <a:tailEnd type="none" w="med" len="med"/>
                    </a:lnR>
                    <a:lnT w="9525" cap="flat" cmpd="sng" algn="ctr">
                      <a:solidFill>
                        <a:srgbClr val="B9CFC2"/>
                      </a:solidFill>
                      <a:prstDash val="solid"/>
                      <a:round/>
                      <a:headEnd type="none" w="med" len="med"/>
                      <a:tailEnd type="none" w="med" len="med"/>
                    </a:lnT>
                    <a:lnB w="9525" cap="flat" cmpd="sng" algn="ctr">
                      <a:solidFill>
                        <a:srgbClr val="B9CFC2"/>
                      </a:solidFill>
                      <a:prstDash val="solid"/>
                      <a:round/>
                      <a:headEnd type="none" w="med" len="med"/>
                      <a:tailEnd type="none" w="med" len="med"/>
                    </a:lnB>
                    <a:solidFill>
                      <a:srgbClr val="FFFFFF"/>
                    </a:solidFill>
                  </a:tcPr>
                </a:tc>
              </a:tr>
              <a:tr h="502920">
                <a:tc>
                  <a:txBody>
                    <a:bodyPr/>
                    <a:lstStyle/>
                    <a:p>
                      <a:pPr indent="0" marL="0">
                        <a:buNone/>
                      </a:pPr>
                      <a:r>
                        <a:rPr lang="en-US" sz="1200" dirty="0">
                          <a:solidFill>
                            <a:srgbClr val="1B2B22"/>
                          </a:solidFill>
                          <a:latin typeface="Calibri" pitchFamily="34" charset="0"/>
                          <a:ea typeface="Calibri" pitchFamily="34" charset="-122"/>
                          <a:cs typeface="Calibri" pitchFamily="34" charset="-120"/>
                        </a:rPr>
                        <a:t>TC31</a:t>
                      </a:r>
                      <a:endParaRPr lang="en-US" sz="1200" dirty="0">
                        <a:latin typeface="Calibri" charset="0"/>
                        <a:ea typeface="Calibri" charset="0"/>
                        <a:cs typeface="Calibri" charset="0"/>
                      </a:endParaRPr>
                    </a:p>
                  </a:txBody>
                  <a:tcPr marL="91440" marR="91440" marT="45720" marB="45720">
                    <a:lnL w="9525" cap="flat" cmpd="sng" algn="ctr">
                      <a:solidFill>
                        <a:srgbClr val="B9CFC2"/>
                      </a:solidFill>
                      <a:prstDash val="solid"/>
                      <a:round/>
                      <a:headEnd type="none" w="med" len="med"/>
                      <a:tailEnd type="none" w="med" len="med"/>
                    </a:lnL>
                    <a:lnR w="9525" cap="flat" cmpd="sng" algn="ctr">
                      <a:solidFill>
                        <a:srgbClr val="B9CFC2"/>
                      </a:solidFill>
                      <a:prstDash val="solid"/>
                      <a:round/>
                      <a:headEnd type="none" w="med" len="med"/>
                      <a:tailEnd type="none" w="med" len="med"/>
                    </a:lnR>
                    <a:lnT w="9525" cap="flat" cmpd="sng" algn="ctr">
                      <a:solidFill>
                        <a:srgbClr val="B9CFC2"/>
                      </a:solidFill>
                      <a:prstDash val="solid"/>
                      <a:round/>
                      <a:headEnd type="none" w="med" len="med"/>
                      <a:tailEnd type="none" w="med" len="med"/>
                    </a:lnT>
                    <a:lnB w="9525" cap="flat" cmpd="sng" algn="ctr">
                      <a:solidFill>
                        <a:srgbClr val="B9CFC2"/>
                      </a:solidFill>
                      <a:prstDash val="solid"/>
                      <a:round/>
                      <a:headEnd type="none" w="med" len="med"/>
                      <a:tailEnd type="none" w="med" len="med"/>
                    </a:lnB>
                    <a:solidFill>
                      <a:srgbClr val="FFFFFF"/>
                    </a:solidFill>
                  </a:tcPr>
                </a:tc>
                <a:tc>
                  <a:txBody>
                    <a:bodyPr/>
                    <a:lstStyle/>
                    <a:p>
                      <a:pPr indent="0" marL="0">
                        <a:buNone/>
                      </a:pPr>
                      <a:r>
                        <a:rPr lang="en-US" sz="1200" dirty="0">
                          <a:solidFill>
                            <a:srgbClr val="1B2B22"/>
                          </a:solidFill>
                          <a:latin typeface="Calibri" pitchFamily="34" charset="0"/>
                          <a:ea typeface="Calibri" pitchFamily="34" charset="-122"/>
                          <a:cs typeface="Calibri" pitchFamily="34" charset="-120"/>
                        </a:rPr>
                        <a:t>cqa-01 hostel fee</a:t>
                      </a:r>
                      <a:endParaRPr lang="en-US" sz="1200" dirty="0">
                        <a:latin typeface="Calibri" charset="0"/>
                        <a:ea typeface="Calibri" charset="0"/>
                        <a:cs typeface="Calibri" charset="0"/>
                      </a:endParaRPr>
                    </a:p>
                  </a:txBody>
                  <a:tcPr marL="91440" marR="91440" marT="45720" marB="45720">
                    <a:lnL w="9525" cap="flat" cmpd="sng" algn="ctr">
                      <a:solidFill>
                        <a:srgbClr val="B9CFC2"/>
                      </a:solidFill>
                      <a:prstDash val="solid"/>
                      <a:round/>
                      <a:headEnd type="none" w="med" len="med"/>
                      <a:tailEnd type="none" w="med" len="med"/>
                    </a:lnL>
                    <a:lnR w="9525" cap="flat" cmpd="sng" algn="ctr">
                      <a:solidFill>
                        <a:srgbClr val="B9CFC2"/>
                      </a:solidFill>
                      <a:prstDash val="solid"/>
                      <a:round/>
                      <a:headEnd type="none" w="med" len="med"/>
                      <a:tailEnd type="none" w="med" len="med"/>
                    </a:lnR>
                    <a:lnT w="9525" cap="flat" cmpd="sng" algn="ctr">
                      <a:solidFill>
                        <a:srgbClr val="B9CFC2"/>
                      </a:solidFill>
                      <a:prstDash val="solid"/>
                      <a:round/>
                      <a:headEnd type="none" w="med" len="med"/>
                      <a:tailEnd type="none" w="med" len="med"/>
                    </a:lnT>
                    <a:lnB w="9525" cap="flat" cmpd="sng" algn="ctr">
                      <a:solidFill>
                        <a:srgbClr val="B9CFC2"/>
                      </a:solidFill>
                      <a:prstDash val="solid"/>
                      <a:round/>
                      <a:headEnd type="none" w="med" len="med"/>
                      <a:tailEnd type="none" w="med" len="med"/>
                    </a:lnB>
                    <a:solidFill>
                      <a:srgbClr val="FFFFFF"/>
                    </a:solidFill>
                  </a:tcPr>
                </a:tc>
                <a:tc>
                  <a:txBody>
                    <a:bodyPr/>
                    <a:lstStyle/>
                    <a:p>
                      <a:pPr indent="0" marL="0">
                        <a:buNone/>
                      </a:pPr>
                      <a:r>
                        <a:rPr lang="en-US" sz="1200" dirty="0">
                          <a:solidFill>
                            <a:srgbClr val="1B2B22"/>
                          </a:solidFill>
                          <a:latin typeface="Calibri" pitchFamily="34" charset="0"/>
                          <a:ea typeface="Calibri" pitchFamily="34" charset="-122"/>
                          <a:cs typeface="Calibri" pitchFamily="34" charset="-120"/>
                        </a:rPr>
                        <a:t>"if i pay on 18 july how much total??"</a:t>
                      </a:r>
                      <a:endParaRPr lang="en-US" sz="1200" dirty="0">
                        <a:latin typeface="Calibri" charset="0"/>
                        <a:ea typeface="Calibri" charset="0"/>
                        <a:cs typeface="Calibri" charset="0"/>
                      </a:endParaRPr>
                    </a:p>
                  </a:txBody>
                  <a:tcPr marL="91440" marR="91440" marT="45720" marB="45720">
                    <a:lnL w="9525" cap="flat" cmpd="sng" algn="ctr">
                      <a:solidFill>
                        <a:srgbClr val="B9CFC2"/>
                      </a:solidFill>
                      <a:prstDash val="solid"/>
                      <a:round/>
                      <a:headEnd type="none" w="med" len="med"/>
                      <a:tailEnd type="none" w="med" len="med"/>
                    </a:lnL>
                    <a:lnR w="9525" cap="flat" cmpd="sng" algn="ctr">
                      <a:solidFill>
                        <a:srgbClr val="B9CFC2"/>
                      </a:solidFill>
                      <a:prstDash val="solid"/>
                      <a:round/>
                      <a:headEnd type="none" w="med" len="med"/>
                      <a:tailEnd type="none" w="med" len="med"/>
                    </a:lnR>
                    <a:lnT w="9525" cap="flat" cmpd="sng" algn="ctr">
                      <a:solidFill>
                        <a:srgbClr val="B9CFC2"/>
                      </a:solidFill>
                      <a:prstDash val="solid"/>
                      <a:round/>
                      <a:headEnd type="none" w="med" len="med"/>
                      <a:tailEnd type="none" w="med" len="med"/>
                    </a:lnT>
                    <a:lnB w="9525" cap="flat" cmpd="sng" algn="ctr">
                      <a:solidFill>
                        <a:srgbClr val="B9CFC2"/>
                      </a:solidFill>
                      <a:prstDash val="solid"/>
                      <a:round/>
                      <a:headEnd type="none" w="med" len="med"/>
                      <a:tailEnd type="none" w="med" len="med"/>
                    </a:lnB>
                    <a:solidFill>
                      <a:srgbClr val="FFFFFF"/>
                    </a:solidFill>
                  </a:tcPr>
                </a:tc>
                <a:tc>
                  <a:txBody>
                    <a:bodyPr/>
                    <a:lstStyle/>
                    <a:p>
                      <a:pPr indent="0" marL="0">
                        <a:buNone/>
                      </a:pPr>
                      <a:r>
                        <a:rPr lang="en-US" sz="1200" dirty="0">
                          <a:solidFill>
                            <a:srgbClr val="1B2B22"/>
                          </a:solidFill>
                          <a:latin typeface="Calibri" pitchFamily="34" charset="0"/>
                          <a:ea typeface="Calibri" pitchFamily="34" charset="-122"/>
                          <a:cs typeface="Calibri" pitchFamily="34" charset="-120"/>
                        </a:rPr>
                        <a:t>80300 (vague said 85300)</a:t>
                      </a:r>
                      <a:endParaRPr lang="en-US" sz="1200" dirty="0">
                        <a:latin typeface="Calibri" charset="0"/>
                        <a:ea typeface="Calibri" charset="0"/>
                        <a:cs typeface="Calibri" charset="0"/>
                      </a:endParaRPr>
                    </a:p>
                  </a:txBody>
                  <a:tcPr marL="91440" marR="91440" marT="45720" marB="45720">
                    <a:lnL w="9525" cap="flat" cmpd="sng" algn="ctr">
                      <a:solidFill>
                        <a:srgbClr val="B9CFC2"/>
                      </a:solidFill>
                      <a:prstDash val="solid"/>
                      <a:round/>
                      <a:headEnd type="none" w="med" len="med"/>
                      <a:tailEnd type="none" w="med" len="med"/>
                    </a:lnL>
                    <a:lnR w="9525" cap="flat" cmpd="sng" algn="ctr">
                      <a:solidFill>
                        <a:srgbClr val="B9CFC2"/>
                      </a:solidFill>
                      <a:prstDash val="solid"/>
                      <a:round/>
                      <a:headEnd type="none" w="med" len="med"/>
                      <a:tailEnd type="none" w="med" len="med"/>
                    </a:lnR>
                    <a:lnT w="9525" cap="flat" cmpd="sng" algn="ctr">
                      <a:solidFill>
                        <a:srgbClr val="B9CFC2"/>
                      </a:solidFill>
                      <a:prstDash val="solid"/>
                      <a:round/>
                      <a:headEnd type="none" w="med" len="med"/>
                      <a:tailEnd type="none" w="med" len="med"/>
                    </a:lnT>
                    <a:lnB w="9525" cap="flat" cmpd="sng" algn="ctr">
                      <a:solidFill>
                        <a:srgbClr val="B9CFC2"/>
                      </a:solidFill>
                      <a:prstDash val="solid"/>
                      <a:round/>
                      <a:headEnd type="none" w="med" len="med"/>
                      <a:tailEnd type="none" w="med" len="med"/>
                    </a:lnB>
                    <a:solidFill>
                      <a:srgbClr val="FFFFFF"/>
                    </a:solidFill>
                  </a:tcPr>
                </a:tc>
                <a:tc>
                  <a:txBody>
                    <a:bodyPr/>
                    <a:lstStyle/>
                    <a:p>
                      <a:pPr indent="0" marL="0">
                        <a:buNone/>
                      </a:pPr>
                      <a:r>
                        <a:rPr lang="en-US" sz="1200" b="1" dirty="0">
                          <a:solidFill>
                            <a:srgbClr val="1E7B34"/>
                          </a:solidFill>
                          <a:latin typeface="Calibri" pitchFamily="34" charset="0"/>
                          <a:ea typeface="Calibri" pitchFamily="34" charset="-122"/>
                          <a:cs typeface="Calibri" pitchFamily="34" charset="-120"/>
                        </a:rPr>
                        <a:t>PASS</a:t>
                      </a:r>
                      <a:endParaRPr lang="en-US" sz="1200" dirty="0">
                        <a:latin typeface="Calibri" charset="0"/>
                        <a:ea typeface="Calibri" charset="0"/>
                        <a:cs typeface="Calibri" charset="0"/>
                      </a:endParaRPr>
                    </a:p>
                  </a:txBody>
                  <a:tcPr marL="91440" marR="91440" marT="45720" marB="45720">
                    <a:lnL w="9525" cap="flat" cmpd="sng" algn="ctr">
                      <a:solidFill>
                        <a:srgbClr val="B9CFC2"/>
                      </a:solidFill>
                      <a:prstDash val="solid"/>
                      <a:round/>
                      <a:headEnd type="none" w="med" len="med"/>
                      <a:tailEnd type="none" w="med" len="med"/>
                    </a:lnL>
                    <a:lnR w="9525" cap="flat" cmpd="sng" algn="ctr">
                      <a:solidFill>
                        <a:srgbClr val="B9CFC2"/>
                      </a:solidFill>
                      <a:prstDash val="solid"/>
                      <a:round/>
                      <a:headEnd type="none" w="med" len="med"/>
                      <a:tailEnd type="none" w="med" len="med"/>
                    </a:lnR>
                    <a:lnT w="9525" cap="flat" cmpd="sng" algn="ctr">
                      <a:solidFill>
                        <a:srgbClr val="B9CFC2"/>
                      </a:solidFill>
                      <a:prstDash val="solid"/>
                      <a:round/>
                      <a:headEnd type="none" w="med" len="med"/>
                      <a:tailEnd type="none" w="med" len="med"/>
                    </a:lnT>
                    <a:lnB w="9525" cap="flat" cmpd="sng" algn="ctr">
                      <a:solidFill>
                        <a:srgbClr val="B9CFC2"/>
                      </a:solidFill>
                      <a:prstDash val="solid"/>
                      <a:round/>
                      <a:headEnd type="none" w="med" len="med"/>
                      <a:tailEnd type="none" w="med" len="med"/>
                    </a:lnB>
                    <a:solidFill>
                      <a:srgbClr val="FFFFFF"/>
                    </a:solidFill>
                  </a:tcPr>
                </a:tc>
              </a:tr>
              <a:tr h="502920">
                <a:tc>
                  <a:txBody>
                    <a:bodyPr/>
                    <a:lstStyle/>
                    <a:p>
                      <a:pPr indent="0" marL="0">
                        <a:buNone/>
                      </a:pPr>
                      <a:r>
                        <a:rPr lang="en-US" sz="1200" dirty="0">
                          <a:solidFill>
                            <a:srgbClr val="1B2B22"/>
                          </a:solidFill>
                          <a:latin typeface="Calibri" pitchFamily="34" charset="0"/>
                          <a:ea typeface="Calibri" pitchFamily="34" charset="-122"/>
                          <a:cs typeface="Calibri" pitchFamily="34" charset="-120"/>
                        </a:rPr>
                        <a:t>TC34</a:t>
                      </a:r>
                      <a:endParaRPr lang="en-US" sz="1200" dirty="0">
                        <a:latin typeface="Calibri" charset="0"/>
                        <a:ea typeface="Calibri" charset="0"/>
                        <a:cs typeface="Calibri" charset="0"/>
                      </a:endParaRPr>
                    </a:p>
                  </a:txBody>
                  <a:tcPr marL="91440" marR="91440" marT="45720" marB="45720">
                    <a:lnL w="9525" cap="flat" cmpd="sng" algn="ctr">
                      <a:solidFill>
                        <a:srgbClr val="B9CFC2"/>
                      </a:solidFill>
                      <a:prstDash val="solid"/>
                      <a:round/>
                      <a:headEnd type="none" w="med" len="med"/>
                      <a:tailEnd type="none" w="med" len="med"/>
                    </a:lnL>
                    <a:lnR w="9525" cap="flat" cmpd="sng" algn="ctr">
                      <a:solidFill>
                        <a:srgbClr val="B9CFC2"/>
                      </a:solidFill>
                      <a:prstDash val="solid"/>
                      <a:round/>
                      <a:headEnd type="none" w="med" len="med"/>
                      <a:tailEnd type="none" w="med" len="med"/>
                    </a:lnR>
                    <a:lnT w="9525" cap="flat" cmpd="sng" algn="ctr">
                      <a:solidFill>
                        <a:srgbClr val="B9CFC2"/>
                      </a:solidFill>
                      <a:prstDash val="solid"/>
                      <a:round/>
                      <a:headEnd type="none" w="med" len="med"/>
                      <a:tailEnd type="none" w="med" len="med"/>
                    </a:lnT>
                    <a:lnB w="9525" cap="flat" cmpd="sng" algn="ctr">
                      <a:solidFill>
                        <a:srgbClr val="B9CFC2"/>
                      </a:solidFill>
                      <a:prstDash val="solid"/>
                      <a:round/>
                      <a:headEnd type="none" w="med" len="med"/>
                      <a:tailEnd type="none" w="med" len="med"/>
                    </a:lnB>
                    <a:solidFill>
                      <a:srgbClr val="FFFFFF"/>
                    </a:solidFill>
                  </a:tcPr>
                </a:tc>
                <a:tc>
                  <a:txBody>
                    <a:bodyPr/>
                    <a:lstStyle/>
                    <a:p>
                      <a:pPr indent="0" marL="0">
                        <a:buNone/>
                      </a:pPr>
                      <a:r>
                        <a:rPr lang="en-US" sz="1200" dirty="0">
                          <a:solidFill>
                            <a:srgbClr val="1B2B22"/>
                          </a:solidFill>
                          <a:latin typeface="Calibri" pitchFamily="34" charset="0"/>
                          <a:ea typeface="Calibri" pitchFamily="34" charset="-122"/>
                          <a:cs typeface="Calibri" pitchFamily="34" charset="-120"/>
                        </a:rPr>
                        <a:t>cls-09 attendance</a:t>
                      </a:r>
                      <a:endParaRPr lang="en-US" sz="1200" dirty="0">
                        <a:latin typeface="Calibri" charset="0"/>
                        <a:ea typeface="Calibri" charset="0"/>
                        <a:cs typeface="Calibri" charset="0"/>
                      </a:endParaRPr>
                    </a:p>
                  </a:txBody>
                  <a:tcPr marL="91440" marR="91440" marT="45720" marB="45720">
                    <a:lnL w="9525" cap="flat" cmpd="sng" algn="ctr">
                      <a:solidFill>
                        <a:srgbClr val="B9CFC2"/>
                      </a:solidFill>
                      <a:prstDash val="solid"/>
                      <a:round/>
                      <a:headEnd type="none" w="med" len="med"/>
                      <a:tailEnd type="none" w="med" len="med"/>
                    </a:lnL>
                    <a:lnR w="9525" cap="flat" cmpd="sng" algn="ctr">
                      <a:solidFill>
                        <a:srgbClr val="B9CFC2"/>
                      </a:solidFill>
                      <a:prstDash val="solid"/>
                      <a:round/>
                      <a:headEnd type="none" w="med" len="med"/>
                      <a:tailEnd type="none" w="med" len="med"/>
                    </a:lnR>
                    <a:lnT w="9525" cap="flat" cmpd="sng" algn="ctr">
                      <a:solidFill>
                        <a:srgbClr val="B9CFC2"/>
                      </a:solidFill>
                      <a:prstDash val="solid"/>
                      <a:round/>
                      <a:headEnd type="none" w="med" len="med"/>
                      <a:tailEnd type="none" w="med" len="med"/>
                    </a:lnT>
                    <a:lnB w="9525" cap="flat" cmpd="sng" algn="ctr">
                      <a:solidFill>
                        <a:srgbClr val="B9CFC2"/>
                      </a:solidFill>
                      <a:prstDash val="solid"/>
                      <a:round/>
                      <a:headEnd type="none" w="med" len="med"/>
                      <a:tailEnd type="none" w="med" len="med"/>
                    </a:lnB>
                    <a:solidFill>
                      <a:srgbClr val="FFFFFF"/>
                    </a:solidFill>
                  </a:tcPr>
                </a:tc>
                <a:tc>
                  <a:txBody>
                    <a:bodyPr/>
                    <a:lstStyle/>
                    <a:p>
                      <a:pPr indent="0" marL="0">
                        <a:buNone/>
                      </a:pPr>
                      <a:r>
                        <a:rPr lang="en-US" sz="1200" dirty="0">
                          <a:solidFill>
                            <a:srgbClr val="1B2B22"/>
                          </a:solidFill>
                          <a:latin typeface="Calibri" pitchFamily="34" charset="0"/>
                          <a:ea typeface="Calibri" pitchFamily="34" charset="-122"/>
                          <a:cs typeface="Calibri" pitchFamily="34" charset="-120"/>
                        </a:rPr>
                        <a:t>"mark each student safe warning or detained"</a:t>
                      </a:r>
                      <a:endParaRPr lang="en-US" sz="1200" dirty="0">
                        <a:latin typeface="Calibri" charset="0"/>
                        <a:ea typeface="Calibri" charset="0"/>
                        <a:cs typeface="Calibri" charset="0"/>
                      </a:endParaRPr>
                    </a:p>
                  </a:txBody>
                  <a:tcPr marL="91440" marR="91440" marT="45720" marB="45720">
                    <a:lnL w="9525" cap="flat" cmpd="sng" algn="ctr">
                      <a:solidFill>
                        <a:srgbClr val="B9CFC2"/>
                      </a:solidFill>
                      <a:prstDash val="solid"/>
                      <a:round/>
                      <a:headEnd type="none" w="med" len="med"/>
                      <a:tailEnd type="none" w="med" len="med"/>
                    </a:lnL>
                    <a:lnR w="9525" cap="flat" cmpd="sng" algn="ctr">
                      <a:solidFill>
                        <a:srgbClr val="B9CFC2"/>
                      </a:solidFill>
                      <a:prstDash val="solid"/>
                      <a:round/>
                      <a:headEnd type="none" w="med" len="med"/>
                      <a:tailEnd type="none" w="med" len="med"/>
                    </a:lnR>
                    <a:lnT w="9525" cap="flat" cmpd="sng" algn="ctr">
                      <a:solidFill>
                        <a:srgbClr val="B9CFC2"/>
                      </a:solidFill>
                      <a:prstDash val="solid"/>
                      <a:round/>
                      <a:headEnd type="none" w="med" len="med"/>
                      <a:tailEnd type="none" w="med" len="med"/>
                    </a:lnT>
                    <a:lnB w="9525" cap="flat" cmpd="sng" algn="ctr">
                      <a:solidFill>
                        <a:srgbClr val="B9CFC2"/>
                      </a:solidFill>
                      <a:prstDash val="solid"/>
                      <a:round/>
                      <a:headEnd type="none" w="med" len="med"/>
                      <a:tailEnd type="none" w="med" len="med"/>
                    </a:lnB>
                    <a:solidFill>
                      <a:srgbClr val="FFFFFF"/>
                    </a:solidFill>
                  </a:tcPr>
                </a:tc>
                <a:tc>
                  <a:txBody>
                    <a:bodyPr/>
                    <a:lstStyle/>
                    <a:p>
                      <a:pPr indent="0" marL="0">
                        <a:buNone/>
                      </a:pPr>
                      <a:r>
                        <a:rPr lang="en-US" sz="1200" dirty="0">
                          <a:solidFill>
                            <a:srgbClr val="1B2B22"/>
                          </a:solidFill>
                          <a:latin typeface="Calibri" pitchFamily="34" charset="0"/>
                          <a:ea typeface="Calibri" pitchFamily="34" charset="-122"/>
                          <a:cs typeface="Calibri" pitchFamily="34" charset="-120"/>
                        </a:rPr>
                        <a:t>got a Python script</a:t>
                      </a:r>
                      <a:endParaRPr lang="en-US" sz="1200" dirty="0">
                        <a:latin typeface="Calibri" charset="0"/>
                        <a:ea typeface="Calibri" charset="0"/>
                        <a:cs typeface="Calibri" charset="0"/>
                      </a:endParaRPr>
                    </a:p>
                  </a:txBody>
                  <a:tcPr marL="91440" marR="91440" marT="45720" marB="45720">
                    <a:lnL w="9525" cap="flat" cmpd="sng" algn="ctr">
                      <a:solidFill>
                        <a:srgbClr val="B9CFC2"/>
                      </a:solidFill>
                      <a:prstDash val="solid"/>
                      <a:round/>
                      <a:headEnd type="none" w="med" len="med"/>
                      <a:tailEnd type="none" w="med" len="med"/>
                    </a:lnL>
                    <a:lnR w="9525" cap="flat" cmpd="sng" algn="ctr">
                      <a:solidFill>
                        <a:srgbClr val="B9CFC2"/>
                      </a:solidFill>
                      <a:prstDash val="solid"/>
                      <a:round/>
                      <a:headEnd type="none" w="med" len="med"/>
                      <a:tailEnd type="none" w="med" len="med"/>
                    </a:lnR>
                    <a:lnT w="9525" cap="flat" cmpd="sng" algn="ctr">
                      <a:solidFill>
                        <a:srgbClr val="B9CFC2"/>
                      </a:solidFill>
                      <a:prstDash val="solid"/>
                      <a:round/>
                      <a:headEnd type="none" w="med" len="med"/>
                      <a:tailEnd type="none" w="med" len="med"/>
                    </a:lnT>
                    <a:lnB w="9525" cap="flat" cmpd="sng" algn="ctr">
                      <a:solidFill>
                        <a:srgbClr val="B9CFC2"/>
                      </a:solidFill>
                      <a:prstDash val="solid"/>
                      <a:round/>
                      <a:headEnd type="none" w="med" len="med"/>
                      <a:tailEnd type="none" w="med" len="med"/>
                    </a:lnB>
                    <a:solidFill>
                      <a:srgbClr val="FFFFFF"/>
                    </a:solidFill>
                  </a:tcPr>
                </a:tc>
                <a:tc>
                  <a:txBody>
                    <a:bodyPr/>
                    <a:lstStyle/>
                    <a:p>
                      <a:pPr indent="0" marL="0">
                        <a:buNone/>
                      </a:pPr>
                      <a:r>
                        <a:rPr lang="en-US" sz="1200" b="1" dirty="0">
                          <a:solidFill>
                            <a:srgbClr val="B42318"/>
                          </a:solidFill>
                          <a:latin typeface="Calibri" pitchFamily="34" charset="0"/>
                          <a:ea typeface="Calibri" pitchFamily="34" charset="-122"/>
                          <a:cs typeface="Calibri" pitchFamily="34" charset="-120"/>
                        </a:rPr>
                        <a:t>FAIL</a:t>
                      </a:r>
                      <a:endParaRPr lang="en-US" sz="1200" dirty="0">
                        <a:latin typeface="Calibri" charset="0"/>
                        <a:ea typeface="Calibri" charset="0"/>
                        <a:cs typeface="Calibri" charset="0"/>
                      </a:endParaRPr>
                    </a:p>
                  </a:txBody>
                  <a:tcPr marL="91440" marR="91440" marT="45720" marB="45720">
                    <a:lnL w="9525" cap="flat" cmpd="sng" algn="ctr">
                      <a:solidFill>
                        <a:srgbClr val="B9CFC2"/>
                      </a:solidFill>
                      <a:prstDash val="solid"/>
                      <a:round/>
                      <a:headEnd type="none" w="med" len="med"/>
                      <a:tailEnd type="none" w="med" len="med"/>
                    </a:lnL>
                    <a:lnR w="9525" cap="flat" cmpd="sng" algn="ctr">
                      <a:solidFill>
                        <a:srgbClr val="B9CFC2"/>
                      </a:solidFill>
                      <a:prstDash val="solid"/>
                      <a:round/>
                      <a:headEnd type="none" w="med" len="med"/>
                      <a:tailEnd type="none" w="med" len="med"/>
                    </a:lnR>
                    <a:lnT w="9525" cap="flat" cmpd="sng" algn="ctr">
                      <a:solidFill>
                        <a:srgbClr val="B9CFC2"/>
                      </a:solidFill>
                      <a:prstDash val="solid"/>
                      <a:round/>
                      <a:headEnd type="none" w="med" len="med"/>
                      <a:tailEnd type="none" w="med" len="med"/>
                    </a:lnT>
                    <a:lnB w="9525" cap="flat" cmpd="sng" algn="ctr">
                      <a:solidFill>
                        <a:srgbClr val="B9CFC2"/>
                      </a:solidFill>
                      <a:prstDash val="solid"/>
                      <a:round/>
                      <a:headEnd type="none" w="med" len="med"/>
                      <a:tailEnd type="none" w="med" len="med"/>
                    </a:lnB>
                    <a:solidFill>
                      <a:srgbClr val="FFFFFF"/>
                    </a:solidFill>
                  </a:tcPr>
                </a:tc>
              </a:tr>
              <a:tr h="502920">
                <a:tc>
                  <a:txBody>
                    <a:bodyPr/>
                    <a:lstStyle/>
                    <a:p>
                      <a:pPr indent="0" marL="0">
                        <a:buNone/>
                      </a:pPr>
                      <a:r>
                        <a:rPr lang="en-US" sz="1200" dirty="0">
                          <a:solidFill>
                            <a:srgbClr val="1B2B22"/>
                          </a:solidFill>
                          <a:latin typeface="Calibri" pitchFamily="34" charset="0"/>
                          <a:ea typeface="Calibri" pitchFamily="34" charset="-122"/>
                          <a:cs typeface="Calibri" pitchFamily="34" charset="-120"/>
                        </a:rPr>
                        <a:t>TC37</a:t>
                      </a:r>
                      <a:endParaRPr lang="en-US" sz="1200" dirty="0">
                        <a:latin typeface="Calibri" charset="0"/>
                        <a:ea typeface="Calibri" charset="0"/>
                        <a:cs typeface="Calibri" charset="0"/>
                      </a:endParaRPr>
                    </a:p>
                  </a:txBody>
                  <a:tcPr marL="91440" marR="91440" marT="45720" marB="45720">
                    <a:lnL w="9525" cap="flat" cmpd="sng" algn="ctr">
                      <a:solidFill>
                        <a:srgbClr val="B9CFC2"/>
                      </a:solidFill>
                      <a:prstDash val="solid"/>
                      <a:round/>
                      <a:headEnd type="none" w="med" len="med"/>
                      <a:tailEnd type="none" w="med" len="med"/>
                    </a:lnL>
                    <a:lnR w="9525" cap="flat" cmpd="sng" algn="ctr">
                      <a:solidFill>
                        <a:srgbClr val="B9CFC2"/>
                      </a:solidFill>
                      <a:prstDash val="solid"/>
                      <a:round/>
                      <a:headEnd type="none" w="med" len="med"/>
                      <a:tailEnd type="none" w="med" len="med"/>
                    </a:lnR>
                    <a:lnT w="9525" cap="flat" cmpd="sng" algn="ctr">
                      <a:solidFill>
                        <a:srgbClr val="B9CFC2"/>
                      </a:solidFill>
                      <a:prstDash val="solid"/>
                      <a:round/>
                      <a:headEnd type="none" w="med" len="med"/>
                      <a:tailEnd type="none" w="med" len="med"/>
                    </a:lnT>
                    <a:lnB w="9525" cap="flat" cmpd="sng" algn="ctr">
                      <a:solidFill>
                        <a:srgbClr val="B9CFC2"/>
                      </a:solidFill>
                      <a:prstDash val="solid"/>
                      <a:round/>
                      <a:headEnd type="none" w="med" len="med"/>
                      <a:tailEnd type="none" w="med" len="med"/>
                    </a:lnB>
                    <a:solidFill>
                      <a:srgbClr val="FFFFFF"/>
                    </a:solidFill>
                  </a:tcPr>
                </a:tc>
                <a:tc>
                  <a:txBody>
                    <a:bodyPr/>
                    <a:lstStyle/>
                    <a:p>
                      <a:pPr indent="0" marL="0">
                        <a:buNone/>
                      </a:pPr>
                      <a:r>
                        <a:rPr lang="en-US" sz="1200" dirty="0">
                          <a:solidFill>
                            <a:srgbClr val="1B2B22"/>
                          </a:solidFill>
                          <a:latin typeface="Calibri" pitchFamily="34" charset="0"/>
                          <a:ea typeface="Calibri" pitchFamily="34" charset="-122"/>
                          <a:cs typeface="Calibri" pitchFamily="34" charset="-120"/>
                        </a:rPr>
                        <a:t>cod-10 recipe scaler</a:t>
                      </a:r>
                      <a:endParaRPr lang="en-US" sz="1200" dirty="0">
                        <a:latin typeface="Calibri" charset="0"/>
                        <a:ea typeface="Calibri" charset="0"/>
                        <a:cs typeface="Calibri" charset="0"/>
                      </a:endParaRPr>
                    </a:p>
                  </a:txBody>
                  <a:tcPr marL="91440" marR="91440" marT="45720" marB="45720">
                    <a:lnL w="9525" cap="flat" cmpd="sng" algn="ctr">
                      <a:solidFill>
                        <a:srgbClr val="B9CFC2"/>
                      </a:solidFill>
                      <a:prstDash val="solid"/>
                      <a:round/>
                      <a:headEnd type="none" w="med" len="med"/>
                      <a:tailEnd type="none" w="med" len="med"/>
                    </a:lnL>
                    <a:lnR w="9525" cap="flat" cmpd="sng" algn="ctr">
                      <a:solidFill>
                        <a:srgbClr val="B9CFC2"/>
                      </a:solidFill>
                      <a:prstDash val="solid"/>
                      <a:round/>
                      <a:headEnd type="none" w="med" len="med"/>
                      <a:tailEnd type="none" w="med" len="med"/>
                    </a:lnR>
                    <a:lnT w="9525" cap="flat" cmpd="sng" algn="ctr">
                      <a:solidFill>
                        <a:srgbClr val="B9CFC2"/>
                      </a:solidFill>
                      <a:prstDash val="solid"/>
                      <a:round/>
                      <a:headEnd type="none" w="med" len="med"/>
                      <a:tailEnd type="none" w="med" len="med"/>
                    </a:lnT>
                    <a:lnB w="9525" cap="flat" cmpd="sng" algn="ctr">
                      <a:solidFill>
                        <a:srgbClr val="B9CFC2"/>
                      </a:solidFill>
                      <a:prstDash val="solid"/>
                      <a:round/>
                      <a:headEnd type="none" w="med" len="med"/>
                      <a:tailEnd type="none" w="med" len="med"/>
                    </a:lnB>
                    <a:solidFill>
                      <a:srgbClr val="FFFFFF"/>
                    </a:solidFill>
                  </a:tcPr>
                </a:tc>
                <a:tc>
                  <a:txBody>
                    <a:bodyPr/>
                    <a:lstStyle/>
                    <a:p>
                      <a:pPr indent="0" marL="0">
                        <a:buNone/>
                      </a:pPr>
                      <a:r>
                        <a:rPr lang="en-US" sz="1200" dirty="0">
                          <a:solidFill>
                            <a:srgbClr val="1B2B22"/>
                          </a:solidFill>
                          <a:latin typeface="Calibri" pitchFamily="34" charset="0"/>
                          <a:ea typeface="Calibri" pitchFamily="34" charset="-122"/>
                          <a:cs typeface="Calibri" pitchFamily="34" charset="-120"/>
                        </a:rPr>
                        <a:t>"write the scale fn for recipe app"</a:t>
                      </a:r>
                      <a:endParaRPr lang="en-US" sz="1200" dirty="0">
                        <a:latin typeface="Calibri" charset="0"/>
                        <a:ea typeface="Calibri" charset="0"/>
                        <a:cs typeface="Calibri" charset="0"/>
                      </a:endParaRPr>
                    </a:p>
                  </a:txBody>
                  <a:tcPr marL="91440" marR="91440" marT="45720" marB="45720">
                    <a:lnL w="9525" cap="flat" cmpd="sng" algn="ctr">
                      <a:solidFill>
                        <a:srgbClr val="B9CFC2"/>
                      </a:solidFill>
                      <a:prstDash val="solid"/>
                      <a:round/>
                      <a:headEnd type="none" w="med" len="med"/>
                      <a:tailEnd type="none" w="med" len="med"/>
                    </a:lnL>
                    <a:lnR w="9525" cap="flat" cmpd="sng" algn="ctr">
                      <a:solidFill>
                        <a:srgbClr val="B9CFC2"/>
                      </a:solidFill>
                      <a:prstDash val="solid"/>
                      <a:round/>
                      <a:headEnd type="none" w="med" len="med"/>
                      <a:tailEnd type="none" w="med" len="med"/>
                    </a:lnR>
                    <a:lnT w="9525" cap="flat" cmpd="sng" algn="ctr">
                      <a:solidFill>
                        <a:srgbClr val="B9CFC2"/>
                      </a:solidFill>
                      <a:prstDash val="solid"/>
                      <a:round/>
                      <a:headEnd type="none" w="med" len="med"/>
                      <a:tailEnd type="none" w="med" len="med"/>
                    </a:lnT>
                    <a:lnB w="9525" cap="flat" cmpd="sng" algn="ctr">
                      <a:solidFill>
                        <a:srgbClr val="B9CFC2"/>
                      </a:solidFill>
                      <a:prstDash val="solid"/>
                      <a:round/>
                      <a:headEnd type="none" w="med" len="med"/>
                      <a:tailEnd type="none" w="med" len="med"/>
                    </a:lnB>
                    <a:solidFill>
                      <a:srgbClr val="FFFFFF"/>
                    </a:solidFill>
                  </a:tcPr>
                </a:tc>
                <a:tc>
                  <a:txBody>
                    <a:bodyPr/>
                    <a:lstStyle/>
                    <a:p>
                      <a:pPr indent="0" marL="0">
                        <a:buNone/>
                      </a:pPr>
                      <a:r>
                        <a:rPr lang="en-US" sz="1200" dirty="0">
                          <a:solidFill>
                            <a:srgbClr val="1B2B22"/>
                          </a:solidFill>
                          <a:latin typeface="Calibri" pitchFamily="34" charset="0"/>
                          <a:ea typeface="Calibri" pitchFamily="34" charset="-122"/>
                          <a:cs typeface="Calibri" pitchFamily="34" charset="-120"/>
                        </a:rPr>
                        <a:t>4/8 asserts</a:t>
                      </a:r>
                      <a:endParaRPr lang="en-US" sz="1200" dirty="0">
                        <a:latin typeface="Calibri" charset="0"/>
                        <a:ea typeface="Calibri" charset="0"/>
                        <a:cs typeface="Calibri" charset="0"/>
                      </a:endParaRPr>
                    </a:p>
                  </a:txBody>
                  <a:tcPr marL="91440" marR="91440" marT="45720" marB="45720">
                    <a:lnL w="9525" cap="flat" cmpd="sng" algn="ctr">
                      <a:solidFill>
                        <a:srgbClr val="B9CFC2"/>
                      </a:solidFill>
                      <a:prstDash val="solid"/>
                      <a:round/>
                      <a:headEnd type="none" w="med" len="med"/>
                      <a:tailEnd type="none" w="med" len="med"/>
                    </a:lnL>
                    <a:lnR w="9525" cap="flat" cmpd="sng" algn="ctr">
                      <a:solidFill>
                        <a:srgbClr val="B9CFC2"/>
                      </a:solidFill>
                      <a:prstDash val="solid"/>
                      <a:round/>
                      <a:headEnd type="none" w="med" len="med"/>
                      <a:tailEnd type="none" w="med" len="med"/>
                    </a:lnR>
                    <a:lnT w="9525" cap="flat" cmpd="sng" algn="ctr">
                      <a:solidFill>
                        <a:srgbClr val="B9CFC2"/>
                      </a:solidFill>
                      <a:prstDash val="solid"/>
                      <a:round/>
                      <a:headEnd type="none" w="med" len="med"/>
                      <a:tailEnd type="none" w="med" len="med"/>
                    </a:lnT>
                    <a:lnB w="9525" cap="flat" cmpd="sng" algn="ctr">
                      <a:solidFill>
                        <a:srgbClr val="B9CFC2"/>
                      </a:solidFill>
                      <a:prstDash val="solid"/>
                      <a:round/>
                      <a:headEnd type="none" w="med" len="med"/>
                      <a:tailEnd type="none" w="med" len="med"/>
                    </a:lnB>
                    <a:solidFill>
                      <a:srgbClr val="FFFFFF"/>
                    </a:solidFill>
                  </a:tcPr>
                </a:tc>
                <a:tc>
                  <a:txBody>
                    <a:bodyPr/>
                    <a:lstStyle/>
                    <a:p>
                      <a:pPr indent="0" marL="0">
                        <a:buNone/>
                      </a:pPr>
                      <a:r>
                        <a:rPr lang="en-US" sz="1200" b="1" dirty="0">
                          <a:solidFill>
                            <a:srgbClr val="B42318"/>
                          </a:solidFill>
                          <a:latin typeface="Calibri" pitchFamily="34" charset="0"/>
                          <a:ea typeface="Calibri" pitchFamily="34" charset="-122"/>
                          <a:cs typeface="Calibri" pitchFamily="34" charset="-120"/>
                        </a:rPr>
                        <a:t>FAIL</a:t>
                      </a:r>
                      <a:endParaRPr lang="en-US" sz="1200" dirty="0">
                        <a:latin typeface="Calibri" charset="0"/>
                        <a:ea typeface="Calibri" charset="0"/>
                        <a:cs typeface="Calibri" charset="0"/>
                      </a:endParaRPr>
                    </a:p>
                  </a:txBody>
                  <a:tcPr marL="91440" marR="91440" marT="45720" marB="45720">
                    <a:lnL w="9525" cap="flat" cmpd="sng" algn="ctr">
                      <a:solidFill>
                        <a:srgbClr val="B9CFC2"/>
                      </a:solidFill>
                      <a:prstDash val="solid"/>
                      <a:round/>
                      <a:headEnd type="none" w="med" len="med"/>
                      <a:tailEnd type="none" w="med" len="med"/>
                    </a:lnL>
                    <a:lnR w="9525" cap="flat" cmpd="sng" algn="ctr">
                      <a:solidFill>
                        <a:srgbClr val="B9CFC2"/>
                      </a:solidFill>
                      <a:prstDash val="solid"/>
                      <a:round/>
                      <a:headEnd type="none" w="med" len="med"/>
                      <a:tailEnd type="none" w="med" len="med"/>
                    </a:lnR>
                    <a:lnT w="9525" cap="flat" cmpd="sng" algn="ctr">
                      <a:solidFill>
                        <a:srgbClr val="B9CFC2"/>
                      </a:solidFill>
                      <a:prstDash val="solid"/>
                      <a:round/>
                      <a:headEnd type="none" w="med" len="med"/>
                      <a:tailEnd type="none" w="med" len="med"/>
                    </a:lnT>
                    <a:lnB w="9525" cap="flat" cmpd="sng" algn="ctr">
                      <a:solidFill>
                        <a:srgbClr val="B9CFC2"/>
                      </a:solidFill>
                      <a:prstDash val="solid"/>
                      <a:round/>
                      <a:headEnd type="none" w="med" len="med"/>
                      <a:tailEnd type="none" w="med" len="med"/>
                    </a:lnB>
                    <a:solidFill>
                      <a:srgbClr val="FFFFFF"/>
                    </a:solidFill>
                  </a:tcPr>
                </a:tc>
              </a:tr>
            </a:tbl>
          </a:graphicData>
        </a:graphic>
      </p:graphicFrame>
      <p:graphicFrame>
        <p:nvGraphicFramePr>
          <p:cNvPr id="5" name="Chart 0" descr=""/>
          <p:cNvGraphicFramePr/>
          <p:nvPr/>
        </p:nvGraphicFramePr>
        <p:xfrm>
          <a:off x="7955280" y="1188720"/>
          <a:ext cx="3749040" cy="3108960"/>
        </p:xfrm>
        <a:graphic xmlns:a="http://schemas.openxmlformats.org/drawingml/2006/main">
          <a:graphicData uri="http://schemas.openxmlformats.org/drawingml/2006/chart">
            <c:chart xmlns:c="http://schemas.openxmlformats.org/drawingml/2006/chart" r:id="rId1"/>
          </a:graphicData>
        </a:graphic>
      </p:graphicFrame>
      <p:sp>
        <p:nvSpPr>
          <p:cNvPr id="6" name="Shape 1"/>
          <p:cNvSpPr/>
          <p:nvPr/>
        </p:nvSpPr>
        <p:spPr>
          <a:xfrm>
            <a:off x="7955280" y="4572000"/>
            <a:ext cx="1783080" cy="1600200"/>
          </a:xfrm>
          <a:prstGeom prst="roundRect">
            <a:avLst>
              <a:gd name="adj" fmla="val 6857"/>
            </a:avLst>
          </a:prstGeom>
          <a:solidFill>
            <a:schemeClr val="bg1"/>
          </a:solidFill>
          <a:ln w="9525">
            <a:solidFill>
              <a:srgbClr val="6FA287"/>
            </a:solidFill>
            <a:prstDash val="solid"/>
          </a:ln>
          <a:effectLst>
            <a:outerShdw sx="100000" sy="100000" kx="0" ky="0" algn="bl" rotWithShape="0" blurRad="50800" dist="25400" dir="5400000">
              <a:srgbClr val="9DB8A8">
                <a:alpha val="35000"/>
              </a:srgbClr>
            </a:outerShdw>
          </a:effectLst>
        </p:spPr>
      </p:sp>
      <p:sp>
        <p:nvSpPr>
          <p:cNvPr id="7" name="Text 2"/>
          <p:cNvSpPr txBox="1"/>
          <p:nvPr/>
        </p:nvSpPr>
        <p:spPr>
          <a:xfrm>
            <a:off x="8092440" y="4709160"/>
            <a:ext cx="1508760" cy="868680"/>
          </a:xfrm>
          <a:prstGeom prst="rect">
            <a:avLst/>
          </a:prstGeom>
          <a:noFill/>
          <a:ln/>
        </p:spPr>
        <p:txBody>
          <a:bodyPr wrap="square" lIns="635" tIns="635" rIns="635" bIns="635" rtlCol="0" anchor="ctr"/>
          <a:lstStyle/>
          <a:p>
            <a:pPr algn="ctr" indent="0" marL="0">
              <a:buNone/>
            </a:pPr>
            <a:r>
              <a:rPr lang="en-US" sz="2800" b="1" dirty="0">
                <a:solidFill>
                  <a:schemeClr val="tx2"/>
                </a:solidFill>
                <a:latin typeface="Arial" pitchFamily="34" charset="0"/>
                <a:ea typeface="Arial" pitchFamily="34" charset="-122"/>
                <a:cs typeface="Arial" pitchFamily="34" charset="-120"/>
              </a:rPr>
              <a:t>42/50</a:t>
            </a:r>
            <a:endParaRPr lang="en-US" sz="2800" dirty="0"/>
          </a:p>
        </p:txBody>
      </p:sp>
      <p:sp>
        <p:nvSpPr>
          <p:cNvPr id="8" name="Text 3"/>
          <p:cNvSpPr txBox="1"/>
          <p:nvPr/>
        </p:nvSpPr>
        <p:spPr>
          <a:xfrm>
            <a:off x="8092440" y="5559552"/>
            <a:ext cx="1508760" cy="548640"/>
          </a:xfrm>
          <a:prstGeom prst="rect">
            <a:avLst/>
          </a:prstGeom>
          <a:noFill/>
          <a:ln/>
        </p:spPr>
        <p:txBody>
          <a:bodyPr wrap="square" lIns="635" tIns="635" rIns="635" bIns="635" rtlCol="0" anchor="t"/>
          <a:lstStyle/>
          <a:p>
            <a:pPr algn="ctr" indent="0" marL="0">
              <a:buNone/>
            </a:pPr>
            <a:r>
              <a:rPr lang="en-US" sz="1300" dirty="0">
                <a:solidFill>
                  <a:schemeClr val="tx1"/>
                </a:solidFill>
              </a:rPr>
              <a:t>optimized (vague 37)</a:t>
            </a:r>
            <a:endParaRPr lang="en-US" sz="1300" dirty="0"/>
          </a:p>
        </p:txBody>
      </p:sp>
      <p:sp>
        <p:nvSpPr>
          <p:cNvPr id="9" name="Shape 4"/>
          <p:cNvSpPr/>
          <p:nvPr/>
        </p:nvSpPr>
        <p:spPr>
          <a:xfrm>
            <a:off x="9921240" y="4572000"/>
            <a:ext cx="1783080" cy="1600200"/>
          </a:xfrm>
          <a:prstGeom prst="roundRect">
            <a:avLst>
              <a:gd name="adj" fmla="val 6857"/>
            </a:avLst>
          </a:prstGeom>
          <a:solidFill>
            <a:schemeClr val="bg1"/>
          </a:solidFill>
          <a:ln w="9525">
            <a:solidFill>
              <a:srgbClr val="6FA287"/>
            </a:solidFill>
            <a:prstDash val="solid"/>
          </a:ln>
          <a:effectLst>
            <a:outerShdw sx="100000" sy="100000" kx="0" ky="0" algn="bl" rotWithShape="0" blurRad="50800" dist="25400" dir="5400000">
              <a:srgbClr val="9DB8A8">
                <a:alpha val="35000"/>
              </a:srgbClr>
            </a:outerShdw>
          </a:effectLst>
        </p:spPr>
      </p:sp>
      <p:sp>
        <p:nvSpPr>
          <p:cNvPr id="10" name="Text 5"/>
          <p:cNvSpPr txBox="1"/>
          <p:nvPr/>
        </p:nvSpPr>
        <p:spPr>
          <a:xfrm>
            <a:off x="10058400" y="4709160"/>
            <a:ext cx="1508760" cy="868680"/>
          </a:xfrm>
          <a:prstGeom prst="rect">
            <a:avLst/>
          </a:prstGeom>
          <a:noFill/>
          <a:ln/>
        </p:spPr>
        <p:txBody>
          <a:bodyPr wrap="square" lIns="635" tIns="635" rIns="635" bIns="635" rtlCol="0" anchor="ctr"/>
          <a:lstStyle/>
          <a:p>
            <a:pPr algn="ctr" indent="0" marL="0">
              <a:buNone/>
            </a:pPr>
            <a:r>
              <a:rPr lang="en-US" sz="2800" b="1" dirty="0">
                <a:solidFill>
                  <a:schemeClr val="tx2"/>
                </a:solidFill>
                <a:latin typeface="Arial" pitchFamily="34" charset="0"/>
                <a:ea typeface="Arial" pitchFamily="34" charset="-122"/>
                <a:cs typeface="Arial" pitchFamily="34" charset="-120"/>
              </a:rPr>
              <a:t>-29.6%</a:t>
            </a:r>
            <a:endParaRPr lang="en-US" sz="2800" dirty="0"/>
          </a:p>
        </p:txBody>
      </p:sp>
      <p:sp>
        <p:nvSpPr>
          <p:cNvPr id="11" name="Text 6"/>
          <p:cNvSpPr txBox="1"/>
          <p:nvPr/>
        </p:nvSpPr>
        <p:spPr>
          <a:xfrm>
            <a:off x="10058400" y="5559552"/>
            <a:ext cx="1508760" cy="548640"/>
          </a:xfrm>
          <a:prstGeom prst="rect">
            <a:avLst/>
          </a:prstGeom>
          <a:noFill/>
          <a:ln/>
        </p:spPr>
        <p:txBody>
          <a:bodyPr wrap="square" lIns="635" tIns="635" rIns="635" bIns="635" rtlCol="0" anchor="t"/>
          <a:lstStyle/>
          <a:p>
            <a:pPr algn="ctr" indent="0" marL="0">
              <a:buNone/>
            </a:pPr>
            <a:r>
              <a:rPr lang="en-US" sz="1300" dirty="0">
                <a:solidFill>
                  <a:schemeClr val="tx1"/>
                </a:solidFill>
              </a:rPr>
              <a:t>total tokens</a:t>
            </a:r>
            <a:endParaRPr lang="en-US" sz="1300" dirty="0"/>
          </a:p>
        </p:txBody>
      </p:sp>
      <p:sp>
        <p:nvSpPr>
          <p:cNvPr id="12" name="Text 7"/>
          <p:cNvSpPr txBox="1"/>
          <p:nvPr/>
        </p:nvSpPr>
        <p:spPr>
          <a:xfrm>
            <a:off x="457200" y="5120640"/>
            <a:ext cx="7223760" cy="457200"/>
          </a:xfrm>
          <a:prstGeom prst="rect">
            <a:avLst/>
          </a:prstGeom>
          <a:noFill/>
          <a:ln/>
        </p:spPr>
        <p:txBody>
          <a:bodyPr wrap="square" lIns="635" tIns="635" rIns="635" bIns="635" rtlCol="0" anchor="t"/>
          <a:lstStyle/>
          <a:p>
            <a:pPr indent="0" marL="0">
              <a:buNone/>
            </a:pPr>
            <a:r>
              <a:rPr lang="en-US" sz="1500" b="1" dirty="0">
                <a:solidFill>
                  <a:schemeClr val="tx2"/>
                </a:solidFill>
              </a:rPr>
              <a:t>Fixed 9 · broke 4 · McNemar p = 0.267 (not significant at n = 50)</a:t>
            </a:r>
            <a:endParaRPr lang="en-US" sz="1500" dirty="0"/>
          </a:p>
        </p:txBody>
      </p:sp>
      <p:sp>
        <p:nvSpPr>
          <p:cNvPr id="13" name="Text 8"/>
          <p:cNvSpPr txBox="1"/>
          <p:nvPr/>
        </p:nvSpPr>
        <p:spPr>
          <a:xfrm>
            <a:off x="457200" y="5577840"/>
            <a:ext cx="7223760" cy="685800"/>
          </a:xfrm>
          <a:prstGeom prst="rect">
            <a:avLst/>
          </a:prstGeom>
          <a:noFill/>
          <a:ln/>
        </p:spPr>
        <p:txBody>
          <a:bodyPr wrap="square" lIns="635" tIns="635" rIns="635" bIns="635" rtlCol="0" anchor="t"/>
          <a:lstStyle/>
          <a:p>
            <a:pPr indent="0" marL="0">
              <a:buNone/>
            </a:pPr>
            <a:r>
              <a:rPr lang="en-US" sz="1400" dirty="0">
                <a:solidFill>
                  <a:schemeClr val="tx1"/>
                </a:solidFill>
              </a:rPr>
              <a:t>Failures: Stage A misread a table as code (cls-09); two summaries 2-3 words over the limit; a Stage C coding case 4/8 asserts.</a:t>
            </a:r>
            <a:endParaRPr lang="en-US" sz="1400" dirty="0"/>
          </a:p>
        </p:txBody>
      </p:sp>
      <p:sp>
        <p:nvSpPr>
          <p:cNvPr id="25" name="Slide Number Placeholder 0"/>
          <p:cNvSpPr>
            <a:spLocks noGrp="1"/>
          </p:cNvSpPr>
          <p:nvPr>
            <p:ph type="sldNum" sz="quarter" idx="4294967295"/>
          </p:nvPr>
        </p:nvSpPr>
        <p:spPr>
          <a:xfrm>
            <a:off x="1133856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580"/>
                </a:solidFill>
              </a:defRPr>
            </a:lvl1pPr>
          </a:lstStyle>
          <a:p>
            <a:pPr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1" type="title" hasCustomPrompt="1"/>
          </p:nvPr>
        </p:nvSpPr>
        <p:spPr>
          <a:xfrm>
            <a:off x="1188720" y="228600"/>
            <a:ext cx="9966960" cy="731520"/>
          </a:xfrm>
          <a:prstGeom prst="rect">
            <a:avLst/>
          </a:prstGeom>
          <a:noFill/>
          <a:ln/>
        </p:spPr>
        <p:txBody>
          <a:bodyPr wrap="square" lIns="0" tIns="0" rIns="0" bIns="0" rtlCol="0" anchor="ctr"/>
          <a:lstStyle/>
          <a:p>
            <a:pPr algn="l" indent="0" marL="0">
              <a:buNone/>
            </a:pPr>
            <a:r>
              <a:rPr lang="en-US" sz="3000" b="1" dirty="0">
                <a:solidFill>
                  <a:schemeClr val="tx2"/>
                </a:solidFill>
                <a:latin typeface="Arial" pitchFamily="34" charset="0"/>
                <a:ea typeface="Arial" pitchFamily="34" charset="-122"/>
                <a:cs typeface="Arial" pitchFamily="34" charset="-120"/>
              </a:rPr>
              <a:t>Results: -39.2% total tokens on 482 test prompts</a:t>
            </a:r>
            <a:endParaRPr lang="en-US" sz="3000" dirty="0"/>
          </a:p>
        </p:txBody>
      </p:sp>
      <p:graphicFrame>
        <p:nvGraphicFramePr>
          <p:cNvPr id="4" name="Chart 0" descr=""/>
          <p:cNvGraphicFramePr/>
          <p:nvPr/>
        </p:nvGraphicFramePr>
        <p:xfrm>
          <a:off x="457200" y="1188720"/>
          <a:ext cx="7406640" cy="5074920"/>
        </p:xfrm>
        <a:graphic xmlns:a="http://schemas.openxmlformats.org/drawingml/2006/main">
          <a:graphicData uri="http://schemas.openxmlformats.org/drawingml/2006/chart">
            <c:chart xmlns:c="http://schemas.openxmlformats.org/drawingml/2006/chart" r:id="rId1"/>
          </a:graphicData>
        </a:graphic>
      </p:graphicFrame>
      <p:sp>
        <p:nvSpPr>
          <p:cNvPr id="5" name="Shape 1"/>
          <p:cNvSpPr/>
          <p:nvPr/>
        </p:nvSpPr>
        <p:spPr>
          <a:xfrm>
            <a:off x="8183880" y="1280160"/>
            <a:ext cx="3474720" cy="1600200"/>
          </a:xfrm>
          <a:prstGeom prst="roundRect">
            <a:avLst>
              <a:gd name="adj" fmla="val 6857"/>
            </a:avLst>
          </a:prstGeom>
          <a:solidFill>
            <a:schemeClr val="bg1"/>
          </a:solidFill>
          <a:ln w="9525">
            <a:solidFill>
              <a:srgbClr val="6FA287"/>
            </a:solidFill>
            <a:prstDash val="solid"/>
          </a:ln>
          <a:effectLst>
            <a:outerShdw sx="100000" sy="100000" kx="0" ky="0" algn="bl" rotWithShape="0" blurRad="50800" dist="25400" dir="5400000">
              <a:srgbClr val="9DB8A8">
                <a:alpha val="35000"/>
              </a:srgbClr>
            </a:outerShdw>
          </a:effectLst>
        </p:spPr>
      </p:sp>
      <p:sp>
        <p:nvSpPr>
          <p:cNvPr id="6" name="Text 2"/>
          <p:cNvSpPr txBox="1"/>
          <p:nvPr/>
        </p:nvSpPr>
        <p:spPr>
          <a:xfrm>
            <a:off x="8321040" y="1417320"/>
            <a:ext cx="3200400" cy="868680"/>
          </a:xfrm>
          <a:prstGeom prst="rect">
            <a:avLst/>
          </a:prstGeom>
          <a:noFill/>
          <a:ln/>
        </p:spPr>
        <p:txBody>
          <a:bodyPr wrap="square" lIns="635" tIns="635" rIns="635" bIns="635" rtlCol="0" anchor="ctr"/>
          <a:lstStyle/>
          <a:p>
            <a:pPr algn="ctr" indent="0" marL="0">
              <a:buNone/>
            </a:pPr>
            <a:r>
              <a:rPr lang="en-US" sz="4000" b="1" dirty="0">
                <a:solidFill>
                  <a:schemeClr val="tx2"/>
                </a:solidFill>
                <a:latin typeface="Arial" pitchFamily="34" charset="0"/>
                <a:ea typeface="Arial" pitchFamily="34" charset="-122"/>
                <a:cs typeface="Arial" pitchFamily="34" charset="-120"/>
              </a:rPr>
              <a:t>682 → 165</a:t>
            </a:r>
            <a:endParaRPr lang="en-US" sz="4000" dirty="0"/>
          </a:p>
        </p:txBody>
      </p:sp>
      <p:sp>
        <p:nvSpPr>
          <p:cNvPr id="7" name="Text 3"/>
          <p:cNvSpPr txBox="1"/>
          <p:nvPr/>
        </p:nvSpPr>
        <p:spPr>
          <a:xfrm>
            <a:off x="8321040" y="2267712"/>
            <a:ext cx="3200400" cy="548640"/>
          </a:xfrm>
          <a:prstGeom prst="rect">
            <a:avLst/>
          </a:prstGeom>
          <a:noFill/>
          <a:ln/>
        </p:spPr>
        <p:txBody>
          <a:bodyPr wrap="square" lIns="635" tIns="635" rIns="635" bIns="635" rtlCol="0" anchor="t"/>
          <a:lstStyle/>
          <a:p>
            <a:pPr algn="ctr" indent="0" marL="0">
              <a:buNone/>
            </a:pPr>
            <a:r>
              <a:rPr lang="en-US" sz="1300" dirty="0">
                <a:solidFill>
                  <a:schemeClr val="tx1"/>
                </a:solidFill>
              </a:rPr>
              <a:t>output tokens per prompt (input 226 → 241)</a:t>
            </a:r>
            <a:endParaRPr lang="en-US" sz="1300" dirty="0"/>
          </a:p>
        </p:txBody>
      </p:sp>
      <p:sp>
        <p:nvSpPr>
          <p:cNvPr id="8" name="Shape 4"/>
          <p:cNvSpPr/>
          <p:nvPr/>
        </p:nvSpPr>
        <p:spPr>
          <a:xfrm>
            <a:off x="8183880" y="3063240"/>
            <a:ext cx="3474720" cy="1600200"/>
          </a:xfrm>
          <a:prstGeom prst="roundRect">
            <a:avLst>
              <a:gd name="adj" fmla="val 6857"/>
            </a:avLst>
          </a:prstGeom>
          <a:solidFill>
            <a:schemeClr val="bg1"/>
          </a:solidFill>
          <a:ln w="9525">
            <a:solidFill>
              <a:srgbClr val="6FA287"/>
            </a:solidFill>
            <a:prstDash val="solid"/>
          </a:ln>
          <a:effectLst>
            <a:outerShdw sx="100000" sy="100000" kx="0" ky="0" algn="bl" rotWithShape="0" blurRad="50800" dist="25400" dir="5400000">
              <a:srgbClr val="9DB8A8">
                <a:alpha val="35000"/>
              </a:srgbClr>
            </a:outerShdw>
          </a:effectLst>
        </p:spPr>
      </p:sp>
      <p:sp>
        <p:nvSpPr>
          <p:cNvPr id="9" name="Text 5"/>
          <p:cNvSpPr txBox="1"/>
          <p:nvPr/>
        </p:nvSpPr>
        <p:spPr>
          <a:xfrm>
            <a:off x="8321040" y="3200400"/>
            <a:ext cx="3200400" cy="868680"/>
          </a:xfrm>
          <a:prstGeom prst="rect">
            <a:avLst/>
          </a:prstGeom>
          <a:noFill/>
          <a:ln/>
        </p:spPr>
        <p:txBody>
          <a:bodyPr wrap="square" lIns="635" tIns="635" rIns="635" bIns="635" rtlCol="0" anchor="ctr"/>
          <a:lstStyle/>
          <a:p>
            <a:pPr algn="ctr" indent="0" marL="0">
              <a:buNone/>
            </a:pPr>
            <a:r>
              <a:rPr lang="en-US" sz="4000" b="1" dirty="0">
                <a:solidFill>
                  <a:schemeClr val="tx2"/>
                </a:solidFill>
                <a:latin typeface="Arial" pitchFamily="34" charset="0"/>
                <a:ea typeface="Arial" pitchFamily="34" charset="-122"/>
                <a:cs typeface="Arial" pitchFamily="34" charset="-120"/>
              </a:rPr>
              <a:t>8.2 → 9.0</a:t>
            </a:r>
            <a:endParaRPr lang="en-US" sz="4000" dirty="0"/>
          </a:p>
        </p:txBody>
      </p:sp>
      <p:sp>
        <p:nvSpPr>
          <p:cNvPr id="10" name="Text 6"/>
          <p:cNvSpPr txBox="1"/>
          <p:nvPr/>
        </p:nvSpPr>
        <p:spPr>
          <a:xfrm>
            <a:off x="8321040" y="4050792"/>
            <a:ext cx="3200400" cy="548640"/>
          </a:xfrm>
          <a:prstGeom prst="rect">
            <a:avLst/>
          </a:prstGeom>
          <a:noFill/>
          <a:ln/>
        </p:spPr>
        <p:txBody>
          <a:bodyPr wrap="square" lIns="635" tIns="635" rIns="635" bIns="635" rtlCol="0" anchor="t"/>
          <a:lstStyle/>
          <a:p>
            <a:pPr algn="ctr" indent="0" marL="0">
              <a:buNone/>
            </a:pPr>
            <a:r>
              <a:rPr lang="en-US" sz="1300" dirty="0">
                <a:solidFill>
                  <a:schemeClr val="tx1"/>
                </a:solidFill>
              </a:rPr>
              <a:t>benchmark quality; task success 67% → 85%</a:t>
            </a:r>
            <a:endParaRPr lang="en-US" sz="1300" dirty="0"/>
          </a:p>
        </p:txBody>
      </p:sp>
      <p:sp>
        <p:nvSpPr>
          <p:cNvPr id="11" name="Shape 7"/>
          <p:cNvSpPr/>
          <p:nvPr/>
        </p:nvSpPr>
        <p:spPr>
          <a:xfrm>
            <a:off x="8183880" y="4846320"/>
            <a:ext cx="3474720" cy="1371600"/>
          </a:xfrm>
          <a:prstGeom prst="roundRect">
            <a:avLst>
              <a:gd name="adj" fmla="val 8000"/>
            </a:avLst>
          </a:prstGeom>
          <a:solidFill>
            <a:schemeClr val="bg1"/>
          </a:solidFill>
          <a:ln w="9525">
            <a:solidFill>
              <a:srgbClr val="6FA287"/>
            </a:solidFill>
            <a:prstDash val="solid"/>
          </a:ln>
          <a:effectLst>
            <a:outerShdw sx="100000" sy="100000" kx="0" ky="0" algn="bl" rotWithShape="0" blurRad="50800" dist="25400" dir="5400000">
              <a:srgbClr val="9DB8A8">
                <a:alpha val="35000"/>
              </a:srgbClr>
            </a:outerShdw>
          </a:effectLst>
        </p:spPr>
      </p:sp>
      <p:sp>
        <p:nvSpPr>
          <p:cNvPr id="12" name="Text 8"/>
          <p:cNvSpPr txBox="1"/>
          <p:nvPr/>
        </p:nvSpPr>
        <p:spPr>
          <a:xfrm>
            <a:off x="8321040" y="4937760"/>
            <a:ext cx="3200400" cy="1188720"/>
          </a:xfrm>
          <a:prstGeom prst="rect">
            <a:avLst/>
          </a:prstGeom>
          <a:noFill/>
          <a:ln/>
        </p:spPr>
        <p:txBody>
          <a:bodyPr wrap="square" lIns="635" tIns="635" rIns="635" bIns="635" rtlCol="0" anchor="t"/>
          <a:lstStyle/>
          <a:p>
            <a:pPr indent="0" marL="0">
              <a:buNone/>
            </a:pPr>
            <a:r>
              <a:rPr lang="en-US" sz="1400" dirty="0">
                <a:solidFill>
                  <a:schemeClr val="tx1"/>
                </a:solidFill>
              </a:rPr>
              <a:t>Limitation: 87 of 482 prompts cost more (short answers, mostly extraction)</a:t>
            </a:r>
            <a:endParaRPr lang="en-US" sz="1400" dirty="0"/>
          </a:p>
        </p:txBody>
      </p:sp>
      <p:sp>
        <p:nvSpPr>
          <p:cNvPr id="25" name="Slide Number Placeholder 0"/>
          <p:cNvSpPr>
            <a:spLocks noGrp="1"/>
          </p:cNvSpPr>
          <p:nvPr>
            <p:ph type="sldNum" sz="quarter" idx="4294967295"/>
          </p:nvPr>
        </p:nvSpPr>
        <p:spPr>
          <a:xfrm>
            <a:off x="1133856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580"/>
                </a:solidFill>
              </a:defRPr>
            </a:lvl1pPr>
          </a:lstStyle>
          <a:p>
            <a:pPr algn="l"/>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1" type="title" hasCustomPrompt="1"/>
          </p:nvPr>
        </p:nvSpPr>
        <p:spPr>
          <a:xfrm>
            <a:off x="1188720" y="228600"/>
            <a:ext cx="9966960" cy="731520"/>
          </a:xfrm>
          <a:prstGeom prst="rect">
            <a:avLst/>
          </a:prstGeom>
          <a:noFill/>
          <a:ln/>
        </p:spPr>
        <p:txBody>
          <a:bodyPr wrap="square" lIns="0" tIns="0" rIns="0" bIns="0" rtlCol="0" anchor="ctr"/>
          <a:lstStyle/>
          <a:p>
            <a:pPr algn="l" indent="0" marL="0">
              <a:buNone/>
            </a:pPr>
            <a:r>
              <a:rPr lang="en-US" sz="3000" b="1" dirty="0">
                <a:solidFill>
                  <a:schemeClr val="tx2"/>
                </a:solidFill>
                <a:latin typeface="Arial" pitchFamily="34" charset="0"/>
                <a:ea typeface="Arial" pitchFamily="34" charset="-122"/>
                <a:cs typeface="Arial" pitchFamily="34" charset="-120"/>
              </a:rPr>
              <a:t>Working prototype</a:t>
            </a:r>
            <a:endParaRPr lang="en-US" sz="3000" dirty="0"/>
          </a:p>
        </p:txBody>
      </p:sp>
      <p:pic>
        <p:nvPicPr>
          <p:cNvPr id="4" name="Image 0" descr="/tmp/claude-1000/-mnt-SharedDrive-Projects-PromptOpt/a85f5363-f7d7-4f63-8a3a-b7b1874853cc/scratchpad/fig/ui_optimize.png">    </p:cNvPr>
          <p:cNvPicPr>
            <a:picLocks noChangeAspect="1"/>
          </p:cNvPicPr>
          <p:nvPr/>
        </p:nvPicPr>
        <p:blipFill>
          <a:blip r:embed="rId1"/>
          <a:srcRect l="0" r="0" t="0" b="26643"/>
          <a:stretch/>
        </p:blipFill>
        <p:spPr>
          <a:xfrm>
            <a:off x="457200" y="1188720"/>
            <a:ext cx="5532120" cy="5120640"/>
          </a:xfrm>
          <a:prstGeom prst="rect">
            <a:avLst/>
          </a:prstGeom>
        </p:spPr>
      </p:pic>
      <p:pic>
        <p:nvPicPr>
          <p:cNvPr id="5" name="Image 1" descr="/tmp/claude-1000/-mnt-SharedDrive-Projects-PromptOpt/a85f5363-f7d7-4f63-8a3a-b7b1874853cc/scratchpad/fig/ui_optimize-stagec.png">    </p:cNvPr>
          <p:cNvPicPr>
            <a:picLocks noChangeAspect="1"/>
          </p:cNvPicPr>
          <p:nvPr/>
        </p:nvPicPr>
        <p:blipFill>
          <a:blip r:embed="rId2"/>
          <a:srcRect l="0" r="0" t="0" b="4793"/>
          <a:stretch/>
        </p:blipFill>
        <p:spPr>
          <a:xfrm>
            <a:off x="6172200" y="1188720"/>
            <a:ext cx="5532120" cy="5120640"/>
          </a:xfrm>
          <a:prstGeom prst="rect">
            <a:avLst/>
          </a:prstGeom>
        </p:spPr>
      </p:pic>
      <p:sp>
        <p:nvSpPr>
          <p:cNvPr id="25" name="Slide Number Placeholder 0"/>
          <p:cNvSpPr>
            <a:spLocks noGrp="1"/>
          </p:cNvSpPr>
          <p:nvPr>
            <p:ph type="sldNum" sz="quarter" idx="4294967295"/>
          </p:nvPr>
        </p:nvSpPr>
        <p:spPr>
          <a:xfrm>
            <a:off x="1133856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580"/>
                </a:solidFill>
              </a:defRPr>
            </a:lvl1pPr>
          </a:lstStyle>
          <a:p>
            <a:pPr algn="l"/>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1" type="title" hasCustomPrompt="1"/>
          </p:nvPr>
        </p:nvSpPr>
        <p:spPr>
          <a:xfrm>
            <a:off x="1188720" y="228600"/>
            <a:ext cx="9966960" cy="731520"/>
          </a:xfrm>
          <a:prstGeom prst="rect">
            <a:avLst/>
          </a:prstGeom>
          <a:noFill/>
          <a:ln/>
        </p:spPr>
        <p:txBody>
          <a:bodyPr wrap="square" lIns="0" tIns="0" rIns="0" bIns="0" rtlCol="0" anchor="ctr"/>
          <a:lstStyle/>
          <a:p>
            <a:pPr algn="l" indent="0" marL="0">
              <a:buNone/>
            </a:pPr>
            <a:r>
              <a:rPr lang="en-US" sz="3000" b="1" dirty="0">
                <a:solidFill>
                  <a:schemeClr val="tx2"/>
                </a:solidFill>
                <a:latin typeface="Arial" pitchFamily="34" charset="0"/>
                <a:ea typeface="Arial" pitchFamily="34" charset="-122"/>
                <a:cs typeface="Arial" pitchFamily="34" charset="-120"/>
              </a:rPr>
              <a:t>Git and GitHub</a:t>
            </a:r>
            <a:endParaRPr lang="en-US" sz="3000" dirty="0"/>
          </a:p>
        </p:txBody>
      </p:sp>
      <p:pic>
        <p:nvPicPr>
          <p:cNvPr id="4" name="Image 0" descr="/tmp/claude-1000/-mnt-SharedDrive-Projects-PromptOpt/a85f5363-f7d7-4f63-8a3a-b7b1874853cc/scratchpad/fig/gh_repo.png">    </p:cNvPr>
          <p:cNvPicPr>
            <a:picLocks noChangeAspect="1"/>
          </p:cNvPicPr>
          <p:nvPr/>
        </p:nvPicPr>
        <p:blipFill>
          <a:blip r:embed="rId1"/>
          <a:stretch>
            <a:fillRect/>
          </a:stretch>
        </p:blipFill>
        <p:spPr>
          <a:xfrm>
            <a:off x="457200" y="1188720"/>
            <a:ext cx="5669280" cy="3986213"/>
          </a:xfrm>
          <a:prstGeom prst="rect">
            <a:avLst/>
          </a:prstGeom>
        </p:spPr>
      </p:pic>
      <p:sp>
        <p:nvSpPr>
          <p:cNvPr id="5" name="Shape 1"/>
          <p:cNvSpPr/>
          <p:nvPr/>
        </p:nvSpPr>
        <p:spPr>
          <a:xfrm>
            <a:off x="6400800" y="1280160"/>
            <a:ext cx="1691640" cy="1600200"/>
          </a:xfrm>
          <a:prstGeom prst="roundRect">
            <a:avLst>
              <a:gd name="adj" fmla="val 6857"/>
            </a:avLst>
          </a:prstGeom>
          <a:solidFill>
            <a:schemeClr val="bg1"/>
          </a:solidFill>
          <a:ln w="9525">
            <a:solidFill>
              <a:srgbClr val="6FA287"/>
            </a:solidFill>
            <a:prstDash val="solid"/>
          </a:ln>
          <a:effectLst>
            <a:outerShdw sx="100000" sy="100000" kx="0" ky="0" algn="bl" rotWithShape="0" blurRad="50800" dist="25400" dir="5400000">
              <a:srgbClr val="9DB8A8">
                <a:alpha val="35000"/>
              </a:srgbClr>
            </a:outerShdw>
          </a:effectLst>
        </p:spPr>
      </p:sp>
      <p:sp>
        <p:nvSpPr>
          <p:cNvPr id="6" name="Text 2"/>
          <p:cNvSpPr txBox="1"/>
          <p:nvPr/>
        </p:nvSpPr>
        <p:spPr>
          <a:xfrm>
            <a:off x="6537960" y="1417320"/>
            <a:ext cx="1417320" cy="868680"/>
          </a:xfrm>
          <a:prstGeom prst="rect">
            <a:avLst/>
          </a:prstGeom>
          <a:noFill/>
          <a:ln/>
        </p:spPr>
        <p:txBody>
          <a:bodyPr wrap="square" lIns="635" tIns="635" rIns="635" bIns="635" rtlCol="0" anchor="ctr"/>
          <a:lstStyle/>
          <a:p>
            <a:pPr algn="ctr" indent="0" marL="0">
              <a:buNone/>
            </a:pPr>
            <a:r>
              <a:rPr lang="en-US" sz="4000" b="1" dirty="0">
                <a:solidFill>
                  <a:schemeClr val="tx2"/>
                </a:solidFill>
                <a:latin typeface="Arial" pitchFamily="34" charset="0"/>
                <a:ea typeface="Arial" pitchFamily="34" charset="-122"/>
                <a:cs typeface="Arial" pitchFamily="34" charset="-120"/>
              </a:rPr>
              <a:t>92</a:t>
            </a:r>
            <a:endParaRPr lang="en-US" sz="4000" dirty="0"/>
          </a:p>
        </p:txBody>
      </p:sp>
      <p:sp>
        <p:nvSpPr>
          <p:cNvPr id="7" name="Text 3"/>
          <p:cNvSpPr txBox="1"/>
          <p:nvPr/>
        </p:nvSpPr>
        <p:spPr>
          <a:xfrm>
            <a:off x="6537960" y="2267712"/>
            <a:ext cx="1417320" cy="548640"/>
          </a:xfrm>
          <a:prstGeom prst="rect">
            <a:avLst/>
          </a:prstGeom>
          <a:noFill/>
          <a:ln/>
        </p:spPr>
        <p:txBody>
          <a:bodyPr wrap="square" lIns="635" tIns="635" rIns="635" bIns="635" rtlCol="0" anchor="t"/>
          <a:lstStyle/>
          <a:p>
            <a:pPr algn="ctr" indent="0" marL="0">
              <a:buNone/>
            </a:pPr>
            <a:r>
              <a:rPr lang="en-US" sz="1300" dirty="0">
                <a:solidFill>
                  <a:schemeClr val="tx1"/>
                </a:solidFill>
              </a:rPr>
              <a:t>commits</a:t>
            </a:r>
            <a:endParaRPr lang="en-US" sz="1300" dirty="0"/>
          </a:p>
        </p:txBody>
      </p:sp>
      <p:sp>
        <p:nvSpPr>
          <p:cNvPr id="8" name="Shape 4"/>
          <p:cNvSpPr/>
          <p:nvPr/>
        </p:nvSpPr>
        <p:spPr>
          <a:xfrm>
            <a:off x="8211312" y="1280160"/>
            <a:ext cx="1691640" cy="1600200"/>
          </a:xfrm>
          <a:prstGeom prst="roundRect">
            <a:avLst>
              <a:gd name="adj" fmla="val 6857"/>
            </a:avLst>
          </a:prstGeom>
          <a:solidFill>
            <a:schemeClr val="bg1"/>
          </a:solidFill>
          <a:ln w="9525">
            <a:solidFill>
              <a:srgbClr val="6FA287"/>
            </a:solidFill>
            <a:prstDash val="solid"/>
          </a:ln>
          <a:effectLst>
            <a:outerShdw sx="100000" sy="100000" kx="0" ky="0" algn="bl" rotWithShape="0" blurRad="50800" dist="25400" dir="5400000">
              <a:srgbClr val="9DB8A8">
                <a:alpha val="35000"/>
              </a:srgbClr>
            </a:outerShdw>
          </a:effectLst>
        </p:spPr>
      </p:sp>
      <p:sp>
        <p:nvSpPr>
          <p:cNvPr id="9" name="Text 5"/>
          <p:cNvSpPr txBox="1"/>
          <p:nvPr/>
        </p:nvSpPr>
        <p:spPr>
          <a:xfrm>
            <a:off x="8348472" y="1417320"/>
            <a:ext cx="1417320" cy="868680"/>
          </a:xfrm>
          <a:prstGeom prst="rect">
            <a:avLst/>
          </a:prstGeom>
          <a:noFill/>
          <a:ln/>
        </p:spPr>
        <p:txBody>
          <a:bodyPr wrap="square" lIns="635" tIns="635" rIns="635" bIns="635" rtlCol="0" anchor="ctr"/>
          <a:lstStyle/>
          <a:p>
            <a:pPr algn="ctr" indent="0" marL="0">
              <a:buNone/>
            </a:pPr>
            <a:r>
              <a:rPr lang="en-US" sz="4000" b="1" dirty="0">
                <a:solidFill>
                  <a:schemeClr val="tx2"/>
                </a:solidFill>
                <a:latin typeface="Arial" pitchFamily="34" charset="0"/>
                <a:ea typeface="Arial" pitchFamily="34" charset="-122"/>
                <a:cs typeface="Arial" pitchFamily="34" charset="-120"/>
              </a:rPr>
              <a:t>3</a:t>
            </a:r>
            <a:endParaRPr lang="en-US" sz="4000" dirty="0"/>
          </a:p>
        </p:txBody>
      </p:sp>
      <p:sp>
        <p:nvSpPr>
          <p:cNvPr id="10" name="Text 6"/>
          <p:cNvSpPr txBox="1"/>
          <p:nvPr/>
        </p:nvSpPr>
        <p:spPr>
          <a:xfrm>
            <a:off x="8348472" y="2267712"/>
            <a:ext cx="1417320" cy="548640"/>
          </a:xfrm>
          <a:prstGeom prst="rect">
            <a:avLst/>
          </a:prstGeom>
          <a:noFill/>
          <a:ln/>
        </p:spPr>
        <p:txBody>
          <a:bodyPr wrap="square" lIns="635" tIns="635" rIns="635" bIns="635" rtlCol="0" anchor="t"/>
          <a:lstStyle/>
          <a:p>
            <a:pPr algn="ctr" indent="0" marL="0">
              <a:buNone/>
            </a:pPr>
            <a:r>
              <a:rPr lang="en-US" sz="1300" dirty="0">
                <a:solidFill>
                  <a:schemeClr val="tx1"/>
                </a:solidFill>
              </a:rPr>
              <a:t>branches</a:t>
            </a:r>
            <a:endParaRPr lang="en-US" sz="1300" dirty="0"/>
          </a:p>
        </p:txBody>
      </p:sp>
      <p:sp>
        <p:nvSpPr>
          <p:cNvPr id="11" name="Shape 7"/>
          <p:cNvSpPr/>
          <p:nvPr/>
        </p:nvSpPr>
        <p:spPr>
          <a:xfrm>
            <a:off x="10012680" y="1280160"/>
            <a:ext cx="1645920" cy="1600200"/>
          </a:xfrm>
          <a:prstGeom prst="roundRect">
            <a:avLst>
              <a:gd name="adj" fmla="val 6857"/>
            </a:avLst>
          </a:prstGeom>
          <a:solidFill>
            <a:schemeClr val="bg1"/>
          </a:solidFill>
          <a:ln w="9525">
            <a:solidFill>
              <a:srgbClr val="6FA287"/>
            </a:solidFill>
            <a:prstDash val="solid"/>
          </a:ln>
          <a:effectLst>
            <a:outerShdw sx="100000" sy="100000" kx="0" ky="0" algn="bl" rotWithShape="0" blurRad="50800" dist="25400" dir="5400000">
              <a:srgbClr val="9DB8A8">
                <a:alpha val="35000"/>
              </a:srgbClr>
            </a:outerShdw>
          </a:effectLst>
        </p:spPr>
      </p:sp>
      <p:sp>
        <p:nvSpPr>
          <p:cNvPr id="12" name="Text 8"/>
          <p:cNvSpPr txBox="1"/>
          <p:nvPr/>
        </p:nvSpPr>
        <p:spPr>
          <a:xfrm>
            <a:off x="10149840" y="1417320"/>
            <a:ext cx="1371600" cy="868680"/>
          </a:xfrm>
          <a:prstGeom prst="rect">
            <a:avLst/>
          </a:prstGeom>
          <a:noFill/>
          <a:ln/>
        </p:spPr>
        <p:txBody>
          <a:bodyPr wrap="square" lIns="635" tIns="635" rIns="635" bIns="635" rtlCol="0" anchor="ctr"/>
          <a:lstStyle/>
          <a:p>
            <a:pPr algn="ctr" indent="0" marL="0">
              <a:buNone/>
            </a:pPr>
            <a:r>
              <a:rPr lang="en-US" sz="4000" b="1" dirty="0">
                <a:solidFill>
                  <a:schemeClr val="tx2"/>
                </a:solidFill>
                <a:latin typeface="Arial" pitchFamily="34" charset="0"/>
                <a:ea typeface="Arial" pitchFamily="34" charset="-122"/>
                <a:cs typeface="Arial" pitchFamily="34" charset="-120"/>
              </a:rPr>
              <a:t>4</a:t>
            </a:r>
            <a:endParaRPr lang="en-US" sz="4000" dirty="0"/>
          </a:p>
        </p:txBody>
      </p:sp>
      <p:sp>
        <p:nvSpPr>
          <p:cNvPr id="13" name="Text 9"/>
          <p:cNvSpPr txBox="1"/>
          <p:nvPr/>
        </p:nvSpPr>
        <p:spPr>
          <a:xfrm>
            <a:off x="10149840" y="2267712"/>
            <a:ext cx="1371600" cy="548640"/>
          </a:xfrm>
          <a:prstGeom prst="rect">
            <a:avLst/>
          </a:prstGeom>
          <a:noFill/>
          <a:ln/>
        </p:spPr>
        <p:txBody>
          <a:bodyPr wrap="square" lIns="635" tIns="635" rIns="635" bIns="635" rtlCol="0" anchor="t"/>
          <a:lstStyle/>
          <a:p>
            <a:pPr algn="ctr" indent="0" marL="0">
              <a:buNone/>
            </a:pPr>
            <a:r>
              <a:rPr lang="en-US" sz="1300" dirty="0">
                <a:solidFill>
                  <a:schemeClr val="tx1"/>
                </a:solidFill>
              </a:rPr>
              <a:t>tags · 1 release</a:t>
            </a:r>
            <a:endParaRPr lang="en-US" sz="1300" dirty="0"/>
          </a:p>
        </p:txBody>
      </p:sp>
      <p:sp>
        <p:nvSpPr>
          <p:cNvPr id="14" name="Shape 10"/>
          <p:cNvSpPr/>
          <p:nvPr/>
        </p:nvSpPr>
        <p:spPr>
          <a:xfrm>
            <a:off x="6400800" y="3063240"/>
            <a:ext cx="5257800" cy="3154680"/>
          </a:xfrm>
          <a:prstGeom prst="roundRect">
            <a:avLst>
              <a:gd name="adj" fmla="val 3478"/>
            </a:avLst>
          </a:prstGeom>
          <a:solidFill>
            <a:schemeClr val="bg1"/>
          </a:solidFill>
          <a:ln w="9525">
            <a:solidFill>
              <a:srgbClr val="6FA287"/>
            </a:solidFill>
            <a:prstDash val="solid"/>
          </a:ln>
          <a:effectLst>
            <a:outerShdw sx="100000" sy="100000" kx="0" ky="0" algn="bl" rotWithShape="0" blurRad="50800" dist="25400" dir="5400000">
              <a:srgbClr val="9DB8A8">
                <a:alpha val="35000"/>
              </a:srgbClr>
            </a:outerShdw>
          </a:effectLst>
        </p:spPr>
      </p:sp>
      <p:sp>
        <p:nvSpPr>
          <p:cNvPr id="15" name="Text 11"/>
          <p:cNvSpPr txBox="1"/>
          <p:nvPr/>
        </p:nvSpPr>
        <p:spPr>
          <a:xfrm>
            <a:off x="6537960" y="3154680"/>
            <a:ext cx="5029200" cy="3017520"/>
          </a:xfrm>
          <a:prstGeom prst="rect">
            <a:avLst/>
          </a:prstGeom>
          <a:noFill/>
          <a:ln/>
        </p:spPr>
        <p:txBody>
          <a:bodyPr wrap="square" lIns="1016" tIns="1016" rIns="1016" bIns="1016" rtlCol="0" anchor="t"/>
          <a:lstStyle/>
          <a:p>
            <a:pPr marL="342900" indent="-342900">
              <a:spcAft>
                <a:spcPts val="800"/>
              </a:spcAft>
              <a:buSzPct val="100000"/>
              <a:buChar char="•"/>
            </a:pPr>
            <a:r>
              <a:rPr lang="en-US" sz="1500" dirty="0">
                <a:solidFill>
                  <a:schemeClr val="tx1"/>
                </a:solidFill>
              </a:rPr>
              <a:t>frozen-for-test (27 Sep): code for the final numbers</a:t>
            </a:r>
            <a:endParaRPr lang="en-US" sz="1500" dirty="0"/>
          </a:p>
          <a:p>
            <a:pPr marL="342900" indent="-342900">
              <a:spcAft>
                <a:spcPts val="800"/>
              </a:spcAft>
              <a:buSzPct val="100000"/>
              <a:buChar char="•"/>
            </a:pPr>
            <a:r>
              <a:rPr lang="en-US" sz="1500" dirty="0">
                <a:solidFill>
                  <a:schemeClr val="tx1"/>
                </a:solidFill>
              </a:rPr>
              <a:t>final-for-test (2 Oct): test split run once</a:t>
            </a:r>
            <a:endParaRPr lang="en-US" sz="1500" dirty="0"/>
          </a:p>
          <a:p>
            <a:pPr marL="342900" indent="-342900">
              <a:spcAft>
                <a:spcPts val="800"/>
              </a:spcAft>
              <a:buSzPct val="100000"/>
              <a:buChar char="•"/>
            </a:pPr>
            <a:r>
              <a:rPr lang="en-US" sz="1500" dirty="0">
                <a:solidFill>
                  <a:schemeClr val="tx1"/>
                </a:solidFill>
              </a:rPr>
              <a:t>v1.0 (8 Oct): release + Stage C adapter</a:t>
            </a:r>
            <a:endParaRPr lang="en-US" sz="1500" dirty="0"/>
          </a:p>
          <a:p>
            <a:pPr marL="342900" indent="-342900">
              <a:spcAft>
                <a:spcPts val="800"/>
              </a:spcAft>
              <a:buSzPct val="100000"/>
              <a:buChar char="•"/>
            </a:pPr>
            <a:r>
              <a:rPr lang="en-US" sz="1500" dirty="0">
                <a:solidFill>
                  <a:schemeClr val="tx1"/>
                </a:solidFill>
              </a:rPr>
              <a:t>Commits/month: Aug 7 · Sep 38 · Oct 47</a:t>
            </a:r>
            <a:endParaRPr lang="en-US" sz="1500" dirty="0"/>
          </a:p>
          <a:p>
            <a:pPr marL="342900" indent="-342900">
              <a:spcAft>
                <a:spcPts val="800"/>
              </a:spcAft>
              <a:buSzPct val="100000"/>
              <a:buChar char="•"/>
            </a:pPr>
            <a:r>
              <a:rPr lang="en-US" sz="1500" dirty="0">
                <a:solidFill>
                  <a:schemeClr val="tx1"/>
                </a:solidFill>
              </a:rPr>
              <a:t>Tracking: roadmap + phase tables in CLAUDE.md, tags, release (no Issues/Projects used)</a:t>
            </a:r>
            <a:endParaRPr lang="en-US" sz="1500" dirty="0"/>
          </a:p>
        </p:txBody>
      </p:sp>
      <p:sp>
        <p:nvSpPr>
          <p:cNvPr id="16" name="Text 12"/>
          <p:cNvSpPr txBox="1"/>
          <p:nvPr/>
        </p:nvSpPr>
        <p:spPr>
          <a:xfrm>
            <a:off x="457200" y="5303520"/>
            <a:ext cx="5669280" cy="365760"/>
          </a:xfrm>
          <a:prstGeom prst="rect">
            <a:avLst/>
          </a:prstGeom>
          <a:noFill/>
          <a:ln/>
        </p:spPr>
        <p:txBody>
          <a:bodyPr wrap="square" lIns="635" tIns="635" rIns="635" bIns="635" rtlCol="0" anchor="t"/>
          <a:lstStyle/>
          <a:p>
            <a:pPr indent="0" marL="0">
              <a:buNone/>
            </a:pPr>
            <a:r>
              <a:rPr lang="en-US" sz="1400" b="1" dirty="0">
                <a:solidFill>
                  <a:schemeClr val="tx2"/>
                </a:solidFill>
              </a:rPr>
              <a:t>github.com/piush365/PromptOpt</a:t>
            </a:r>
            <a:endParaRPr lang="en-US" sz="1400" dirty="0"/>
          </a:p>
        </p:txBody>
      </p:sp>
      <p:sp>
        <p:nvSpPr>
          <p:cNvPr id="25" name="Slide Number Placeholder 0"/>
          <p:cNvSpPr>
            <a:spLocks noGrp="1"/>
          </p:cNvSpPr>
          <p:nvPr>
            <p:ph type="sldNum" sz="quarter" idx="4294967295"/>
          </p:nvPr>
        </p:nvSpPr>
        <p:spPr>
          <a:xfrm>
            <a:off x="1133856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580"/>
                </a:solidFill>
              </a:defRPr>
            </a:lvl1pPr>
          </a:lstStyle>
          <a:p>
            <a:pPr algn="l"/>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1" type="title" hasCustomPrompt="1"/>
          </p:nvPr>
        </p:nvSpPr>
        <p:spPr>
          <a:xfrm>
            <a:off x="1188720" y="228600"/>
            <a:ext cx="9966960" cy="731520"/>
          </a:xfrm>
          <a:prstGeom prst="rect">
            <a:avLst/>
          </a:prstGeom>
          <a:noFill/>
          <a:ln/>
        </p:spPr>
        <p:txBody>
          <a:bodyPr wrap="square" lIns="0" tIns="0" rIns="0" bIns="0" rtlCol="0" anchor="ctr"/>
          <a:lstStyle/>
          <a:p>
            <a:pPr algn="l" indent="0" marL="0">
              <a:buNone/>
            </a:pPr>
            <a:r>
              <a:rPr lang="en-US" sz="3000" b="1" dirty="0">
                <a:solidFill>
                  <a:schemeClr val="tx2"/>
                </a:solidFill>
                <a:latin typeface="Arial" pitchFamily="34" charset="0"/>
                <a:ea typeface="Arial" pitchFamily="34" charset="-122"/>
                <a:cs typeface="Arial" pitchFamily="34" charset="-120"/>
              </a:rPr>
              <a:t>Challenges and how we solved them</a:t>
            </a:r>
            <a:endParaRPr lang="en-US" sz="3000" dirty="0"/>
          </a:p>
        </p:txBody>
      </p:sp>
      <p:sp>
        <p:nvSpPr>
          <p:cNvPr id="4" name="Shape 1"/>
          <p:cNvSpPr/>
          <p:nvPr/>
        </p:nvSpPr>
        <p:spPr>
          <a:xfrm>
            <a:off x="457200" y="1280160"/>
            <a:ext cx="2697480" cy="2331720"/>
          </a:xfrm>
          <a:prstGeom prst="roundRect">
            <a:avLst>
              <a:gd name="adj" fmla="val 4706"/>
            </a:avLst>
          </a:prstGeom>
          <a:solidFill>
            <a:schemeClr val="bg1"/>
          </a:solidFill>
          <a:ln w="9525">
            <a:solidFill>
              <a:srgbClr val="6FA287"/>
            </a:solidFill>
            <a:prstDash val="solid"/>
          </a:ln>
          <a:effectLst>
            <a:outerShdw sx="100000" sy="100000" kx="0" ky="0" algn="bl" rotWithShape="0" blurRad="50800" dist="25400" dir="5400000">
              <a:srgbClr val="9DB8A8">
                <a:alpha val="35000"/>
              </a:srgbClr>
            </a:outerShdw>
          </a:effectLst>
        </p:spPr>
      </p:sp>
      <p:sp>
        <p:nvSpPr>
          <p:cNvPr id="5" name="Text 2"/>
          <p:cNvSpPr txBox="1"/>
          <p:nvPr/>
        </p:nvSpPr>
        <p:spPr>
          <a:xfrm>
            <a:off x="566928" y="1371600"/>
            <a:ext cx="2468880" cy="685800"/>
          </a:xfrm>
          <a:prstGeom prst="rect">
            <a:avLst/>
          </a:prstGeom>
          <a:noFill/>
          <a:ln/>
        </p:spPr>
        <p:txBody>
          <a:bodyPr wrap="square" lIns="635" tIns="635" rIns="635" bIns="635" rtlCol="0" anchor="t"/>
          <a:lstStyle/>
          <a:p>
            <a:pPr indent="0" marL="0">
              <a:buNone/>
            </a:pPr>
            <a:r>
              <a:rPr lang="en-US" sz="1600" b="1" dirty="0">
                <a:solidFill>
                  <a:schemeClr val="tx2"/>
                </a:solidFill>
              </a:rPr>
              <a:t>Dataset generation bugs</a:t>
            </a:r>
            <a:endParaRPr lang="en-US" sz="1600" dirty="0"/>
          </a:p>
        </p:txBody>
      </p:sp>
      <p:sp>
        <p:nvSpPr>
          <p:cNvPr id="6" name="Text 3"/>
          <p:cNvSpPr txBox="1"/>
          <p:nvPr/>
        </p:nvSpPr>
        <p:spPr>
          <a:xfrm>
            <a:off x="566928" y="2057400"/>
            <a:ext cx="2468880" cy="1463040"/>
          </a:xfrm>
          <a:prstGeom prst="rect">
            <a:avLst/>
          </a:prstGeom>
          <a:noFill/>
          <a:ln/>
        </p:spPr>
        <p:txBody>
          <a:bodyPr wrap="square" lIns="635" tIns="635" rIns="635" bIns="635" rtlCol="0" anchor="t"/>
          <a:lstStyle/>
          <a:p>
            <a:pPr indent="0" marL="0">
              <a:buNone/>
            </a:pPr>
            <a:r>
              <a:rPr lang="en-US" sz="1400" dirty="0">
                <a:solidFill>
                  <a:schemeClr val="tx1"/>
                </a:solidFill>
              </a:rPr>
              <a:t>LLM targets dropped data → deterministic repair: 349 prompts fixed, all logged</a:t>
            </a:r>
            <a:endParaRPr lang="en-US" sz="1400" dirty="0"/>
          </a:p>
        </p:txBody>
      </p:sp>
      <p:sp>
        <p:nvSpPr>
          <p:cNvPr id="7" name="Shape 4"/>
          <p:cNvSpPr/>
          <p:nvPr/>
        </p:nvSpPr>
        <p:spPr>
          <a:xfrm>
            <a:off x="3291840" y="1280160"/>
            <a:ext cx="2697480" cy="2331720"/>
          </a:xfrm>
          <a:prstGeom prst="roundRect">
            <a:avLst>
              <a:gd name="adj" fmla="val 4706"/>
            </a:avLst>
          </a:prstGeom>
          <a:solidFill>
            <a:schemeClr val="bg1"/>
          </a:solidFill>
          <a:ln w="9525">
            <a:solidFill>
              <a:srgbClr val="6FA287"/>
            </a:solidFill>
            <a:prstDash val="solid"/>
          </a:ln>
          <a:effectLst>
            <a:outerShdw sx="100000" sy="100000" kx="0" ky="0" algn="bl" rotWithShape="0" blurRad="50800" dist="25400" dir="5400000">
              <a:srgbClr val="9DB8A8">
                <a:alpha val="35000"/>
              </a:srgbClr>
            </a:outerShdw>
          </a:effectLst>
        </p:spPr>
      </p:sp>
      <p:sp>
        <p:nvSpPr>
          <p:cNvPr id="8" name="Text 5"/>
          <p:cNvSpPr txBox="1"/>
          <p:nvPr/>
        </p:nvSpPr>
        <p:spPr>
          <a:xfrm>
            <a:off x="3401568" y="1371600"/>
            <a:ext cx="2468880" cy="685800"/>
          </a:xfrm>
          <a:prstGeom prst="rect">
            <a:avLst/>
          </a:prstGeom>
          <a:noFill/>
          <a:ln/>
        </p:spPr>
        <p:txBody>
          <a:bodyPr wrap="square" lIns="635" tIns="635" rIns="635" bIns="635" rtlCol="0" anchor="t"/>
          <a:lstStyle/>
          <a:p>
            <a:pPr indent="0" marL="0">
              <a:buNone/>
            </a:pPr>
            <a:r>
              <a:rPr lang="en-US" sz="1600" b="1" dirty="0">
                <a:solidFill>
                  <a:schemeClr val="tx2"/>
                </a:solidFill>
              </a:rPr>
              <a:t>Kappa paradox</a:t>
            </a:r>
            <a:endParaRPr lang="en-US" sz="1600" dirty="0"/>
          </a:p>
        </p:txBody>
      </p:sp>
      <p:sp>
        <p:nvSpPr>
          <p:cNvPr id="9" name="Text 6"/>
          <p:cNvSpPr txBox="1"/>
          <p:nvPr/>
        </p:nvSpPr>
        <p:spPr>
          <a:xfrm>
            <a:off x="3401568" y="2057400"/>
            <a:ext cx="2468880" cy="1463040"/>
          </a:xfrm>
          <a:prstGeom prst="rect">
            <a:avLst/>
          </a:prstGeom>
          <a:noFill/>
          <a:ln/>
        </p:spPr>
        <p:txBody>
          <a:bodyPr wrap="square" lIns="635" tIns="635" rIns="635" bIns="635" rtlCol="0" anchor="t"/>
          <a:lstStyle/>
          <a:p>
            <a:pPr indent="0" marL="0">
              <a:buNone/>
            </a:pPr>
            <a:r>
              <a:rPr lang="en-US" sz="1400" dirty="0">
                <a:solidFill>
                  <a:schemeClr val="tx1"/>
                </a:solidFill>
              </a:rPr>
              <a:t>90% agreement, kappa 0.065 → report Gwet's AC1 0.92-0.96 too</a:t>
            </a:r>
            <a:endParaRPr lang="en-US" sz="1400" dirty="0"/>
          </a:p>
        </p:txBody>
      </p:sp>
      <p:sp>
        <p:nvSpPr>
          <p:cNvPr id="10" name="Shape 7"/>
          <p:cNvSpPr/>
          <p:nvPr/>
        </p:nvSpPr>
        <p:spPr>
          <a:xfrm>
            <a:off x="6126480" y="1280160"/>
            <a:ext cx="2697480" cy="2331720"/>
          </a:xfrm>
          <a:prstGeom prst="roundRect">
            <a:avLst>
              <a:gd name="adj" fmla="val 4706"/>
            </a:avLst>
          </a:prstGeom>
          <a:solidFill>
            <a:schemeClr val="bg1"/>
          </a:solidFill>
          <a:ln w="9525">
            <a:solidFill>
              <a:srgbClr val="6FA287"/>
            </a:solidFill>
            <a:prstDash val="solid"/>
          </a:ln>
          <a:effectLst>
            <a:outerShdw sx="100000" sy="100000" kx="0" ky="0" algn="bl" rotWithShape="0" blurRad="50800" dist="25400" dir="5400000">
              <a:srgbClr val="9DB8A8">
                <a:alpha val="35000"/>
              </a:srgbClr>
            </a:outerShdw>
          </a:effectLst>
        </p:spPr>
      </p:sp>
      <p:sp>
        <p:nvSpPr>
          <p:cNvPr id="11" name="Text 8"/>
          <p:cNvSpPr txBox="1"/>
          <p:nvPr/>
        </p:nvSpPr>
        <p:spPr>
          <a:xfrm>
            <a:off x="6236208" y="1371600"/>
            <a:ext cx="2468880" cy="685800"/>
          </a:xfrm>
          <a:prstGeom prst="rect">
            <a:avLst/>
          </a:prstGeom>
          <a:noFill/>
          <a:ln/>
        </p:spPr>
        <p:txBody>
          <a:bodyPr wrap="square" lIns="635" tIns="635" rIns="635" bIns="635" rtlCol="0" anchor="t"/>
          <a:lstStyle/>
          <a:p>
            <a:pPr indent="0" marL="0">
              <a:buNone/>
            </a:pPr>
            <a:r>
              <a:rPr lang="en-US" sz="1600" b="1" dirty="0">
                <a:solidFill>
                  <a:schemeClr val="tx2"/>
                </a:solidFill>
              </a:rPr>
              <a:t>API quota limits</a:t>
            </a:r>
            <a:endParaRPr lang="en-US" sz="1600" dirty="0"/>
          </a:p>
        </p:txBody>
      </p:sp>
      <p:sp>
        <p:nvSpPr>
          <p:cNvPr id="12" name="Text 9"/>
          <p:cNvSpPr txBox="1"/>
          <p:nvPr/>
        </p:nvSpPr>
        <p:spPr>
          <a:xfrm>
            <a:off x="6236208" y="2057400"/>
            <a:ext cx="2468880" cy="1463040"/>
          </a:xfrm>
          <a:prstGeom prst="rect">
            <a:avLst/>
          </a:prstGeom>
          <a:noFill/>
          <a:ln/>
        </p:spPr>
        <p:txBody>
          <a:bodyPr wrap="square" lIns="635" tIns="635" rIns="635" bIns="635" rtlCol="0" anchor="t"/>
          <a:lstStyle/>
          <a:p>
            <a:pPr indent="0" marL="0">
              <a:buNone/>
            </a:pPr>
            <a:r>
              <a:rPr lang="en-US" sz="1400" dirty="0">
                <a:solidFill>
                  <a:schemeClr val="tx1"/>
                </a:solidFill>
              </a:rPr>
              <a:t>Groq 200k tokens/day → 24-h usage ledger, 70% budget rule, resumable runs</a:t>
            </a:r>
            <a:endParaRPr lang="en-US" sz="1400" dirty="0"/>
          </a:p>
        </p:txBody>
      </p:sp>
      <p:sp>
        <p:nvSpPr>
          <p:cNvPr id="13" name="Shape 10"/>
          <p:cNvSpPr/>
          <p:nvPr/>
        </p:nvSpPr>
        <p:spPr>
          <a:xfrm>
            <a:off x="8961120" y="1280160"/>
            <a:ext cx="2697480" cy="2331720"/>
          </a:xfrm>
          <a:prstGeom prst="roundRect">
            <a:avLst>
              <a:gd name="adj" fmla="val 4706"/>
            </a:avLst>
          </a:prstGeom>
          <a:solidFill>
            <a:schemeClr val="bg1"/>
          </a:solidFill>
          <a:ln w="9525">
            <a:solidFill>
              <a:srgbClr val="6FA287"/>
            </a:solidFill>
            <a:prstDash val="solid"/>
          </a:ln>
          <a:effectLst>
            <a:outerShdw sx="100000" sy="100000" kx="0" ky="0" algn="bl" rotWithShape="0" blurRad="50800" dist="25400" dir="5400000">
              <a:srgbClr val="9DB8A8">
                <a:alpha val="35000"/>
              </a:srgbClr>
            </a:outerShdw>
          </a:effectLst>
        </p:spPr>
      </p:sp>
      <p:sp>
        <p:nvSpPr>
          <p:cNvPr id="14" name="Text 11"/>
          <p:cNvSpPr txBox="1"/>
          <p:nvPr/>
        </p:nvSpPr>
        <p:spPr>
          <a:xfrm>
            <a:off x="9070848" y="1371600"/>
            <a:ext cx="2468880" cy="685800"/>
          </a:xfrm>
          <a:prstGeom prst="rect">
            <a:avLst/>
          </a:prstGeom>
          <a:noFill/>
          <a:ln/>
        </p:spPr>
        <p:txBody>
          <a:bodyPr wrap="square" lIns="635" tIns="635" rIns="635" bIns="635" rtlCol="0" anchor="t"/>
          <a:lstStyle/>
          <a:p>
            <a:pPr indent="0" marL="0">
              <a:buNone/>
            </a:pPr>
            <a:r>
              <a:rPr lang="en-US" sz="1600" b="1" dirty="0">
                <a:solidFill>
                  <a:schemeClr val="tx2"/>
                </a:solidFill>
              </a:rPr>
              <a:t>Stage C hallucination</a:t>
            </a:r>
            <a:endParaRPr lang="en-US" sz="1600" dirty="0"/>
          </a:p>
        </p:txBody>
      </p:sp>
      <p:sp>
        <p:nvSpPr>
          <p:cNvPr id="15" name="Text 12"/>
          <p:cNvSpPr txBox="1"/>
          <p:nvPr/>
        </p:nvSpPr>
        <p:spPr>
          <a:xfrm>
            <a:off x="9070848" y="2057400"/>
            <a:ext cx="2468880" cy="1463040"/>
          </a:xfrm>
          <a:prstGeom prst="rect">
            <a:avLst/>
          </a:prstGeom>
          <a:noFill/>
          <a:ln/>
        </p:spPr>
        <p:txBody>
          <a:bodyPr wrap="square" lIns="635" tIns="635" rIns="635" bIns="635" rtlCol="0" anchor="t"/>
          <a:lstStyle/>
          <a:p>
            <a:pPr indent="0" marL="0">
              <a:buNone/>
            </a:pPr>
            <a:r>
              <a:rPr lang="en-US" sz="1400" dirty="0">
                <a:solidFill>
                  <a:schemeClr val="tx1"/>
                </a:solidFill>
              </a:rPr>
              <a:t>base model 5% valid → LoRA 98.2%, strict JSON contract, fallback to Stage B</a:t>
            </a:r>
            <a:endParaRPr lang="en-US" sz="1400" dirty="0"/>
          </a:p>
        </p:txBody>
      </p:sp>
      <p:sp>
        <p:nvSpPr>
          <p:cNvPr id="16" name="Shape 13"/>
          <p:cNvSpPr/>
          <p:nvPr/>
        </p:nvSpPr>
        <p:spPr>
          <a:xfrm>
            <a:off x="457200" y="3794760"/>
            <a:ext cx="2697480" cy="2331720"/>
          </a:xfrm>
          <a:prstGeom prst="roundRect">
            <a:avLst>
              <a:gd name="adj" fmla="val 4706"/>
            </a:avLst>
          </a:prstGeom>
          <a:solidFill>
            <a:schemeClr val="bg1"/>
          </a:solidFill>
          <a:ln w="9525">
            <a:solidFill>
              <a:srgbClr val="6FA287"/>
            </a:solidFill>
            <a:prstDash val="solid"/>
          </a:ln>
          <a:effectLst>
            <a:outerShdw sx="100000" sy="100000" kx="0" ky="0" algn="bl" rotWithShape="0" blurRad="50800" dist="25400" dir="5400000">
              <a:srgbClr val="9DB8A8">
                <a:alpha val="35000"/>
              </a:srgbClr>
            </a:outerShdw>
          </a:effectLst>
        </p:spPr>
      </p:sp>
      <p:sp>
        <p:nvSpPr>
          <p:cNvPr id="17" name="Text 14"/>
          <p:cNvSpPr txBox="1"/>
          <p:nvPr/>
        </p:nvSpPr>
        <p:spPr>
          <a:xfrm>
            <a:off x="566928" y="3886200"/>
            <a:ext cx="2468880" cy="685800"/>
          </a:xfrm>
          <a:prstGeom prst="rect">
            <a:avLst/>
          </a:prstGeom>
          <a:noFill/>
          <a:ln/>
        </p:spPr>
        <p:txBody>
          <a:bodyPr wrap="square" lIns="635" tIns="635" rIns="635" bIns="635" rtlCol="0" anchor="t"/>
          <a:lstStyle/>
          <a:p>
            <a:pPr indent="0" marL="0">
              <a:buNone/>
            </a:pPr>
            <a:r>
              <a:rPr lang="en-US" sz="1600" b="1" dirty="0">
                <a:solidFill>
                  <a:schemeClr val="tx2"/>
                </a:solidFill>
              </a:rPr>
              <a:t>Image mode v1 failure</a:t>
            </a:r>
            <a:endParaRPr lang="en-US" sz="1600" dirty="0"/>
          </a:p>
        </p:txBody>
      </p:sp>
      <p:sp>
        <p:nvSpPr>
          <p:cNvPr id="18" name="Text 15"/>
          <p:cNvSpPr txBox="1"/>
          <p:nvPr/>
        </p:nvSpPr>
        <p:spPr>
          <a:xfrm>
            <a:off x="566928" y="4572000"/>
            <a:ext cx="2468880" cy="1463040"/>
          </a:xfrm>
          <a:prstGeom prst="rect">
            <a:avLst/>
          </a:prstGeom>
          <a:noFill/>
          <a:ln/>
        </p:spPr>
        <p:txBody>
          <a:bodyPr wrap="square" lIns="635" tIns="635" rIns="635" bIns="635" rtlCol="0" anchor="t"/>
          <a:lstStyle/>
          <a:p>
            <a:pPr indent="0" marL="0">
              <a:buNone/>
            </a:pPr>
            <a:r>
              <a:rPr lang="en-US" sz="1400" dirty="0">
                <a:solidFill>
                  <a:schemeClr val="tx1"/>
                </a:solidFill>
              </a:rPr>
              <a:t>defaults turned watercolor into photo → v2: suggestions only</a:t>
            </a:r>
            <a:endParaRPr lang="en-US" sz="1400" dirty="0"/>
          </a:p>
        </p:txBody>
      </p:sp>
      <p:sp>
        <p:nvSpPr>
          <p:cNvPr id="19" name="Shape 16"/>
          <p:cNvSpPr/>
          <p:nvPr/>
        </p:nvSpPr>
        <p:spPr>
          <a:xfrm>
            <a:off x="3291840" y="3794760"/>
            <a:ext cx="2697480" cy="2331720"/>
          </a:xfrm>
          <a:prstGeom prst="roundRect">
            <a:avLst>
              <a:gd name="adj" fmla="val 4706"/>
            </a:avLst>
          </a:prstGeom>
          <a:solidFill>
            <a:schemeClr val="bg1"/>
          </a:solidFill>
          <a:ln w="9525">
            <a:solidFill>
              <a:srgbClr val="6FA287"/>
            </a:solidFill>
            <a:prstDash val="solid"/>
          </a:ln>
          <a:effectLst>
            <a:outerShdw sx="100000" sy="100000" kx="0" ky="0" algn="bl" rotWithShape="0" blurRad="50800" dist="25400" dir="5400000">
              <a:srgbClr val="9DB8A8">
                <a:alpha val="35000"/>
              </a:srgbClr>
            </a:outerShdw>
          </a:effectLst>
        </p:spPr>
      </p:sp>
      <p:sp>
        <p:nvSpPr>
          <p:cNvPr id="20" name="Text 17"/>
          <p:cNvSpPr txBox="1"/>
          <p:nvPr/>
        </p:nvSpPr>
        <p:spPr>
          <a:xfrm>
            <a:off x="3401568" y="3886200"/>
            <a:ext cx="2468880" cy="685800"/>
          </a:xfrm>
          <a:prstGeom prst="rect">
            <a:avLst/>
          </a:prstGeom>
          <a:noFill/>
          <a:ln/>
        </p:spPr>
        <p:txBody>
          <a:bodyPr wrap="square" lIns="635" tIns="635" rIns="635" bIns="635" rtlCol="0" anchor="t"/>
          <a:lstStyle/>
          <a:p>
            <a:pPr indent="0" marL="0">
              <a:buNone/>
            </a:pPr>
            <a:r>
              <a:rPr lang="en-US" sz="1600" b="1" dirty="0">
                <a:solidFill>
                  <a:schemeClr val="tx2"/>
                </a:solidFill>
              </a:rPr>
              <a:t>Label / regex edge cases</a:t>
            </a:r>
            <a:endParaRPr lang="en-US" sz="1600" dirty="0"/>
          </a:p>
        </p:txBody>
      </p:sp>
      <p:sp>
        <p:nvSpPr>
          <p:cNvPr id="21" name="Text 18"/>
          <p:cNvSpPr txBox="1"/>
          <p:nvPr/>
        </p:nvSpPr>
        <p:spPr>
          <a:xfrm>
            <a:off x="3401568" y="4572000"/>
            <a:ext cx="2468880" cy="1463040"/>
          </a:xfrm>
          <a:prstGeom prst="rect">
            <a:avLst/>
          </a:prstGeom>
          <a:noFill/>
          <a:ln/>
        </p:spPr>
        <p:txBody>
          <a:bodyPr wrap="square" lIns="635" tIns="635" rIns="635" bIns="635" rtlCol="0" anchor="t"/>
          <a:lstStyle/>
          <a:p>
            <a:pPr indent="0" marL="0">
              <a:buNone/>
            </a:pPr>
            <a:r>
              <a:rPr lang="en-US" sz="1400" dirty="0">
                <a:solidFill>
                  <a:schemeClr val="tx1"/>
                </a:solidFill>
              </a:rPr>
              <a:t>"thank you so much" in a button → a unit test per edge case, B16 in the app</a:t>
            </a:r>
            <a:endParaRPr lang="en-US" sz="1400" dirty="0"/>
          </a:p>
        </p:txBody>
      </p:sp>
      <p:sp>
        <p:nvSpPr>
          <p:cNvPr id="22" name="Shape 19"/>
          <p:cNvSpPr/>
          <p:nvPr/>
        </p:nvSpPr>
        <p:spPr>
          <a:xfrm>
            <a:off x="6126480" y="3794760"/>
            <a:ext cx="2697480" cy="2331720"/>
          </a:xfrm>
          <a:prstGeom prst="roundRect">
            <a:avLst>
              <a:gd name="adj" fmla="val 4706"/>
            </a:avLst>
          </a:prstGeom>
          <a:solidFill>
            <a:schemeClr val="bg1"/>
          </a:solidFill>
          <a:ln w="9525">
            <a:solidFill>
              <a:srgbClr val="6FA287"/>
            </a:solidFill>
            <a:prstDash val="solid"/>
          </a:ln>
          <a:effectLst>
            <a:outerShdw sx="100000" sy="100000" kx="0" ky="0" algn="bl" rotWithShape="0" blurRad="50800" dist="25400" dir="5400000">
              <a:srgbClr val="9DB8A8">
                <a:alpha val="35000"/>
              </a:srgbClr>
            </a:outerShdw>
          </a:effectLst>
        </p:spPr>
      </p:sp>
      <p:sp>
        <p:nvSpPr>
          <p:cNvPr id="23" name="Text 20"/>
          <p:cNvSpPr txBox="1"/>
          <p:nvPr/>
        </p:nvSpPr>
        <p:spPr>
          <a:xfrm>
            <a:off x="6236208" y="3886200"/>
            <a:ext cx="2468880" cy="685800"/>
          </a:xfrm>
          <a:prstGeom prst="rect">
            <a:avLst/>
          </a:prstGeom>
          <a:noFill/>
          <a:ln/>
        </p:spPr>
        <p:txBody>
          <a:bodyPr wrap="square" lIns="635" tIns="635" rIns="635" bIns="635" rtlCol="0" anchor="t"/>
          <a:lstStyle/>
          <a:p>
            <a:pPr indent="0" marL="0">
              <a:buNone/>
            </a:pPr>
            <a:r>
              <a:rPr lang="en-US" sz="1600" b="1" dirty="0">
                <a:solidFill>
                  <a:schemeClr val="tx2"/>
                </a:solidFill>
              </a:rPr>
              <a:t>4 GB GPU training</a:t>
            </a:r>
            <a:endParaRPr lang="en-US" sz="1600" dirty="0"/>
          </a:p>
        </p:txBody>
      </p:sp>
      <p:sp>
        <p:nvSpPr>
          <p:cNvPr id="24" name="Text 21"/>
          <p:cNvSpPr txBox="1"/>
          <p:nvPr/>
        </p:nvSpPr>
        <p:spPr>
          <a:xfrm>
            <a:off x="6236208" y="4572000"/>
            <a:ext cx="2468880" cy="1463040"/>
          </a:xfrm>
          <a:prstGeom prst="rect">
            <a:avLst/>
          </a:prstGeom>
          <a:noFill/>
          <a:ln/>
        </p:spPr>
        <p:txBody>
          <a:bodyPr wrap="square" lIns="635" tIns="635" rIns="635" bIns="635" rtlCol="0" anchor="t"/>
          <a:lstStyle/>
          <a:p>
            <a:pPr indent="0" marL="0">
              <a:buNone/>
            </a:pPr>
            <a:r>
              <a:rPr lang="en-US" sz="1400" dirty="0">
                <a:solidFill>
                  <a:schemeClr val="tx1"/>
                </a:solidFill>
              </a:rPr>
              <a:t>micro-batch 1 × 16, bf16, checkpointing: 51 min; models loaded once</a:t>
            </a:r>
            <a:endParaRPr lang="en-US" sz="1400" dirty="0"/>
          </a:p>
        </p:txBody>
      </p:sp>
      <p:sp>
        <p:nvSpPr>
          <p:cNvPr id="25" name="Shape 22"/>
          <p:cNvSpPr/>
          <p:nvPr/>
        </p:nvSpPr>
        <p:spPr>
          <a:xfrm>
            <a:off x="8961120" y="3794760"/>
            <a:ext cx="2697480" cy="2331720"/>
          </a:xfrm>
          <a:prstGeom prst="roundRect">
            <a:avLst>
              <a:gd name="adj" fmla="val 4706"/>
            </a:avLst>
          </a:prstGeom>
          <a:solidFill>
            <a:schemeClr val="tx2"/>
          </a:solidFill>
          <a:ln w="9525">
            <a:solidFill>
              <a:srgbClr val="6FA287"/>
            </a:solidFill>
            <a:prstDash val="solid"/>
          </a:ln>
          <a:effectLst>
            <a:outerShdw sx="100000" sy="100000" kx="0" ky="0" algn="bl" rotWithShape="0" blurRad="50800" dist="25400" dir="5400000">
              <a:srgbClr val="9DB8A8">
                <a:alpha val="35000"/>
              </a:srgbClr>
            </a:outerShdw>
          </a:effectLst>
        </p:spPr>
      </p:sp>
      <p:sp>
        <p:nvSpPr>
          <p:cNvPr id="26" name="Text 23"/>
          <p:cNvSpPr txBox="1"/>
          <p:nvPr/>
        </p:nvSpPr>
        <p:spPr>
          <a:xfrm>
            <a:off x="9098280" y="3931920"/>
            <a:ext cx="2423160" cy="685800"/>
          </a:xfrm>
          <a:prstGeom prst="rect">
            <a:avLst/>
          </a:prstGeom>
          <a:noFill/>
          <a:ln/>
        </p:spPr>
        <p:txBody>
          <a:bodyPr wrap="square" lIns="635" tIns="635" rIns="635" bIns="635" rtlCol="0" anchor="t"/>
          <a:lstStyle/>
          <a:p>
            <a:pPr indent="0" marL="0">
              <a:buNone/>
            </a:pPr>
            <a:r>
              <a:rPr lang="en-US" sz="1600" b="1" dirty="0">
                <a:solidFill>
                  <a:schemeClr val="bg1"/>
                </a:solidFill>
              </a:rPr>
              <a:t>Rule: report it, don't hide it</a:t>
            </a:r>
            <a:endParaRPr lang="en-US" sz="1600" dirty="0"/>
          </a:p>
        </p:txBody>
      </p:sp>
      <p:sp>
        <p:nvSpPr>
          <p:cNvPr id="27" name="Text 24"/>
          <p:cNvSpPr txBox="1"/>
          <p:nvPr/>
        </p:nvSpPr>
        <p:spPr>
          <a:xfrm>
            <a:off x="9098280" y="4617720"/>
            <a:ext cx="2423160" cy="1371600"/>
          </a:xfrm>
          <a:prstGeom prst="rect">
            <a:avLst/>
          </a:prstGeom>
          <a:noFill/>
          <a:ln/>
        </p:spPr>
        <p:txBody>
          <a:bodyPr wrap="square" lIns="635" tIns="635" rIns="635" bIns="635" rtlCol="0" anchor="t"/>
          <a:lstStyle/>
          <a:p>
            <a:pPr indent="0" marL="0">
              <a:buNone/>
            </a:pPr>
            <a:r>
              <a:rPr lang="en-US" sz="1400" dirty="0">
                <a:solidFill>
                  <a:schemeClr val="bg1"/>
                </a:solidFill>
              </a:rPr>
              <a:t>After the freeze, bugs were reported, not fixed; failures are in the results.</a:t>
            </a:r>
            <a:endParaRPr lang="en-US" sz="1400" dirty="0"/>
          </a:p>
        </p:txBody>
      </p:sp>
      <p:sp>
        <p:nvSpPr>
          <p:cNvPr id="25" name="Slide Number Placeholder 0"/>
          <p:cNvSpPr>
            <a:spLocks noGrp="1"/>
          </p:cNvSpPr>
          <p:nvPr>
            <p:ph type="sldNum" sz="quarter" idx="4294967295"/>
          </p:nvPr>
        </p:nvSpPr>
        <p:spPr>
          <a:xfrm>
            <a:off x="1133856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580"/>
                </a:solidFill>
              </a:defRPr>
            </a:lvl1pPr>
          </a:lstStyle>
          <a:p>
            <a:pPr algn="l"/>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1" type="title" hasCustomPrompt="1"/>
          </p:nvPr>
        </p:nvSpPr>
        <p:spPr>
          <a:xfrm>
            <a:off x="1188720" y="228600"/>
            <a:ext cx="9966960" cy="731520"/>
          </a:xfrm>
          <a:prstGeom prst="rect">
            <a:avLst/>
          </a:prstGeom>
          <a:noFill/>
          <a:ln/>
        </p:spPr>
        <p:txBody>
          <a:bodyPr wrap="square" lIns="0" tIns="0" rIns="0" bIns="0" rtlCol="0" anchor="ctr"/>
          <a:lstStyle/>
          <a:p>
            <a:pPr algn="l" indent="0" marL="0">
              <a:buNone/>
            </a:pPr>
            <a:r>
              <a:rPr lang="en-US" sz="3000" b="1" dirty="0">
                <a:solidFill>
                  <a:schemeClr val="tx2"/>
                </a:solidFill>
                <a:latin typeface="Arial" pitchFamily="34" charset="0"/>
                <a:ea typeface="Arial" pitchFamily="34" charset="-122"/>
                <a:cs typeface="Arial" pitchFamily="34" charset="-120"/>
              </a:rPr>
              <a:t>Plans for the upcoming phases</a:t>
            </a:r>
            <a:endParaRPr lang="en-US" sz="3000" dirty="0"/>
          </a:p>
        </p:txBody>
      </p:sp>
      <p:sp>
        <p:nvSpPr>
          <p:cNvPr id="4" name="Shape 1"/>
          <p:cNvSpPr/>
          <p:nvPr/>
        </p:nvSpPr>
        <p:spPr>
          <a:xfrm>
            <a:off x="457200" y="1280160"/>
            <a:ext cx="5486400" cy="1097280"/>
          </a:xfrm>
          <a:prstGeom prst="roundRect">
            <a:avLst>
              <a:gd name="adj" fmla="val 10000"/>
            </a:avLst>
          </a:prstGeom>
          <a:solidFill>
            <a:schemeClr val="bg1"/>
          </a:solidFill>
          <a:ln w="9525">
            <a:solidFill>
              <a:srgbClr val="6FA287"/>
            </a:solidFill>
            <a:prstDash val="solid"/>
          </a:ln>
          <a:effectLst>
            <a:outerShdw sx="100000" sy="100000" kx="0" ky="0" algn="bl" rotWithShape="0" blurRad="50800" dist="25400" dir="5400000">
              <a:srgbClr val="9DB8A8">
                <a:alpha val="35000"/>
              </a:srgbClr>
            </a:outerShdw>
          </a:effectLst>
        </p:spPr>
      </p:sp>
      <p:sp>
        <p:nvSpPr>
          <p:cNvPr id="5" name="Shape 2"/>
          <p:cNvSpPr/>
          <p:nvPr/>
        </p:nvSpPr>
        <p:spPr>
          <a:xfrm>
            <a:off x="621792" y="1508760"/>
            <a:ext cx="640080" cy="640080"/>
          </a:xfrm>
          <a:prstGeom prst="ellipse">
            <a:avLst/>
          </a:prstGeom>
          <a:solidFill>
            <a:schemeClr val="tx2"/>
          </a:solidFill>
          <a:ln w="12700">
            <a:solidFill>
              <a:schemeClr val="tx2"/>
            </a:solidFill>
            <a:prstDash val="solid"/>
          </a:ln>
        </p:spPr>
      </p:sp>
      <p:sp>
        <p:nvSpPr>
          <p:cNvPr id="6" name="Text 3"/>
          <p:cNvSpPr txBox="1"/>
          <p:nvPr/>
        </p:nvSpPr>
        <p:spPr>
          <a:xfrm>
            <a:off x="621792" y="1508760"/>
            <a:ext cx="640080" cy="640080"/>
          </a:xfrm>
          <a:prstGeom prst="rect">
            <a:avLst/>
          </a:prstGeom>
          <a:noFill/>
          <a:ln/>
        </p:spPr>
        <p:txBody>
          <a:bodyPr wrap="square" lIns="0" tIns="0" rIns="0" bIns="0" rtlCol="0" anchor="ctr"/>
          <a:lstStyle/>
          <a:p>
            <a:pPr algn="ctr" indent="0" marL="0">
              <a:buNone/>
            </a:pPr>
            <a:r>
              <a:rPr lang="en-US" sz="2000" b="1" dirty="0">
                <a:solidFill>
                  <a:schemeClr val="bg1"/>
                </a:solidFill>
              </a:rPr>
              <a:t>1</a:t>
            </a:r>
            <a:endParaRPr lang="en-US" sz="2000" dirty="0"/>
          </a:p>
        </p:txBody>
      </p:sp>
      <p:sp>
        <p:nvSpPr>
          <p:cNvPr id="7" name="Text 4"/>
          <p:cNvSpPr txBox="1"/>
          <p:nvPr/>
        </p:nvSpPr>
        <p:spPr>
          <a:xfrm>
            <a:off x="1417320" y="1389888"/>
            <a:ext cx="4389120" cy="411480"/>
          </a:xfrm>
          <a:prstGeom prst="rect">
            <a:avLst/>
          </a:prstGeom>
          <a:noFill/>
          <a:ln/>
        </p:spPr>
        <p:txBody>
          <a:bodyPr wrap="square" lIns="635" tIns="635" rIns="635" bIns="635" rtlCol="0" anchor="t"/>
          <a:lstStyle/>
          <a:p>
            <a:pPr indent="0" marL="0">
              <a:buNone/>
            </a:pPr>
            <a:r>
              <a:rPr lang="en-US" sz="1700" b="1" dirty="0">
                <a:solidFill>
                  <a:schemeClr val="tx2"/>
                </a:solidFill>
              </a:rPr>
              <a:t>Lean mode</a:t>
            </a:r>
            <a:endParaRPr lang="en-US" sz="1700" dirty="0"/>
          </a:p>
        </p:txBody>
      </p:sp>
      <p:sp>
        <p:nvSpPr>
          <p:cNvPr id="8" name="Text 5"/>
          <p:cNvSpPr txBox="1"/>
          <p:nvPr/>
        </p:nvSpPr>
        <p:spPr>
          <a:xfrm>
            <a:off x="1417320" y="1810512"/>
            <a:ext cx="4389120" cy="457200"/>
          </a:xfrm>
          <a:prstGeom prst="rect">
            <a:avLst/>
          </a:prstGeom>
          <a:noFill/>
          <a:ln/>
        </p:spPr>
        <p:txBody>
          <a:bodyPr wrap="square" lIns="635" tIns="635" rIns="635" bIns="635" rtlCol="0" anchor="t"/>
          <a:lstStyle/>
          <a:p>
            <a:pPr indent="0" marL="0">
              <a:buNone/>
            </a:pPr>
            <a:r>
              <a:rPr lang="en-US" sz="1400" dirty="0">
                <a:solidFill>
                  <a:schemeClr val="tx1"/>
                </a:solidFill>
              </a:rPr>
              <a:t>add only the format line when the answer is short</a:t>
            </a:r>
            <a:endParaRPr lang="en-US" sz="1400" dirty="0"/>
          </a:p>
        </p:txBody>
      </p:sp>
      <p:sp>
        <p:nvSpPr>
          <p:cNvPr id="9" name="Shape 6"/>
          <p:cNvSpPr/>
          <p:nvPr/>
        </p:nvSpPr>
        <p:spPr>
          <a:xfrm>
            <a:off x="6126480" y="1280160"/>
            <a:ext cx="5486400" cy="1097280"/>
          </a:xfrm>
          <a:prstGeom prst="roundRect">
            <a:avLst>
              <a:gd name="adj" fmla="val 10000"/>
            </a:avLst>
          </a:prstGeom>
          <a:solidFill>
            <a:schemeClr val="bg1"/>
          </a:solidFill>
          <a:ln w="9525">
            <a:solidFill>
              <a:srgbClr val="6FA287"/>
            </a:solidFill>
            <a:prstDash val="solid"/>
          </a:ln>
          <a:effectLst>
            <a:outerShdw sx="100000" sy="100000" kx="0" ky="0" algn="bl" rotWithShape="0" blurRad="50800" dist="25400" dir="5400000">
              <a:srgbClr val="9DB8A8">
                <a:alpha val="35000"/>
              </a:srgbClr>
            </a:outerShdw>
          </a:effectLst>
        </p:spPr>
      </p:sp>
      <p:sp>
        <p:nvSpPr>
          <p:cNvPr id="10" name="Shape 7"/>
          <p:cNvSpPr/>
          <p:nvPr/>
        </p:nvSpPr>
        <p:spPr>
          <a:xfrm>
            <a:off x="6291072" y="1508760"/>
            <a:ext cx="640080" cy="640080"/>
          </a:xfrm>
          <a:prstGeom prst="ellipse">
            <a:avLst/>
          </a:prstGeom>
          <a:solidFill>
            <a:schemeClr val="tx2"/>
          </a:solidFill>
          <a:ln w="12700">
            <a:solidFill>
              <a:schemeClr val="tx2"/>
            </a:solidFill>
            <a:prstDash val="solid"/>
          </a:ln>
        </p:spPr>
      </p:sp>
      <p:sp>
        <p:nvSpPr>
          <p:cNvPr id="11" name="Text 8"/>
          <p:cNvSpPr txBox="1"/>
          <p:nvPr/>
        </p:nvSpPr>
        <p:spPr>
          <a:xfrm>
            <a:off x="6291072" y="1508760"/>
            <a:ext cx="640080" cy="640080"/>
          </a:xfrm>
          <a:prstGeom prst="rect">
            <a:avLst/>
          </a:prstGeom>
          <a:noFill/>
          <a:ln/>
        </p:spPr>
        <p:txBody>
          <a:bodyPr wrap="square" lIns="0" tIns="0" rIns="0" bIns="0" rtlCol="0" anchor="ctr"/>
          <a:lstStyle/>
          <a:p>
            <a:pPr algn="ctr" indent="0" marL="0">
              <a:buNone/>
            </a:pPr>
            <a:r>
              <a:rPr lang="en-US" sz="2000" b="1" dirty="0">
                <a:solidFill>
                  <a:schemeClr val="bg1"/>
                </a:solidFill>
              </a:rPr>
              <a:t>2</a:t>
            </a:r>
            <a:endParaRPr lang="en-US" sz="2000" dirty="0"/>
          </a:p>
        </p:txBody>
      </p:sp>
      <p:sp>
        <p:nvSpPr>
          <p:cNvPr id="12" name="Text 9"/>
          <p:cNvSpPr txBox="1"/>
          <p:nvPr/>
        </p:nvSpPr>
        <p:spPr>
          <a:xfrm>
            <a:off x="7086600" y="1389888"/>
            <a:ext cx="4389120" cy="411480"/>
          </a:xfrm>
          <a:prstGeom prst="rect">
            <a:avLst/>
          </a:prstGeom>
          <a:noFill/>
          <a:ln/>
        </p:spPr>
        <p:txBody>
          <a:bodyPr wrap="square" lIns="635" tIns="635" rIns="635" bIns="635" rtlCol="0" anchor="t"/>
          <a:lstStyle/>
          <a:p>
            <a:pPr indent="0" marL="0">
              <a:buNone/>
            </a:pPr>
            <a:r>
              <a:rPr lang="en-US" sz="1700" b="1" dirty="0">
                <a:solidFill>
                  <a:schemeClr val="tx2"/>
                </a:solidFill>
              </a:rPr>
              <a:t>Smarter routing</a:t>
            </a:r>
            <a:endParaRPr lang="en-US" sz="1700" dirty="0"/>
          </a:p>
        </p:txBody>
      </p:sp>
      <p:sp>
        <p:nvSpPr>
          <p:cNvPr id="13" name="Text 10"/>
          <p:cNvSpPr txBox="1"/>
          <p:nvPr/>
        </p:nvSpPr>
        <p:spPr>
          <a:xfrm>
            <a:off x="7086600" y="1810512"/>
            <a:ext cx="4389120" cy="457200"/>
          </a:xfrm>
          <a:prstGeom prst="rect">
            <a:avLst/>
          </a:prstGeom>
          <a:noFill/>
          <a:ln/>
        </p:spPr>
        <p:txBody>
          <a:bodyPr wrap="square" lIns="635" tIns="635" rIns="635" bIns="635" rtlCol="0" anchor="t"/>
          <a:lstStyle/>
          <a:p>
            <a:pPr indent="0" marL="0">
              <a:buNone/>
            </a:pPr>
            <a:r>
              <a:rPr lang="en-US" sz="1400" dirty="0">
                <a:solidFill>
                  <a:schemeClr val="tx1"/>
                </a:solidFill>
              </a:rPr>
              <a:t>send label-set and typo prompts to Stage C</a:t>
            </a:r>
            <a:endParaRPr lang="en-US" sz="1400" dirty="0"/>
          </a:p>
        </p:txBody>
      </p:sp>
      <p:sp>
        <p:nvSpPr>
          <p:cNvPr id="14" name="Shape 11"/>
          <p:cNvSpPr/>
          <p:nvPr/>
        </p:nvSpPr>
        <p:spPr>
          <a:xfrm>
            <a:off x="457200" y="2532888"/>
            <a:ext cx="5486400" cy="1097280"/>
          </a:xfrm>
          <a:prstGeom prst="roundRect">
            <a:avLst>
              <a:gd name="adj" fmla="val 10000"/>
            </a:avLst>
          </a:prstGeom>
          <a:solidFill>
            <a:schemeClr val="bg1"/>
          </a:solidFill>
          <a:ln w="9525">
            <a:solidFill>
              <a:srgbClr val="6FA287"/>
            </a:solidFill>
            <a:prstDash val="solid"/>
          </a:ln>
          <a:effectLst>
            <a:outerShdw sx="100000" sy="100000" kx="0" ky="0" algn="bl" rotWithShape="0" blurRad="50800" dist="25400" dir="5400000">
              <a:srgbClr val="9DB8A8">
                <a:alpha val="35000"/>
              </a:srgbClr>
            </a:outerShdw>
          </a:effectLst>
        </p:spPr>
      </p:sp>
      <p:sp>
        <p:nvSpPr>
          <p:cNvPr id="15" name="Shape 12"/>
          <p:cNvSpPr/>
          <p:nvPr/>
        </p:nvSpPr>
        <p:spPr>
          <a:xfrm>
            <a:off x="621792" y="2761488"/>
            <a:ext cx="640080" cy="640080"/>
          </a:xfrm>
          <a:prstGeom prst="ellipse">
            <a:avLst/>
          </a:prstGeom>
          <a:solidFill>
            <a:schemeClr val="tx2"/>
          </a:solidFill>
          <a:ln w="12700">
            <a:solidFill>
              <a:schemeClr val="tx2"/>
            </a:solidFill>
            <a:prstDash val="solid"/>
          </a:ln>
        </p:spPr>
      </p:sp>
      <p:sp>
        <p:nvSpPr>
          <p:cNvPr id="16" name="Text 13"/>
          <p:cNvSpPr txBox="1"/>
          <p:nvPr/>
        </p:nvSpPr>
        <p:spPr>
          <a:xfrm>
            <a:off x="621792" y="2761488"/>
            <a:ext cx="640080" cy="640080"/>
          </a:xfrm>
          <a:prstGeom prst="rect">
            <a:avLst/>
          </a:prstGeom>
          <a:noFill/>
          <a:ln/>
        </p:spPr>
        <p:txBody>
          <a:bodyPr wrap="square" lIns="0" tIns="0" rIns="0" bIns="0" rtlCol="0" anchor="ctr"/>
          <a:lstStyle/>
          <a:p>
            <a:pPr algn="ctr" indent="0" marL="0">
              <a:buNone/>
            </a:pPr>
            <a:r>
              <a:rPr lang="en-US" sz="2000" b="1" dirty="0">
                <a:solidFill>
                  <a:schemeClr val="bg1"/>
                </a:solidFill>
              </a:rPr>
              <a:t>3</a:t>
            </a:r>
            <a:endParaRPr lang="en-US" sz="2000" dirty="0"/>
          </a:p>
        </p:txBody>
      </p:sp>
      <p:sp>
        <p:nvSpPr>
          <p:cNvPr id="17" name="Text 14"/>
          <p:cNvSpPr txBox="1"/>
          <p:nvPr/>
        </p:nvSpPr>
        <p:spPr>
          <a:xfrm>
            <a:off x="1417320" y="2642616"/>
            <a:ext cx="4389120" cy="411480"/>
          </a:xfrm>
          <a:prstGeom prst="rect">
            <a:avLst/>
          </a:prstGeom>
          <a:noFill/>
          <a:ln/>
        </p:spPr>
        <p:txBody>
          <a:bodyPr wrap="square" lIns="635" tIns="635" rIns="635" bIns="635" rtlCol="0" anchor="t"/>
          <a:lstStyle/>
          <a:p>
            <a:pPr indent="0" marL="0">
              <a:buNone/>
            </a:pPr>
            <a:r>
              <a:rPr lang="en-US" sz="1700" b="1" dirty="0">
                <a:solidFill>
                  <a:schemeClr val="tx2"/>
                </a:solidFill>
              </a:rPr>
              <a:t>Spelling normalisation</a:t>
            </a:r>
            <a:endParaRPr lang="en-US" sz="1700" dirty="0"/>
          </a:p>
        </p:txBody>
      </p:sp>
      <p:sp>
        <p:nvSpPr>
          <p:cNvPr id="18" name="Text 15"/>
          <p:cNvSpPr txBox="1"/>
          <p:nvPr/>
        </p:nvSpPr>
        <p:spPr>
          <a:xfrm>
            <a:off x="1417320" y="3063240"/>
            <a:ext cx="4389120" cy="457200"/>
          </a:xfrm>
          <a:prstGeom prst="rect">
            <a:avLst/>
          </a:prstGeom>
          <a:noFill/>
          <a:ln/>
        </p:spPr>
        <p:txBody>
          <a:bodyPr wrap="square" lIns="635" tIns="635" rIns="635" bIns="635" rtlCol="0" anchor="t"/>
          <a:lstStyle/>
          <a:p>
            <a:pPr indent="0" marL="0">
              <a:buNone/>
            </a:pPr>
            <a:r>
              <a:rPr lang="en-US" sz="1400" dirty="0">
                <a:solidFill>
                  <a:schemeClr val="tx1"/>
                </a:solidFill>
              </a:rPr>
              <a:t>user-confirmed fixes before optimizing</a:t>
            </a:r>
            <a:endParaRPr lang="en-US" sz="1400" dirty="0"/>
          </a:p>
        </p:txBody>
      </p:sp>
      <p:sp>
        <p:nvSpPr>
          <p:cNvPr id="19" name="Shape 16"/>
          <p:cNvSpPr/>
          <p:nvPr/>
        </p:nvSpPr>
        <p:spPr>
          <a:xfrm>
            <a:off x="6126480" y="2532888"/>
            <a:ext cx="5486400" cy="1097280"/>
          </a:xfrm>
          <a:prstGeom prst="roundRect">
            <a:avLst>
              <a:gd name="adj" fmla="val 10000"/>
            </a:avLst>
          </a:prstGeom>
          <a:solidFill>
            <a:schemeClr val="bg1"/>
          </a:solidFill>
          <a:ln w="9525">
            <a:solidFill>
              <a:srgbClr val="6FA287"/>
            </a:solidFill>
            <a:prstDash val="solid"/>
          </a:ln>
          <a:effectLst>
            <a:outerShdw sx="100000" sy="100000" kx="0" ky="0" algn="bl" rotWithShape="0" blurRad="50800" dist="25400" dir="5400000">
              <a:srgbClr val="9DB8A8">
                <a:alpha val="35000"/>
              </a:srgbClr>
            </a:outerShdw>
          </a:effectLst>
        </p:spPr>
      </p:sp>
      <p:sp>
        <p:nvSpPr>
          <p:cNvPr id="20" name="Shape 17"/>
          <p:cNvSpPr/>
          <p:nvPr/>
        </p:nvSpPr>
        <p:spPr>
          <a:xfrm>
            <a:off x="6291072" y="2761488"/>
            <a:ext cx="640080" cy="640080"/>
          </a:xfrm>
          <a:prstGeom prst="ellipse">
            <a:avLst/>
          </a:prstGeom>
          <a:solidFill>
            <a:schemeClr val="tx2"/>
          </a:solidFill>
          <a:ln w="12700">
            <a:solidFill>
              <a:schemeClr val="tx2"/>
            </a:solidFill>
            <a:prstDash val="solid"/>
          </a:ln>
        </p:spPr>
      </p:sp>
      <p:sp>
        <p:nvSpPr>
          <p:cNvPr id="21" name="Text 18"/>
          <p:cNvSpPr txBox="1"/>
          <p:nvPr/>
        </p:nvSpPr>
        <p:spPr>
          <a:xfrm>
            <a:off x="6291072" y="2761488"/>
            <a:ext cx="640080" cy="640080"/>
          </a:xfrm>
          <a:prstGeom prst="rect">
            <a:avLst/>
          </a:prstGeom>
          <a:noFill/>
          <a:ln/>
        </p:spPr>
        <p:txBody>
          <a:bodyPr wrap="square" lIns="0" tIns="0" rIns="0" bIns="0" rtlCol="0" anchor="ctr"/>
          <a:lstStyle/>
          <a:p>
            <a:pPr algn="ctr" indent="0" marL="0">
              <a:buNone/>
            </a:pPr>
            <a:r>
              <a:rPr lang="en-US" sz="2000" b="1" dirty="0">
                <a:solidFill>
                  <a:schemeClr val="bg1"/>
                </a:solidFill>
              </a:rPr>
              <a:t>4</a:t>
            </a:r>
            <a:endParaRPr lang="en-US" sz="2000" dirty="0"/>
          </a:p>
        </p:txBody>
      </p:sp>
      <p:sp>
        <p:nvSpPr>
          <p:cNvPr id="22" name="Text 19"/>
          <p:cNvSpPr txBox="1"/>
          <p:nvPr/>
        </p:nvSpPr>
        <p:spPr>
          <a:xfrm>
            <a:off x="7086600" y="2642616"/>
            <a:ext cx="4389120" cy="411480"/>
          </a:xfrm>
          <a:prstGeom prst="rect">
            <a:avLst/>
          </a:prstGeom>
          <a:noFill/>
          <a:ln/>
        </p:spPr>
        <p:txBody>
          <a:bodyPr wrap="square" lIns="635" tIns="635" rIns="635" bIns="635" rtlCol="0" anchor="t"/>
          <a:lstStyle/>
          <a:p>
            <a:pPr indent="0" marL="0">
              <a:buNone/>
            </a:pPr>
            <a:r>
              <a:rPr lang="en-US" sz="1700" b="1" dirty="0">
                <a:solidFill>
                  <a:schemeClr val="tx2"/>
                </a:solidFill>
              </a:rPr>
              <a:t>Blind user tests</a:t>
            </a:r>
            <a:endParaRPr lang="en-US" sz="1700" dirty="0"/>
          </a:p>
        </p:txBody>
      </p:sp>
      <p:sp>
        <p:nvSpPr>
          <p:cNvPr id="23" name="Text 20"/>
          <p:cNvSpPr txBox="1"/>
          <p:nvPr/>
        </p:nvSpPr>
        <p:spPr>
          <a:xfrm>
            <a:off x="7086600" y="3063240"/>
            <a:ext cx="4389120" cy="457200"/>
          </a:xfrm>
          <a:prstGeom prst="rect">
            <a:avLst/>
          </a:prstGeom>
          <a:noFill/>
          <a:ln/>
        </p:spPr>
        <p:txBody>
          <a:bodyPr wrap="square" lIns="635" tIns="635" rIns="635" bIns="635" rtlCol="0" anchor="t"/>
          <a:lstStyle/>
          <a:p>
            <a:pPr indent="0" marL="0">
              <a:buNone/>
            </a:pPr>
            <a:r>
              <a:rPr lang="en-US" sz="1400" dirty="0">
                <a:solidFill>
                  <a:schemeClr val="tx1"/>
                </a:solidFill>
              </a:rPr>
              <a:t>prompts written outside the team</a:t>
            </a:r>
            <a:endParaRPr lang="en-US" sz="1400" dirty="0"/>
          </a:p>
        </p:txBody>
      </p:sp>
      <p:sp>
        <p:nvSpPr>
          <p:cNvPr id="24" name="Shape 21"/>
          <p:cNvSpPr/>
          <p:nvPr/>
        </p:nvSpPr>
        <p:spPr>
          <a:xfrm>
            <a:off x="457200" y="3785616"/>
            <a:ext cx="5486400" cy="1097280"/>
          </a:xfrm>
          <a:prstGeom prst="roundRect">
            <a:avLst>
              <a:gd name="adj" fmla="val 10000"/>
            </a:avLst>
          </a:prstGeom>
          <a:solidFill>
            <a:schemeClr val="bg1"/>
          </a:solidFill>
          <a:ln w="9525">
            <a:solidFill>
              <a:srgbClr val="6FA287"/>
            </a:solidFill>
            <a:prstDash val="solid"/>
          </a:ln>
          <a:effectLst>
            <a:outerShdw sx="100000" sy="100000" kx="0" ky="0" algn="bl" rotWithShape="0" blurRad="50800" dist="25400" dir="5400000">
              <a:srgbClr val="9DB8A8">
                <a:alpha val="35000"/>
              </a:srgbClr>
            </a:outerShdw>
          </a:effectLst>
        </p:spPr>
      </p:sp>
      <p:sp>
        <p:nvSpPr>
          <p:cNvPr id="25" name="Shape 22"/>
          <p:cNvSpPr/>
          <p:nvPr/>
        </p:nvSpPr>
        <p:spPr>
          <a:xfrm>
            <a:off x="621792" y="4014216"/>
            <a:ext cx="640080" cy="640080"/>
          </a:xfrm>
          <a:prstGeom prst="ellipse">
            <a:avLst/>
          </a:prstGeom>
          <a:solidFill>
            <a:schemeClr val="tx2"/>
          </a:solidFill>
          <a:ln w="12700">
            <a:solidFill>
              <a:schemeClr val="tx2"/>
            </a:solidFill>
            <a:prstDash val="solid"/>
          </a:ln>
        </p:spPr>
      </p:sp>
      <p:sp>
        <p:nvSpPr>
          <p:cNvPr id="26" name="Text 23"/>
          <p:cNvSpPr txBox="1"/>
          <p:nvPr/>
        </p:nvSpPr>
        <p:spPr>
          <a:xfrm>
            <a:off x="621792" y="4014216"/>
            <a:ext cx="640080" cy="640080"/>
          </a:xfrm>
          <a:prstGeom prst="rect">
            <a:avLst/>
          </a:prstGeom>
          <a:noFill/>
          <a:ln/>
        </p:spPr>
        <p:txBody>
          <a:bodyPr wrap="square" lIns="0" tIns="0" rIns="0" bIns="0" rtlCol="0" anchor="ctr"/>
          <a:lstStyle/>
          <a:p>
            <a:pPr algn="ctr" indent="0" marL="0">
              <a:buNone/>
            </a:pPr>
            <a:r>
              <a:rPr lang="en-US" sz="2000" b="1" dirty="0">
                <a:solidFill>
                  <a:schemeClr val="bg1"/>
                </a:solidFill>
              </a:rPr>
              <a:t>5</a:t>
            </a:r>
            <a:endParaRPr lang="en-US" sz="2000" dirty="0"/>
          </a:p>
        </p:txBody>
      </p:sp>
      <p:sp>
        <p:nvSpPr>
          <p:cNvPr id="27" name="Text 24"/>
          <p:cNvSpPr txBox="1"/>
          <p:nvPr/>
        </p:nvSpPr>
        <p:spPr>
          <a:xfrm>
            <a:off x="1417320" y="3895344"/>
            <a:ext cx="4389120" cy="411480"/>
          </a:xfrm>
          <a:prstGeom prst="rect">
            <a:avLst/>
          </a:prstGeom>
          <a:noFill/>
          <a:ln/>
        </p:spPr>
        <p:txBody>
          <a:bodyPr wrap="square" lIns="635" tIns="635" rIns="635" bIns="635" rtlCol="0" anchor="t"/>
          <a:lstStyle/>
          <a:p>
            <a:pPr indent="0" marL="0">
              <a:buNone/>
            </a:pPr>
            <a:r>
              <a:rPr lang="en-US" sz="1700" b="1" dirty="0">
                <a:solidFill>
                  <a:schemeClr val="tx2"/>
                </a:solidFill>
              </a:rPr>
              <a:t>Real GPT / Claude / Gemini</a:t>
            </a:r>
            <a:endParaRPr lang="en-US" sz="1700" dirty="0"/>
          </a:p>
        </p:txBody>
      </p:sp>
      <p:sp>
        <p:nvSpPr>
          <p:cNvPr id="28" name="Text 25"/>
          <p:cNvSpPr txBox="1"/>
          <p:nvPr/>
        </p:nvSpPr>
        <p:spPr>
          <a:xfrm>
            <a:off x="1417320" y="4315968"/>
            <a:ext cx="4389120" cy="457200"/>
          </a:xfrm>
          <a:prstGeom prst="rect">
            <a:avLst/>
          </a:prstGeom>
          <a:noFill/>
          <a:ln/>
        </p:spPr>
        <p:txBody>
          <a:bodyPr wrap="square" lIns="635" tIns="635" rIns="635" bIns="635" rtlCol="0" anchor="t"/>
          <a:lstStyle/>
          <a:p>
            <a:pPr indent="0" marL="0">
              <a:buNone/>
            </a:pPr>
            <a:r>
              <a:rPr lang="en-US" sz="1400" dirty="0">
                <a:solidFill>
                  <a:schemeClr val="tx1"/>
                </a:solidFill>
              </a:rPr>
              <a:t>Compare with paid API keys</a:t>
            </a:r>
            <a:endParaRPr lang="en-US" sz="1400" dirty="0"/>
          </a:p>
        </p:txBody>
      </p:sp>
      <p:sp>
        <p:nvSpPr>
          <p:cNvPr id="29" name="Shape 26"/>
          <p:cNvSpPr/>
          <p:nvPr/>
        </p:nvSpPr>
        <p:spPr>
          <a:xfrm>
            <a:off x="6126480" y="3785616"/>
            <a:ext cx="5486400" cy="1097280"/>
          </a:xfrm>
          <a:prstGeom prst="roundRect">
            <a:avLst>
              <a:gd name="adj" fmla="val 10000"/>
            </a:avLst>
          </a:prstGeom>
          <a:solidFill>
            <a:schemeClr val="bg1"/>
          </a:solidFill>
          <a:ln w="9525">
            <a:solidFill>
              <a:srgbClr val="6FA287"/>
            </a:solidFill>
            <a:prstDash val="solid"/>
          </a:ln>
          <a:effectLst>
            <a:outerShdw sx="100000" sy="100000" kx="0" ky="0" algn="bl" rotWithShape="0" blurRad="50800" dist="25400" dir="5400000">
              <a:srgbClr val="9DB8A8">
                <a:alpha val="35000"/>
              </a:srgbClr>
            </a:outerShdw>
          </a:effectLst>
        </p:spPr>
      </p:sp>
      <p:sp>
        <p:nvSpPr>
          <p:cNvPr id="30" name="Shape 27"/>
          <p:cNvSpPr/>
          <p:nvPr/>
        </p:nvSpPr>
        <p:spPr>
          <a:xfrm>
            <a:off x="6291072" y="4014216"/>
            <a:ext cx="640080" cy="640080"/>
          </a:xfrm>
          <a:prstGeom prst="ellipse">
            <a:avLst/>
          </a:prstGeom>
          <a:solidFill>
            <a:schemeClr val="tx2"/>
          </a:solidFill>
          <a:ln w="12700">
            <a:solidFill>
              <a:schemeClr val="tx2"/>
            </a:solidFill>
            <a:prstDash val="solid"/>
          </a:ln>
        </p:spPr>
      </p:sp>
      <p:sp>
        <p:nvSpPr>
          <p:cNvPr id="31" name="Text 28"/>
          <p:cNvSpPr txBox="1"/>
          <p:nvPr/>
        </p:nvSpPr>
        <p:spPr>
          <a:xfrm>
            <a:off x="6291072" y="4014216"/>
            <a:ext cx="640080" cy="640080"/>
          </a:xfrm>
          <a:prstGeom prst="rect">
            <a:avLst/>
          </a:prstGeom>
          <a:noFill/>
          <a:ln/>
        </p:spPr>
        <p:txBody>
          <a:bodyPr wrap="square" lIns="0" tIns="0" rIns="0" bIns="0" rtlCol="0" anchor="ctr"/>
          <a:lstStyle/>
          <a:p>
            <a:pPr algn="ctr" indent="0" marL="0">
              <a:buNone/>
            </a:pPr>
            <a:r>
              <a:rPr lang="en-US" sz="2000" b="1" dirty="0">
                <a:solidFill>
                  <a:schemeClr val="bg1"/>
                </a:solidFill>
              </a:rPr>
              <a:t>6</a:t>
            </a:r>
            <a:endParaRPr lang="en-US" sz="2000" dirty="0"/>
          </a:p>
        </p:txBody>
      </p:sp>
      <p:sp>
        <p:nvSpPr>
          <p:cNvPr id="32" name="Text 29"/>
          <p:cNvSpPr txBox="1"/>
          <p:nvPr/>
        </p:nvSpPr>
        <p:spPr>
          <a:xfrm>
            <a:off x="7086600" y="3895344"/>
            <a:ext cx="4389120" cy="411480"/>
          </a:xfrm>
          <a:prstGeom prst="rect">
            <a:avLst/>
          </a:prstGeom>
          <a:noFill/>
          <a:ln/>
        </p:spPr>
        <p:txBody>
          <a:bodyPr wrap="square" lIns="635" tIns="635" rIns="635" bIns="635" rtlCol="0" anchor="t"/>
          <a:lstStyle/>
          <a:p>
            <a:pPr indent="0" marL="0">
              <a:buNone/>
            </a:pPr>
            <a:r>
              <a:rPr lang="en-US" sz="1700" b="1" dirty="0">
                <a:solidFill>
                  <a:schemeClr val="tx2"/>
                </a:solidFill>
              </a:rPr>
              <a:t>Larger correctness suite</a:t>
            </a:r>
            <a:endParaRPr lang="en-US" sz="1700" dirty="0"/>
          </a:p>
        </p:txBody>
      </p:sp>
      <p:sp>
        <p:nvSpPr>
          <p:cNvPr id="33" name="Text 30"/>
          <p:cNvSpPr txBox="1"/>
          <p:nvPr/>
        </p:nvSpPr>
        <p:spPr>
          <a:xfrm>
            <a:off x="7086600" y="4315968"/>
            <a:ext cx="4389120" cy="457200"/>
          </a:xfrm>
          <a:prstGeom prst="rect">
            <a:avLst/>
          </a:prstGeom>
          <a:noFill/>
          <a:ln/>
        </p:spPr>
        <p:txBody>
          <a:bodyPr wrap="square" lIns="635" tIns="635" rIns="635" bIns="635" rtlCol="0" anchor="t"/>
          <a:lstStyle/>
          <a:p>
            <a:pPr indent="0" marL="0">
              <a:buNone/>
            </a:pPr>
            <a:r>
              <a:rPr lang="en-US" sz="1400" dirty="0">
                <a:solidFill>
                  <a:schemeClr val="tx1"/>
                </a:solidFill>
              </a:rPr>
              <a:t>more cases and providers for significance</a:t>
            </a:r>
            <a:endParaRPr lang="en-US" sz="1400" dirty="0"/>
          </a:p>
        </p:txBody>
      </p:sp>
      <p:sp>
        <p:nvSpPr>
          <p:cNvPr id="34" name="Shape 31"/>
          <p:cNvSpPr/>
          <p:nvPr/>
        </p:nvSpPr>
        <p:spPr>
          <a:xfrm>
            <a:off x="457200" y="5038344"/>
            <a:ext cx="5486400" cy="1097280"/>
          </a:xfrm>
          <a:prstGeom prst="roundRect">
            <a:avLst>
              <a:gd name="adj" fmla="val 10000"/>
            </a:avLst>
          </a:prstGeom>
          <a:solidFill>
            <a:schemeClr val="bg1"/>
          </a:solidFill>
          <a:ln w="9525">
            <a:solidFill>
              <a:srgbClr val="6FA287"/>
            </a:solidFill>
            <a:prstDash val="solid"/>
          </a:ln>
          <a:effectLst>
            <a:outerShdw sx="100000" sy="100000" kx="0" ky="0" algn="bl" rotWithShape="0" blurRad="50800" dist="25400" dir="5400000">
              <a:srgbClr val="9DB8A8">
                <a:alpha val="35000"/>
              </a:srgbClr>
            </a:outerShdw>
          </a:effectLst>
        </p:spPr>
      </p:sp>
      <p:sp>
        <p:nvSpPr>
          <p:cNvPr id="35" name="Shape 32"/>
          <p:cNvSpPr/>
          <p:nvPr/>
        </p:nvSpPr>
        <p:spPr>
          <a:xfrm>
            <a:off x="621792" y="5266944"/>
            <a:ext cx="640080" cy="640080"/>
          </a:xfrm>
          <a:prstGeom prst="ellipse">
            <a:avLst/>
          </a:prstGeom>
          <a:solidFill>
            <a:schemeClr val="tx2"/>
          </a:solidFill>
          <a:ln w="12700">
            <a:solidFill>
              <a:schemeClr val="tx2"/>
            </a:solidFill>
            <a:prstDash val="solid"/>
          </a:ln>
        </p:spPr>
      </p:sp>
      <p:sp>
        <p:nvSpPr>
          <p:cNvPr id="36" name="Text 33"/>
          <p:cNvSpPr txBox="1"/>
          <p:nvPr/>
        </p:nvSpPr>
        <p:spPr>
          <a:xfrm>
            <a:off x="621792" y="5266944"/>
            <a:ext cx="640080" cy="640080"/>
          </a:xfrm>
          <a:prstGeom prst="rect">
            <a:avLst/>
          </a:prstGeom>
          <a:noFill/>
          <a:ln/>
        </p:spPr>
        <p:txBody>
          <a:bodyPr wrap="square" lIns="0" tIns="0" rIns="0" bIns="0" rtlCol="0" anchor="ctr"/>
          <a:lstStyle/>
          <a:p>
            <a:pPr algn="ctr" indent="0" marL="0">
              <a:buNone/>
            </a:pPr>
            <a:r>
              <a:rPr lang="en-US" sz="2000" b="1" dirty="0">
                <a:solidFill>
                  <a:schemeClr val="bg1"/>
                </a:solidFill>
              </a:rPr>
              <a:t>7</a:t>
            </a:r>
            <a:endParaRPr lang="en-US" sz="2000" dirty="0"/>
          </a:p>
        </p:txBody>
      </p:sp>
      <p:sp>
        <p:nvSpPr>
          <p:cNvPr id="37" name="Text 34"/>
          <p:cNvSpPr txBox="1"/>
          <p:nvPr/>
        </p:nvSpPr>
        <p:spPr>
          <a:xfrm>
            <a:off x="1417320" y="5148072"/>
            <a:ext cx="4389120" cy="411480"/>
          </a:xfrm>
          <a:prstGeom prst="rect">
            <a:avLst/>
          </a:prstGeom>
          <a:noFill/>
          <a:ln/>
        </p:spPr>
        <p:txBody>
          <a:bodyPr wrap="square" lIns="635" tIns="635" rIns="635" bIns="635" rtlCol="0" anchor="t"/>
          <a:lstStyle/>
          <a:p>
            <a:pPr indent="0" marL="0">
              <a:buNone/>
            </a:pPr>
            <a:r>
              <a:rPr lang="en-US" sz="1700" b="1" dirty="0">
                <a:solidFill>
                  <a:schemeClr val="tx2"/>
                </a:solidFill>
              </a:rPr>
              <a:t>Deployment</a:t>
            </a:r>
            <a:endParaRPr lang="en-US" sz="1700" dirty="0"/>
          </a:p>
        </p:txBody>
      </p:sp>
      <p:sp>
        <p:nvSpPr>
          <p:cNvPr id="38" name="Text 35"/>
          <p:cNvSpPr txBox="1"/>
          <p:nvPr/>
        </p:nvSpPr>
        <p:spPr>
          <a:xfrm>
            <a:off x="1417320" y="5568696"/>
            <a:ext cx="4389120" cy="457200"/>
          </a:xfrm>
          <a:prstGeom prst="rect">
            <a:avLst/>
          </a:prstGeom>
          <a:noFill/>
          <a:ln/>
        </p:spPr>
        <p:txBody>
          <a:bodyPr wrap="square" lIns="635" tIns="635" rIns="635" bIns="635" rtlCol="0" anchor="t"/>
          <a:lstStyle/>
          <a:p>
            <a:pPr indent="0" marL="0">
              <a:buNone/>
            </a:pPr>
            <a:r>
              <a:rPr lang="en-US" sz="1400" dirty="0">
                <a:solidFill>
                  <a:schemeClr val="tx1"/>
                </a:solidFill>
              </a:rPr>
              <a:t>PostgreSQL, HTTPS, login, beyond the LAN</a:t>
            </a:r>
            <a:endParaRPr lang="en-US" sz="1400" dirty="0"/>
          </a:p>
        </p:txBody>
      </p:sp>
      <p:sp>
        <p:nvSpPr>
          <p:cNvPr id="25" name="Slide Number Placeholder 0"/>
          <p:cNvSpPr>
            <a:spLocks noGrp="1"/>
          </p:cNvSpPr>
          <p:nvPr>
            <p:ph type="sldNum" sz="quarter" idx="4294967295"/>
          </p:nvPr>
        </p:nvSpPr>
        <p:spPr>
          <a:xfrm>
            <a:off x="1133856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580"/>
                </a:solidFill>
              </a:defRPr>
            </a:lvl1pPr>
          </a:lstStyle>
          <a:p>
            <a:pPr algn="l"/>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hape 0"/>
          <p:cNvSpPr/>
          <p:nvPr/>
        </p:nvSpPr>
        <p:spPr>
          <a:xfrm>
            <a:off x="502920" y="411480"/>
            <a:ext cx="1097280" cy="1097280"/>
          </a:xfrm>
          <a:prstGeom prst="ellipse">
            <a:avLst/>
          </a:prstGeom>
          <a:solidFill>
            <a:schemeClr val="bg1"/>
          </a:solidFill>
          <a:ln w="12700">
            <a:solidFill>
              <a:schemeClr val="bg1"/>
            </a:solidFill>
            <a:prstDash val="solid"/>
          </a:ln>
        </p:spPr>
      </p:sp>
      <p:pic>
        <p:nvPicPr>
          <p:cNvPr id="3" name="Image 0" descr="/tmp/claude-1000/-mnt-SharedDrive-Projects-PromptOpt/a85f5363-f7d7-4f63-8a3a-b7b1874853cc/scratchpad/fig/wce_logo.png">    </p:cNvPr>
          <p:cNvPicPr>
            <a:picLocks noChangeAspect="1"/>
          </p:cNvPicPr>
          <p:nvPr/>
        </p:nvPicPr>
        <p:blipFill>
          <a:blip r:embed="rId1"/>
          <a:stretch>
            <a:fillRect/>
          </a:stretch>
        </p:blipFill>
        <p:spPr>
          <a:xfrm>
            <a:off x="594360" y="502920"/>
            <a:ext cx="914400" cy="914400"/>
          </a:xfrm>
          <a:prstGeom prst="rect">
            <a:avLst/>
          </a:prstGeom>
        </p:spPr>
      </p:pic>
      <p:sp>
        <p:nvSpPr>
          <p:cNvPr id="4" name="Text 1"/>
          <p:cNvSpPr txBox="1"/>
          <p:nvPr/>
        </p:nvSpPr>
        <p:spPr>
          <a:xfrm>
            <a:off x="548640" y="1737360"/>
            <a:ext cx="10972800" cy="1005840"/>
          </a:xfrm>
          <a:prstGeom prst="rect">
            <a:avLst/>
          </a:prstGeom>
          <a:noFill/>
          <a:ln/>
        </p:spPr>
        <p:txBody>
          <a:bodyPr wrap="square" lIns="635" tIns="635" rIns="635" bIns="635" rtlCol="0" anchor="t"/>
          <a:lstStyle/>
          <a:p>
            <a:pPr indent="0" marL="0">
              <a:buNone/>
            </a:pPr>
            <a:r>
              <a:rPr lang="en-US" sz="5400" b="1" dirty="0">
                <a:solidFill>
                  <a:schemeClr val="bg1"/>
                </a:solidFill>
                <a:latin typeface="Arial" pitchFamily="34" charset="0"/>
                <a:ea typeface="Arial" pitchFamily="34" charset="-122"/>
                <a:cs typeface="Arial" pitchFamily="34" charset="-120"/>
              </a:rPr>
              <a:t>Live demo</a:t>
            </a:r>
            <a:endParaRPr lang="en-US" sz="5400" dirty="0"/>
          </a:p>
        </p:txBody>
      </p:sp>
      <p:sp>
        <p:nvSpPr>
          <p:cNvPr id="5" name="Shape 2"/>
          <p:cNvSpPr/>
          <p:nvPr/>
        </p:nvSpPr>
        <p:spPr>
          <a:xfrm>
            <a:off x="594360" y="2971800"/>
            <a:ext cx="475488" cy="475488"/>
          </a:xfrm>
          <a:prstGeom prst="ellipse">
            <a:avLst/>
          </a:prstGeom>
          <a:solidFill>
            <a:srgbClr val="F2C894"/>
          </a:solidFill>
          <a:ln w="12700">
            <a:solidFill>
              <a:srgbClr val="F2C894"/>
            </a:solidFill>
            <a:prstDash val="solid"/>
          </a:ln>
        </p:spPr>
      </p:sp>
      <p:sp>
        <p:nvSpPr>
          <p:cNvPr id="6" name="Text 3"/>
          <p:cNvSpPr txBox="1"/>
          <p:nvPr/>
        </p:nvSpPr>
        <p:spPr>
          <a:xfrm>
            <a:off x="594360" y="2971800"/>
            <a:ext cx="475488" cy="475488"/>
          </a:xfrm>
          <a:prstGeom prst="rect">
            <a:avLst/>
          </a:prstGeom>
          <a:noFill/>
          <a:ln/>
        </p:spPr>
        <p:txBody>
          <a:bodyPr wrap="square" lIns="0" tIns="0" rIns="0" bIns="0" rtlCol="0" anchor="ctr"/>
          <a:lstStyle/>
          <a:p>
            <a:pPr algn="ctr" indent="0" marL="0">
              <a:buNone/>
            </a:pPr>
            <a:r>
              <a:rPr lang="en-US" sz="1600" b="1" dirty="0">
                <a:solidFill>
                  <a:schemeClr val="tx2"/>
                </a:solidFill>
              </a:rPr>
              <a:t>1</a:t>
            </a:r>
            <a:endParaRPr lang="en-US" sz="1600" dirty="0"/>
          </a:p>
        </p:txBody>
      </p:sp>
      <p:sp>
        <p:nvSpPr>
          <p:cNvPr id="7" name="Text 4"/>
          <p:cNvSpPr txBox="1"/>
          <p:nvPr/>
        </p:nvSpPr>
        <p:spPr>
          <a:xfrm>
            <a:off x="1280160" y="2953512"/>
            <a:ext cx="10058400" cy="512064"/>
          </a:xfrm>
          <a:prstGeom prst="rect">
            <a:avLst/>
          </a:prstGeom>
          <a:noFill/>
          <a:ln/>
        </p:spPr>
        <p:txBody>
          <a:bodyPr wrap="square" lIns="635" tIns="635" rIns="635" bIns="635" rtlCol="0" anchor="ctr"/>
          <a:lstStyle/>
          <a:p>
            <a:pPr indent="0" marL="0">
              <a:buNone/>
            </a:pPr>
            <a:r>
              <a:rPr lang="en-US" sz="1900" dirty="0">
                <a:solidFill>
                  <a:schemeClr val="bg1"/>
                </a:solidFill>
              </a:rPr>
              <a:t>Optimize: "write code to get all permutations of a string"</a:t>
            </a:r>
            <a:endParaRPr lang="en-US" sz="1900" dirty="0"/>
          </a:p>
        </p:txBody>
      </p:sp>
      <p:sp>
        <p:nvSpPr>
          <p:cNvPr id="8" name="Shape 5"/>
          <p:cNvSpPr/>
          <p:nvPr/>
        </p:nvSpPr>
        <p:spPr>
          <a:xfrm>
            <a:off x="594360" y="3630168"/>
            <a:ext cx="475488" cy="475488"/>
          </a:xfrm>
          <a:prstGeom prst="ellipse">
            <a:avLst/>
          </a:prstGeom>
          <a:solidFill>
            <a:srgbClr val="F2C894"/>
          </a:solidFill>
          <a:ln w="12700">
            <a:solidFill>
              <a:srgbClr val="F2C894"/>
            </a:solidFill>
            <a:prstDash val="solid"/>
          </a:ln>
        </p:spPr>
      </p:sp>
      <p:sp>
        <p:nvSpPr>
          <p:cNvPr id="9" name="Text 6"/>
          <p:cNvSpPr txBox="1"/>
          <p:nvPr/>
        </p:nvSpPr>
        <p:spPr>
          <a:xfrm>
            <a:off x="594360" y="3630168"/>
            <a:ext cx="475488" cy="475488"/>
          </a:xfrm>
          <a:prstGeom prst="rect">
            <a:avLst/>
          </a:prstGeom>
          <a:noFill/>
          <a:ln/>
        </p:spPr>
        <p:txBody>
          <a:bodyPr wrap="square" lIns="0" tIns="0" rIns="0" bIns="0" rtlCol="0" anchor="ctr"/>
          <a:lstStyle/>
          <a:p>
            <a:pPr algn="ctr" indent="0" marL="0">
              <a:buNone/>
            </a:pPr>
            <a:r>
              <a:rPr lang="en-US" sz="1600" b="1" dirty="0">
                <a:solidFill>
                  <a:schemeClr val="tx2"/>
                </a:solidFill>
              </a:rPr>
              <a:t>2</a:t>
            </a:r>
            <a:endParaRPr lang="en-US" sz="1600" dirty="0"/>
          </a:p>
        </p:txBody>
      </p:sp>
      <p:sp>
        <p:nvSpPr>
          <p:cNvPr id="10" name="Text 7"/>
          <p:cNvSpPr txBox="1"/>
          <p:nvPr/>
        </p:nvSpPr>
        <p:spPr>
          <a:xfrm>
            <a:off x="1280160" y="3611880"/>
            <a:ext cx="10058400" cy="512064"/>
          </a:xfrm>
          <a:prstGeom prst="rect">
            <a:avLst/>
          </a:prstGeom>
          <a:noFill/>
          <a:ln/>
        </p:spPr>
        <p:txBody>
          <a:bodyPr wrap="square" lIns="635" tIns="635" rIns="635" bIns="635" rtlCol="0" anchor="ctr"/>
          <a:lstStyle/>
          <a:p>
            <a:pPr indent="0" marL="0">
              <a:buNone/>
            </a:pPr>
            <a:r>
              <a:rPr lang="en-US" sz="1900" dirty="0">
                <a:solidFill>
                  <a:schemeClr val="bg1"/>
                </a:solidFill>
              </a:rPr>
              <a:t>Stage C: "hey can you just summarize this article for me"</a:t>
            </a:r>
            <a:endParaRPr lang="en-US" sz="1900" dirty="0"/>
          </a:p>
        </p:txBody>
      </p:sp>
      <p:sp>
        <p:nvSpPr>
          <p:cNvPr id="11" name="Shape 8"/>
          <p:cNvSpPr/>
          <p:nvPr/>
        </p:nvSpPr>
        <p:spPr>
          <a:xfrm>
            <a:off x="594360" y="4288536"/>
            <a:ext cx="475488" cy="475488"/>
          </a:xfrm>
          <a:prstGeom prst="ellipse">
            <a:avLst/>
          </a:prstGeom>
          <a:solidFill>
            <a:srgbClr val="F2C894"/>
          </a:solidFill>
          <a:ln w="12700">
            <a:solidFill>
              <a:srgbClr val="F2C894"/>
            </a:solidFill>
            <a:prstDash val="solid"/>
          </a:ln>
        </p:spPr>
      </p:sp>
      <p:sp>
        <p:nvSpPr>
          <p:cNvPr id="12" name="Text 9"/>
          <p:cNvSpPr txBox="1"/>
          <p:nvPr/>
        </p:nvSpPr>
        <p:spPr>
          <a:xfrm>
            <a:off x="594360" y="4288536"/>
            <a:ext cx="475488" cy="475488"/>
          </a:xfrm>
          <a:prstGeom prst="rect">
            <a:avLst/>
          </a:prstGeom>
          <a:noFill/>
          <a:ln/>
        </p:spPr>
        <p:txBody>
          <a:bodyPr wrap="square" lIns="0" tIns="0" rIns="0" bIns="0" rtlCol="0" anchor="ctr"/>
          <a:lstStyle/>
          <a:p>
            <a:pPr algn="ctr" indent="0" marL="0">
              <a:buNone/>
            </a:pPr>
            <a:r>
              <a:rPr lang="en-US" sz="1600" b="1" dirty="0">
                <a:solidFill>
                  <a:schemeClr val="tx2"/>
                </a:solidFill>
              </a:rPr>
              <a:t>3</a:t>
            </a:r>
            <a:endParaRPr lang="en-US" sz="1600" dirty="0"/>
          </a:p>
        </p:txBody>
      </p:sp>
      <p:sp>
        <p:nvSpPr>
          <p:cNvPr id="13" name="Text 10"/>
          <p:cNvSpPr txBox="1"/>
          <p:nvPr/>
        </p:nvSpPr>
        <p:spPr>
          <a:xfrm>
            <a:off x="1280160" y="4270248"/>
            <a:ext cx="10058400" cy="512064"/>
          </a:xfrm>
          <a:prstGeom prst="rect">
            <a:avLst/>
          </a:prstGeom>
          <a:noFill/>
          <a:ln/>
        </p:spPr>
        <p:txBody>
          <a:bodyPr wrap="square" lIns="635" tIns="635" rIns="635" bIns="635" rtlCol="0" anchor="ctr"/>
          <a:lstStyle/>
          <a:p>
            <a:pPr indent="0" marL="0">
              <a:buNone/>
            </a:pPr>
            <a:r>
              <a:rPr lang="en-US" sz="1900" dirty="0">
                <a:solidFill>
                  <a:schemeClr val="bg1"/>
                </a:solidFill>
              </a:rPr>
              <a:t>Compare on gpt-oss-120b: tokens, latency, tests</a:t>
            </a:r>
            <a:endParaRPr lang="en-US" sz="1900" dirty="0"/>
          </a:p>
        </p:txBody>
      </p:sp>
      <p:sp>
        <p:nvSpPr>
          <p:cNvPr id="14" name="Shape 11"/>
          <p:cNvSpPr/>
          <p:nvPr/>
        </p:nvSpPr>
        <p:spPr>
          <a:xfrm>
            <a:off x="594360" y="4946904"/>
            <a:ext cx="475488" cy="475488"/>
          </a:xfrm>
          <a:prstGeom prst="ellipse">
            <a:avLst/>
          </a:prstGeom>
          <a:solidFill>
            <a:srgbClr val="F2C894"/>
          </a:solidFill>
          <a:ln w="12700">
            <a:solidFill>
              <a:srgbClr val="F2C894"/>
            </a:solidFill>
            <a:prstDash val="solid"/>
          </a:ln>
        </p:spPr>
      </p:sp>
      <p:sp>
        <p:nvSpPr>
          <p:cNvPr id="15" name="Text 12"/>
          <p:cNvSpPr txBox="1"/>
          <p:nvPr/>
        </p:nvSpPr>
        <p:spPr>
          <a:xfrm>
            <a:off x="594360" y="4946904"/>
            <a:ext cx="475488" cy="475488"/>
          </a:xfrm>
          <a:prstGeom prst="rect">
            <a:avLst/>
          </a:prstGeom>
          <a:noFill/>
          <a:ln/>
        </p:spPr>
        <p:txBody>
          <a:bodyPr wrap="square" lIns="0" tIns="0" rIns="0" bIns="0" rtlCol="0" anchor="ctr"/>
          <a:lstStyle/>
          <a:p>
            <a:pPr algn="ctr" indent="0" marL="0">
              <a:buNone/>
            </a:pPr>
            <a:r>
              <a:rPr lang="en-US" sz="1600" b="1" dirty="0">
                <a:solidFill>
                  <a:schemeClr val="tx2"/>
                </a:solidFill>
              </a:rPr>
              <a:t>4</a:t>
            </a:r>
            <a:endParaRPr lang="en-US" sz="1600" dirty="0"/>
          </a:p>
        </p:txBody>
      </p:sp>
      <p:sp>
        <p:nvSpPr>
          <p:cNvPr id="16" name="Text 13"/>
          <p:cNvSpPr txBox="1"/>
          <p:nvPr/>
        </p:nvSpPr>
        <p:spPr>
          <a:xfrm>
            <a:off x="1280160" y="4928616"/>
            <a:ext cx="10058400" cy="512064"/>
          </a:xfrm>
          <a:prstGeom prst="rect">
            <a:avLst/>
          </a:prstGeom>
          <a:noFill/>
          <a:ln/>
        </p:spPr>
        <p:txBody>
          <a:bodyPr wrap="square" lIns="635" tIns="635" rIns="635" bIns="635" rtlCol="0" anchor="ctr"/>
          <a:lstStyle/>
          <a:p>
            <a:pPr indent="0" marL="0">
              <a:buNone/>
            </a:pPr>
            <a:r>
              <a:rPr lang="en-US" sz="1900" dirty="0">
                <a:solidFill>
                  <a:schemeClr val="bg1"/>
                </a:solidFill>
              </a:rPr>
              <a:t>Image mode: "oil painting of a sailboat in a storm"</a:t>
            </a:r>
            <a:endParaRPr lang="en-US" sz="1900" dirty="0"/>
          </a:p>
        </p:txBody>
      </p:sp>
      <p:sp>
        <p:nvSpPr>
          <p:cNvPr id="17" name="Shape 14"/>
          <p:cNvSpPr/>
          <p:nvPr/>
        </p:nvSpPr>
        <p:spPr>
          <a:xfrm>
            <a:off x="594360" y="5605272"/>
            <a:ext cx="475488" cy="475488"/>
          </a:xfrm>
          <a:prstGeom prst="ellipse">
            <a:avLst/>
          </a:prstGeom>
          <a:solidFill>
            <a:srgbClr val="F2C894"/>
          </a:solidFill>
          <a:ln w="12700">
            <a:solidFill>
              <a:srgbClr val="F2C894"/>
            </a:solidFill>
            <a:prstDash val="solid"/>
          </a:ln>
        </p:spPr>
      </p:sp>
      <p:sp>
        <p:nvSpPr>
          <p:cNvPr id="18" name="Text 15"/>
          <p:cNvSpPr txBox="1"/>
          <p:nvPr/>
        </p:nvSpPr>
        <p:spPr>
          <a:xfrm>
            <a:off x="594360" y="5605272"/>
            <a:ext cx="475488" cy="475488"/>
          </a:xfrm>
          <a:prstGeom prst="rect">
            <a:avLst/>
          </a:prstGeom>
          <a:noFill/>
          <a:ln/>
        </p:spPr>
        <p:txBody>
          <a:bodyPr wrap="square" lIns="0" tIns="0" rIns="0" bIns="0" rtlCol="0" anchor="ctr"/>
          <a:lstStyle/>
          <a:p>
            <a:pPr algn="ctr" indent="0" marL="0">
              <a:buNone/>
            </a:pPr>
            <a:r>
              <a:rPr lang="en-US" sz="1600" b="1" dirty="0">
                <a:solidFill>
                  <a:schemeClr val="tx2"/>
                </a:solidFill>
              </a:rPr>
              <a:t>5</a:t>
            </a:r>
            <a:endParaRPr lang="en-US" sz="1600" dirty="0"/>
          </a:p>
        </p:txBody>
      </p:sp>
      <p:sp>
        <p:nvSpPr>
          <p:cNvPr id="19" name="Text 16"/>
          <p:cNvSpPr txBox="1"/>
          <p:nvPr/>
        </p:nvSpPr>
        <p:spPr>
          <a:xfrm>
            <a:off x="1280160" y="5586984"/>
            <a:ext cx="10058400" cy="512064"/>
          </a:xfrm>
          <a:prstGeom prst="rect">
            <a:avLst/>
          </a:prstGeom>
          <a:noFill/>
          <a:ln/>
        </p:spPr>
        <p:txBody>
          <a:bodyPr wrap="square" lIns="635" tIns="635" rIns="635" bIns="635" rtlCol="0" anchor="ctr"/>
          <a:lstStyle/>
          <a:p>
            <a:pPr indent="0" marL="0">
              <a:buNone/>
            </a:pPr>
            <a:r>
              <a:rPr lang="en-US" sz="1900" dirty="0">
                <a:solidFill>
                  <a:schemeClr val="bg1"/>
                </a:solidFill>
              </a:rPr>
              <a:t>History, Test suite and Results pages</a:t>
            </a:r>
            <a:endParaRPr lang="en-US" sz="1900" dirty="0"/>
          </a:p>
        </p:txBody>
      </p:sp>
      <p:sp>
        <p:nvSpPr>
          <p:cNvPr id="20" name="Text 17"/>
          <p:cNvSpPr txBox="1"/>
          <p:nvPr/>
        </p:nvSpPr>
        <p:spPr>
          <a:xfrm>
            <a:off x="548640" y="6263640"/>
            <a:ext cx="7315200" cy="365760"/>
          </a:xfrm>
          <a:prstGeom prst="rect">
            <a:avLst/>
          </a:prstGeom>
          <a:noFill/>
          <a:ln/>
        </p:spPr>
        <p:txBody>
          <a:bodyPr wrap="square" lIns="635" tIns="635" rIns="635" bIns="635" rtlCol="0" anchor="t"/>
          <a:lstStyle/>
          <a:p>
            <a:pPr indent="0" marL="0">
              <a:buNone/>
            </a:pPr>
            <a:r>
              <a:rPr lang="en-US" sz="1400" dirty="0">
                <a:solidFill>
                  <a:srgbClr val="D5E8DC"/>
                </a:solidFill>
              </a:rPr>
              <a:t>Thank you · questions welcome</a:t>
            </a:r>
            <a:endParaRPr lang="en-US" sz="1400" dirty="0"/>
          </a:p>
        </p:txBody>
      </p:sp>
    </p:spTree>
  </p:cSld>
  <p:clrMapOvr>
    <a:masterClrMapping/>
  </p:clrMapOvr>
</p:sld>
</file>

<file path=ppt/theme/theme1.xml><?xml version="1.0" encoding="utf-8"?>
<a:theme xmlns:a="http://schemas.openxmlformats.org/drawingml/2006/main" name="PromptOpt Forest">
  <a:themeElements>
    <a:clrScheme name="PromptOpt Forest">
      <a:dk1>
        <a:srgbClr val="1B2B22"/>
      </a:dk1>
      <a:lt1>
        <a:srgbClr val="FFFFFF"/>
      </a:lt1>
      <a:dk2>
        <a:srgbClr val="2F6B4F"/>
      </a:dk2>
      <a:lt2>
        <a:srgbClr val="EAF4EE"/>
      </a:lt2>
      <a:accent1>
        <a:srgbClr val="2F6B4F"/>
      </a:accent1>
      <a:accent2>
        <a:srgbClr val="D9822B"/>
      </a:accent2>
      <a:accent3>
        <a:srgbClr val="6FA287"/>
      </a:accent3>
      <a:accent4>
        <a:srgbClr val="1F4E79"/>
      </a:accent4>
      <a:accent5>
        <a:srgbClr val="B42318"/>
      </a:accent5>
      <a:accent6>
        <a:srgbClr val="7A8580"/>
      </a:accent6>
      <a:hlink>
        <a:srgbClr val="1F4E79"/>
      </a:hlink>
      <a:folHlink>
        <a:srgbClr val="6FA287"/>
      </a:folHlink>
    </a:clrScheme>
    <a:fontScheme name="PromptOpt Forest">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PromptOpt LA-2</dc:title>
  <dc:subject>PptxGenJS Presentation</dc:subject>
  <dc:creator>Piush Gogi, Nirzara Manade, Siddhi Bolaikar</dc:creator>
  <cp:lastModifiedBy>Piush Gogi, Nirzara Manade, Siddhi Bolaikar</cp:lastModifiedBy>
  <cp:revision>1</cp:revision>
  <dcterms:created xsi:type="dcterms:W3CDTF">2026-10-14T08:30:41Z</dcterms:created>
  <dcterms:modified xsi:type="dcterms:W3CDTF">2026-10-14T08:30:41Z</dcterms:modified>
</cp:coreProperties>
</file>